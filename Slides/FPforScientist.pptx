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491" r:id="rId3"/>
    <p:sldId id="258" r:id="rId4"/>
    <p:sldId id="259" r:id="rId5"/>
    <p:sldId id="256" r:id="rId6"/>
    <p:sldId id="372" r:id="rId7"/>
    <p:sldId id="260" r:id="rId8"/>
    <p:sldId id="261" r:id="rId9"/>
    <p:sldId id="461" r:id="rId10"/>
    <p:sldId id="455" r:id="rId11"/>
    <p:sldId id="439" r:id="rId12"/>
    <p:sldId id="394" r:id="rId13"/>
    <p:sldId id="262" r:id="rId14"/>
    <p:sldId id="456" r:id="rId15"/>
    <p:sldId id="457" r:id="rId16"/>
    <p:sldId id="458" r:id="rId17"/>
    <p:sldId id="492" r:id="rId18"/>
    <p:sldId id="459" r:id="rId19"/>
    <p:sldId id="441" r:id="rId20"/>
    <p:sldId id="460" r:id="rId21"/>
    <p:sldId id="462" r:id="rId22"/>
    <p:sldId id="463" r:id="rId23"/>
    <p:sldId id="464" r:id="rId24"/>
    <p:sldId id="465" r:id="rId25"/>
    <p:sldId id="468" r:id="rId26"/>
    <p:sldId id="466" r:id="rId27"/>
    <p:sldId id="467" r:id="rId28"/>
    <p:sldId id="500" r:id="rId29"/>
    <p:sldId id="469" r:id="rId30"/>
    <p:sldId id="482" r:id="rId31"/>
    <p:sldId id="276" r:id="rId32"/>
    <p:sldId id="493" r:id="rId33"/>
    <p:sldId id="470" r:id="rId34"/>
    <p:sldId id="480" r:id="rId35"/>
    <p:sldId id="471" r:id="rId36"/>
    <p:sldId id="474" r:id="rId37"/>
    <p:sldId id="473" r:id="rId38"/>
    <p:sldId id="475" r:id="rId39"/>
    <p:sldId id="472" r:id="rId40"/>
    <p:sldId id="476" r:id="rId41"/>
    <p:sldId id="477" r:id="rId42"/>
    <p:sldId id="478" r:id="rId43"/>
    <p:sldId id="479" r:id="rId44"/>
    <p:sldId id="381" r:id="rId45"/>
    <p:sldId id="396" r:id="rId46"/>
    <p:sldId id="341" r:id="rId47"/>
    <p:sldId id="413" r:id="rId48"/>
    <p:sldId id="421" r:id="rId49"/>
    <p:sldId id="481" r:id="rId50"/>
    <p:sldId id="496" r:id="rId51"/>
    <p:sldId id="444" r:id="rId52"/>
    <p:sldId id="397" r:id="rId53"/>
    <p:sldId id="265" r:id="rId54"/>
    <p:sldId id="484" r:id="rId55"/>
    <p:sldId id="488" r:id="rId56"/>
    <p:sldId id="489" r:id="rId57"/>
    <p:sldId id="490" r:id="rId58"/>
    <p:sldId id="363" r:id="rId59"/>
    <p:sldId id="365" r:id="rId60"/>
    <p:sldId id="494" r:id="rId61"/>
    <p:sldId id="498" r:id="rId62"/>
    <p:sldId id="497" r:id="rId63"/>
    <p:sldId id="499" r:id="rId64"/>
    <p:sldId id="495" r:id="rId65"/>
    <p:sldId id="483" r:id="rId66"/>
    <p:sldId id="393" r:id="rId67"/>
    <p:sldId id="434" r:id="rId68"/>
    <p:sldId id="435" r:id="rId69"/>
    <p:sldId id="485" r:id="rId70"/>
    <p:sldId id="486" r:id="rId71"/>
    <p:sldId id="487" r:id="rId7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17"/>
    <p:restoredTop sz="96327"/>
  </p:normalViewPr>
  <p:slideViewPr>
    <p:cSldViewPr snapToGrid="0" snapToObjects="1">
      <p:cViewPr varScale="1">
        <p:scale>
          <a:sx n="119" d="100"/>
          <a:sy n="119" d="100"/>
        </p:scale>
        <p:origin x="200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5/14/26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DiscreteLogarithm/canonical-random-float/tree/master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dl.acm.org/doi/pdf/10.1145/374784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6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clang.llvm.org/docs/UsersManual.html#controlling-floating-point-behavior" TargetMode="External"/><Relationship Id="rId2" Type="http://schemas.openxmlformats.org/officeDocument/2006/relationships/hyperlink" Target="https://gcc.gnu.org/wiki/FloatingPointMath" TargetMode="Externa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nvidia.com/cuda/floating-point/index.html" TargetMode="External"/><Relationship Id="rId2" Type="http://schemas.openxmlformats.org/officeDocument/2006/relationships/hyperlink" Target="https://stackoverflow.com/questions/43352510/difference-in-gcc-ffp-contract-options" TargetMode="Externa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godbolt.org/z/5TWjsKqha" TargetMode="Externa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ro.umontreal.ca/~mignotte/IFT2425/Disasters.html" TargetMode="External"/><Relationship Id="rId7" Type="http://schemas.openxmlformats.org/officeDocument/2006/relationships/image" Target="../media/image7.png"/><Relationship Id="rId2" Type="http://schemas.openxmlformats.org/officeDocument/2006/relationships/hyperlink" Target="http://ta.twi.tudelft.nl/users/vuik/wi211/disasters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pavpanchekha.com/blog/casio-mathjs.html" TargetMode="External"/><Relationship Id="rId5" Type="http://schemas.openxmlformats.org/officeDocument/2006/relationships/hyperlink" Target="https://medium.com/@sohail_saifii/the-floating-point-standard-thats-silently-breaking-financial-software-7f7e93430dbb" TargetMode="External"/><Relationship Id="rId4" Type="http://schemas.openxmlformats.org/officeDocument/2006/relationships/hyperlink" Target="https://slate.com/technology/2019/10/round-floor-software-errors-stock-market-battlefield.html" TargetMode="Externa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book/10.1007/978-3-319-76526-6" TargetMode="External"/><Relationship Id="rId2" Type="http://schemas.openxmlformats.org/officeDocument/2006/relationships/hyperlink" Target="https://dl.acm.org/doi/pdf/10.1145/103162.103163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cambridge.org/core/journals/acta-numerica/article/floatingpoint-arithmetic/287C4D5F6D4A43FBEEB1ABED2A405AAF" TargetMode="External"/><Relationship Id="rId4" Type="http://schemas.openxmlformats.org/officeDocument/2006/relationships/hyperlink" Target="https://link.springer.com/book/10.1007/978-1-4899-7983-4" TargetMode="Externa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hyperlink" Target="https://cms-tklayout.web.cern.ch/cmssw/OT806_IT742/info.html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2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877CA273-1CC2-C1BA-A822-8DE49B0B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Definitions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C31635A-7149-86F9-0BD6-6CC2B2D84A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067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922" y="2055813"/>
            <a:ext cx="11444934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(# significant digits)  printed in decimal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printed in </a:t>
            </a:r>
            <a:r>
              <a:rPr lang="en-US" dirty="0" err="1"/>
              <a:t>exadecimal</a:t>
            </a:r>
            <a:endParaRPr lang="en-US" dirty="0"/>
          </a:p>
          <a:p>
            <a:pPr marL="0" indent="0">
              <a:buNone/>
            </a:pPr>
            <a:r>
              <a:rPr lang="en-US" sz="1900" dirty="0"/>
              <a:t>(printed in binary is a 1 followed by a string of 23bits</a:t>
            </a:r>
            <a:r>
              <a:rPr lang="en-US" sz="1900" baseline="30000" dirty="0"/>
              <a:t>, </a:t>
            </a:r>
            <a:r>
              <a:rPr lang="cs-CZ" altLang="x-none" sz="1900" dirty="0">
                <a:latin typeface="Lucida Console" charset="0"/>
              </a:rPr>
              <a:t>1.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1001</a:t>
            </a:r>
            <a:r>
              <a:rPr lang="cs-CZ" altLang="x-none" sz="1900" dirty="0">
                <a:latin typeface="Lucida Console" charset="0"/>
              </a:rPr>
              <a:t>0010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0001</a:t>
            </a:r>
            <a:r>
              <a:rPr lang="cs-CZ" altLang="x-none" sz="1900" dirty="0">
                <a:latin typeface="Lucida Console" charset="0"/>
              </a:rPr>
              <a:t>1111</a:t>
            </a:r>
            <a:r>
              <a:rPr lang="cs-CZ" altLang="x-none" sz="1900" dirty="0">
                <a:solidFill>
                  <a:srgbClr val="0070C0"/>
                </a:solidFill>
                <a:latin typeface="Lucida Console" charset="0"/>
              </a:rPr>
              <a:t>1011</a:t>
            </a:r>
            <a:r>
              <a:rPr lang="cs-CZ" altLang="x-none" sz="1900" dirty="0">
                <a:latin typeface="Lucida Console" charset="0"/>
              </a:rPr>
              <a:t>011</a:t>
            </a:r>
            <a:r>
              <a:rPr lang="is-IS" altLang="x-none" sz="1900" dirty="0">
                <a:latin typeface="Lucida Console" charset="0"/>
              </a:rPr>
              <a:t> </a:t>
            </a:r>
            <a:r>
              <a:rPr lang="en-US" sz="1900" dirty="0"/>
              <a:t>in hex last digit is therefore always even)</a:t>
            </a:r>
          </a:p>
          <a:p>
            <a:pPr marL="0" indent="0">
              <a:buNone/>
            </a:pP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The result of a measurement is 3.1415 and its accuracy, say, 0.1.</a:t>
            </a:r>
          </a:p>
          <a:p>
            <a:pPr marL="0" indent="0">
              <a:buNone/>
            </a:pPr>
            <a:r>
              <a:rPr lang="en-US" dirty="0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 dirty="0"/>
              <a:t>3.1415 -&gt; 3.1  (3.1515 -&gt; 3.2)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represents all numbers in the interval [30.5ᐧ10</a:t>
            </a:r>
            <a:r>
              <a:rPr lang="en-US" baseline="30000" dirty="0"/>
              <a:t>-1</a:t>
            </a:r>
            <a:r>
              <a:rPr lang="en-US" dirty="0"/>
              <a:t>, 31.5ᐧ10</a:t>
            </a:r>
            <a:r>
              <a:rPr lang="en-US" baseline="30000" dirty="0"/>
              <a:t>-1</a:t>
            </a:r>
            <a:r>
              <a:rPr lang="en-US" dirty="0"/>
              <a:t>]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represents all numbers in the interval [</a:t>
            </a:r>
            <a:r>
              <a:rPr lang="cs-CZ" altLang="x-none" dirty="0"/>
              <a:t>1.921fb5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,1.921fb7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]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pic>
        <p:nvPicPr>
          <p:cNvPr id="15362" name="Picture 2" descr="Pi Equals">
            <a:extLst>
              <a:ext uri="{FF2B5EF4-FFF2-40B4-BE49-F238E27FC236}">
                <a16:creationId xmlns:a16="http://schemas.microsoft.com/office/drawing/2014/main" id="{083F5442-B7FC-9AA9-B37F-416157F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591" y="0"/>
            <a:ext cx="2952504" cy="155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5"/>
            <a:ext cx="8229600" cy="842444"/>
          </a:xfrm>
        </p:spPr>
        <p:txBody>
          <a:bodyPr/>
          <a:lstStyle/>
          <a:p>
            <a:r>
              <a:rPr lang="en-US" altLang="x-none" dirty="0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754098" y="836612"/>
            <a:ext cx="10599701" cy="5160151"/>
          </a:xfrm>
        </p:spPr>
        <p:txBody>
          <a:bodyPr>
            <a:normAutofit/>
          </a:bodyPr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r>
              <a:rPr lang="en-US" altLang="x-none" sz="2200" dirty="0"/>
              <a:t>A ”function”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correctly rounded </a:t>
            </a:r>
            <a:r>
              <a:rPr lang="en-US" altLang="x-none" sz="2200" dirty="0"/>
              <a:t>if the result corresponds to the rounded true value</a:t>
            </a:r>
          </a:p>
          <a:p>
            <a:r>
              <a:rPr lang="en-US" altLang="x-none" sz="2200" dirty="0"/>
              <a:t>A “function” is </a:t>
            </a:r>
            <a:r>
              <a:rPr lang="en-US" altLang="x-none" sz="2200" b="1" dirty="0">
                <a:solidFill>
                  <a:srgbClr val="FF0000"/>
                </a:solidFill>
              </a:rPr>
              <a:t>faithfully rounded </a:t>
            </a:r>
            <a:r>
              <a:rPr lang="en-US" altLang="x-none" sz="2200" dirty="0"/>
              <a:t>if the result corresponds to one of the two FP closest to the true value</a:t>
            </a:r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6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32135305"/>
              </p:ext>
            </p:extLst>
          </p:nvPr>
        </p:nvGraphicFramePr>
        <p:xfrm>
          <a:off x="1790700" y="3267739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 dirty="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3.14159274e+00 0x1.921fb6p+1   01000000010010010000111111011011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1.00000001e-01 0x1.99999ap-4   00111101110011001100110011001101</a:t>
            </a:r>
            <a:endParaRPr lang="is-IS" altLang="x-none" sz="1600" dirty="0">
              <a:latin typeface="Lucida Console" charset="0"/>
            </a:endParaRP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</a:t>
            </a:r>
            <a:r>
              <a:rPr lang="cs-CZ" altLang="x-none" sz="1600" dirty="0" err="1">
                <a:latin typeface="Lucida Console" charset="0"/>
              </a:rPr>
              <a:t>nan</a:t>
            </a:r>
            <a:r>
              <a:rPr lang="cs-CZ" altLang="x-none" sz="1600" dirty="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 dirty="0">
                <a:latin typeface="Lucida Console" charset="0"/>
              </a:rPr>
              <a:t>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-</a:t>
            </a:r>
            <a:r>
              <a:rPr lang="cs-CZ" altLang="x-none" sz="1600" dirty="0" err="1">
                <a:latin typeface="Lucida Console" charset="0"/>
              </a:rPr>
              <a:t>inf</a:t>
            </a:r>
            <a:r>
              <a:rPr lang="cs-CZ" altLang="x-none" sz="1600" dirty="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 dirty="0">
                <a:latin typeface="Lucida Console" charset="0"/>
              </a:rPr>
              <a:t>2.93873588e-39 0x1p-128        00000000001000000000000000000000</a:t>
            </a:r>
            <a:endParaRPr lang="en-US" altLang="x-none" sz="1600" dirty="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12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intrinsic “float” is actually double precision</a:t>
            </a:r>
          </a:p>
          <a:p>
            <a:pPr lvl="1"/>
            <a:r>
              <a:rPr lang="en-US" dirty="0" err="1"/>
              <a:t>float.hex</a:t>
            </a:r>
            <a:r>
              <a:rPr lang="en-US" dirty="0"/>
              <a:t>() and </a:t>
            </a:r>
            <a:r>
              <a:rPr lang="en-US" dirty="0" err="1"/>
              <a:t>float.fromhex</a:t>
            </a:r>
            <a:r>
              <a:rPr lang="en-US" dirty="0"/>
              <a:t>() allows to convert to/from </a:t>
            </a:r>
            <a:r>
              <a:rPr lang="en-US" dirty="0" err="1"/>
              <a:t>exadecimal</a:t>
            </a:r>
            <a:r>
              <a:rPr lang="en-US" dirty="0"/>
              <a:t> string</a:t>
            </a:r>
          </a:p>
          <a:p>
            <a:r>
              <a:rPr lang="en-US" b="1" dirty="0" err="1"/>
              <a:t>numpy</a:t>
            </a:r>
            <a:r>
              <a:rPr lang="en-US" dirty="0"/>
              <a:t> defines float16, float32, float64 (and float128 on x86_64)</a:t>
            </a:r>
          </a:p>
          <a:p>
            <a:pPr lvl="1"/>
            <a:r>
              <a:rPr lang="en-US" dirty="0">
                <a:hlinkClick r:id="rId2"/>
              </a:rPr>
              <a:t>https://numpy.org/doc/2.3/reference/arrays.scalars.html - floating-point-types</a:t>
            </a:r>
            <a:endParaRPr lang="en-US" dirty="0"/>
          </a:p>
          <a:p>
            <a:r>
              <a:rPr lang="en-US" b="1" dirty="0"/>
              <a:t>decimal</a:t>
            </a:r>
            <a:r>
              <a:rPr lang="en-US" dirty="0"/>
              <a:t> is a module providing FP in base 10 of arbitrary precision</a:t>
            </a:r>
          </a:p>
          <a:p>
            <a:pPr lvl="1"/>
            <a:r>
              <a:rPr lang="en-US" dirty="0">
                <a:hlinkClick r:id="rId3"/>
              </a:rPr>
              <a:t>https://docs.python.org/3/library/decimal.html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Either in Python or C++</a:t>
            </a:r>
          </a:p>
          <a:p>
            <a:endParaRPr lang="en-US" dirty="0"/>
          </a:p>
          <a:p>
            <a:r>
              <a:rPr lang="en-US" dirty="0"/>
              <a:t>For C++ one can use </a:t>
            </a:r>
            <a:r>
              <a:rPr lang="en-US" dirty="0" err="1"/>
              <a:t>godbolt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https://godbolt.org/z/d1e18j3jK</a:t>
            </a:r>
            <a:r>
              <a:rPr lang="en-US" dirty="0"/>
              <a:t>  ) </a:t>
            </a:r>
          </a:p>
          <a:p>
            <a:r>
              <a:rPr lang="en-US" dirty="0"/>
              <a:t>For Python either a python3 shell on your PC, or a </a:t>
            </a:r>
            <a:r>
              <a:rPr lang="en-US" dirty="0" err="1"/>
              <a:t>jupyter</a:t>
            </a:r>
            <a:r>
              <a:rPr lang="en-US" dirty="0"/>
              <a:t> notebook or the browser shell in </a:t>
            </a:r>
            <a:r>
              <a:rPr lang="en-US" dirty="0">
                <a:hlinkClick r:id="rId3"/>
              </a:rPr>
              <a:t>https://numpy.org/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it is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F32694B-AEEB-1E1F-B63A-2144C72242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5507" y="120649"/>
            <a:ext cx="2686493" cy="3276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31FB2D1-E638-8436-6181-3DD3F5D6CB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Arithmetic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C5FF7A-0C3D-FF58-DA20-F0FF12133A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DAA0DD5-6E6E-B116-6F88-54DC2F0B1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1079" y="252819"/>
            <a:ext cx="2760921" cy="3517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4885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25722"/>
          </a:xfrm>
        </p:spPr>
        <p:txBody>
          <a:bodyPr/>
          <a:lstStyle/>
          <a:p>
            <a:r>
              <a:rPr lang="en-US" dirty="0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951" y="1190848"/>
            <a:ext cx="11232292" cy="5025596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There are two basic operations: 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  <a:p>
            <a:pPr marL="457200" lvl="1" indent="0">
              <a:buNone/>
            </a:pPr>
            <a:endParaRPr lang="en-US" dirty="0"/>
          </a:p>
          <a:p>
            <a:r>
              <a:rPr lang="en-US" dirty="0"/>
              <a:t>FP Arithmetic is not associative and can lead to  loss of precision up to catastrophic cancellations</a:t>
            </a:r>
          </a:p>
          <a:p>
            <a:pPr lvl="1"/>
            <a:r>
              <a:rPr lang="en-US" altLang="x-none" dirty="0"/>
              <a:t>x + </a:t>
            </a:r>
            <a:r>
              <a:rPr lang="en-US" altLang="x-none" dirty="0" err="1"/>
              <a:t>ε</a:t>
            </a:r>
            <a:r>
              <a:rPr lang="en-US" altLang="x-none" dirty="0"/>
              <a:t> – x </a:t>
            </a:r>
            <a:r>
              <a:rPr lang="en-US" altLang="x-none" sz="2800" dirty="0"/>
              <a:t>≠ </a:t>
            </a:r>
            <a:r>
              <a:rPr lang="en-US" altLang="x-none" dirty="0" err="1"/>
              <a:t>ε</a:t>
            </a:r>
            <a:r>
              <a:rPr lang="en-US" altLang="x-none" dirty="0"/>
              <a:t> </a:t>
            </a:r>
            <a:r>
              <a:rPr lang="en-US" altLang="x-none" dirty="0">
                <a:latin typeface="Wingdings" charset="2"/>
              </a:rPr>
              <a:t> </a:t>
            </a:r>
            <a:r>
              <a:rPr lang="en-US" altLang="x-none" dirty="0"/>
              <a:t>(can easily be 0 or </a:t>
            </a:r>
            <a:r>
              <a:rPr lang="en-US" altLang="x-none" sz="2800" dirty="0"/>
              <a:t>∞</a:t>
            </a:r>
            <a:r>
              <a:rPr lang="en-US" altLang="x-none" dirty="0"/>
              <a:t> ) </a:t>
            </a:r>
          </a:p>
          <a:p>
            <a:pPr marL="457200" lvl="1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19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610094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Improved algorithms exist: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differently handling of various magnitude ranges (“big”, “medium”, “tiny”)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 (partial) sorting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optimization for parallelism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877" y="2443893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 dirty="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641AD1-6BCC-8312-7490-CF01BD728E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1052"/>
            <a:ext cx="5070696" cy="2432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667574" y="819129"/>
            <a:ext cx="10515600" cy="2887663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 </a:t>
            </a:r>
          </a:p>
          <a:p>
            <a:pPr lvl="1"/>
            <a:r>
              <a:rPr lang="en-US" sz="2100" dirty="0"/>
              <a:t>(credit Tim Mattson)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CDA643-93BC-3983-D41A-F0D417A45E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7A2EBE-91A8-7259-E824-37E3C23E09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the equation </a:t>
            </a:r>
            <a:r>
              <a:rPr lang="en-US" i="1" dirty="0"/>
              <a:t>x</a:t>
            </a:r>
            <a:r>
              <a:rPr lang="en-US" i="1" baseline="30000" dirty="0"/>
              <a:t>2</a:t>
            </a:r>
            <a:r>
              <a:rPr lang="en-US" i="1" dirty="0"/>
              <a:t> – 2bx +1 = 0 </a:t>
            </a:r>
            <a:r>
              <a:rPr lang="en-US" dirty="0"/>
              <a:t>using the “high-school” formula</a:t>
            </a:r>
          </a:p>
          <a:p>
            <a:pPr lvl="1"/>
            <a:r>
              <a:rPr lang="en-US" dirty="0"/>
              <a:t>What is the smallest value of b (single precision) for which one of the solution becomes 0?</a:t>
            </a:r>
          </a:p>
          <a:p>
            <a:pPr lvl="1"/>
            <a:r>
              <a:rPr lang="en-US" dirty="0"/>
              <a:t>What is instead the correct result? (use only single precision computations)</a:t>
            </a:r>
          </a:p>
        </p:txBody>
      </p:sp>
    </p:spTree>
    <p:extLst>
      <p:ext uri="{BB962C8B-B14F-4D97-AF65-F5344CB8AC3E}">
        <p14:creationId xmlns:p14="http://schemas.microsoft.com/office/powerpoint/2010/main" val="19390380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FA2A27-8BC3-D8E6-E35B-0D725A86A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Uniform vs canonical</a:t>
            </a:r>
            <a:br>
              <a:rPr lang="en-US" dirty="0"/>
            </a:br>
            <a:r>
              <a:rPr lang="en-US" sz="2200" dirty="0"/>
              <a:t>(for a detailed discussion see among others</a:t>
            </a:r>
            <a:br>
              <a:rPr lang="en-US" sz="2200" dirty="0"/>
            </a:br>
            <a:r>
              <a:rPr lang="en-US" sz="2200" dirty="0">
                <a:hlinkClick r:id="rId2"/>
              </a:rPr>
              <a:t>https://github.com/DiscreteLogarithm/canonical-random-float/tree/master</a:t>
            </a:r>
            <a:r>
              <a:rPr lang="en-US" sz="2200" dirty="0"/>
              <a:t>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8EBA84-CCDB-3151-928F-7A00CCB87D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51037" cy="466725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u="sng" dirty="0"/>
              <a:t>Uniform in range [</a:t>
            </a:r>
            <a:r>
              <a:rPr lang="en-US" u="sng" dirty="0" err="1"/>
              <a:t>a,b</a:t>
            </a:r>
            <a:r>
              <a:rPr lang="en-US" u="sng" dirty="0"/>
              <a:t>)</a:t>
            </a:r>
          </a:p>
          <a:p>
            <a:r>
              <a:rPr lang="en-US" dirty="0"/>
              <a:t>Throw 32 coins: interpret as a positive integer N</a:t>
            </a:r>
          </a:p>
          <a:p>
            <a:r>
              <a:rPr lang="en-US" dirty="0"/>
              <a:t>Compute r = float(N)/float(2</a:t>
            </a:r>
            <a:r>
              <a:rPr lang="en-US" baseline="30000" dirty="0"/>
              <a:t>32</a:t>
            </a:r>
            <a:r>
              <a:rPr lang="en-US" dirty="0"/>
              <a:t>)*(b-a) –a</a:t>
            </a:r>
          </a:p>
          <a:p>
            <a:pPr marL="0" indent="0">
              <a:buNone/>
            </a:pPr>
            <a:endParaRPr lang="en-US" baseline="30000" dirty="0"/>
          </a:p>
          <a:p>
            <a:pPr marL="0" indent="0">
              <a:buNone/>
            </a:pPr>
            <a:r>
              <a:rPr lang="en-US" u="sng" dirty="0"/>
              <a:t>Canonical</a:t>
            </a:r>
          </a:p>
          <a:p>
            <a:r>
              <a:rPr lang="en-US" dirty="0"/>
              <a:t>Throw 23 coins: set significand of r to them</a:t>
            </a:r>
          </a:p>
          <a:p>
            <a:r>
              <a:rPr lang="en-US" dirty="0"/>
              <a:t>Throw one more coin: if 1 set exponent of r to -1: uniform in [0.5,1)</a:t>
            </a:r>
          </a:p>
          <a:p>
            <a:pPr lvl="1"/>
            <a:r>
              <a:rPr lang="en-US" dirty="0"/>
              <a:t>If 0 :Throw one more coin: if 1 set exponent of r to -2: uniform in [0.25,0.5)</a:t>
            </a:r>
          </a:p>
          <a:p>
            <a:pPr lvl="2"/>
            <a:r>
              <a:rPr lang="en-US" dirty="0"/>
              <a:t>If 0:  Throw one more coin: if 1 set exponent of r to -3: uniform in [0.125,0.25)</a:t>
            </a:r>
          </a:p>
          <a:p>
            <a:pPr lvl="3"/>
            <a:r>
              <a:rPr lang="en-US" dirty="0"/>
              <a:t>If 0:  Throw one more coin: if 1 set exponent of r to -4: uniform in [0.0625,0.125)</a:t>
            </a:r>
          </a:p>
          <a:p>
            <a:pPr lvl="4"/>
            <a:r>
              <a:rPr lang="en-US" dirty="0"/>
              <a:t>If 0: ….	</a:t>
            </a:r>
          </a:p>
          <a:p>
            <a:r>
              <a:rPr lang="en-US" dirty="0"/>
              <a:t>If symmetric interval around 0 needed : use last coin to choose sign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5438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690117-F887-E4E1-FE6A-411EDB8C63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349372"/>
            <a:ext cx="10515600" cy="1515153"/>
          </a:xfrm>
        </p:spPr>
        <p:txBody>
          <a:bodyPr>
            <a:normAutofit/>
          </a:bodyPr>
          <a:lstStyle/>
          <a:p>
            <a:r>
              <a:rPr lang="en-US" dirty="0"/>
              <a:t> Gaussian Tail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CF096E-5ACB-4EFC-C309-58C23DF222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7628" y="497991"/>
            <a:ext cx="7630275" cy="1325562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Generated 256*10</a:t>
            </a:r>
            <a:r>
              <a:rPr lang="en-US" baseline="30000" dirty="0"/>
              <a:t>9 </a:t>
            </a:r>
            <a:r>
              <a:rPr lang="en-US" dirty="0"/>
              <a:t>Normal distributed using Box-Muller</a:t>
            </a:r>
            <a:endParaRPr lang="en-US" baseline="30000" dirty="0"/>
          </a:p>
          <a:p>
            <a:pPr marL="0" indent="0">
              <a:buNone/>
            </a:pPr>
            <a:endParaRPr lang="en-US" baseline="30000" dirty="0"/>
          </a:p>
          <a:p>
            <a:r>
              <a:rPr lang="en-US" baseline="30000" dirty="0">
                <a:solidFill>
                  <a:srgbClr val="FF0000"/>
                </a:solidFill>
              </a:rPr>
              <a:t>Mix: 23 bits for U2, 41 bits for U1 </a:t>
            </a:r>
          </a:p>
          <a:p>
            <a:r>
              <a:rPr lang="en-US" baseline="30000" dirty="0">
                <a:solidFill>
                  <a:srgbClr val="7030A0"/>
                </a:solidFill>
              </a:rPr>
              <a:t>Lux: all-possible floats for both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389EE30-8AD0-5E32-BF70-8C3EE90C67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252" y="1864525"/>
            <a:ext cx="10502900" cy="4610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1A93714-3098-EE65-A716-4C94B850ED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934" y="2770960"/>
            <a:ext cx="5838466" cy="162028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57850CB-9387-7EF8-62D7-531BD0082637}"/>
              </a:ext>
            </a:extLst>
          </p:cNvPr>
          <p:cNvSpPr txBox="1"/>
          <p:nvPr/>
        </p:nvSpPr>
        <p:spPr>
          <a:xfrm>
            <a:off x="5562600" y="2349754"/>
            <a:ext cx="28618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Box-Muller Algorithm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5A6DC3-61D8-A584-FC6E-3B5A7EC540A4}"/>
              </a:ext>
            </a:extLst>
          </p:cNvPr>
          <p:cNvSpPr txBox="1"/>
          <p:nvPr/>
        </p:nvSpPr>
        <p:spPr>
          <a:xfrm>
            <a:off x="3348370" y="5561930"/>
            <a:ext cx="219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B050"/>
                </a:solidFill>
              </a:rPr>
              <a:t>sqrt(-2log(2</a:t>
            </a:r>
            <a:r>
              <a:rPr lang="en-US" baseline="30000" dirty="0">
                <a:solidFill>
                  <a:srgbClr val="00B050"/>
                </a:solidFill>
              </a:rPr>
              <a:t>-32</a:t>
            </a:r>
            <a:r>
              <a:rPr lang="en-US" dirty="0">
                <a:solidFill>
                  <a:srgbClr val="00B050"/>
                </a:solidFill>
              </a:rPr>
              <a:t>)) ~ 6.6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989CB7-7507-EAB2-FB48-25D5A0CE8A2C}"/>
              </a:ext>
            </a:extLst>
          </p:cNvPr>
          <p:cNvSpPr txBox="1"/>
          <p:nvPr/>
        </p:nvSpPr>
        <p:spPr>
          <a:xfrm>
            <a:off x="1612584" y="4478262"/>
            <a:ext cx="23464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C000"/>
                </a:solidFill>
              </a:rPr>
              <a:t>sqrt(-2log(2</a:t>
            </a:r>
            <a:r>
              <a:rPr lang="en-US" baseline="30000" dirty="0">
                <a:solidFill>
                  <a:srgbClr val="FFC000"/>
                </a:solidFill>
              </a:rPr>
              <a:t>-23</a:t>
            </a:r>
            <a:r>
              <a:rPr lang="en-US" dirty="0">
                <a:solidFill>
                  <a:srgbClr val="FFC000"/>
                </a:solidFill>
              </a:rPr>
              <a:t>)) ~ 5.6 </a:t>
            </a:r>
          </a:p>
        </p:txBody>
      </p:sp>
    </p:spTree>
    <p:extLst>
      <p:ext uri="{BB962C8B-B14F-4D97-AF65-F5344CB8AC3E}">
        <p14:creationId xmlns:p14="http://schemas.microsoft.com/office/powerpoint/2010/main" val="244306453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5019E70-22B4-DF02-AE05-678200F03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23C798C-9A31-71FC-75F9-46194DA10B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74319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5/14/26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34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0219" y="389767"/>
            <a:ext cx="10515600" cy="1031189"/>
          </a:xfrm>
        </p:spPr>
        <p:txBody>
          <a:bodyPr>
            <a:normAutofit fontScale="90000"/>
          </a:bodyPr>
          <a:lstStyle/>
          <a:p>
            <a:r>
              <a:rPr lang="en-US" dirty="0"/>
              <a:t>Evaluating a function</a:t>
            </a:r>
            <a:br>
              <a:rPr lang="en-US" dirty="0"/>
            </a:br>
            <a:r>
              <a:rPr lang="en-US" sz="2700" dirty="0"/>
              <a:t>for a recent review see </a:t>
            </a:r>
            <a:r>
              <a:rPr lang="en-US" sz="2700" dirty="0">
                <a:hlinkClick r:id="rId2"/>
              </a:rPr>
              <a:t>https://dl.acm.org/doi/pdf/10.1145/3747840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0956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r>
              <a:rPr lang="en-US" dirty="0"/>
              <a:t> ,</a:t>
            </a:r>
            <a:r>
              <a:rPr lang="en-US" dirty="0" err="1"/>
              <a:t>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</a:t>
            </a:r>
            <a:r>
              <a:rPr lang="en-US" dirty="0"/>
              <a:t>, hyperbolic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polynomials)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</a:t>
            </a:r>
            <a:r>
              <a:rPr lang="en-US"/>
              <a:t>of 0’s or 1’s </a:t>
            </a:r>
            <a:r>
              <a:rPr lang="en-US" dirty="0"/>
              <a:t>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polynomials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</a:t>
            </a:r>
            <a:r>
              <a:rPr lang="en-US" dirty="0">
                <a:solidFill>
                  <a:srgbClr val="00B050"/>
                </a:solidFill>
                <a:ea typeface="ＭＳ Ｐゴシック" charset="0"/>
                <a:cs typeface="ＭＳ Ｐゴシック" charset="0"/>
              </a:rPr>
              <a:t>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44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3621C5-E9B6-B128-7E8C-1106B6775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926" y="222841"/>
            <a:ext cx="3595133" cy="2708662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10515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2"/>
            <a:r>
              <a:rPr lang="en-US" altLang="x-none" dirty="0"/>
              <a:t>Comes from specs</a:t>
            </a:r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with a “refence” or a different algorithm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45</a:t>
            </a:fld>
            <a:endParaRPr lang="it-IT" altLang="x-none" sz="1200" dirty="0">
              <a:latin typeface="Garamond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DD03EE8-298C-72E4-E36F-510A2727F92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564"/>
          <a:stretch>
            <a:fillRect/>
          </a:stretch>
        </p:blipFill>
        <p:spPr>
          <a:xfrm>
            <a:off x="7783033" y="0"/>
            <a:ext cx="4205767" cy="3814452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179882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r>
              <a:rPr lang="en-US" altLang="x-none" sz="3100" dirty="0"/>
              <a:t>  (</a:t>
            </a:r>
            <a:r>
              <a:rPr lang="en-US" altLang="x-none" sz="3100" dirty="0" err="1"/>
              <a:t>icelake</a:t>
            </a:r>
            <a:r>
              <a:rPr lang="en-US" altLang="x-none" sz="3100" dirty="0"/>
              <a:t> &amp; zen5)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46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1675639"/>
              </p:ext>
            </p:extLst>
          </p:nvPr>
        </p:nvGraphicFramePr>
        <p:xfrm>
          <a:off x="192040" y="1258208"/>
          <a:ext cx="8755475" cy="5045556"/>
        </p:xfrm>
        <a:graphic>
          <a:graphicData uri="http://schemas.openxmlformats.org/drawingml/2006/table">
            <a:tbl>
              <a:tblPr/>
              <a:tblGrid>
                <a:gridCol w="203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90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74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67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9270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81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8869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latency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inv throughput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231522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 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042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==, &lt;,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6389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f=d,  d=f ,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=f, f=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 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1-2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0.25-0.5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5-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              </a:t>
                      </a: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70C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a*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b+c</a:t>
                      </a:r>
                      <a:endParaRPr kumimoji="0" lang="en-US" altLang="x-none" sz="1800" b="1" i="0" u="none" strike="noStrike" cap="none" normalizeH="0" baseline="0" dirty="0">
                        <a:ln>
                          <a:noFill/>
                        </a:ln>
                        <a:solidFill>
                          <a:srgbClr val="00B05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FMA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423246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11-20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13-29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3-12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4-24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5485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4-5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0.5-1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0.25,1,…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719922" y="5891212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85B03D6-E391-FBB4-E70E-AF7A8A4F1A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32778" y="4857420"/>
            <a:ext cx="2338003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(does not vectorize on intel?)</a:t>
            </a:r>
          </a:p>
        </p:txBody>
      </p:sp>
      <p:sp>
        <p:nvSpPr>
          <p:cNvPr id="3" name="TextBox 1">
            <a:extLst>
              <a:ext uri="{FF2B5EF4-FFF2-40B4-BE49-F238E27FC236}">
                <a16:creationId xmlns:a16="http://schemas.microsoft.com/office/drawing/2014/main" id="{05D9CBA9-35AA-C16A-CDEF-B6A2DEBE05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25284" y="2598327"/>
            <a:ext cx="3189776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+ jump “overhead”</a:t>
            </a:r>
          </a:p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(</a:t>
            </a:r>
            <a:r>
              <a:rPr lang="en-US" altLang="x-none" sz="1800" b="1" dirty="0" err="1">
                <a:solidFill>
                  <a:srgbClr val="FF0000"/>
                </a:solidFill>
              </a:rPr>
              <a:t>mispredicted</a:t>
            </a:r>
            <a:r>
              <a:rPr lang="en-US" altLang="x-none" sz="1800" b="1" dirty="0">
                <a:solidFill>
                  <a:srgbClr val="FF0000"/>
                </a:solidFill>
              </a:rPr>
              <a:t> branches)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May 14,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47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69FCB-7BE9-A74E-8463-2464285FD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9904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GPU (T4) performance</a:t>
            </a:r>
            <a:br>
              <a:rPr lang="en-US" dirty="0"/>
            </a:br>
            <a:r>
              <a:rPr lang="en-US" sz="2700" dirty="0"/>
              <a:t>Brute-force inversion of 5x5 Pos-Def Matrix using Cholesky decomposition</a:t>
            </a:r>
            <a:br>
              <a:rPr lang="en-US" sz="2700" dirty="0"/>
            </a:br>
            <a:r>
              <a:rPr lang="en-US" sz="2200" dirty="0"/>
              <a:t>33 + , 29 - , 126 * , 5 / , no sqrt    (compiler optimization and </a:t>
            </a:r>
            <a:r>
              <a:rPr lang="en-US" sz="2200" dirty="0" err="1"/>
              <a:t>fma</a:t>
            </a:r>
            <a:r>
              <a:rPr lang="en-US" sz="2200" dirty="0"/>
              <a:t> will contract some)</a:t>
            </a:r>
            <a:br>
              <a:rPr lang="en-US" dirty="0"/>
            </a:br>
            <a:endParaRPr lang="en-US" dirty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474E113-7DC7-3421-A4F6-8A1704ABA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892" y="1690688"/>
            <a:ext cx="10502900" cy="4737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19980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9339341-6EAE-6208-2287-C0D9FD1AC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float vs double: summary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6943C6-1CAB-5CA7-900D-FC3BCCCA19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85383"/>
            <a:ext cx="10896600" cy="466023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In the old days: X87</a:t>
            </a:r>
          </a:p>
          <a:p>
            <a:pPr lvl="1"/>
            <a:r>
              <a:rPr lang="en-US" dirty="0"/>
              <a:t>Double faster than float!</a:t>
            </a:r>
          </a:p>
          <a:p>
            <a:r>
              <a:rPr lang="en-US" dirty="0"/>
              <a:t>X86_64 (and ARM, PPC, RISC)</a:t>
            </a:r>
          </a:p>
          <a:p>
            <a:pPr lvl="1"/>
            <a:r>
              <a:rPr lang="en-US" dirty="0"/>
              <a:t>Scalar: float and double same speed (but div, sqrt, memory bandwidth)</a:t>
            </a:r>
          </a:p>
          <a:p>
            <a:pPr lvl="1"/>
            <a:r>
              <a:rPr lang="en-US" dirty="0"/>
              <a:t>Vector: float twice faster than double</a:t>
            </a:r>
          </a:p>
          <a:p>
            <a:r>
              <a:rPr lang="en-US" dirty="0"/>
              <a:t>GPU: gaming and “Data Center”</a:t>
            </a:r>
          </a:p>
          <a:p>
            <a:pPr lvl="1"/>
            <a:r>
              <a:rPr lang="en-US" dirty="0"/>
              <a:t>Float 64 times faster than double</a:t>
            </a:r>
          </a:p>
          <a:p>
            <a:r>
              <a:rPr lang="en-US" dirty="0"/>
              <a:t>GPU: HPC</a:t>
            </a:r>
          </a:p>
          <a:p>
            <a:pPr lvl="1"/>
            <a:r>
              <a:rPr lang="en-US" dirty="0"/>
              <a:t>Float twice faster than double</a:t>
            </a:r>
          </a:p>
          <a:p>
            <a:r>
              <a:rPr lang="en-US" dirty="0"/>
              <a:t>GPU: AI</a:t>
            </a:r>
          </a:p>
          <a:p>
            <a:pPr lvl="1"/>
            <a:r>
              <a:rPr lang="en-US" dirty="0"/>
              <a:t>Optimized for low-precision tensor operations (GEMM can profit )  </a:t>
            </a:r>
          </a:p>
        </p:txBody>
      </p:sp>
    </p:spTree>
    <p:extLst>
      <p:ext uri="{BB962C8B-B14F-4D97-AF65-F5344CB8AC3E}">
        <p14:creationId xmlns:p14="http://schemas.microsoft.com/office/powerpoint/2010/main" val="142524461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51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9293" y="3209082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52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1981200" y="274639"/>
            <a:ext cx="8229600" cy="826029"/>
          </a:xfrm>
        </p:spPr>
        <p:txBody>
          <a:bodyPr/>
          <a:lstStyle/>
          <a:p>
            <a:r>
              <a:rPr lang="en-US" dirty="0"/>
              <a:t>Cash-Karp </a:t>
            </a:r>
            <a:r>
              <a:rPr lang="en-US" dirty="0" err="1"/>
              <a:t>Runge-Kutta</a:t>
            </a:r>
            <a:r>
              <a:rPr lang="en-US" dirty="0"/>
              <a:t> Step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F70A33-35F0-9B4A-A7F6-FA35E34CE217}" type="datetime1">
              <a:rPr lang="Zyyy" smtClean="0"/>
              <a:t>5/14/26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V.I.  Accuracy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53</a:t>
            </a:fld>
            <a:endParaRPr lang="en-US"/>
          </a:p>
        </p:txBody>
      </p:sp>
      <p:pic>
        <p:nvPicPr>
          <p:cNvPr id="9" name="Picture 8" descr="cash-karp01_Page_07.png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36" t="33059" r="6297" b="6677"/>
          <a:stretch/>
        </p:blipFill>
        <p:spPr>
          <a:xfrm>
            <a:off x="1981200" y="1002799"/>
            <a:ext cx="5428074" cy="571867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648201" y="3433704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5355638" y="4836348"/>
            <a:ext cx="674511" cy="419570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3343864" y="4895615"/>
            <a:ext cx="328319" cy="150518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3546123" y="5398439"/>
            <a:ext cx="310915" cy="285046"/>
          </a:xfrm>
          <a:prstGeom prst="rect">
            <a:avLst/>
          </a:prstGeom>
          <a:solidFill>
            <a:srgbClr val="FFFF00">
              <a:alpha val="43000"/>
            </a:srgbClr>
          </a:solidFill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271926" y="3584222"/>
            <a:ext cx="30208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0.9*step/</a:t>
            </a:r>
            <a:r>
              <a:rPr lang="en-US" sz="2000" b="1" dirty="0" err="1">
                <a:solidFill>
                  <a:srgbClr val="FF0000"/>
                </a:solidFill>
              </a:rPr>
              <a:t>pow</a:t>
            </a:r>
            <a:r>
              <a:rPr lang="en-US" sz="2000" b="1" dirty="0">
                <a:solidFill>
                  <a:srgbClr val="FF0000"/>
                </a:solidFill>
              </a:rPr>
              <a:t>(err/eps,0.2)</a:t>
            </a:r>
          </a:p>
        </p:txBody>
      </p:sp>
    </p:spTree>
    <p:extLst>
      <p:ext uri="{BB962C8B-B14F-4D97-AF65-F5344CB8AC3E}">
        <p14:creationId xmlns:p14="http://schemas.microsoft.com/office/powerpoint/2010/main" val="290878395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913FDDA4-89B5-877D-93D4-1990C58F6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pitfalls</a:t>
            </a:r>
            <a:br>
              <a:rPr lang="en-US" dirty="0"/>
            </a:br>
            <a:r>
              <a:rPr lang="en-US" dirty="0"/>
              <a:t>and opportunity for optimization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F1F237B-8A95-38B2-933F-ABFB35AAB7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50220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5CB7E1-A381-DEF2-2706-EBB6FDCB8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Language and compiler “rules”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35B978E-93D9-B6FA-ACA4-B18580F7F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essentially any language default FP </a:t>
            </a:r>
            <a:r>
              <a:rPr lang="en-US" dirty="0" err="1"/>
              <a:t>arith</a:t>
            </a:r>
            <a:r>
              <a:rPr lang="en-US" dirty="0"/>
              <a:t> is in double</a:t>
            </a:r>
          </a:p>
          <a:p>
            <a:pPr lvl="1"/>
            <a:r>
              <a:rPr lang="en-US" dirty="0"/>
              <a:t>Any other precision needs to be explicitly stated</a:t>
            </a:r>
          </a:p>
          <a:p>
            <a:pPr lvl="1"/>
            <a:r>
              <a:rPr lang="en-US" dirty="0"/>
              <a:t>One element in double and the expression will be evaluated in double</a:t>
            </a:r>
          </a:p>
          <a:p>
            <a:r>
              <a:rPr lang="en-US" dirty="0"/>
              <a:t>C and C++ compilers (</a:t>
            </a:r>
            <a:r>
              <a:rPr lang="en-US" dirty="0" err="1"/>
              <a:t>gcc</a:t>
            </a:r>
            <a:r>
              <a:rPr lang="en-US" dirty="0"/>
              <a:t>, clang) by default will never reorder or transform expressions if the result may change</a:t>
            </a:r>
          </a:p>
          <a:p>
            <a:pPr lvl="1"/>
            <a:r>
              <a:rPr lang="en-US" dirty="0"/>
              <a:t>FMA is (currently) an exception</a:t>
            </a:r>
          </a:p>
          <a:p>
            <a:r>
              <a:rPr lang="en-US" dirty="0"/>
              <a:t>C is a language born in the late `70</a:t>
            </a:r>
          </a:p>
          <a:p>
            <a:pPr lvl="1"/>
            <a:r>
              <a:rPr lang="en-US" dirty="0"/>
              <a:t>even C++ does not (potentially) break old code    </a:t>
            </a:r>
          </a:p>
        </p:txBody>
      </p:sp>
    </p:spTree>
    <p:extLst>
      <p:ext uri="{BB962C8B-B14F-4D97-AF65-F5344CB8AC3E}">
        <p14:creationId xmlns:p14="http://schemas.microsoft.com/office/powerpoint/2010/main" val="283465699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FE2FA-A275-FAF5-5F96-ED539A0087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Compiler option affecting FP Arith</a:t>
            </a:r>
            <a:br>
              <a:rPr lang="en-US" dirty="0"/>
            </a:br>
            <a:r>
              <a:rPr lang="en-US" sz="2700" dirty="0">
                <a:hlinkClick r:id="rId2"/>
              </a:rPr>
              <a:t>https://gcc.gnu.org/wiki/FloatingPointMath</a:t>
            </a:r>
            <a:br>
              <a:rPr lang="en-US" sz="3600" dirty="0"/>
            </a:br>
            <a:r>
              <a:rPr lang="en-US" sz="2700" dirty="0">
                <a:hlinkClick r:id="rId3"/>
              </a:rPr>
              <a:t>https://clang.llvm.org/docs/UsersManual.html - controlling-floating-point-behavior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359459-D064-7507-A5E8-7BBCD3FD1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10112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errno</a:t>
            </a:r>
            <a:r>
              <a:rPr lang="en-US" dirty="0">
                <a:solidFill>
                  <a:srgbClr val="00B05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</a:t>
            </a:r>
            <a:r>
              <a:rPr lang="en-US" dirty="0" err="1">
                <a:solidFill>
                  <a:srgbClr val="00B050"/>
                </a:solidFill>
              </a:rPr>
              <a:t>libc</a:t>
            </a:r>
            <a:r>
              <a:rPr lang="en-US" dirty="0">
                <a:solidFill>
                  <a:srgbClr val="00B050"/>
                </a:solidFill>
              </a:rPr>
              <a:t> error flag</a:t>
            </a:r>
          </a:p>
          <a:p>
            <a:r>
              <a:rPr lang="en-US" dirty="0">
                <a:solidFill>
                  <a:srgbClr val="00B050"/>
                </a:solidFill>
              </a:rPr>
              <a:t>-</a:t>
            </a:r>
            <a:r>
              <a:rPr lang="en-US" dirty="0" err="1">
                <a:solidFill>
                  <a:srgbClr val="00B050"/>
                </a:solidFill>
              </a:rPr>
              <a:t>fno</a:t>
            </a:r>
            <a:r>
              <a:rPr lang="en-US" dirty="0">
                <a:solidFill>
                  <a:srgbClr val="00B050"/>
                </a:solidFill>
              </a:rPr>
              <a:t>-trapping-math</a:t>
            </a:r>
          </a:p>
          <a:p>
            <a:pPr lvl="1"/>
            <a:r>
              <a:rPr lang="en-US" dirty="0">
                <a:solidFill>
                  <a:srgbClr val="00B050"/>
                </a:solidFill>
              </a:rPr>
              <a:t>Assume user ignore IEEE754 exceptions</a:t>
            </a:r>
          </a:p>
          <a:p>
            <a:r>
              <a:rPr lang="en-US" dirty="0">
                <a:solidFill>
                  <a:srgbClr val="FFC000"/>
                </a:solidFill>
              </a:rPr>
              <a:t>-</a:t>
            </a:r>
            <a:r>
              <a:rPr lang="en-US" dirty="0" err="1">
                <a:solidFill>
                  <a:srgbClr val="FFC000"/>
                </a:solidFill>
              </a:rPr>
              <a:t>fno</a:t>
            </a:r>
            <a:r>
              <a:rPr lang="en-US" dirty="0">
                <a:solidFill>
                  <a:srgbClr val="FFC000"/>
                </a:solidFill>
              </a:rPr>
              <a:t>-signed-zeros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user do not distinguish sign of zeroes</a:t>
            </a:r>
          </a:p>
          <a:p>
            <a:r>
              <a:rPr lang="en-US" dirty="0">
                <a:solidFill>
                  <a:srgbClr val="FFC000"/>
                </a:solidFill>
              </a:rPr>
              <a:t>-finite-math-only</a:t>
            </a:r>
          </a:p>
          <a:p>
            <a:pPr lvl="1"/>
            <a:r>
              <a:rPr lang="en-US" dirty="0">
                <a:solidFill>
                  <a:srgbClr val="FFC000"/>
                </a:solidFill>
              </a:rPr>
              <a:t>Assume code does not emit </a:t>
            </a:r>
            <a:r>
              <a:rPr lang="en-US" dirty="0" err="1">
                <a:solidFill>
                  <a:srgbClr val="FFC000"/>
                </a:solidFill>
              </a:rPr>
              <a:t>NaNs</a:t>
            </a:r>
            <a:r>
              <a:rPr lang="en-US" dirty="0">
                <a:solidFill>
                  <a:srgbClr val="FFC000"/>
                </a:solidFill>
              </a:rPr>
              <a:t> and </a:t>
            </a:r>
            <a:r>
              <a:rPr lang="en-US" dirty="0" err="1">
                <a:solidFill>
                  <a:srgbClr val="FFC000"/>
                </a:solidFill>
              </a:rPr>
              <a:t>Infs</a:t>
            </a:r>
            <a:r>
              <a:rPr lang="en-US" dirty="0">
                <a:solidFill>
                  <a:srgbClr val="FFC000"/>
                </a:solidFill>
              </a:rPr>
              <a:t>   (</a:t>
            </a:r>
            <a:r>
              <a:rPr lang="en-US" dirty="0" err="1">
                <a:solidFill>
                  <a:srgbClr val="FFC000"/>
                </a:solidFill>
              </a:rPr>
              <a:t>NaN</a:t>
            </a:r>
            <a:r>
              <a:rPr lang="en-US" dirty="0">
                <a:solidFill>
                  <a:srgbClr val="FFC000"/>
                </a:solidFill>
              </a:rPr>
              <a:t>&gt;Inf&gt;any-finite-float)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fassociative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free reordering of expressions</a:t>
            </a:r>
          </a:p>
          <a:p>
            <a:r>
              <a:rPr lang="en-US" dirty="0">
                <a:solidFill>
                  <a:srgbClr val="FF0000"/>
                </a:solidFill>
              </a:rPr>
              <a:t>-</a:t>
            </a:r>
            <a:r>
              <a:rPr lang="en-US" dirty="0" err="1">
                <a:solidFill>
                  <a:srgbClr val="FF0000"/>
                </a:solidFill>
              </a:rPr>
              <a:t>freciprocal</a:t>
            </a:r>
            <a:r>
              <a:rPr lang="en-US" dirty="0">
                <a:solidFill>
                  <a:srgbClr val="FF000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Allows transformation of divisions</a:t>
            </a:r>
          </a:p>
          <a:p>
            <a:r>
              <a:rPr lang="en-US" b="1" dirty="0">
                <a:solidFill>
                  <a:srgbClr val="7030A0"/>
                </a:solidFill>
              </a:rPr>
              <a:t>-</a:t>
            </a:r>
            <a:r>
              <a:rPr lang="en-US" b="1" dirty="0" err="1">
                <a:solidFill>
                  <a:srgbClr val="7030A0"/>
                </a:solidFill>
              </a:rPr>
              <a:t>ffast</a:t>
            </a:r>
            <a:r>
              <a:rPr lang="en-US" b="1" dirty="0">
                <a:solidFill>
                  <a:srgbClr val="7030A0"/>
                </a:solidFill>
              </a:rPr>
              <a:t>-math</a:t>
            </a:r>
          </a:p>
          <a:p>
            <a:pPr lvl="1"/>
            <a:r>
              <a:rPr lang="en-US" dirty="0">
                <a:solidFill>
                  <a:srgbClr val="7030A0"/>
                </a:solidFill>
              </a:rPr>
              <a:t>All above and more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167080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A6D7ED-ACC6-7042-AF08-97C6621B7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Controlling </a:t>
            </a:r>
            <a:r>
              <a:rPr lang="en-US" dirty="0" err="1"/>
              <a:t>fma</a:t>
            </a:r>
            <a:r>
              <a:rPr lang="en-US" dirty="0"/>
              <a:t> (contraction)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21D8F-30D4-854D-8AE5-67D181452B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gcc</a:t>
            </a:r>
            <a:r>
              <a:rPr lang="en-US" dirty="0"/>
              <a:t>  (and clang)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ffp</a:t>
            </a:r>
            <a:r>
              <a:rPr lang="en-US" dirty="0">
                <a:latin typeface="Courier" pitchFamily="2" charset="0"/>
              </a:rPr>
              <a:t>-contract=off 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fast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2"/>
              </a:rPr>
              <a:t>https://stackoverflow.com/questions/43352510/difference-in-gcc-ffp-contract-options</a:t>
            </a:r>
            <a:endParaRPr lang="en-US" sz="2000" dirty="0"/>
          </a:p>
          <a:p>
            <a:endParaRPr lang="en-US" dirty="0"/>
          </a:p>
          <a:p>
            <a:r>
              <a:rPr lang="en-US" dirty="0" err="1"/>
              <a:t>cuda</a:t>
            </a:r>
            <a:r>
              <a:rPr lang="en-US" dirty="0"/>
              <a:t> (</a:t>
            </a:r>
            <a:r>
              <a:rPr lang="en-US" dirty="0" err="1"/>
              <a:t>nvcc</a:t>
            </a:r>
            <a:r>
              <a:rPr lang="en-US" dirty="0"/>
              <a:t>) flags</a:t>
            </a:r>
          </a:p>
          <a:p>
            <a:pPr lvl="1"/>
            <a:r>
              <a:rPr lang="en-US" dirty="0">
                <a:latin typeface="Courier" pitchFamily="2" charset="0"/>
              </a:rPr>
              <a:t>-</a:t>
            </a:r>
            <a:r>
              <a:rPr lang="en-US" dirty="0" err="1">
                <a:latin typeface="Courier" pitchFamily="2" charset="0"/>
              </a:rPr>
              <a:t>fmad</a:t>
            </a:r>
            <a:r>
              <a:rPr lang="en-US" dirty="0">
                <a:latin typeface="Courier" pitchFamily="2" charset="0"/>
              </a:rPr>
              <a:t>=false </a:t>
            </a:r>
            <a:r>
              <a:rPr lang="en-US" dirty="0"/>
              <a:t>(default is “</a:t>
            </a:r>
            <a:r>
              <a:rPr lang="en-US" dirty="0">
                <a:latin typeface="Courier" pitchFamily="2" charset="0"/>
              </a:rPr>
              <a:t>true</a:t>
            </a:r>
            <a:r>
              <a:rPr lang="en-US" dirty="0"/>
              <a:t>”)</a:t>
            </a:r>
          </a:p>
          <a:p>
            <a:pPr lvl="1"/>
            <a:r>
              <a:rPr lang="en-US" sz="2000" dirty="0">
                <a:hlinkClick r:id="rId3"/>
              </a:rPr>
              <a:t>https://docs.nvidia.com/cuda/floating-point/index.html</a:t>
            </a:r>
            <a:r>
              <a:rPr lang="en-US" sz="2000" dirty="0"/>
              <a:t> 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fma</a:t>
            </a:r>
            <a:r>
              <a:rPr lang="en-US" sz="2400" dirty="0"/>
              <a:t> functions will in any case honored and will use the hardware instruction if supported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2D360D-F979-974E-AC5E-EC496A802A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Vincenzo Innocente</a:t>
            </a:r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1F0BC1-FA2C-584A-988B-0B3F2265D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EE16E4-D53D-4F48-8EFF-2C1B2F4A6165}" type="slidenum">
              <a:rPr lang="it-IT" altLang="x-none" smtClean="0"/>
              <a:pPr/>
              <a:t>57</a:t>
            </a:fld>
            <a:endParaRPr lang="it-IT" altLang="x-none"/>
          </a:p>
        </p:txBody>
      </p:sp>
    </p:spTree>
    <p:extLst>
      <p:ext uri="{BB962C8B-B14F-4D97-AF65-F5344CB8AC3E}">
        <p14:creationId xmlns:p14="http://schemas.microsoft.com/office/powerpoint/2010/main" val="87965723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5" name="Title 1"/>
          <p:cNvSpPr>
            <a:spLocks noGrp="1"/>
          </p:cNvSpPr>
          <p:nvPr>
            <p:ph type="title"/>
          </p:nvPr>
        </p:nvSpPr>
        <p:spPr>
          <a:xfrm>
            <a:off x="838200" y="168277"/>
            <a:ext cx="10515600" cy="839790"/>
          </a:xfrm>
        </p:spPr>
        <p:txBody>
          <a:bodyPr/>
          <a:lstStyle/>
          <a:p>
            <a:pPr eaLnBrk="1" hangingPunct="1"/>
            <a:r>
              <a:rPr lang="en-US" altLang="x-none" dirty="0"/>
              <a:t>Inspecting generated code</a:t>
            </a:r>
          </a:p>
        </p:txBody>
      </p:sp>
      <p:sp>
        <p:nvSpPr>
          <p:cNvPr id="36866" name="Slide Number Placeholder 2"/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l" eaLnBrk="1" hangingPunct="1"/>
            <a:fld id="{8A4E5C24-E16C-944D-B659-50A1BFEB947D}" type="slidenum">
              <a:rPr lang="en-US" altLang="x-none" sz="1200">
                <a:latin typeface="Garamond" charset="0"/>
              </a:rPr>
              <a:pPr algn="l" eaLnBrk="1" hangingPunct="1"/>
              <a:t>58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36867" name="TextBox 4"/>
          <p:cNvSpPr txBox="1">
            <a:spLocks noChangeArrowheads="1"/>
          </p:cNvSpPr>
          <p:nvPr/>
        </p:nvSpPr>
        <p:spPr bwMode="auto">
          <a:xfrm>
            <a:off x="1703388" y="981075"/>
            <a:ext cx="8534400" cy="922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i="1"/>
              <a:t>objdump -S -r -C --no-show-raw-insn –w kernel.o | less</a:t>
            </a:r>
          </a:p>
          <a:p>
            <a:pPr eaLnBrk="1" hangingPunct="1"/>
            <a:r>
              <a:rPr lang="en-US" altLang="x-none" sz="1800" i="1"/>
              <a:t>(on MacOS: otool -t -v  -V –X kernel.o  | c++filt | less)</a:t>
            </a:r>
          </a:p>
          <a:p>
            <a:pPr eaLnBrk="1" hangingPunct="1"/>
            <a:r>
              <a:rPr lang="en-US" altLang="x-none" sz="1800" i="1"/>
              <a:t>Or use http://gcc.godbolt.org</a:t>
            </a:r>
          </a:p>
        </p:txBody>
      </p:sp>
      <p:sp>
        <p:nvSpPr>
          <p:cNvPr id="5" name="TextBox 4"/>
          <p:cNvSpPr txBox="1">
            <a:spLocks noChangeArrowheads="1"/>
          </p:cNvSpPr>
          <p:nvPr/>
        </p:nvSpPr>
        <p:spPr bwMode="auto">
          <a:xfrm>
            <a:off x="1774825" y="2781300"/>
            <a:ext cx="2471738" cy="132238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float 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 a, float x, float y) {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  return a*x + a*y;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}</a:t>
            </a:r>
          </a:p>
        </p:txBody>
      </p:sp>
      <p:sp>
        <p:nvSpPr>
          <p:cNvPr id="6" name="TextBox 5"/>
          <p:cNvSpPr txBox="1">
            <a:spLocks noChangeArrowheads="1"/>
          </p:cNvSpPr>
          <p:nvPr/>
        </p:nvSpPr>
        <p:spPr bwMode="auto">
          <a:xfrm>
            <a:off x="5664200" y="3860801"/>
            <a:ext cx="4267200" cy="1323975"/>
          </a:xfrm>
          <a:prstGeom prst="rect">
            <a:avLst/>
          </a:prstGeom>
          <a:solidFill>
            <a:srgbClr val="CCFFCC"/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sp>
        <p:nvSpPr>
          <p:cNvPr id="7" name="TextBox 6"/>
          <p:cNvSpPr txBox="1">
            <a:spLocks noChangeArrowheads="1"/>
          </p:cNvSpPr>
          <p:nvPr/>
        </p:nvSpPr>
        <p:spPr bwMode="auto">
          <a:xfrm>
            <a:off x="4953000" y="1700214"/>
            <a:ext cx="5715000" cy="1570037"/>
          </a:xfrm>
          <a:prstGeom prst="rect">
            <a:avLst/>
          </a:prstGeom>
          <a:solidFill>
            <a:srgbClr val="FF6600">
              <a:alpha val="81960"/>
            </a:srgbClr>
          </a:soli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kernel(float, float, float):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%xmm0,%xmm2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mulss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%xmm0,%xmm1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addss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%xmm2,%xmm1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</a:t>
            </a:r>
            <a:r>
              <a:rPr lang="en-US" sz="1600" b="1" dirty="0" err="1">
                <a:solidFill>
                  <a:srgbClr val="000000"/>
                </a:solidFill>
                <a:latin typeface="Arial Narrow" charset="0"/>
                <a:cs typeface="Arial Narrow" charset="0"/>
              </a:rPr>
              <a:t>movaps</a:t>
            </a: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%xmm1,%xmm0</a:t>
            </a:r>
          </a:p>
          <a:p>
            <a:pPr eaLnBrk="1" hangingPunct="1">
              <a:defRPr/>
            </a:pPr>
            <a:r>
              <a:rPr lang="en-US" sz="1600" b="1" dirty="0">
                <a:solidFill>
                  <a:srgbClr val="000000"/>
                </a:solidFill>
                <a:latin typeface="Arial Narrow" charset="0"/>
                <a:cs typeface="Arial Narrow" charset="0"/>
              </a:rPr>
              <a:t>	ret</a:t>
            </a:r>
          </a:p>
        </p:txBody>
      </p:sp>
      <p:cxnSp>
        <p:nvCxnSpPr>
          <p:cNvPr id="36871" name="Straight Arrow Connector 8"/>
          <p:cNvCxnSpPr>
            <a:cxnSpLocks noChangeShapeType="1"/>
            <a:stCxn id="5" idx="3"/>
            <a:endCxn id="7" idx="1"/>
          </p:cNvCxnSpPr>
          <p:nvPr/>
        </p:nvCxnSpPr>
        <p:spPr bwMode="auto">
          <a:xfrm flipV="1">
            <a:off x="4246564" y="2486026"/>
            <a:ext cx="706437" cy="957263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36872" name="Straight Arrow Connector 10"/>
          <p:cNvCxnSpPr>
            <a:cxnSpLocks noChangeShapeType="1"/>
            <a:stCxn id="5" idx="3"/>
            <a:endCxn id="6" idx="1"/>
          </p:cNvCxnSpPr>
          <p:nvPr/>
        </p:nvCxnSpPr>
        <p:spPr bwMode="auto">
          <a:xfrm>
            <a:off x="4246564" y="3443288"/>
            <a:ext cx="1417637" cy="1079500"/>
          </a:xfrm>
          <a:prstGeom prst="straightConnector1">
            <a:avLst/>
          </a:prstGeom>
          <a:noFill/>
          <a:ln w="38100">
            <a:solidFill>
              <a:schemeClr val="tx1"/>
            </a:solidFill>
            <a:round/>
            <a:headEnd/>
            <a:tailEnd type="arrow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6873" name="TextBox 15"/>
          <p:cNvSpPr txBox="1">
            <a:spLocks noChangeArrowheads="1"/>
          </p:cNvSpPr>
          <p:nvPr/>
        </p:nvSpPr>
        <p:spPr bwMode="auto">
          <a:xfrm>
            <a:off x="4151313" y="2420939"/>
            <a:ext cx="576262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-O2</a:t>
            </a:r>
          </a:p>
        </p:txBody>
      </p:sp>
      <p:sp>
        <p:nvSpPr>
          <p:cNvPr id="36874" name="TextBox 16"/>
          <p:cNvSpPr txBox="1">
            <a:spLocks noChangeArrowheads="1"/>
          </p:cNvSpPr>
          <p:nvPr/>
        </p:nvSpPr>
        <p:spPr bwMode="auto">
          <a:xfrm>
            <a:off x="3861472" y="4484450"/>
            <a:ext cx="173220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-O2,-ffast-math</a:t>
            </a:r>
          </a:p>
        </p:txBody>
      </p:sp>
      <p:sp>
        <p:nvSpPr>
          <p:cNvPr id="36875" name="Date Placeholder 11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6" name="Footer Placeholder 12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6878" name="TextBox 1"/>
          <p:cNvSpPr txBox="1">
            <a:spLocks noChangeArrowheads="1"/>
          </p:cNvSpPr>
          <p:nvPr/>
        </p:nvSpPr>
        <p:spPr bwMode="auto">
          <a:xfrm>
            <a:off x="1543050" y="1916114"/>
            <a:ext cx="326390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c++ -S kernel.cc; less kernel.s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8730" y="266702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 dirty="0">
                <a:ea typeface="ＭＳ Ｐゴシック" panose="020B0600070205080204" pitchFamily="34" charset="-128"/>
              </a:rPr>
            </a:br>
            <a:r>
              <a:rPr lang="en-US" altLang="en-US" dirty="0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59</a:t>
            </a:fld>
            <a:endParaRPr lang="en-US" altLang="en-US" sz="1200" dirty="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9090" y="1889363"/>
            <a:ext cx="8640478" cy="2092881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double p =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mom.mag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mom.z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fabs(p/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mom.z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())*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radLen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z = 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);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 double 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varz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 = (exp(-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*log(3.)/log(2.))- exp(-2*</a:t>
            </a:r>
            <a:r>
              <a:rPr lang="en-US" altLang="en-US" sz="1600" b="1" dirty="0" err="1">
                <a:solidFill>
                  <a:srgbClr val="000000"/>
                </a:solidFill>
                <a:latin typeface="Arial Narrow" panose="020B0604020202020204" pitchFamily="34" charset="0"/>
              </a:rPr>
              <a:t>normalisedPath</a:t>
            </a:r>
            <a:r>
              <a:rPr lang="en-US" altLang="en-US" sz="1600" b="1" dirty="0">
                <a:solidFill>
                  <a:srgbClr val="000000"/>
                </a:solidFill>
                <a:latin typeface="Arial Narrow" panose="020B0604020202020204" pitchFamily="34" charset="0"/>
              </a:rPr>
              <a:t>));</a:t>
            </a: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4779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pt =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mom.perp</a:t>
            </a:r>
            <a:r>
              <a:rPr lang="en-US" altLang="en-US" sz="1600" b="1" dirty="0">
                <a:solidFill>
                  <a:srgbClr val="000000"/>
                </a:solidFill>
              </a:rPr>
              <a:t>();</a:t>
            </a:r>
            <a:r>
              <a:rPr lang="en-US" altLang="en-US" sz="1600" dirty="0">
                <a:solidFill>
                  <a:srgbClr val="000000"/>
                </a:solidFill>
              </a:rPr>
              <a:t>    //  sqrt(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mom.x</a:t>
            </a:r>
            <a:r>
              <a:rPr lang="en-US" altLang="en-US" sz="1600" dirty="0">
                <a:solidFill>
                  <a:srgbClr val="000000"/>
                </a:solidFill>
              </a:rPr>
              <a:t>()+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()*</a:t>
            </a:r>
            <a:r>
              <a:rPr lang="en-US" altLang="en-US" sz="1600" dirty="0" err="1">
                <a:solidFill>
                  <a:srgbClr val="000000"/>
                </a:solidFill>
              </a:rPr>
              <a:t>mom.y</a:t>
            </a:r>
            <a:r>
              <a:rPr lang="en-US" altLang="en-US" sz="1600" dirty="0">
                <a:solidFill>
                  <a:srgbClr val="000000"/>
                </a:solidFill>
              </a:rPr>
              <a:t>())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</a:rPr>
              <a:t> </a:t>
            </a:r>
            <a:r>
              <a:rPr lang="en-US" altLang="en-US" sz="1600" b="1" dirty="0">
                <a:solidFill>
                  <a:srgbClr val="000000"/>
                </a:solidFill>
              </a:rPr>
              <a:t>double j = </a:t>
            </a:r>
            <a:r>
              <a:rPr lang="en-US" altLang="en-US" sz="1600" b="1" dirty="0" err="1">
                <a:solidFill>
                  <a:srgbClr val="000000"/>
                </a:solidFill>
              </a:rPr>
              <a:t>a_i</a:t>
            </a:r>
            <a:r>
              <a:rPr lang="en-US" altLang="en-US" sz="1600" b="1" dirty="0">
                <a:solidFill>
                  <a:srgbClr val="000000"/>
                </a:solidFill>
              </a:rPr>
              <a:t>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 +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r_x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</a:t>
            </a:r>
            <a:r>
              <a:rPr lang="en-US" altLang="en-US" sz="1600" b="1" dirty="0" err="1">
                <a:solidFill>
                  <a:srgbClr val="000000"/>
                </a:solidFill>
              </a:rPr>
              <a:t>r_y</a:t>
            </a:r>
            <a:r>
              <a:rPr lang="en-US" altLang="en-US" sz="1600" b="1" dirty="0">
                <a:solidFill>
                  <a:srgbClr val="000000"/>
                </a:solidFill>
              </a:rPr>
              <a:t> = 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 - 2* 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()*(</a:t>
            </a:r>
            <a:r>
              <a:rPr lang="en-US" altLang="en-US" sz="1600" b="1" dirty="0" err="1">
                <a:solidFill>
                  <a:srgbClr val="000000"/>
                </a:solidFill>
              </a:rPr>
              <a:t>d_x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mom.x</a:t>
            </a:r>
            <a:r>
              <a:rPr lang="en-US" altLang="en-US" sz="1600" b="1" dirty="0">
                <a:solidFill>
                  <a:srgbClr val="000000"/>
                </a:solidFill>
              </a:rPr>
              <a:t>()+</a:t>
            </a:r>
            <a:r>
              <a:rPr lang="en-US" altLang="en-US" sz="1600" b="1" dirty="0" err="1">
                <a:solidFill>
                  <a:srgbClr val="000000"/>
                </a:solidFill>
              </a:rPr>
              <a:t>d_y</a:t>
            </a:r>
            <a:r>
              <a:rPr lang="en-US" altLang="en-US" sz="1600" b="1" dirty="0">
                <a:solidFill>
                  <a:srgbClr val="000000"/>
                </a:solidFill>
              </a:rPr>
              <a:t>*</a:t>
            </a:r>
            <a:r>
              <a:rPr lang="en-US" altLang="en-US" sz="1600" b="1" dirty="0" err="1">
                <a:solidFill>
                  <a:srgbClr val="000000"/>
                </a:solidFill>
              </a:rPr>
              <a:t>mom.y</a:t>
            </a:r>
            <a:r>
              <a:rPr lang="en-US" altLang="en-US" sz="1600" b="1" dirty="0">
                <a:solidFill>
                  <a:srgbClr val="000000"/>
                </a:solidFill>
              </a:rPr>
              <a:t>())/(pt*pt);         </a:t>
            </a:r>
          </a:p>
          <a:p>
            <a:pPr eaLnBrk="1" hangingPunct="1"/>
            <a:r>
              <a:rPr lang="en-US" altLang="en-US" sz="1600" b="1" dirty="0">
                <a:solidFill>
                  <a:srgbClr val="000000"/>
                </a:solidFill>
              </a:rPr>
              <a:t> double s = 1/(pt*pt*sqrt(1 - j*j));</a:t>
            </a:r>
            <a:endParaRPr lang="en-US" altLang="en-US" sz="1600" dirty="0">
              <a:solidFill>
                <a:srgbClr val="000000"/>
              </a:solidFill>
            </a:endParaRPr>
          </a:p>
          <a:p>
            <a:pPr eaLnBrk="1" hangingPunct="1"/>
            <a:endParaRPr lang="en-US" altLang="en-US" sz="1600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D7F80B5F-3E24-A3F7-E808-F85EFC6FB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604" y="195383"/>
            <a:ext cx="5129396" cy="2309571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EE629-C5D9-7084-2EB3-799D99398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4453D4B-4025-FA6E-3F06-38E1E19C4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064AA1-FF0D-615D-67C2-918BB7E7CB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In C++</a:t>
            </a:r>
          </a:p>
          <a:p>
            <a:r>
              <a:rPr lang="en-US" dirty="0"/>
              <a:t>use </a:t>
            </a:r>
            <a:r>
              <a:rPr lang="en-US" dirty="0" err="1"/>
              <a:t>godbolt</a:t>
            </a:r>
            <a:r>
              <a:rPr lang="en-US" dirty="0"/>
              <a:t> (  </a:t>
            </a:r>
            <a:r>
              <a:rPr lang="en-US" dirty="0">
                <a:hlinkClick r:id="rId2"/>
              </a:rPr>
              <a:t>https://godbolt.org/z/5TWjsKqha</a:t>
            </a:r>
            <a:r>
              <a:rPr lang="en-US" dirty="0"/>
              <a:t> )</a:t>
            </a:r>
          </a:p>
          <a:p>
            <a:r>
              <a:rPr lang="en-US" dirty="0"/>
              <a:t>change compiler options for various compilers and see what happens</a:t>
            </a:r>
          </a:p>
          <a:p>
            <a:r>
              <a:rPr lang="en-US" dirty="0"/>
              <a:t>Try to optimize some code and see if it really improves</a:t>
            </a:r>
          </a:p>
          <a:p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1A65EB3-CF93-B9C2-6622-FE1BD77BFC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3763821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A516B2F-60E8-9B2B-D8CC-1A933E215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Anecdotes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E268D9-943B-299E-C0B0-CABBA358D1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5213" y="2141537"/>
            <a:ext cx="10515600" cy="4351338"/>
          </a:xfrm>
        </p:spPr>
        <p:txBody>
          <a:bodyPr/>
          <a:lstStyle/>
          <a:p>
            <a:r>
              <a:rPr lang="en-US" dirty="0"/>
              <a:t>Floating point “disasters”</a:t>
            </a:r>
          </a:p>
          <a:p>
            <a:pPr lvl="1"/>
            <a:r>
              <a:rPr lang="en-US" dirty="0">
                <a:hlinkClick r:id="rId2"/>
              </a:rPr>
              <a:t>http://ta.twi.tudelft.nl/users/vuik/wi211/disasters.html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https://www.iro.umontreal.ca/~mignotte/IFT2425/Disasters.html</a:t>
            </a:r>
            <a:endParaRPr lang="en-US" dirty="0"/>
          </a:p>
          <a:p>
            <a:pPr lvl="1"/>
            <a:r>
              <a:rPr lang="en-US" dirty="0">
                <a:hlinkClick r:id="rId4"/>
              </a:rPr>
              <a:t>https://slate.com/technology/2019/10/round-floor-software-errors-stock-market-battlefield.html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https://medium.com/@sohail_saifii/the-floating-point-standard-thats-silently-breaking-financial-software-7f7e93430dbb</a:t>
            </a:r>
            <a:endParaRPr lang="en-US" dirty="0"/>
          </a:p>
          <a:p>
            <a:pPr lvl="1"/>
            <a:r>
              <a:rPr lang="en-US" dirty="0">
                <a:hlinkClick r:id="rId6"/>
              </a:rPr>
              <a:t>https://pavpanchekha.com/blog/casio-mathjs.html</a:t>
            </a:r>
            <a:endParaRPr lang="en-US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B35D33A-695B-7A7C-60E5-E358B8C8A4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56651" y="0"/>
            <a:ext cx="2701426" cy="2430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500659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2B8DEC-85A3-3D58-8E55-009CFDE073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941"/>
          </a:xfrm>
        </p:spPr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2D861FE-4A93-D2D9-8C3D-4971F68CFF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6689" y="1513108"/>
            <a:ext cx="10937111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What Every Computer Scientist Should Know About Floating-Point Arithmetic (1991)  </a:t>
            </a:r>
            <a:r>
              <a:rPr lang="en-US" dirty="0">
                <a:hlinkClick r:id="rId2"/>
              </a:rPr>
              <a:t>https://dl.acm.org/doi/pdf/10.1145/103162.103163</a:t>
            </a:r>
            <a:endParaRPr lang="en-US" dirty="0"/>
          </a:p>
          <a:p>
            <a:r>
              <a:rPr lang="en-US" dirty="0"/>
              <a:t>Handbook of Floating-Point Arithmetic(2018)  </a:t>
            </a:r>
            <a:r>
              <a:rPr lang="en-US" dirty="0">
                <a:hlinkClick r:id="rId3"/>
              </a:rPr>
              <a:t>https://link.springer.com/book/10.1007/978-3-319-76526-6</a:t>
            </a:r>
            <a:endParaRPr lang="en-US" dirty="0"/>
          </a:p>
          <a:p>
            <a:r>
              <a:rPr lang="en-US" dirty="0"/>
              <a:t>Elementary Functions  (2016) </a:t>
            </a:r>
            <a:r>
              <a:rPr lang="en-US" dirty="0">
                <a:hlinkClick r:id="rId4"/>
              </a:rPr>
              <a:t>https://link.springer.com/book/10.1007/978-1-4899-7983-4</a:t>
            </a:r>
            <a:endParaRPr lang="en-US" dirty="0"/>
          </a:p>
          <a:p>
            <a:endParaRPr lang="en-US" dirty="0"/>
          </a:p>
          <a:p>
            <a:r>
              <a:rPr lang="en-US" dirty="0"/>
              <a:t>Floating-point arithmetic (2023) </a:t>
            </a:r>
            <a:r>
              <a:rPr lang="en-US" dirty="0">
                <a:hlinkClick r:id="rId5"/>
              </a:rPr>
              <a:t>https://www.cambridge.org/core/journals/acta-numerica/article/floatingpoint-arithmetic/287C4D5F6D4A43FBEEB1ABED2A405AAF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659232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6968AC-28E1-1B47-7E94-76FDF30FC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Self Assessment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3D567D-FF9E-1675-1673-F07E5D942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8914" y="1690688"/>
            <a:ext cx="10053577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How many significand bits have a single precision FP number?</a:t>
            </a:r>
          </a:p>
          <a:p>
            <a:r>
              <a:rPr lang="en-US" dirty="0"/>
              <a:t>How many single precision binary FP number exists between 2.f and 3.f?</a:t>
            </a:r>
          </a:p>
          <a:p>
            <a:r>
              <a:rPr lang="en-US" dirty="0"/>
              <a:t>Round 137.5 to 3 digits using default rounding</a:t>
            </a:r>
          </a:p>
          <a:p>
            <a:r>
              <a:rPr lang="en-US" dirty="0"/>
              <a:t>Is the result of 137.5 - 82.4 precise?</a:t>
            </a:r>
          </a:p>
          <a:p>
            <a:r>
              <a:rPr lang="en-US" dirty="0"/>
              <a:t>If MAX is the largest representable </a:t>
            </a:r>
            <a:r>
              <a:rPr lang="en-US"/>
              <a:t>single precision FP </a:t>
            </a:r>
            <a:r>
              <a:rPr lang="en-US" dirty="0"/>
              <a:t>number: what’s the result of MAX + 0.1 - MAX ? And of Max + Max/1024 –Max ?</a:t>
            </a:r>
          </a:p>
          <a:p>
            <a:r>
              <a:rPr lang="en-US" dirty="0"/>
              <a:t>What is the result of 2.0 &lt; </a:t>
            </a:r>
            <a:r>
              <a:rPr lang="en-US" dirty="0" err="1"/>
              <a:t>NaN</a:t>
            </a:r>
            <a:r>
              <a:rPr lang="en-US" dirty="0"/>
              <a:t> when compiled with –finite-math-only?</a:t>
            </a:r>
          </a:p>
          <a:p>
            <a:r>
              <a:rPr lang="en-US" dirty="0"/>
              <a:t>What’s the difference between sin(x) and </a:t>
            </a:r>
            <a:r>
              <a:rPr lang="en-US" dirty="0" err="1"/>
              <a:t>sinpi</a:t>
            </a:r>
            <a:r>
              <a:rPr lang="en-US" dirty="0"/>
              <a:t>(x)?</a:t>
            </a:r>
          </a:p>
          <a:p>
            <a:r>
              <a:rPr lang="en-US" dirty="0"/>
              <a:t>When the “Table Maker Dilemma” occur?</a:t>
            </a:r>
          </a:p>
          <a:p>
            <a:endParaRPr lang="en-US" dirty="0"/>
          </a:p>
        </p:txBody>
      </p:sp>
      <p:pic>
        <p:nvPicPr>
          <p:cNvPr id="18434" name="Picture 2">
            <a:extLst>
              <a:ext uri="{FF2B5EF4-FFF2-40B4-BE49-F238E27FC236}">
                <a16:creationId xmlns:a16="http://schemas.microsoft.com/office/drawing/2014/main" id="{C1D86CD1-CD22-EA2E-555E-3DB54C654D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63983" y="0"/>
            <a:ext cx="2628017" cy="19009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270586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187B4-7540-02AE-9C86-4635C5BD3E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“additional” material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5D3D0B-89E3-D3E8-10FD-CFEE306A7F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561421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94E89-0E34-D19A-1A80-75A97E6E14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precision is good enough?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11851CF-B761-8255-2E25-6301649ADC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7999747"/>
              </p:ext>
            </p:extLst>
          </p:nvPr>
        </p:nvGraphicFramePr>
        <p:xfrm>
          <a:off x="341424" y="1690688"/>
          <a:ext cx="5754576" cy="360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921">
                  <a:extLst>
                    <a:ext uri="{9D8B030D-6E8A-4147-A177-3AD203B41FA5}">
                      <a16:colId xmlns:a16="http://schemas.microsoft.com/office/drawing/2014/main" val="2100930270"/>
                    </a:ext>
                  </a:extLst>
                </a:gridCol>
                <a:gridCol w="1090461">
                  <a:extLst>
                    <a:ext uri="{9D8B030D-6E8A-4147-A177-3AD203B41FA5}">
                      <a16:colId xmlns:a16="http://schemas.microsoft.com/office/drawing/2014/main" val="2668942958"/>
                    </a:ext>
                  </a:extLst>
                </a:gridCol>
                <a:gridCol w="965514">
                  <a:extLst>
                    <a:ext uri="{9D8B030D-6E8A-4147-A177-3AD203B41FA5}">
                      <a16:colId xmlns:a16="http://schemas.microsoft.com/office/drawing/2014/main" val="419510664"/>
                    </a:ext>
                  </a:extLst>
                </a:gridCol>
                <a:gridCol w="2901680">
                  <a:extLst>
                    <a:ext uri="{9D8B030D-6E8A-4147-A177-3AD203B41FA5}">
                      <a16:colId xmlns:a16="http://schemas.microsoft.com/office/drawing/2014/main" val="31160606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relative error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77649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3.9E-3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uint8 ( byte)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583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5.0E-4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float16  (half)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6456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1.5E-5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uint16  (short)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809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aseline="0" dirty="0"/>
                        <a:t>7.2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1.2E-7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float32  (float)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13796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2.3E-10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uint32  (int)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9893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aseline="0" dirty="0"/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1.1E-16</a:t>
                      </a:r>
                      <a:endParaRPr lang="en-US" baseline="30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float64 (double)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15973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5.4E-20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uint64   (long long)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01698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1.9E-34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float128 (quad)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9632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0545411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cut in pt, phi, eta</a:t>
            </a:r>
          </a:p>
        </p:txBody>
      </p:sp>
      <p:sp>
        <p:nvSpPr>
          <p:cNvPr id="52227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52228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1F8E13EF-96D1-8A4C-8131-8CAED82A2CC6}" type="slidenum">
              <a:rPr lang="it-IT" altLang="x-none" sz="1200">
                <a:latin typeface="Garamond" charset="0"/>
              </a:rPr>
              <a:pPr eaLnBrk="1" hangingPunct="1"/>
              <a:t>66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52229" name="TextBox 5"/>
          <p:cNvSpPr txBox="1">
            <a:spLocks noChangeArrowheads="1"/>
          </p:cNvSpPr>
          <p:nvPr/>
        </p:nvSpPr>
        <p:spPr bwMode="auto">
          <a:xfrm>
            <a:off x="1159097" y="1222377"/>
            <a:ext cx="8259763" cy="2584450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inline float pt2(float x, float y) {return x*</a:t>
            </a:r>
            <a:r>
              <a:rPr lang="en-US" altLang="x-none" sz="1800" dirty="0" err="1"/>
              <a:t>x+y</a:t>
            </a:r>
            <a:r>
              <a:rPr lang="en-US" altLang="x-none" sz="1800" dirty="0"/>
              <a:t>*y;}</a:t>
            </a:r>
          </a:p>
          <a:p>
            <a:pPr eaLnBrk="1" hangingPunct="1"/>
            <a:r>
              <a:rPr lang="en-US" altLang="x-none" sz="1800" dirty="0"/>
              <a:t>inline float pt(float x, float y) {return std::sqrt(pt2(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));}</a:t>
            </a:r>
          </a:p>
          <a:p>
            <a:pPr eaLnBrk="1" hangingPunct="1"/>
            <a:r>
              <a:rPr lang="en-US" altLang="x-none" sz="1800" dirty="0"/>
              <a:t>inline float phi(float x, float y) {return std::atan2(</a:t>
            </a:r>
            <a:r>
              <a:rPr lang="en-US" altLang="x-none" sz="1800" dirty="0" err="1"/>
              <a:t>y,x</a:t>
            </a:r>
            <a:r>
              <a:rPr lang="en-US" altLang="x-none" sz="1800" dirty="0"/>
              <a:t>);}</a:t>
            </a:r>
          </a:p>
          <a:p>
            <a:pPr eaLnBrk="1" hangingPunct="1"/>
            <a:r>
              <a:rPr lang="en-US" altLang="x-none" sz="1800" dirty="0"/>
              <a:t>inline eta(float x, float y, float z) { float t(z/pt(</a:t>
            </a:r>
            <a:r>
              <a:rPr lang="en-US" altLang="x-none" sz="1800" dirty="0" err="1"/>
              <a:t>x,y</a:t>
            </a:r>
            <a:r>
              <a:rPr lang="en-US" altLang="x-none" sz="1800" dirty="0"/>
              <a:t>)); return ::</a:t>
            </a:r>
            <a:r>
              <a:rPr lang="en-US" altLang="x-none" sz="1800" dirty="0" err="1"/>
              <a:t>asinhf</a:t>
            </a:r>
            <a:r>
              <a:rPr lang="en-US" altLang="x-none" sz="1800" dirty="0"/>
              <a:t>(t);} </a:t>
            </a:r>
          </a:p>
          <a:p>
            <a:pPr eaLnBrk="1" hangingPunct="1"/>
            <a:r>
              <a:rPr lang="en-US" altLang="x-none" sz="1800" dirty="0"/>
              <a:t>inline float dot(float x1, float y1, float x2, float y2) {return x1*x2+y1*y2;}</a:t>
            </a:r>
          </a:p>
          <a:p>
            <a:pPr eaLnBrk="1" hangingPunct="1"/>
            <a:r>
              <a:rPr lang="en-US" altLang="x-none" sz="1800" dirty="0"/>
              <a:t>Inline float </a:t>
            </a:r>
            <a:r>
              <a:rPr lang="en-US" altLang="x-none" sz="1800" dirty="0" err="1"/>
              <a:t>dphi</a:t>
            </a:r>
            <a:r>
              <a:rPr lang="en-US" altLang="x-none" sz="1800" dirty="0"/>
              <a:t>(float p1,float p2) {</a:t>
            </a:r>
          </a:p>
          <a:p>
            <a:pPr eaLnBrk="1" hangingPunct="1"/>
            <a:r>
              <a:rPr lang="en-US" altLang="x-none" sz="1800" dirty="0"/>
              <a:t>    auto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=std::abs(p1-p2); if 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&gt;float(M_PI)) 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-=float(2*M_PI);</a:t>
            </a:r>
          </a:p>
          <a:p>
            <a:pPr eaLnBrk="1" hangingPunct="1"/>
            <a:r>
              <a:rPr lang="en-US" altLang="x-none" sz="1800" dirty="0"/>
              <a:t>    return std::abs(</a:t>
            </a:r>
            <a:r>
              <a:rPr lang="en-US" altLang="x-none" sz="1800" dirty="0" err="1"/>
              <a:t>dp</a:t>
            </a:r>
            <a:r>
              <a:rPr lang="en-US" altLang="x-none" sz="1800" dirty="0"/>
              <a:t>);</a:t>
            </a:r>
          </a:p>
          <a:p>
            <a:pPr eaLnBrk="1" hangingPunct="1"/>
            <a:r>
              <a:rPr lang="en-US" altLang="x-none" sz="1800" dirty="0"/>
              <a:t>}; </a:t>
            </a:r>
          </a:p>
        </p:txBody>
      </p:sp>
      <p:sp>
        <p:nvSpPr>
          <p:cNvPr id="52230" name="TextBox 5"/>
          <p:cNvSpPr txBox="1">
            <a:spLocks noChangeArrowheads="1"/>
          </p:cNvSpPr>
          <p:nvPr/>
        </p:nvSpPr>
        <p:spPr bwMode="auto">
          <a:xfrm>
            <a:off x="1159097" y="4031458"/>
            <a:ext cx="8258175" cy="147637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 if (pt(x[i],y[i])&gt;ptcut) …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/>
              <a:t>if (dphi(phi(x[i],y[i]),phi(x[j],y[j]))&lt;phicut) ….</a:t>
            </a: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52231" name="TextBox 8"/>
          <p:cNvSpPr txBox="1">
            <a:spLocks noChangeArrowheads="1"/>
          </p:cNvSpPr>
          <p:nvPr/>
        </p:nvSpPr>
        <p:spPr bwMode="auto">
          <a:xfrm>
            <a:off x="3863976" y="5732464"/>
            <a:ext cx="2314575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Exercise in ptcut.cpp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0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 sz="3200"/>
              <a:t>Example: detector of size 1 m and resolution 10 micron       (required accuracy: ~1micron?)</a:t>
            </a:r>
          </a:p>
        </p:txBody>
      </p:sp>
      <p:sp>
        <p:nvSpPr>
          <p:cNvPr id="4301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301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B7FFE41-57C6-9246-8957-219FD2921327}" type="slidenum">
              <a:rPr lang="it-IT" altLang="x-none" sz="1200">
                <a:latin typeface="Garamond" charset="0"/>
              </a:rPr>
              <a:pPr eaLnBrk="1" hangingPunct="1"/>
              <a:t>67</a:t>
            </a:fld>
            <a:endParaRPr lang="it-IT" altLang="x-none" sz="1200">
              <a:latin typeface="Garamond" charset="0"/>
            </a:endParaRPr>
          </a:p>
        </p:txBody>
      </p:sp>
      <p:cxnSp>
        <p:nvCxnSpPr>
          <p:cNvPr id="4" name="Straight Connector 3"/>
          <p:cNvCxnSpPr>
            <a:cxnSpLocks noChangeShapeType="1"/>
          </p:cNvCxnSpPr>
          <p:nvPr/>
        </p:nvCxnSpPr>
        <p:spPr bwMode="auto">
          <a:xfrm>
            <a:off x="2135188" y="198913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0" name="Straight Connector 9"/>
          <p:cNvCxnSpPr>
            <a:cxnSpLocks noChangeShapeType="1"/>
          </p:cNvCxnSpPr>
          <p:nvPr/>
        </p:nvCxnSpPr>
        <p:spPr bwMode="auto">
          <a:xfrm>
            <a:off x="2135188" y="3789363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2135188" y="5589588"/>
            <a:ext cx="3600450" cy="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Box 4"/>
          <p:cNvSpPr txBox="1"/>
          <p:nvPr/>
        </p:nvSpPr>
        <p:spPr>
          <a:xfrm>
            <a:off x="6240464" y="1628775"/>
            <a:ext cx="3859775" cy="23083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three measurement planes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single precision enough to represent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geometric elements?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Measurements?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computed trajectory?</a:t>
            </a:r>
          </a:p>
          <a:p>
            <a:pPr>
              <a:defRPr/>
            </a:pPr>
            <a:endParaRPr lang="en-US" dirty="0">
              <a:ea typeface="ＭＳ Ｐゴシック" charset="0"/>
              <a:cs typeface="ＭＳ Ｐゴシック" charset="0"/>
            </a:endParaRPr>
          </a:p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Is enough to perform computation?</a:t>
            </a:r>
          </a:p>
        </p:txBody>
      </p:sp>
      <p:sp>
        <p:nvSpPr>
          <p:cNvPr id="7" name="Oval 6"/>
          <p:cNvSpPr>
            <a:spLocks noChangeArrowheads="1"/>
          </p:cNvSpPr>
          <p:nvPr/>
        </p:nvSpPr>
        <p:spPr bwMode="auto">
          <a:xfrm>
            <a:off x="3575051" y="1916114"/>
            <a:ext cx="144463" cy="123825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5" name="Oval 14"/>
          <p:cNvSpPr>
            <a:spLocks noChangeArrowheads="1"/>
          </p:cNvSpPr>
          <p:nvPr/>
        </p:nvSpPr>
        <p:spPr bwMode="auto">
          <a:xfrm>
            <a:off x="3143251" y="3716339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17" name="Oval 16"/>
          <p:cNvSpPr>
            <a:spLocks noChangeArrowheads="1"/>
          </p:cNvSpPr>
          <p:nvPr/>
        </p:nvSpPr>
        <p:spPr bwMode="auto">
          <a:xfrm>
            <a:off x="3575051" y="5516564"/>
            <a:ext cx="144463" cy="122237"/>
          </a:xfrm>
          <a:prstGeom prst="ellipse">
            <a:avLst/>
          </a:prstGeom>
          <a:solidFill>
            <a:srgbClr val="FFFF00"/>
          </a:solidFill>
          <a:ln w="9525">
            <a:solidFill>
              <a:srgbClr val="009999"/>
            </a:solidFill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 eaLnBrk="1" hangingPunct="1"/>
            <a:endParaRPr lang="en-US" altLang="x-none" sz="1800">
              <a:solidFill>
                <a:srgbClr val="FFFFFF"/>
              </a:solidFill>
            </a:endParaRPr>
          </a:p>
        </p:txBody>
      </p:sp>
      <p:sp>
        <p:nvSpPr>
          <p:cNvPr id="9" name="Arc 8"/>
          <p:cNvSpPr>
            <a:spLocks/>
          </p:cNvSpPr>
          <p:nvPr/>
        </p:nvSpPr>
        <p:spPr bwMode="auto">
          <a:xfrm>
            <a:off x="3216275" y="1412876"/>
            <a:ext cx="2374900" cy="4752975"/>
          </a:xfrm>
          <a:custGeom>
            <a:avLst/>
            <a:gdLst>
              <a:gd name="T0" fmla="*/ 812674 w 2374900"/>
              <a:gd name="T1" fmla="*/ 4631507 h 4752975"/>
              <a:gd name="T2" fmla="*/ 122 w 2374900"/>
              <a:gd name="T3" fmla="*/ 2342478 h 4752975"/>
              <a:gd name="T4" fmla="*/ 936948 w 2374900"/>
              <a:gd name="T5" fmla="*/ 53482 h 475297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2374900" h="4752975" stroke="0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  <a:lnTo>
                  <a:pt x="1187450" y="2376488"/>
                </a:lnTo>
                <a:lnTo>
                  <a:pt x="812674" y="4631507"/>
                </a:lnTo>
                <a:close/>
              </a:path>
              <a:path w="2374900" h="4752975" fill="none">
                <a:moveTo>
                  <a:pt x="812674" y="4631507"/>
                </a:moveTo>
                <a:cubicBezTo>
                  <a:pt x="321473" y="4304527"/>
                  <a:pt x="-7286" y="3378384"/>
                  <a:pt x="122" y="2342478"/>
                </a:cubicBezTo>
                <a:cubicBezTo>
                  <a:pt x="8034" y="1236025"/>
                  <a:pt x="396478" y="286921"/>
                  <a:pt x="936948" y="53482"/>
                </a:cubicBezTo>
              </a:path>
            </a:pathLst>
          </a:custGeom>
          <a:noFill/>
          <a:ln w="25400" cap="flat" cmpd="sng">
            <a:solidFill>
              <a:srgbClr val="FF0000"/>
            </a:solidFill>
            <a:prstDash val="solid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/>
          <a:lstStyle/>
          <a:p>
            <a:endParaRPr lang="en-US"/>
          </a:p>
        </p:txBody>
      </p:sp>
      <p:cxnSp>
        <p:nvCxnSpPr>
          <p:cNvPr id="13" name="Straight Connector 12"/>
          <p:cNvCxnSpPr>
            <a:cxnSpLocks noChangeShapeType="1"/>
            <a:stCxn id="7" idx="4"/>
            <a:endCxn id="17" idx="0"/>
          </p:cNvCxnSpPr>
          <p:nvPr/>
        </p:nvCxnSpPr>
        <p:spPr bwMode="auto">
          <a:xfrm>
            <a:off x="3648075" y="2039939"/>
            <a:ext cx="0" cy="3476625"/>
          </a:xfrm>
          <a:prstGeom prst="line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2" name="TextBox 13"/>
          <p:cNvSpPr txBox="1">
            <a:spLocks noChangeArrowheads="1"/>
          </p:cNvSpPr>
          <p:nvPr/>
        </p:nvSpPr>
        <p:spPr bwMode="auto">
          <a:xfrm>
            <a:off x="6888163" y="4076700"/>
            <a:ext cx="3376612" cy="25860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Trajectory: circle with radius </a:t>
            </a:r>
            <a:r>
              <a:rPr lang="en-US" altLang="x-none" sz="1800">
                <a:latin typeface="Lucida Calligraphy" charset="0"/>
              </a:rPr>
              <a:t>r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  <a:r>
              <a:rPr lang="en-US" altLang="x-none" sz="1800"/>
              <a:t> is the sagita, </a:t>
            </a:r>
            <a:r>
              <a:rPr lang="en-US" altLang="x-none" sz="1800">
                <a:latin typeface="Lucida Calligraphy" charset="0"/>
              </a:rPr>
              <a:t>h </a:t>
            </a:r>
            <a:r>
              <a:rPr lang="en-US" altLang="x-none" sz="1800"/>
              <a:t>the half-chord</a:t>
            </a:r>
          </a:p>
          <a:p>
            <a:pPr eaLnBrk="1" hangingPunct="1"/>
            <a:endParaRPr lang="en-US" altLang="x-none" sz="1800"/>
          </a:p>
          <a:p>
            <a:pPr eaLnBrk="1" hangingPunct="1"/>
            <a:r>
              <a:rPr lang="en-US" altLang="x-none" sz="1800">
                <a:latin typeface="Lucida Calligraphy" charset="0"/>
              </a:rPr>
              <a:t>r = (s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+h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) /2s ~ h</a:t>
            </a:r>
            <a:r>
              <a:rPr lang="en-US" altLang="x-none" sz="1800" baseline="30000">
                <a:latin typeface="Lucida Calligraphy" charset="0"/>
              </a:rPr>
              <a:t>2</a:t>
            </a:r>
            <a:r>
              <a:rPr lang="en-US" altLang="x-none" sz="1800">
                <a:latin typeface="Lucida Calligraphy" charset="0"/>
              </a:rPr>
              <a:t>/2s </a:t>
            </a:r>
          </a:p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 baseline="30000">
                <a:latin typeface="Lucida Calligraphy" charset="0"/>
              </a:rPr>
              <a:t>2  </a:t>
            </a:r>
            <a:r>
              <a:rPr lang="en-US" altLang="x-none" sz="1800">
                <a:latin typeface="Lucida Calligraphy" charset="0"/>
              </a:rPr>
              <a:t>= 2sr - s</a:t>
            </a:r>
            <a:r>
              <a:rPr lang="en-US" altLang="x-none" sz="1800" baseline="30000">
                <a:latin typeface="Lucida Calligraphy" charset="0"/>
              </a:rPr>
              <a:t>2</a:t>
            </a:r>
          </a:p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 </a:t>
            </a:r>
            <a:r>
              <a:rPr lang="en-US" altLang="x-none" sz="1800">
                <a:latin typeface="Lucida Calligraphy" charset="0"/>
              </a:rPr>
              <a:t>= r + 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latin typeface="Lucida Calligraphy" charset="0"/>
            </a:endParaRPr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  <a:p>
            <a:pPr eaLnBrk="1" hangingPunct="1"/>
            <a:endParaRPr lang="en-US" altLang="x-none" sz="1800"/>
          </a:p>
        </p:txBody>
      </p:sp>
      <p:sp>
        <p:nvSpPr>
          <p:cNvPr id="43023" name="TextBox 17"/>
          <p:cNvSpPr txBox="1">
            <a:spLocks noChangeArrowheads="1"/>
          </p:cNvSpPr>
          <p:nvPr/>
        </p:nvSpPr>
        <p:spPr bwMode="auto">
          <a:xfrm>
            <a:off x="3935414" y="2708275"/>
            <a:ext cx="1385887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h</a:t>
            </a:r>
            <a:r>
              <a:rPr lang="en-US" altLang="x-none" sz="1800"/>
              <a:t> = 500mm</a:t>
            </a:r>
          </a:p>
        </p:txBody>
      </p:sp>
      <p:sp>
        <p:nvSpPr>
          <p:cNvPr id="43024" name="TextBox 18"/>
          <p:cNvSpPr txBox="1">
            <a:spLocks noChangeArrowheads="1"/>
          </p:cNvSpPr>
          <p:nvPr/>
        </p:nvSpPr>
        <p:spPr bwMode="auto">
          <a:xfrm>
            <a:off x="3359150" y="3789363"/>
            <a:ext cx="288862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latin typeface="Lucida Calligraphy" charset="0"/>
              </a:rPr>
              <a:t>s</a:t>
            </a:r>
          </a:p>
        </p:txBody>
      </p:sp>
      <p:cxnSp>
        <p:nvCxnSpPr>
          <p:cNvPr id="21" name="Straight Arrow Connector 20"/>
          <p:cNvCxnSpPr>
            <a:cxnSpLocks noChangeShapeType="1"/>
          </p:cNvCxnSpPr>
          <p:nvPr/>
        </p:nvCxnSpPr>
        <p:spPr bwMode="auto">
          <a:xfrm>
            <a:off x="3287713" y="3860800"/>
            <a:ext cx="381000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6" name="TextBox 27"/>
          <p:cNvSpPr txBox="1">
            <a:spLocks noChangeArrowheads="1"/>
          </p:cNvSpPr>
          <p:nvPr/>
        </p:nvSpPr>
        <p:spPr bwMode="auto">
          <a:xfrm>
            <a:off x="4727576" y="3789363"/>
            <a:ext cx="792163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24" name="Straight Arrow Connector 23"/>
          <p:cNvCxnSpPr>
            <a:cxnSpLocks noChangeShapeType="1"/>
          </p:cNvCxnSpPr>
          <p:nvPr/>
        </p:nvCxnSpPr>
        <p:spPr bwMode="auto">
          <a:xfrm>
            <a:off x="5375276" y="4005263"/>
            <a:ext cx="504825" cy="0"/>
          </a:xfrm>
          <a:prstGeom prst="straightConnector1">
            <a:avLst/>
          </a:prstGeom>
          <a:noFill/>
          <a:ln w="25400">
            <a:solidFill>
              <a:srgbClr val="000000"/>
            </a:solidFill>
            <a:prstDash val="dash"/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43028" name="TextBox 33"/>
          <p:cNvSpPr txBox="1">
            <a:spLocks noChangeArrowheads="1"/>
          </p:cNvSpPr>
          <p:nvPr/>
        </p:nvSpPr>
        <p:spPr bwMode="auto">
          <a:xfrm>
            <a:off x="2351089" y="3789363"/>
            <a:ext cx="9366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m</a:t>
            </a:r>
            <a:endParaRPr lang="en-US" altLang="x-none" sz="1800">
              <a:solidFill>
                <a:srgbClr val="FF0000"/>
              </a:solidFill>
              <a:latin typeface="Lucida Calligraphy" charset="0"/>
            </a:endParaRPr>
          </a:p>
        </p:txBody>
      </p:sp>
      <p:sp>
        <p:nvSpPr>
          <p:cNvPr id="43029" name="TextBox 34"/>
          <p:cNvSpPr txBox="1">
            <a:spLocks noChangeArrowheads="1"/>
          </p:cNvSpPr>
          <p:nvPr/>
        </p:nvSpPr>
        <p:spPr bwMode="auto">
          <a:xfrm>
            <a:off x="2782888" y="5589588"/>
            <a:ext cx="792162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b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sp>
        <p:nvSpPr>
          <p:cNvPr id="43030" name="TextBox 35"/>
          <p:cNvSpPr txBox="1">
            <a:spLocks noChangeArrowheads="1"/>
          </p:cNvSpPr>
          <p:nvPr/>
        </p:nvSpPr>
        <p:spPr bwMode="auto">
          <a:xfrm>
            <a:off x="2782888" y="1628775"/>
            <a:ext cx="792162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,y</a:t>
            </a:r>
            <a:r>
              <a:rPr lang="en-US" altLang="x-none" sz="1800" baseline="-25000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>
                <a:solidFill>
                  <a:srgbClr val="FF0000"/>
                </a:solidFill>
                <a:latin typeface="Lucida Calligraphy" charset="0"/>
              </a:rPr>
              <a:t> </a:t>
            </a:r>
          </a:p>
        </p:txBody>
      </p:sp>
      <p:cxnSp>
        <p:nvCxnSpPr>
          <p:cNvPr id="37" name="Straight Arrow Connector 36"/>
          <p:cNvCxnSpPr>
            <a:cxnSpLocks noChangeShapeType="1"/>
          </p:cNvCxnSpPr>
          <p:nvPr/>
        </p:nvCxnSpPr>
        <p:spPr bwMode="auto">
          <a:xfrm flipV="1">
            <a:off x="3935413" y="2060576"/>
            <a:ext cx="0" cy="1655763"/>
          </a:xfrm>
          <a:prstGeom prst="straightConnector1">
            <a:avLst/>
          </a:prstGeom>
          <a:noFill/>
          <a:ln w="25400">
            <a:solidFill>
              <a:srgbClr val="000000"/>
            </a:solidFill>
            <a:round/>
            <a:headEnd type="arrow" w="med" len="med"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/>
          <p:cNvSpPr>
            <a:spLocks noGrp="1"/>
          </p:cNvSpPr>
          <p:nvPr>
            <p:ph type="title"/>
          </p:nvPr>
        </p:nvSpPr>
        <p:spPr>
          <a:xfrm>
            <a:off x="1992313" y="188913"/>
            <a:ext cx="8229600" cy="919162"/>
          </a:xfrm>
        </p:spPr>
        <p:txBody>
          <a:bodyPr/>
          <a:lstStyle/>
          <a:p>
            <a:r>
              <a:rPr lang="en-US" altLang="x-none"/>
              <a:t>Circle equation and solutions</a:t>
            </a:r>
          </a:p>
        </p:txBody>
      </p:sp>
      <p:sp>
        <p:nvSpPr>
          <p:cNvPr id="44035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4036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95212A31-810B-054D-BB61-8593D637FD85}" type="slidenum">
              <a:rPr lang="it-IT" altLang="x-none" sz="1200">
                <a:latin typeface="Garamond" charset="0"/>
              </a:rPr>
              <a:pPr eaLnBrk="1" hangingPunct="1"/>
              <a:t>68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43013" name="TextBox 6"/>
          <p:cNvSpPr txBox="1">
            <a:spLocks noChangeArrowheads="1"/>
          </p:cNvSpPr>
          <p:nvPr/>
        </p:nvSpPr>
        <p:spPr bwMode="auto">
          <a:xfrm>
            <a:off x="2516229" y="1187807"/>
            <a:ext cx="6737742" cy="4985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= r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</a:p>
          <a:p>
            <a:pPr eaLnBrk="1" hangingPunct="1"/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Compute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t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   (x for y=h)</a:t>
            </a:r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x</a:t>
            </a:r>
            <a:r>
              <a:rPr lang="en-US" altLang="x-none" sz="1800" baseline="30000" dirty="0"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= 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0</a:t>
            </a:r>
            <a:r>
              <a:rPr lang="en-US" altLang="x-none" sz="1800" dirty="0">
                <a:latin typeface="Lucida Calligraphy" charset="0"/>
              </a:rPr>
              <a:t> 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    ~ 0 (zero)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baseline="-25000" dirty="0">
              <a:solidFill>
                <a:srgbClr val="FF0000"/>
              </a:solidFill>
              <a:latin typeface="Lucida Calligraphy" charset="0"/>
            </a:endParaRPr>
          </a:p>
          <a:p>
            <a:pPr eaLnBrk="1" hangingPunct="1"/>
            <a:r>
              <a:rPr lang="en-US" altLang="x-none" sz="1800" dirty="0"/>
              <a:t>Alternative formulation equivalent to change of </a:t>
            </a:r>
          </a:p>
          <a:p>
            <a:pPr eaLnBrk="1" hangingPunct="1"/>
            <a:r>
              <a:rPr lang="en-US" altLang="x-none" sz="1800" dirty="0"/>
              <a:t>coordinate centered at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,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 </a:t>
            </a:r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-2ar(x-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-2br</a:t>
            </a:r>
            <a:r>
              <a:rPr lang="en-US" altLang="x-none" sz="1800" dirty="0">
                <a:latin typeface="Lucida Calligraphy" charset="0"/>
              </a:rPr>
              <a:t>(y-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solidFill>
                  <a:srgbClr val="00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</a:p>
          <a:p>
            <a:pPr eaLnBrk="1" hangingPunct="1"/>
            <a:r>
              <a:rPr lang="en-US" altLang="x-none" sz="1800" dirty="0"/>
              <a:t>In our simplified case </a:t>
            </a:r>
            <a:r>
              <a:rPr lang="en-US" altLang="x-none" sz="1800" dirty="0">
                <a:latin typeface="Lucida Calligraphy" charset="0"/>
              </a:rPr>
              <a:t>a=1, b=0,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y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=0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2  </a:t>
            </a:r>
            <a:r>
              <a:rPr lang="en-US" altLang="x-none" sz="1800" dirty="0">
                <a:latin typeface="Lucida Calligraphy" charset="0"/>
              </a:rPr>
              <a:t>- 2(x-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)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 </a:t>
            </a:r>
            <a:r>
              <a:rPr lang="en-US" altLang="x-none" sz="1800" baseline="30000" dirty="0">
                <a:latin typeface="Lucida Calligraphy" charset="0"/>
              </a:rPr>
              <a:t> </a:t>
            </a:r>
            <a:r>
              <a:rPr lang="en-US" altLang="x-none" sz="1800" dirty="0">
                <a:latin typeface="Lucida Calligraphy" charset="0"/>
              </a:rPr>
              <a:t>= 0</a:t>
            </a:r>
            <a:endParaRPr lang="en-US" altLang="x-none" sz="1800" baseline="30000" dirty="0">
              <a:latin typeface="Lucida Calligraphy" charset="0"/>
            </a:endParaRP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-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   </a:t>
            </a:r>
            <a:r>
              <a:rPr lang="en-US" altLang="x-none" sz="1800" dirty="0">
                <a:latin typeface="Lucida Calligraphy" charset="0"/>
              </a:rPr>
              <a:t>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dirty="0">
                <a:latin typeface="Lucida Calligraphy" charset="0"/>
              </a:rPr>
              <a:t>              </a:t>
            </a:r>
            <a:r>
              <a:rPr lang="en-US" altLang="x-none" sz="1800" dirty="0">
                <a:latin typeface="+mn-lt"/>
              </a:rPr>
              <a:t>(naïve: cancellation!!)</a:t>
            </a:r>
            <a:endParaRPr lang="en-US" altLang="x-none" sz="1800" dirty="0"/>
          </a:p>
          <a:p>
            <a:pPr eaLnBrk="1" hangingPunct="1"/>
            <a:r>
              <a:rPr lang="en-US" altLang="x-none" sz="1800" dirty="0">
                <a:latin typeface="Lucida Calligraphy" charset="0"/>
              </a:rPr>
              <a:t>x =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(r </a:t>
            </a:r>
            <a:r>
              <a:rPr lang="en-US" altLang="x-none" sz="1800" dirty="0">
                <a:solidFill>
                  <a:srgbClr val="000000"/>
                </a:solidFill>
                <a:latin typeface="Lucida Calligraphy" charset="0"/>
              </a:rPr>
              <a:t>+ (</a:t>
            </a:r>
            <a:r>
              <a:rPr lang="en-US" altLang="x-none" sz="1800" dirty="0">
                <a:latin typeface="Lucida Calligraphy" charset="0"/>
              </a:rPr>
              <a:t>r</a:t>
            </a:r>
            <a:r>
              <a:rPr lang="en-US" altLang="x-none" sz="1800" baseline="30000" dirty="0">
                <a:latin typeface="Lucida Calligraphy" charset="0"/>
              </a:rPr>
              <a:t>2 –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</a:t>
            </a:r>
            <a:r>
              <a:rPr lang="en-US" altLang="x-none" sz="1800" dirty="0">
                <a:latin typeface="Lucida Calligraphy" charset="0"/>
              </a:rPr>
              <a:t>)</a:t>
            </a:r>
            <a:r>
              <a:rPr lang="en-US" altLang="x-none" sz="1800" baseline="30000" dirty="0">
                <a:latin typeface="Lucida Calligraphy" charset="0"/>
              </a:rPr>
              <a:t>1/2</a:t>
            </a:r>
            <a:r>
              <a:rPr lang="en-US" altLang="x-none" sz="1800" dirty="0">
                <a:latin typeface="Lucida Calligraphy" charset="0"/>
              </a:rPr>
              <a:t> )   ~ </a:t>
            </a:r>
            <a:r>
              <a:rPr lang="en-US" altLang="x-none" sz="1800" dirty="0" err="1">
                <a:solidFill>
                  <a:srgbClr val="FF0000"/>
                </a:solidFill>
                <a:latin typeface="Lucida Calligraphy" charset="0"/>
              </a:rPr>
              <a:t>x</a:t>
            </a:r>
            <a:r>
              <a:rPr lang="en-US" altLang="x-none" sz="1800" baseline="-25000" dirty="0" err="1">
                <a:solidFill>
                  <a:srgbClr val="FF0000"/>
                </a:solidFill>
                <a:latin typeface="Lucida Calligraphy" charset="0"/>
              </a:rPr>
              <a:t>m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+</a:t>
            </a:r>
            <a:r>
              <a:rPr lang="en-US" altLang="x-none" sz="1800" baseline="-25000" dirty="0">
                <a:solidFill>
                  <a:srgbClr val="FF0000"/>
                </a:solidFill>
                <a:latin typeface="Lucida Calligraphy" charset="0"/>
              </a:rPr>
              <a:t>  </a:t>
            </a:r>
            <a:r>
              <a:rPr lang="en-US" altLang="x-none" sz="1800" dirty="0">
                <a:latin typeface="Lucida Calligraphy" charset="0"/>
              </a:rPr>
              <a:t>h</a:t>
            </a:r>
            <a:r>
              <a:rPr lang="en-US" altLang="x-none" sz="1800" baseline="30000" dirty="0">
                <a:latin typeface="Lucida Calligraphy" charset="0"/>
              </a:rPr>
              <a:t>2 </a:t>
            </a:r>
            <a:r>
              <a:rPr lang="en-US" altLang="x-none" sz="1800" dirty="0">
                <a:latin typeface="Lucida Calligraphy" charset="0"/>
              </a:rPr>
              <a:t>/ 2r   </a:t>
            </a:r>
            <a:r>
              <a:rPr lang="en-US" altLang="x-none" sz="1800" dirty="0"/>
              <a:t>(optimal)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endParaRPr lang="en-US" altLang="x-none" sz="1800" dirty="0"/>
          </a:p>
        </p:txBody>
      </p:sp>
      <p:sp>
        <p:nvSpPr>
          <p:cNvPr id="44038" name="TextBox 1"/>
          <p:cNvSpPr txBox="1">
            <a:spLocks noChangeArrowheads="1"/>
          </p:cNvSpPr>
          <p:nvPr/>
        </p:nvSpPr>
        <p:spPr bwMode="auto">
          <a:xfrm>
            <a:off x="1465886" y="5615582"/>
            <a:ext cx="10074074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 correct choice of algorithm can allow to use a reduced precision to obtain the same accuracy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Faster</a:t>
            </a:r>
          </a:p>
          <a:p>
            <a:pPr lvl="1" eaLnBrk="1" hangingPunct="1">
              <a:buFont typeface="Arial" charset="0"/>
              <a:buChar char="•"/>
            </a:pPr>
            <a:r>
              <a:rPr lang="en-US" altLang="x-none" sz="1800"/>
              <a:t>Smaller memory footprint  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05F96-FA60-9B0C-1DB9-F8EEDD322D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73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Example: CMS tracker</a:t>
            </a:r>
            <a:br>
              <a:rPr lang="en-US" dirty="0"/>
            </a:br>
            <a:r>
              <a:rPr lang="en-US" sz="3100" dirty="0">
                <a:hlinkClick r:id="rId2"/>
              </a:rPr>
              <a:t>https://cms-tklayout.web.cern.ch/cmssw/OT806_IT742/info.html</a:t>
            </a:r>
            <a:endParaRPr lang="en-US" dirty="0"/>
          </a:p>
        </p:txBody>
      </p:sp>
      <p:pic>
        <p:nvPicPr>
          <p:cNvPr id="11266" name="Picture 2">
            <a:extLst>
              <a:ext uri="{FF2B5EF4-FFF2-40B4-BE49-F238E27FC236}">
                <a16:creationId xmlns:a16="http://schemas.microsoft.com/office/drawing/2014/main" id="{120FDB2D-A0A4-C240-D275-1539E67F54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6846" y="1775749"/>
            <a:ext cx="7396717" cy="2465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68" name="Picture 4">
            <a:extLst>
              <a:ext uri="{FF2B5EF4-FFF2-40B4-BE49-F238E27FC236}">
                <a16:creationId xmlns:a16="http://schemas.microsoft.com/office/drawing/2014/main" id="{18AFFAC5-1116-4C6B-D799-E445126441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1" y="1552354"/>
            <a:ext cx="2775098" cy="2775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2F28B3-807A-F852-A8FD-7F09A1F98605}"/>
              </a:ext>
            </a:extLst>
          </p:cNvPr>
          <p:cNvSpPr txBox="1"/>
          <p:nvPr/>
        </p:nvSpPr>
        <p:spPr>
          <a:xfrm>
            <a:off x="340240" y="4326383"/>
            <a:ext cx="49547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Spatial resolution: (alignment error to be added)</a:t>
            </a:r>
          </a:p>
          <a:p>
            <a:r>
              <a:rPr lang="en-US" dirty="0"/>
              <a:t>IT:   σ</a:t>
            </a:r>
            <a:r>
              <a:rPr lang="en-US" baseline="-25000" dirty="0"/>
              <a:t>x</a:t>
            </a:r>
            <a:r>
              <a:rPr lang="en-US" dirty="0"/>
              <a:t>~3μ σ</a:t>
            </a:r>
            <a:r>
              <a:rPr lang="en-US" baseline="-25000" dirty="0"/>
              <a:t>z</a:t>
            </a:r>
            <a:r>
              <a:rPr lang="en-US" dirty="0"/>
              <a:t>~10μ  at r&lt;15cm |z|&lt;20cm</a:t>
            </a:r>
          </a:p>
          <a:p>
            <a:r>
              <a:rPr lang="en-US" dirty="0"/>
              <a:t>OT: σ</a:t>
            </a:r>
            <a:r>
              <a:rPr lang="en-US" baseline="-25000" dirty="0"/>
              <a:t>x</a:t>
            </a:r>
            <a:r>
              <a:rPr lang="en-US" dirty="0"/>
              <a:t>~20μ σ</a:t>
            </a:r>
            <a:r>
              <a:rPr lang="en-US" baseline="-25000" dirty="0"/>
              <a:t>z</a:t>
            </a:r>
            <a:r>
              <a:rPr lang="en-US" dirty="0"/>
              <a:t>~425μ  at r&lt;120cm |z|&lt;130cm</a:t>
            </a:r>
          </a:p>
        </p:txBody>
      </p:sp>
    </p:spTree>
    <p:extLst>
      <p:ext uri="{BB962C8B-B14F-4D97-AF65-F5344CB8AC3E}">
        <p14:creationId xmlns:p14="http://schemas.microsoft.com/office/powerpoint/2010/main" val="239558020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6581C-82E0-8D16-FA39-E76292CC7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Track resolution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C3916E-4368-4D92-4FE0-0A2A1BD5D8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2977" y="137266"/>
            <a:ext cx="5384800" cy="1993900"/>
          </a:xfrm>
          <a:prstGeom prst="rect">
            <a:avLst/>
          </a:prstGeom>
        </p:spPr>
      </p:pic>
      <p:pic>
        <p:nvPicPr>
          <p:cNvPr id="12290" name="Picture 2">
            <a:extLst>
              <a:ext uri="{FF2B5EF4-FFF2-40B4-BE49-F238E27FC236}">
                <a16:creationId xmlns:a16="http://schemas.microsoft.com/office/drawing/2014/main" id="{1AC6E908-414B-B976-A5C5-E78C103929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69" y="1918547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4" name="Picture 6">
            <a:extLst>
              <a:ext uri="{FF2B5EF4-FFF2-40B4-BE49-F238E27FC236}">
                <a16:creationId xmlns:a16="http://schemas.microsoft.com/office/drawing/2014/main" id="{9CF9420D-CFC5-F39E-7FA4-6D6BD06D0F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45695" y="1965878"/>
            <a:ext cx="4325343" cy="28835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296" name="Picture 8">
            <a:extLst>
              <a:ext uri="{FF2B5EF4-FFF2-40B4-BE49-F238E27FC236}">
                <a16:creationId xmlns:a16="http://schemas.microsoft.com/office/drawing/2014/main" id="{8E06164F-8C16-E128-B842-56109EC9F2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60289" y="2066758"/>
            <a:ext cx="4447488" cy="2964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CC684E8-33F7-FE45-48F9-262528C600AF}"/>
              </a:ext>
            </a:extLst>
          </p:cNvPr>
          <p:cNvSpPr txBox="1"/>
          <p:nvPr/>
        </p:nvSpPr>
        <p:spPr>
          <a:xfrm>
            <a:off x="868326" y="2277509"/>
            <a:ext cx="12170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1Gev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0070C0"/>
                </a:solidFill>
              </a:rPr>
              <a:t>10GeV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rgbClr val="FF0000"/>
                </a:solidFill>
              </a:rPr>
              <a:t>100GeV</a:t>
            </a:r>
          </a:p>
        </p:txBody>
      </p:sp>
    </p:spTree>
    <p:extLst>
      <p:ext uri="{BB962C8B-B14F-4D97-AF65-F5344CB8AC3E}">
        <p14:creationId xmlns:p14="http://schemas.microsoft.com/office/powerpoint/2010/main" val="31731378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FFB8E-82F8-EF95-7B40-FF6E1C138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CMS Electromagnetic </a:t>
            </a:r>
            <a:r>
              <a:rPr lang="en-US" dirty="0" err="1"/>
              <a:t>Calorimiter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F9D161-A33C-BFA5-F0C8-F49A9386BB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776" y="1733546"/>
            <a:ext cx="4447363" cy="311315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6047C5-E321-4DA3-3868-82E182D2678C}"/>
              </a:ext>
            </a:extLst>
          </p:cNvPr>
          <p:cNvSpPr txBox="1"/>
          <p:nvPr/>
        </p:nvSpPr>
        <p:spPr>
          <a:xfrm>
            <a:off x="1484382" y="1349330"/>
            <a:ext cx="1873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Energy Resolution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10E29F5-31E7-42E9-7BC5-937783976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239" y="1420511"/>
            <a:ext cx="3382435" cy="3469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8047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36103</TotalTime>
  <Words>6724</Words>
  <Application>Microsoft Macintosh PowerPoint</Application>
  <PresentationFormat>Widescreen</PresentationFormat>
  <Paragraphs>793</Paragraphs>
  <Slides>71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84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Courier</vt:lpstr>
      <vt:lpstr>Garamond</vt:lpstr>
      <vt:lpstr>Lucida Calligraphy</vt:lpstr>
      <vt:lpstr>Lucida Console</vt:lpstr>
      <vt:lpstr>Wingdings</vt:lpstr>
      <vt:lpstr>Office Theme</vt:lpstr>
      <vt:lpstr>FloatingPoint Arithmetic for Scientist: Precision, Accuracy, Efficiency </vt:lpstr>
      <vt:lpstr>Definitions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Arithmetic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PowerPoint Presentation</vt:lpstr>
      <vt:lpstr>Random Number interlude</vt:lpstr>
      <vt:lpstr>Uniform vs canonical (for a detailed discussion see among others https://github.com/DiscreteLogarithm/canonical-random-float/tree/master)</vt:lpstr>
      <vt:lpstr> Gaussian Tail</vt:lpstr>
      <vt:lpstr>Elementary Functions</vt:lpstr>
      <vt:lpstr>Elementary functions</vt:lpstr>
      <vt:lpstr>Library functions</vt:lpstr>
      <vt:lpstr>Evaluating a function for a recent review see https://dl.acm.org/doi/pdf/10.1145/3747840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Cost of operations (in cpu cycles on x86_64) https://www.agner.org/optimize/instruction_tables.pdf  (icelake &amp; zen5)</vt:lpstr>
      <vt:lpstr>GPU landscape:  FP64 is 32 times slower than FP32 on affordable GPU</vt:lpstr>
      <vt:lpstr>GPU (T4) performance Brute-force inversion of 5x5 Pos-Def Matrix using Cholesky decomposition 33 + , 29 - , 126 * , 5 / , no sqrt    (compiler optimization and fma will contract some) </vt:lpstr>
      <vt:lpstr>Elementary functions throughput (in cycles) (origin https://core-math.gitlabpages.inria.fr/)</vt:lpstr>
      <vt:lpstr>float vs double: summary</vt:lpstr>
      <vt:lpstr>Precision vs Speed in “libm”</vt:lpstr>
      <vt:lpstr>Example: multiple scattering formula</vt:lpstr>
      <vt:lpstr>Cash-Karp Runge-Kutta Step</vt:lpstr>
      <vt:lpstr>Code pitfalls and opportunity for optimization</vt:lpstr>
      <vt:lpstr>Language and compiler “rules”</vt:lpstr>
      <vt:lpstr>Compiler option affecting FP Arith https://gcc.gnu.org/wiki/FloatingPointMath https://clang.llvm.org/docs/UsersManual.html - controlling-floating-point-behavior</vt:lpstr>
      <vt:lpstr>Controlling fma (contraction)</vt:lpstr>
      <vt:lpstr>Inspecting generated code</vt:lpstr>
      <vt:lpstr>Formula Translation:  what was the author’s intention?</vt:lpstr>
      <vt:lpstr>EXERCISES</vt:lpstr>
      <vt:lpstr>Anecdotes</vt:lpstr>
      <vt:lpstr>References</vt:lpstr>
      <vt:lpstr>Self Assessment</vt:lpstr>
      <vt:lpstr>“additional” material</vt:lpstr>
      <vt:lpstr>What precision is good enough?</vt:lpstr>
      <vt:lpstr>Example: cut in pt, phi, eta</vt:lpstr>
      <vt:lpstr>Example: detector of size 1 m and resolution 10 micron       (required accuracy: ~1micron?)</vt:lpstr>
      <vt:lpstr>Circle equation and solutions</vt:lpstr>
      <vt:lpstr>Example: CMS tracker https://cms-tklayout.web.cern.ch/cmssw/OT806_IT742/info.html</vt:lpstr>
      <vt:lpstr>Track resolution </vt:lpstr>
      <vt:lpstr>Example: CMS Electromagnetic Calorimiter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288</cp:revision>
  <dcterms:created xsi:type="dcterms:W3CDTF">2026-04-12T14:58:51Z</dcterms:created>
  <dcterms:modified xsi:type="dcterms:W3CDTF">2026-05-14T12:20:01Z</dcterms:modified>
</cp:coreProperties>
</file>