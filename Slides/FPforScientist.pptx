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469" r:id="rId29"/>
    <p:sldId id="482" r:id="rId30"/>
    <p:sldId id="276" r:id="rId31"/>
    <p:sldId id="493" r:id="rId32"/>
    <p:sldId id="470" r:id="rId33"/>
    <p:sldId id="480" r:id="rId34"/>
    <p:sldId id="471" r:id="rId35"/>
    <p:sldId id="474" r:id="rId36"/>
    <p:sldId id="473" r:id="rId37"/>
    <p:sldId id="475" r:id="rId38"/>
    <p:sldId id="472" r:id="rId39"/>
    <p:sldId id="476" r:id="rId40"/>
    <p:sldId id="477" r:id="rId41"/>
    <p:sldId id="478" r:id="rId42"/>
    <p:sldId id="479" r:id="rId43"/>
    <p:sldId id="381" r:id="rId44"/>
    <p:sldId id="396" r:id="rId45"/>
    <p:sldId id="341" r:id="rId46"/>
    <p:sldId id="413" r:id="rId47"/>
    <p:sldId id="421" r:id="rId48"/>
    <p:sldId id="481" r:id="rId49"/>
    <p:sldId id="496" r:id="rId50"/>
    <p:sldId id="444" r:id="rId51"/>
    <p:sldId id="397" r:id="rId52"/>
    <p:sldId id="265" r:id="rId53"/>
    <p:sldId id="484" r:id="rId54"/>
    <p:sldId id="488" r:id="rId55"/>
    <p:sldId id="489" r:id="rId56"/>
    <p:sldId id="490" r:id="rId57"/>
    <p:sldId id="363" r:id="rId58"/>
    <p:sldId id="365" r:id="rId59"/>
    <p:sldId id="494" r:id="rId60"/>
    <p:sldId id="498" r:id="rId61"/>
    <p:sldId id="497" r:id="rId62"/>
    <p:sldId id="499" r:id="rId63"/>
    <p:sldId id="495" r:id="rId64"/>
    <p:sldId id="483" r:id="rId65"/>
    <p:sldId id="393" r:id="rId66"/>
    <p:sldId id="434" r:id="rId67"/>
    <p:sldId id="435" r:id="rId68"/>
    <p:sldId id="485" r:id="rId69"/>
    <p:sldId id="486" r:id="rId70"/>
    <p:sldId id="487" r:id="rId7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37"/>
    <p:restoredTop sz="96327"/>
  </p:normalViewPr>
  <p:slideViewPr>
    <p:cSldViewPr snapToGrid="0" snapToObjects="1">
      <p:cViewPr>
        <p:scale>
          <a:sx n="110" d="100"/>
          <a:sy n="110" d="100"/>
        </p:scale>
        <p:origin x="384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3-319-76526-6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printed in </a:t>
            </a:r>
            <a:r>
              <a:rPr lang="en-US" dirty="0" err="1"/>
              <a:t>exadecimal</a:t>
            </a:r>
            <a:endParaRPr lang="en-US" dirty="0"/>
          </a:p>
          <a:p>
            <a:pPr marL="0" indent="0">
              <a:buNone/>
            </a:pPr>
            <a:r>
              <a:rPr lang="en-US" sz="1900" dirty="0"/>
              <a:t>(printed in binary is a 1 followed by a string of 23bits</a:t>
            </a:r>
            <a:r>
              <a:rPr lang="en-US" sz="1900" baseline="30000" dirty="0"/>
              <a:t>, </a:t>
            </a:r>
            <a:r>
              <a:rPr lang="cs-CZ" altLang="x-none" sz="1900" dirty="0">
                <a:latin typeface="Lucida Console" charset="0"/>
              </a:rPr>
              <a:t>1.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1900" dirty="0">
                <a:latin typeface="Lucida Console" charset="0"/>
              </a:rPr>
              <a:t>0010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1900" dirty="0">
                <a:latin typeface="Lucida Console" charset="0"/>
              </a:rPr>
              <a:t>1111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1900" dirty="0">
                <a:latin typeface="Lucida Console" charset="0"/>
              </a:rPr>
              <a:t>011</a:t>
            </a:r>
            <a:r>
              <a:rPr lang="is-IS" altLang="x-none" sz="1900" dirty="0">
                <a:latin typeface="Lucida Console" charset="0"/>
              </a:rPr>
              <a:t> </a:t>
            </a:r>
            <a:r>
              <a:rPr lang="en-US" sz="1900" dirty="0"/>
              <a:t>in hex last digit is therefore always even)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intrinsic “float” is actually double precision</a:t>
            </a:r>
          </a:p>
          <a:p>
            <a:pPr lvl="1"/>
            <a:r>
              <a:rPr lang="en-US" dirty="0" err="1"/>
              <a:t>float.hex</a:t>
            </a:r>
            <a:r>
              <a:rPr lang="en-US" dirty="0"/>
              <a:t>() and </a:t>
            </a:r>
            <a:r>
              <a:rPr lang="en-US" dirty="0" err="1"/>
              <a:t>float.fromhex</a:t>
            </a:r>
            <a:r>
              <a:rPr lang="en-US" dirty="0"/>
              <a:t>() allows to convert to/from </a:t>
            </a:r>
            <a:r>
              <a:rPr lang="en-US" dirty="0" err="1"/>
              <a:t>exadecimal</a:t>
            </a:r>
            <a:r>
              <a:rPr lang="en-US" dirty="0"/>
              <a:t> string</a:t>
            </a:r>
          </a:p>
          <a:p>
            <a:r>
              <a:rPr lang="en-US" b="1" dirty="0" err="1"/>
              <a:t>numpy</a:t>
            </a:r>
            <a:r>
              <a:rPr lang="en-US" dirty="0"/>
              <a:t> defines float16, float32, float64 (and float128 on x86_64)</a:t>
            </a:r>
          </a:p>
          <a:p>
            <a:pPr lvl="1"/>
            <a:r>
              <a:rPr lang="en-US" dirty="0">
                <a:hlinkClick r:id="rId2"/>
              </a:rPr>
              <a:t>https://numpy.org/doc/2.3/reference/arrays.scalars.html - floating-point-types</a:t>
            </a:r>
            <a:endParaRPr lang="en-US" dirty="0"/>
          </a:p>
          <a:p>
            <a:r>
              <a:rPr lang="en-US" b="1" dirty="0"/>
              <a:t>decimal</a:t>
            </a:r>
            <a:r>
              <a:rPr lang="en-US" dirty="0"/>
              <a:t> is a module providing FP in base 10 of arbitrary precision</a:t>
            </a:r>
          </a:p>
          <a:p>
            <a:pPr lvl="1"/>
            <a:r>
              <a:rPr lang="en-US" dirty="0">
                <a:hlinkClick r:id="rId3"/>
              </a:rPr>
              <a:t>https://docs.python.org/3/library/decimal.html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it is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507" y="120649"/>
            <a:ext cx="2686493" cy="327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 dirty="0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optimization for parallelism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needed :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a function</a:t>
            </a:r>
            <a:br>
              <a:rPr lang="en-US" dirty="0"/>
            </a:br>
            <a:r>
              <a:rPr lang="en-US" sz="2700" dirty="0"/>
              <a:t>for a recent review see </a:t>
            </a:r>
            <a:r>
              <a:rPr lang="en-US" sz="2700" dirty="0">
                <a:hlinkClick r:id="rId2"/>
              </a:rPr>
              <a:t>https://dl.acm.org/doi/pdf/10.1145/3747840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r>
              <a:rPr lang="en-US" dirty="0"/>
              <a:t> ,</a:t>
            </a:r>
            <a:r>
              <a:rPr lang="en-US" dirty="0" err="1"/>
              <a:t>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polynomials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43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 dirty="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67563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99042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GPU (T4) performance</a:t>
            </a:r>
            <a:br>
              <a:rPr lang="en-US" dirty="0"/>
            </a:br>
            <a:r>
              <a:rPr lang="en-US" sz="2700" dirty="0"/>
              <a:t>Brute-force inversion of 5x5 Pos-Def Matrix using Cholesky decomposition</a:t>
            </a:r>
            <a:br>
              <a:rPr lang="en-US" sz="2700" dirty="0"/>
            </a:br>
            <a:r>
              <a:rPr lang="en-US" sz="2200" dirty="0"/>
              <a:t>33 + , 29 - , 126 * , 5 / , no sqrt    (compiler optimization and </a:t>
            </a:r>
            <a:r>
              <a:rPr lang="en-US" sz="2200" dirty="0" err="1"/>
              <a:t>fma</a:t>
            </a:r>
            <a:r>
              <a:rPr lang="en-US" sz="2200" dirty="0"/>
              <a:t> will contract some)</a:t>
            </a:r>
            <a:br>
              <a:rPr lang="en-US" dirty="0"/>
            </a:br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 vs double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the old days: X87</a:t>
            </a:r>
          </a:p>
          <a:p>
            <a:pPr lvl="1"/>
            <a:r>
              <a:rPr lang="en-US" dirty="0"/>
              <a:t>Double faster than float!</a:t>
            </a:r>
          </a:p>
          <a:p>
            <a:r>
              <a:rPr lang="en-US" dirty="0"/>
              <a:t>X86_64 (and ARM, PPC, RISC)</a:t>
            </a:r>
          </a:p>
          <a:p>
            <a:pPr lvl="1"/>
            <a:r>
              <a:rPr lang="en-US" dirty="0"/>
              <a:t>Scalar: float and double same speed (but div, sqrt, memory bandwidth)</a:t>
            </a:r>
          </a:p>
          <a:p>
            <a:pPr lvl="1"/>
            <a:r>
              <a:rPr lang="en-US" dirty="0"/>
              <a:t>Vector: float twice faster than double</a:t>
            </a:r>
          </a:p>
          <a:p>
            <a:r>
              <a:rPr lang="en-US" dirty="0"/>
              <a:t>GPU: gaming and “Data Center”</a:t>
            </a:r>
          </a:p>
          <a:p>
            <a:pPr lvl="1"/>
            <a:r>
              <a:rPr lang="en-US" dirty="0"/>
              <a:t>Float 64 times faster than double</a:t>
            </a:r>
          </a:p>
          <a:p>
            <a:r>
              <a:rPr lang="en-US" dirty="0"/>
              <a:t>GPU: HPC</a:t>
            </a:r>
          </a:p>
          <a:p>
            <a:pPr lvl="1"/>
            <a:r>
              <a:rPr lang="en-US" dirty="0"/>
              <a:t>Float twice faster than double</a:t>
            </a:r>
          </a:p>
          <a:p>
            <a:r>
              <a:rPr lang="en-US" dirty="0"/>
              <a:t>GPU: AI</a:t>
            </a:r>
          </a:p>
          <a:p>
            <a:pPr lvl="1"/>
            <a:r>
              <a:rPr lang="en-US" dirty="0"/>
              <a:t>Optimized for low-precision tensor operations (GEMM can profit )  </a:t>
            </a:r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50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063" y="3429001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51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52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FP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pPr lvl="1"/>
            <a:r>
              <a:rPr lang="en-US" dirty="0"/>
              <a:t>One element in double and the expression will be evaluated in double</a:t>
            </a:r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r>
              <a:rPr lang="en-US" dirty="0">
                <a:solidFill>
                  <a:srgbClr val="FFC000"/>
                </a:solidFill>
              </a:rPr>
              <a:t>   (</a:t>
            </a:r>
            <a:r>
              <a:rPr lang="en-US" dirty="0" err="1">
                <a:solidFill>
                  <a:srgbClr val="FFC000"/>
                </a:solidFill>
              </a:rPr>
              <a:t>NaN</a:t>
            </a:r>
            <a:r>
              <a:rPr lang="en-US" dirty="0">
                <a:solidFill>
                  <a:srgbClr val="FFC000"/>
                </a:solidFill>
              </a:rPr>
              <a:t>&gt;Inf&gt;any-finite-float)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functions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56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 dirty="0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57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58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pt =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mom.perp</a:t>
            </a:r>
            <a:r>
              <a:rPr lang="en-US" altLang="en-US" sz="1600" b="1" dirty="0">
                <a:solidFill>
                  <a:srgbClr val="000000"/>
                </a:solidFill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j = </a:t>
            </a:r>
            <a:r>
              <a:rPr lang="en-US" altLang="en-US" sz="1600" b="1" dirty="0" err="1">
                <a:solidFill>
                  <a:srgbClr val="000000"/>
                </a:solidFill>
              </a:rPr>
              <a:t>a_i</a:t>
            </a:r>
            <a:r>
              <a:rPr lang="en-US" altLang="en-US" sz="1600" b="1" dirty="0">
                <a:solidFill>
                  <a:srgbClr val="000000"/>
                </a:solidFill>
              </a:rPr>
              <a:t>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 +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r_x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r_y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s = 1/(pt*pt*sqrt(1 - j*j));</a:t>
            </a:r>
            <a:endParaRPr lang="en-US" altLang="en-US" sz="1600" dirty="0">
              <a:solidFill>
                <a:srgbClr val="000000"/>
              </a:solidFill>
            </a:endParaRP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604" y="195383"/>
            <a:ext cx="5129396" cy="2309571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 dirty="0"/>
              <a:t>Floating point “disasters”</a:t>
            </a:r>
          </a:p>
          <a:p>
            <a:pPr lvl="1"/>
            <a:r>
              <a:rPr lang="en-US" dirty="0">
                <a:hlinkClick r:id="rId2"/>
              </a:rPr>
              <a:t>http://ta.twi.tudelft.nl/users/vuik/wi211/disasters.html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https://www.iro.umontreal.ca/~mignotte/IFT2425/Disasters.html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https://slate.com/technology/2019/10/round-floor-software-errors-stock-market-battlefield.html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https://medium.com/@sohail_saifii/the-floating-point-standard-thats-silently-breaking-financial-software-7f7e93430dbb</a:t>
            </a:r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513108"/>
            <a:ext cx="10937111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many single precision FP number exists between 2.f and 3.f?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65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66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3071814" y="908051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= r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Compute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x</a:t>
            </a:r>
            <a:r>
              <a:rPr lang="en-US" altLang="x-none" sz="1800" baseline="30000" dirty="0"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= 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latin typeface="Lucida Calligraphy" charset="0"/>
              </a:rPr>
              <a:t>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    ~ 0 (zero)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dirty="0"/>
              <a:t>Alternative formulation equivalent to change of </a:t>
            </a:r>
          </a:p>
          <a:p>
            <a:pPr eaLnBrk="1" hangingPunct="1"/>
            <a:r>
              <a:rPr lang="en-US" altLang="x-none" sz="1800" dirty="0"/>
              <a:t>coordinate centered at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-2ar(x-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 dirty="0"/>
              <a:t>In our simplified case </a:t>
            </a:r>
            <a:r>
              <a:rPr lang="en-US" altLang="x-none" sz="1800" dirty="0">
                <a:latin typeface="Lucida Calligraphy" charset="0"/>
              </a:rPr>
              <a:t>a=1, b=0,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- 2(x-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 </a:t>
            </a:r>
            <a:r>
              <a:rPr lang="en-US" altLang="x-none" sz="1800" baseline="30000" dirty="0"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   </a:t>
            </a:r>
            <a:r>
              <a:rPr lang="en-US" altLang="x-none" sz="1800" dirty="0">
                <a:latin typeface="Lucida Calligraphy" charset="0"/>
              </a:rPr>
              <a:t>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latin typeface="Lucida Calligraphy" charset="0"/>
              </a:rPr>
              <a:t>              </a:t>
            </a:r>
            <a:r>
              <a:rPr lang="en-US" altLang="x-none" sz="1800" dirty="0">
                <a:latin typeface="+mn-lt"/>
              </a:rPr>
              <a:t>(naïve: cancellation!!)</a:t>
            </a:r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(r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)   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2r   </a:t>
            </a:r>
            <a:r>
              <a:rPr lang="en-US" altLang="x-none" sz="1800" dirty="0"/>
              <a:t>(optimal)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endParaRPr lang="en-US" altLang="x-none" sz="1800" dirty="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31507</TotalTime>
  <Words>6561</Words>
  <Application>Microsoft Macintosh PowerPoint</Application>
  <PresentationFormat>Widescreen</PresentationFormat>
  <Paragraphs>782</Paragraphs>
  <Slides>70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83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Scientist: Precision, Accuracy, Efficiency </vt:lpstr>
      <vt:lpstr>Definitions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Elementary functions throughput (in cycles) (origin https://core-math.gitlabpages.inria.fr/)</vt:lpstr>
      <vt:lpstr>Float vs double</vt:lpstr>
      <vt:lpstr>Precision vs Speed in “libm”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Anecdotes</vt:lpstr>
      <vt:lpstr>References</vt:lpstr>
      <vt:lpstr>Self Assessment</vt:lpstr>
      <vt:lpstr>“additional” material</vt:lpstr>
      <vt:lpstr>What precision is good enough?</vt:lpstr>
      <vt:lpstr>Example: cut in pt, phi, eta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Track resolution </vt:lpstr>
      <vt:lpstr>Example: CMS Electromagnetic Calorimiter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270</cp:revision>
  <dcterms:created xsi:type="dcterms:W3CDTF">2026-04-12T14:58:51Z</dcterms:created>
  <dcterms:modified xsi:type="dcterms:W3CDTF">2026-05-04T13:13:45Z</dcterms:modified>
</cp:coreProperties>
</file>