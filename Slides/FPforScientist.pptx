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260" r:id="rId6"/>
    <p:sldId id="261" r:id="rId7"/>
    <p:sldId id="461" r:id="rId8"/>
    <p:sldId id="455" r:id="rId9"/>
    <p:sldId id="439" r:id="rId10"/>
    <p:sldId id="394" r:id="rId11"/>
    <p:sldId id="262" r:id="rId12"/>
    <p:sldId id="456" r:id="rId13"/>
    <p:sldId id="457" r:id="rId14"/>
    <p:sldId id="458" r:id="rId15"/>
    <p:sldId id="459" r:id="rId16"/>
    <p:sldId id="460" r:id="rId17"/>
    <p:sldId id="462" r:id="rId18"/>
    <p:sldId id="463" r:id="rId19"/>
    <p:sldId id="464" r:id="rId20"/>
    <p:sldId id="46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258"/>
    <p:restoredTop sz="96327"/>
  </p:normalViewPr>
  <p:slideViewPr>
    <p:cSldViewPr snapToGrid="0" snapToObjects="1">
      <p:cViewPr varScale="1">
        <p:scale>
          <a:sx n="104" d="100"/>
          <a:sy n="104" d="100"/>
        </p:scale>
        <p:origin x="23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What’s a Floating Point?</a:t>
            </a:r>
            <a:br>
              <a:rPr lang="en-US"/>
            </a:br>
            <a:r>
              <a:rPr lang="en-US" sz="1600">
                <a:hlinkClick r:id="rId2"/>
              </a:rPr>
              <a:t>https://en.wikipedia.org/wiki/Floating-point_arithmetic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Science is based on Measurements</a:t>
            </a:r>
          </a:p>
          <a:p>
            <a:r>
              <a:rPr lang="en-US"/>
              <a:t>The result of a Measurement is a Rational Number</a:t>
            </a:r>
          </a:p>
          <a:p>
            <a:r>
              <a:rPr lang="en-US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/>
              <a:t>A form of “Scientific Notation”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is a FP in base 2 with precision 24   (printed in </a:t>
            </a:r>
            <a:r>
              <a:rPr lang="en-US" err="1"/>
              <a:t>exadecimal</a:t>
            </a:r>
            <a:r>
              <a:rPr lang="en-US"/>
              <a:t>)</a:t>
            </a:r>
            <a:endParaRPr lang="en-US" baseline="3000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lvl="1"/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5605" name="TextBox 5"/>
          <p:cNvSpPr txBox="1">
            <a:spLocks noChangeArrowheads="1"/>
          </p:cNvSpPr>
          <p:nvPr/>
        </p:nvSpPr>
        <p:spPr bwMode="auto">
          <a:xfrm>
            <a:off x="1329982" y="1117000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#include&lt;iostream&gt;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iomanip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cmath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#include&lt;limits&gt;</a:t>
            </a:r>
          </a:p>
          <a:p>
            <a:pPr eaLnBrk="1" hangingPunct="1"/>
            <a:r>
              <a:rPr lang="en-US" altLang="x-none" sz="1800"/>
              <a:t>//  std style</a:t>
            </a:r>
          </a:p>
          <a:p>
            <a:pPr eaLnBrk="1" hangingPunct="1"/>
            <a:r>
              <a:rPr lang="en-US" altLang="x-none" sz="1800"/>
              <a:t>template&lt;</a:t>
            </a:r>
            <a:r>
              <a:rPr lang="en-US" altLang="x-none" sz="1800" err="1"/>
              <a:t>typename</a:t>
            </a:r>
            <a:r>
              <a:rPr lang="en-US" altLang="x-none" sz="1800"/>
              <a:t> T&gt;</a:t>
            </a:r>
          </a:p>
          <a:p>
            <a:pPr eaLnBrk="1" hangingPunct="1"/>
            <a:r>
              <a:rPr lang="en-US" altLang="x-none" sz="1800"/>
              <a:t>void print(T x) {          </a:t>
            </a:r>
          </a:p>
          <a:p>
            <a:pPr eaLnBrk="1" hangingPunct="1"/>
            <a:r>
              <a:rPr lang="en-US" altLang="x-none" sz="1800"/>
              <a:t> 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hexfloat</a:t>
            </a:r>
            <a:r>
              <a:rPr lang="en-US" altLang="x-none" sz="1800"/>
              <a:t> &lt;&lt; x &lt;&lt;'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/>
              <a:t>                &lt;&lt;  std::scientific &lt;&lt; std::</a:t>
            </a:r>
            <a:r>
              <a:rPr lang="en-US" altLang="x-none" sz="1800" err="1"/>
              <a:t>setprecision</a:t>
            </a:r>
            <a:r>
              <a:rPr lang="en-US" altLang="x-none" sz="1800"/>
              <a:t>(8) &lt;&lt; x &lt;&lt; 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/>
              <a:t>                &lt;&lt;  std::</a:t>
            </a:r>
            <a:r>
              <a:rPr lang="en-US" altLang="x-none" sz="1800" err="1"/>
              <a:t>defaultfloat</a:t>
            </a:r>
            <a:r>
              <a:rPr lang="en-US" altLang="x-none" sz="1800"/>
              <a:t> &lt;&lt; x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   </a:t>
            </a:r>
            <a:r>
              <a:rPr lang="en-US" altLang="x-none" sz="180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/>
              <a:t>}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// integer representation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cstring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bitset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int f2i(float x) { int </a:t>
            </a:r>
            <a:r>
              <a:rPr lang="en-US" altLang="x-none" sz="1800" err="1"/>
              <a:t>i</a:t>
            </a:r>
            <a:r>
              <a:rPr lang="en-US" altLang="x-none" sz="1800"/>
              <a:t>; </a:t>
            </a:r>
            <a:r>
              <a:rPr lang="en-US" altLang="x-none" sz="1800" err="1"/>
              <a:t>memcpy</a:t>
            </a:r>
            <a:r>
              <a:rPr lang="en-US" altLang="x-none" sz="1800"/>
              <a:t>(&amp;</a:t>
            </a:r>
            <a:r>
              <a:rPr lang="en-US" altLang="x-none" sz="1800" err="1"/>
              <a:t>i</a:t>
            </a:r>
            <a:r>
              <a:rPr lang="en-US" altLang="x-none" sz="1800"/>
              <a:t>,&amp;</a:t>
            </a:r>
            <a:r>
              <a:rPr lang="en-US" altLang="x-none" sz="1800" err="1"/>
              <a:t>x,sizeof</a:t>
            </a:r>
            <a:r>
              <a:rPr lang="en-US" altLang="x-none" sz="1800"/>
              <a:t>(int)); return </a:t>
            </a:r>
            <a:r>
              <a:rPr lang="en-US" altLang="x-none" sz="1800" err="1"/>
              <a:t>i</a:t>
            </a:r>
            <a:r>
              <a:rPr lang="en-US" altLang="x-none" sz="1800"/>
              <a:t>;} </a:t>
            </a:r>
            <a:r>
              <a:rPr lang="en-US" altLang="x-none" sz="180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/>
              <a:t>//  use </a:t>
            </a:r>
            <a:r>
              <a:rPr lang="en-US" altLang="x-none" sz="1800" err="1"/>
              <a:t>bitset</a:t>
            </a:r>
            <a:r>
              <a:rPr lang="en-US" altLang="x-none" sz="1800"/>
              <a:t> to print in binary (bit by bit) </a:t>
            </a:r>
          </a:p>
          <a:p>
            <a:pPr eaLnBrk="1" hangingPunct="1"/>
            <a:r>
              <a:rPr lang="en-US" altLang="x-none" sz="1800"/>
              <a:t>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bitset</a:t>
            </a:r>
            <a:r>
              <a:rPr lang="en-US" altLang="x-none" sz="1800"/>
              <a:t>&lt;32&gt;(f2i(x))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;   </a:t>
            </a:r>
            <a:r>
              <a:rPr lang="en-US" altLang="x-none" sz="180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they are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There are two basic operations: </a:t>
            </a:r>
          </a:p>
          <a:p>
            <a:r>
              <a:rPr lang="en-US"/>
              <a:t>sum and multiplication</a:t>
            </a:r>
          </a:p>
          <a:p>
            <a:pPr lvl="1"/>
            <a:r>
              <a:rPr lang="en-US" err="1"/>
              <a:t>a+b</a:t>
            </a:r>
            <a:r>
              <a:rPr lang="en-US"/>
              <a:t> and </a:t>
            </a:r>
            <a:r>
              <a:rPr lang="en-US" err="1"/>
              <a:t>a×b</a:t>
            </a:r>
            <a:r>
              <a:rPr lang="en-US"/>
              <a:t>  symbolize the exact sum and multiplication between a and b</a:t>
            </a:r>
          </a:p>
          <a:p>
            <a:pPr lvl="1"/>
            <a:r>
              <a:rPr lang="en-US" err="1"/>
              <a:t>a⊕b</a:t>
            </a:r>
            <a:r>
              <a:rPr lang="en-US"/>
              <a:t> and </a:t>
            </a:r>
            <a:r>
              <a:rPr lang="en-US" err="1"/>
              <a:t>a⊗b</a:t>
            </a:r>
            <a:r>
              <a:rPr lang="en-US"/>
              <a:t>  symbolize the rounded sum and multiplication between FPs a and b</a:t>
            </a:r>
          </a:p>
          <a:p>
            <a:pPr lvl="2"/>
            <a:r>
              <a:rPr lang="en-US" err="1"/>
              <a:t>a+b</a:t>
            </a:r>
            <a:r>
              <a:rPr lang="en-US"/>
              <a:t> and a*b  are the corresponding operations in code</a:t>
            </a:r>
          </a:p>
          <a:p>
            <a:r>
              <a:rPr lang="en-US"/>
              <a:t>We will use decimal precision 2 for all examples to allow mental arithmetic in a finite time</a:t>
            </a:r>
          </a:p>
          <a:p>
            <a:pPr lvl="1"/>
            <a:r>
              <a:rPr lang="en-US"/>
              <a:t>42+3.7 = …</a:t>
            </a:r>
          </a:p>
          <a:p>
            <a:pPr lvl="1"/>
            <a:r>
              <a:rPr lang="en-US"/>
              <a:t>42⊕3.7 = …</a:t>
            </a:r>
          </a:p>
          <a:p>
            <a:pPr lvl="1"/>
            <a:r>
              <a:rPr lang="en-US"/>
              <a:t>42⊕3.3 = … , 42⊕3.5 = … , 43⊕3.5 = …</a:t>
            </a:r>
            <a:br>
              <a:rPr lang="en-US"/>
            </a:br>
            <a:r>
              <a:rPr lang="en-US"/>
              <a:t>42⊕3.3⊕3.4 = … , 3.4⊕3.3⊕42 = … </a:t>
            </a:r>
          </a:p>
          <a:p>
            <a:pPr marL="457200" lvl="1" indent="0">
              <a:buNone/>
            </a:pPr>
            <a:r>
              <a:rPr lang="en-US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3429000"/>
            <a:ext cx="8763000" cy="3046413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/>
              <a:t>T kahanSum(T const * input, size_t n) </a:t>
            </a:r>
          </a:p>
          <a:p>
            <a:pPr eaLnBrk="1" hangingPunct="1"/>
            <a:r>
              <a:rPr lang="en-US" altLang="en-US" sz="1600" b="1"/>
              <a:t>T sum = input[0];</a:t>
            </a:r>
          </a:p>
          <a:p>
            <a:pPr eaLnBrk="1" hangingPunct="1"/>
            <a:r>
              <a:rPr lang="en-US" altLang="en-US" sz="1600" b="1"/>
              <a:t>T t = 0.0;          // A running compensation for lost low-order bits. </a:t>
            </a:r>
          </a:p>
          <a:p>
            <a:pPr eaLnBrk="1" hangingPunct="1"/>
            <a:r>
              <a:rPr lang="en-US" altLang="en-US" sz="1600" b="1"/>
              <a:t>for (size_t i = 1; i!=n; ++i)  {  </a:t>
            </a:r>
          </a:p>
          <a:p>
            <a:pPr eaLnBrk="1" hangingPunct="1"/>
            <a:r>
              <a:rPr lang="en-US" altLang="en-US" sz="1600" b="1"/>
              <a:t>  y = input[i] – t;       //  so far, so good: </a:t>
            </a:r>
            <a:r>
              <a:rPr lang="en-US" altLang="en-US" sz="1600" b="1" i="1"/>
              <a:t>t is zero.  </a:t>
            </a:r>
          </a:p>
          <a:p>
            <a:pPr eaLnBrk="1" hangingPunct="1"/>
            <a:r>
              <a:rPr lang="en-US" altLang="en-US" sz="1600" b="1" i="1"/>
              <a:t>  s = sum + y;         // Alas, sum is big, y small, so low-order digits of y are lost. </a:t>
            </a:r>
          </a:p>
          <a:p>
            <a:pPr eaLnBrk="1" hangingPunct="1"/>
            <a:r>
              <a:rPr lang="en-US" altLang="en-US" sz="1600" b="1" i="1"/>
              <a:t>  t = (s - sum) – y;   // ( s - sum) recovers the high-order part of y </a:t>
            </a:r>
          </a:p>
          <a:p>
            <a:pPr eaLnBrk="1" hangingPunct="1"/>
            <a:r>
              <a:rPr lang="en-US" altLang="en-US" sz="1600" b="1" i="1"/>
              <a:t>                               // subtracting y recovers -(low part of y)  </a:t>
            </a:r>
          </a:p>
          <a:p>
            <a:pPr eaLnBrk="1" hangingPunct="1"/>
            <a:r>
              <a:rPr lang="en-US" altLang="en-US" sz="1600" b="1" i="1"/>
              <a:t> sum = s;             //Algebraically, t should always be zero. </a:t>
            </a:r>
          </a:p>
          <a:p>
            <a:pPr eaLnBrk="1" hangingPunct="1"/>
            <a:r>
              <a:rPr lang="en-US" altLang="en-US" sz="1600" b="1" i="1"/>
              <a:t>                          // Beware eagerly optimising compilers! </a:t>
            </a:r>
          </a:p>
          <a:p>
            <a:pPr eaLnBrk="1" hangingPunct="1"/>
            <a:r>
              <a:rPr lang="en-US" altLang="en-US" sz="1600" b="1" i="1"/>
              <a:t> }                      //Next time around, the lost low part will be added to y in a fresh attempt.</a:t>
            </a:r>
          </a:p>
          <a:p>
            <a:pPr eaLnBrk="1" hangingPunct="1"/>
            <a:r>
              <a:rPr lang="en-US" altLang="en-US" sz="1600" b="1" i="1"/>
              <a:t>return sum;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4408</TotalTime>
  <Words>1759</Words>
  <Application>Microsoft Macintosh PowerPoint</Application>
  <PresentationFormat>Widescreen</PresentationFormat>
  <Paragraphs>212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A first theorem</vt:lpstr>
      <vt:lpstr>Augmented Arithmetic</vt:lpstr>
      <vt:lpstr>Example of augmented sum</vt:lpstr>
      <vt:lpstr>Catastrophic cancellation</vt:lpstr>
      <vt:lpstr>Compensating algorithm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69</cp:revision>
  <dcterms:created xsi:type="dcterms:W3CDTF">2026-04-12T14:58:51Z</dcterms:created>
  <dcterms:modified xsi:type="dcterms:W3CDTF">2026-04-15T17:35:20Z</dcterms:modified>
</cp:coreProperties>
</file>