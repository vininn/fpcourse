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8" r:id="rId43"/>
    <p:sldId id="479" r:id="rId44"/>
    <p:sldId id="381" r:id="rId45"/>
    <p:sldId id="396" r:id="rId46"/>
    <p:sldId id="341" r:id="rId47"/>
    <p:sldId id="413" r:id="rId48"/>
    <p:sldId id="421" r:id="rId49"/>
    <p:sldId id="481" r:id="rId50"/>
    <p:sldId id="496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393" r:id="rId68"/>
    <p:sldId id="434" r:id="rId69"/>
    <p:sldId id="435" r:id="rId70"/>
    <p:sldId id="485" r:id="rId71"/>
    <p:sldId id="486" r:id="rId72"/>
    <p:sldId id="487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17"/>
    <p:restoredTop sz="96327"/>
  </p:normalViewPr>
  <p:slideViewPr>
    <p:cSldViewPr snapToGrid="0" snapToObjects="1">
      <p:cViewPr varScale="1">
        <p:scale>
          <a:sx n="119" d="100"/>
          <a:sy n="119" d="100"/>
        </p:scale>
        <p:origin x="20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2200" dirty="0"/>
              <a:t>(printed in binary is a 1 followed by a string of 23bits</a:t>
            </a:r>
            <a:r>
              <a:rPr lang="en-US" sz="2200" baseline="30000" dirty="0"/>
              <a:t>, </a:t>
            </a:r>
            <a:r>
              <a:rPr lang="cs-CZ" altLang="x-none" sz="2200" dirty="0">
                <a:latin typeface="Lucida Console" charset="0"/>
              </a:rPr>
              <a:t>1.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2200" dirty="0">
                <a:latin typeface="Lucida Console" charset="0"/>
              </a:rPr>
              <a:t>0010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2200" dirty="0">
                <a:latin typeface="Lucida Console" charset="0"/>
              </a:rPr>
              <a:t>1111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2200" dirty="0">
                <a:latin typeface="Lucida Console" charset="0"/>
              </a:rPr>
              <a:t>011</a:t>
            </a:r>
            <a:r>
              <a:rPr lang="is-IS" altLang="x-none" sz="2200" dirty="0">
                <a:latin typeface="Lucida Console" charset="0"/>
              </a:rPr>
              <a:t> </a:t>
            </a:r>
            <a:r>
              <a:rPr lang="en-US" sz="22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515600" cy="28876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</a:t>
            </a:r>
          </a:p>
          <a:p>
            <a:pPr lvl="1"/>
            <a:r>
              <a:rPr lang="en-US" sz="2100" dirty="0"/>
              <a:t>(credit 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the equation </a:t>
            </a:r>
            <a:r>
              <a:rPr lang="en-US" i="1" dirty="0"/>
              <a:t>x</a:t>
            </a:r>
            <a:r>
              <a:rPr lang="en-US" i="1" baseline="30000" dirty="0"/>
              <a:t>2</a:t>
            </a:r>
            <a:r>
              <a:rPr lang="en-US" i="1" dirty="0"/>
              <a:t> – 2bx +1 = 0 </a:t>
            </a:r>
            <a:r>
              <a:rPr lang="en-US" dirty="0"/>
              <a:t>using the “high-school” formula</a:t>
            </a:r>
          </a:p>
          <a:p>
            <a:pPr lvl="1"/>
            <a:r>
              <a:rPr lang="en-US" dirty="0"/>
              <a:t>What is the smallest value of b (single precision) for which one of the solution becomes 0?</a:t>
            </a:r>
          </a:p>
          <a:p>
            <a:pPr lvl="1"/>
            <a:r>
              <a:rPr lang="en-US" dirty="0"/>
              <a:t>What is instead the correct result? (use only single precision computations)</a:t>
            </a:r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r>
              <a:rPr lang="en-US" dirty="0"/>
              <a:t> et al.</a:t>
            </a:r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5/14/26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</a:t>
            </a:r>
            <a:r>
              <a:rPr lang="en-US"/>
              <a:t>of 0’s or 1’s </a:t>
            </a:r>
            <a:r>
              <a:rPr lang="en-US" dirty="0"/>
              <a:t>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3331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79342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Examples :</a:t>
            </a:r>
          </a:p>
          <a:p>
            <a:r>
              <a:rPr lang="en-US" dirty="0"/>
              <a:t>sin(0.402253) = 0x1.</a:t>
            </a:r>
            <a:r>
              <a:rPr lang="en-US" dirty="0">
                <a:solidFill>
                  <a:srgbClr val="FF0000"/>
                </a:solidFill>
              </a:rPr>
              <a:t>90e382</a:t>
            </a:r>
            <a:r>
              <a:rPr lang="en-US" dirty="0"/>
              <a:t>fffff7bp-2         sin(0.474854) = 0x1.</a:t>
            </a:r>
            <a:r>
              <a:rPr lang="en-US" dirty="0">
                <a:solidFill>
                  <a:srgbClr val="FF0000"/>
                </a:solidFill>
              </a:rPr>
              <a:t>d42e63</a:t>
            </a:r>
            <a:r>
              <a:rPr lang="en-US" dirty="0"/>
              <a:t>000000bp-2 </a:t>
            </a:r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May 14,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1/throughput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  <a:p>
            <a:pPr lvl="1"/>
            <a:r>
              <a:rPr lang="en-US" dirty="0">
                <a:hlinkClick r:id="rId6"/>
              </a:rPr>
              <a:t>https://pavpanchekha.com/blog/casio-mathjs.html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have a single precision FP number?</a:t>
            </a:r>
          </a:p>
          <a:p>
            <a:r>
              <a:rPr lang="en-US" dirty="0"/>
              <a:t>How many single precision binary FP number exists between 2.f and 3.f?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39230</TotalTime>
  <Words>6794</Words>
  <Application>Microsoft Macintosh PowerPoint</Application>
  <PresentationFormat>Widescreen</PresentationFormat>
  <Paragraphs>798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5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1/throughput (in cycles) (origin https://core-math.gitlabpages.inria.fr/)</vt:lpstr>
      <vt:lpstr>float vs double: summary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302</cp:revision>
  <dcterms:created xsi:type="dcterms:W3CDTF">2026-04-12T14:58:51Z</dcterms:created>
  <dcterms:modified xsi:type="dcterms:W3CDTF">2026-05-16T16:27:16Z</dcterms:modified>
</cp:coreProperties>
</file>