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4"/>
  </p:notes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9" r:id="rId43"/>
    <p:sldId id="478" r:id="rId44"/>
    <p:sldId id="381" r:id="rId45"/>
    <p:sldId id="396" r:id="rId46"/>
    <p:sldId id="341" r:id="rId47"/>
    <p:sldId id="413" r:id="rId48"/>
    <p:sldId id="421" r:id="rId49"/>
    <p:sldId id="496" r:id="rId50"/>
    <p:sldId id="481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501" r:id="rId62"/>
    <p:sldId id="498" r:id="rId63"/>
    <p:sldId id="497" r:id="rId64"/>
    <p:sldId id="499" r:id="rId65"/>
    <p:sldId id="495" r:id="rId66"/>
    <p:sldId id="483" r:id="rId67"/>
    <p:sldId id="434" r:id="rId68"/>
    <p:sldId id="435" r:id="rId69"/>
    <p:sldId id="485" r:id="rId70"/>
    <p:sldId id="486" r:id="rId71"/>
    <p:sldId id="487" r:id="rId72"/>
    <p:sldId id="393" r:id="rId7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04"/>
    <p:restoredTop sz="96327"/>
  </p:normalViewPr>
  <p:slideViewPr>
    <p:cSldViewPr snapToGrid="0" snapToObjects="1">
      <p:cViewPr varScale="1">
        <p:scale>
          <a:sx n="130" d="100"/>
          <a:sy n="130" d="100"/>
        </p:scale>
        <p:origin x="1912" y="18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BC77A6-2771-B843-8720-9957316CF216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2B2F99-B26F-FC4D-9F02-AACA882572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020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96778d4GW" TargetMode="Externa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nq5Po1Gdz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odbolt.org/z/h6bEa8GY1" TargetMode="Externa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hyperlink" Target="https://fptalks.org/" TargetMode="External"/><Relationship Id="rId3" Type="http://schemas.openxmlformats.org/officeDocument/2006/relationships/hyperlink" Target="https://link.springer.com/book/10.1007/978-3-319-76526-6" TargetMode="External"/><Relationship Id="rId7" Type="http://schemas.openxmlformats.org/officeDocument/2006/relationships/hyperlink" Target="https://arith2026.org/archive.html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iam.org/publications/siam-news/articles/mixed-precision-computing-high-accuracy-with-low-precision/" TargetMode="Externa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Relationship Id="rId9" Type="http://schemas.openxmlformats.org/officeDocument/2006/relationships/hyperlink" Target="https://indico.cern.ch/event/1538409/" TargetMode="Externa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3370019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538" y="-14930"/>
            <a:ext cx="11641461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Scientists: Precision, Accuracy, Efficiency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3749B7-FEF1-5F34-25FA-E74A86EEA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317881E-7C19-66CC-6248-D975C69E9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C346A8E4-D839-60EB-B680-251D7AED0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AE765C-B0A4-268A-E33B-75074B01B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225958-4C16-E1FF-8752-D9D56473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5C8DA-F874-2FB6-81B7-7E5545D2F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a Floating Point?</a:t>
            </a:r>
            <a:br>
              <a:rPr lang="en-US"/>
            </a:br>
            <a:r>
              <a:rPr lang="en-US" sz="1600">
                <a:hlinkClick r:id="rId2"/>
              </a:rPr>
              <a:t>https://en.wikipedia.org/wiki/Floating-point_arithmetic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en-US" sz="2200" dirty="0"/>
              <a:t>FP are usually “normalized” : the first digit is always not zero </a:t>
            </a:r>
          </a:p>
          <a:p>
            <a:pPr marL="0" indent="0">
              <a:buNone/>
            </a:pPr>
            <a:r>
              <a:rPr lang="cs-CZ" altLang="x-none" dirty="0">
                <a:latin typeface="Lucida Console" charset="0"/>
              </a:rPr>
              <a:t>1.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dirty="0">
                <a:latin typeface="Lucida Console" charset="0"/>
              </a:rPr>
              <a:t>0010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dirty="0">
                <a:latin typeface="Lucida Console" charset="0"/>
              </a:rPr>
              <a:t>1111</a:t>
            </a:r>
            <a:r>
              <a:rPr lang="cs-CZ" altLang="x-none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dirty="0">
                <a:latin typeface="Lucida Console" charset="0"/>
              </a:rPr>
              <a:t>011 </a:t>
            </a:r>
            <a:r>
              <a:rPr lang="en-US" dirty="0"/>
              <a:t>is a FP in base 2 with precision 24 printed in binary </a:t>
            </a:r>
            <a:endParaRPr lang="cs-CZ" altLang="x-none" dirty="0">
              <a:latin typeface="Lucida Console" charset="0"/>
            </a:endParaRPr>
          </a:p>
          <a:p>
            <a:pPr marL="0" indent="0">
              <a:buNone/>
            </a:pPr>
            <a:r>
              <a:rPr lang="en-US" sz="2200" dirty="0"/>
              <a:t>normalized is a 1 followed by a string of 23bits. Easier to read if printed in hexadecimal: </a:t>
            </a:r>
            <a:r>
              <a:rPr lang="cs-CZ" altLang="x-none" sz="2400" dirty="0"/>
              <a:t>1.921fb6</a:t>
            </a:r>
            <a:r>
              <a:rPr lang="en-US" sz="2400" dirty="0" err="1"/>
              <a:t>ᐧ</a:t>
            </a:r>
            <a:r>
              <a:rPr lang="cs-CZ" altLang="x-none" sz="2400" dirty="0"/>
              <a:t>2</a:t>
            </a:r>
            <a:r>
              <a:rPr lang="cs-CZ" altLang="x-none" sz="2400" baseline="30000" dirty="0"/>
              <a:t>+1 </a:t>
            </a:r>
            <a:r>
              <a:rPr lang="cs-CZ" altLang="x-none" sz="2400" dirty="0"/>
              <a:t>. NB i</a:t>
            </a:r>
            <a:r>
              <a:rPr lang="en-US" sz="2200" dirty="0"/>
              <a:t>n hex last digit is always even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ABD1D-8FBB-A7AD-CC1C-F9F333738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398E5-4589-442A-BE19-FB442E73A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A6CE6-25B2-3A9C-94E3-5CD25B62B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FP has a previous and a next</a:t>
            </a:r>
          </a:p>
          <a:p>
            <a:pPr lvl="1"/>
            <a:r>
              <a:rPr lang="en-US"/>
              <a:t>Previous of 31ᐧ10</a:t>
            </a:r>
            <a:r>
              <a:rPr lang="en-US" baseline="30000"/>
              <a:t>-1 </a:t>
            </a:r>
            <a:r>
              <a:rPr lang="en-US"/>
              <a:t>is</a:t>
            </a:r>
            <a:r>
              <a:rPr lang="en-US" baseline="30000"/>
              <a:t> </a:t>
            </a:r>
            <a:r>
              <a:rPr lang="en-US"/>
              <a:t>30ᐧ10</a:t>
            </a:r>
            <a:r>
              <a:rPr lang="en-US" baseline="30000"/>
              <a:t>-1</a:t>
            </a:r>
            <a:r>
              <a:rPr lang="en-US"/>
              <a:t>, next is 32ᐧ10</a:t>
            </a:r>
            <a:r>
              <a:rPr lang="en-US" baseline="30000"/>
              <a:t>-1</a:t>
            </a:r>
          </a:p>
          <a:p>
            <a:pPr lvl="1"/>
            <a:r>
              <a:rPr lang="en-US"/>
              <a:t>Previous of </a:t>
            </a: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 </a:t>
            </a:r>
            <a:r>
              <a:rPr lang="cs-CZ" altLang="x-none" err="1"/>
              <a:t>is</a:t>
            </a:r>
            <a:r>
              <a:rPr lang="cs-CZ" altLang="x-none"/>
              <a:t> 1.921fb4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 </a:t>
            </a:r>
            <a:r>
              <a:rPr lang="cs-CZ" altLang="x-none" err="1"/>
              <a:t>next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1.921fb8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 </a:t>
            </a:r>
          </a:p>
          <a:p>
            <a:pPr lvl="1"/>
            <a:r>
              <a:rPr lang="cs-CZ" altLang="x-none" err="1"/>
              <a:t>The</a:t>
            </a:r>
            <a:r>
              <a:rPr lang="cs-CZ" altLang="x-none"/>
              <a:t> </a:t>
            </a:r>
            <a:r>
              <a:rPr lang="cs-CZ" altLang="x-none" err="1"/>
              <a:t>difference</a:t>
            </a:r>
            <a:r>
              <a:rPr lang="cs-CZ" altLang="x-none"/>
              <a:t> </a:t>
            </a:r>
            <a:r>
              <a:rPr lang="cs-CZ" altLang="x-none" err="1"/>
              <a:t>between</a:t>
            </a:r>
            <a:r>
              <a:rPr lang="cs-CZ" altLang="x-none"/>
              <a:t> </a:t>
            </a:r>
            <a:r>
              <a:rPr lang="cs-CZ" altLang="x-none" err="1"/>
              <a:t>two</a:t>
            </a:r>
            <a:r>
              <a:rPr lang="cs-CZ" altLang="x-none"/>
              <a:t> </a:t>
            </a:r>
            <a:r>
              <a:rPr lang="cs-CZ" altLang="x-none" err="1"/>
              <a:t>consecutive</a:t>
            </a:r>
            <a:r>
              <a:rPr lang="cs-CZ" altLang="x-none"/>
              <a:t> FP </a:t>
            </a:r>
            <a:r>
              <a:rPr lang="cs-CZ" altLang="x-none" err="1"/>
              <a:t>is</a:t>
            </a:r>
            <a:r>
              <a:rPr lang="cs-CZ" altLang="x-none"/>
              <a:t> </a:t>
            </a:r>
            <a:r>
              <a:rPr lang="cs-CZ" altLang="x-none" err="1"/>
              <a:t>called</a:t>
            </a:r>
            <a:r>
              <a:rPr lang="cs-CZ" altLang="x-none"/>
              <a:t> ULP (unit in last place)</a:t>
            </a:r>
          </a:p>
          <a:p>
            <a:r>
              <a:rPr lang="cs-CZ" altLang="x-none" err="1"/>
              <a:t>For</a:t>
            </a:r>
            <a:r>
              <a:rPr lang="cs-CZ" altLang="x-none"/>
              <a:t> </a:t>
            </a:r>
            <a:r>
              <a:rPr lang="cs-CZ" altLang="x-none" err="1"/>
              <a:t>each</a:t>
            </a:r>
            <a:r>
              <a:rPr lang="cs-CZ" altLang="x-none"/>
              <a:t> </a:t>
            </a:r>
            <a:r>
              <a:rPr lang="cs-CZ" altLang="x-none" err="1"/>
              <a:t>value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</a:t>
            </a:r>
            <a:r>
              <a:rPr lang="cs-CZ" altLang="x-none" err="1"/>
              <a:t>the</a:t>
            </a:r>
            <a:r>
              <a:rPr lang="cs-CZ" altLang="x-none"/>
              <a:t> exponent </a:t>
            </a:r>
            <a:r>
              <a:rPr lang="cs-CZ" altLang="x-none" err="1"/>
              <a:t>there</a:t>
            </a:r>
            <a:r>
              <a:rPr lang="cs-CZ" altLang="x-none"/>
              <a:t> </a:t>
            </a:r>
            <a:r>
              <a:rPr lang="cs-CZ" altLang="x-none" err="1"/>
              <a:t>is</a:t>
            </a:r>
            <a:r>
              <a:rPr lang="cs-CZ" altLang="x-none"/>
              <a:t> a </a:t>
            </a:r>
            <a:r>
              <a:rPr lang="cs-CZ" altLang="x-none" err="1"/>
              <a:t>finite</a:t>
            </a:r>
            <a:r>
              <a:rPr lang="cs-CZ" altLang="x-none"/>
              <a:t> </a:t>
            </a:r>
            <a:r>
              <a:rPr lang="cs-CZ" altLang="x-none" err="1"/>
              <a:t>number</a:t>
            </a:r>
            <a:r>
              <a:rPr lang="cs-CZ" altLang="x-none"/>
              <a:t> </a:t>
            </a:r>
            <a:r>
              <a:rPr lang="cs-CZ" altLang="x-none" err="1"/>
              <a:t>of</a:t>
            </a:r>
            <a:r>
              <a:rPr lang="cs-CZ" altLang="x-none"/>
              <a:t> FP</a:t>
            </a:r>
          </a:p>
          <a:p>
            <a:pPr lvl="1"/>
            <a:r>
              <a:rPr lang="cs-CZ" altLang="x-none"/>
              <a:t> 10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- </a:t>
            </a:r>
            <a:r>
              <a:rPr lang="cs-CZ"/>
              <a:t>99</a:t>
            </a:r>
            <a:r>
              <a:rPr lang="cs-CZ" altLang="x-none" baseline="30000"/>
              <a:t> </a:t>
            </a:r>
            <a:r>
              <a:rPr lang="en-US"/>
              <a:t>ᐧ10</a:t>
            </a:r>
            <a:r>
              <a:rPr lang="en-US" baseline="30000"/>
              <a:t>e</a:t>
            </a:r>
            <a:r>
              <a:rPr lang="en-US"/>
              <a:t> </a:t>
            </a:r>
          </a:p>
          <a:p>
            <a:pPr lvl="1"/>
            <a:r>
              <a:rPr lang="en-US"/>
              <a:t>1.000000ᐧ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- 1.ffffffᐧ</a:t>
            </a:r>
            <a:r>
              <a:rPr lang="cs-CZ" altLang="x-none"/>
              <a:t>2</a:t>
            </a:r>
            <a:r>
              <a:rPr lang="en-US" baseline="30000"/>
              <a:t>e </a:t>
            </a:r>
            <a:r>
              <a:rPr lang="en-US"/>
              <a:t> </a:t>
            </a:r>
          </a:p>
          <a:p>
            <a:pPr marL="457200" lvl="1" indent="0">
              <a:buNone/>
            </a:pPr>
            <a:r>
              <a:rPr lang="en-US"/>
              <a:t>(called “</a:t>
            </a:r>
            <a:r>
              <a:rPr lang="en-US" err="1"/>
              <a:t>binade</a:t>
            </a:r>
            <a:r>
              <a:rPr lang="en-US"/>
              <a:t>”)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FD7F65-CBC4-78E5-8CC5-1C92B8AA1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B26519-0D04-76EE-55C9-93FCFDCDA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954FF-EA56-AC9C-327E-ADECBCE2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19841" y="199840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Date Placeholder 26">
            <a:extLst>
              <a:ext uri="{FF2B5EF4-FFF2-40B4-BE49-F238E27FC236}">
                <a16:creationId xmlns:a16="http://schemas.microsoft.com/office/drawing/2014/main" id="{85065ABA-F17B-A248-C376-A23297579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28" name="Footer Placeholder 27">
            <a:extLst>
              <a:ext uri="{FF2B5EF4-FFF2-40B4-BE49-F238E27FC236}">
                <a16:creationId xmlns:a16="http://schemas.microsoft.com/office/drawing/2014/main" id="{8C470FC2-3364-F680-BEE6-91827A1F2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D06B0926-48A0-21D3-BA64-AF216BD1B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332067" y="111093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0C29DC-E47F-FBBA-1B3D-9535501BA0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83" r="6759"/>
          <a:stretch>
            <a:fillRect/>
          </a:stretch>
        </p:blipFill>
        <p:spPr>
          <a:xfrm>
            <a:off x="10403058" y="39318"/>
            <a:ext cx="1725637" cy="21432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BF1BA0-51D9-E0B1-3846-09EFE93EA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F1064-DE09-CBDE-3F52-D78027EE8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AB5CA1-B512-2197-E03F-1BB7C0F3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25D09B-2090-EC16-F790-B0161A73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330A9-C81F-630E-71CE-6E03A0916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FEF979-6DBB-9B20-55A7-600F548A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77419" y="319088"/>
            <a:ext cx="10515600" cy="585851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52216" y="283985"/>
            <a:ext cx="8497888" cy="6186309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 </a:t>
            </a:r>
            <a:r>
              <a:rPr lang="en-US" altLang="x-none" sz="1800" dirty="0">
                <a:solidFill>
                  <a:srgbClr val="FF0000"/>
                </a:solidFill>
              </a:rPr>
              <a:t>// </a:t>
            </a:r>
            <a:r>
              <a:rPr lang="en-US" altLang="x-none" sz="1800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https://godbolt.org/z/96778d4GW</a:t>
            </a:r>
            <a:endParaRPr lang="en-US" altLang="x-none" sz="1800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(float));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int ix = f2i(x);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&lt;32&gt;(ix))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int e = ((ix &gt;&gt; 23) &amp; 255) - 127;  //exponent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800" dirty="0"/>
              <a:t>ix &amp;= 0x7FFFFF;                       //mantissa (aka significand)  (w/o leading “1”)</a:t>
            </a:r>
          </a:p>
          <a:p>
            <a:pPr eaLnBrk="1" hangingPunct="1"/>
            <a:endParaRPr lang="en-US" altLang="x-none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D009C7-E708-6065-E4FC-356A623E94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0CCE1-DD16-A042-6C05-AF992992BF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5887B-831D-F932-AD21-ABE727AFF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 of arbitrary precision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0BED4D-3DAA-A00A-58CE-3ADC2598E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D82EE-92B3-ABCE-7711-85A19D292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752ABA-91A4-0A2D-9FA6-36416DD40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B31B29-45A8-0AD0-1ADF-99E824B3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716F60-1EF1-3994-2130-3688A17F5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BBF44B-5E97-E0D7-FD62-21201A9C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Count the number of FP in a </a:t>
            </a:r>
            <a:r>
              <a:rPr lang="en-US" err="1"/>
              <a:t>binade</a:t>
            </a:r>
            <a:endParaRPr lang="en-US"/>
          </a:p>
          <a:p>
            <a:pPr lvl="1"/>
            <a:r>
              <a:rPr lang="en-US"/>
              <a:t>Verify that it is the same for two different </a:t>
            </a:r>
            <a:r>
              <a:rPr lang="en-US" err="1"/>
              <a:t>binades</a:t>
            </a:r>
            <a:endParaRPr lang="en-US"/>
          </a:p>
          <a:p>
            <a:r>
              <a:rPr lang="en-US"/>
              <a:t>Compute the ULP for some FPs</a:t>
            </a:r>
          </a:p>
          <a:p>
            <a:pPr lvl="1"/>
            <a:r>
              <a:rPr lang="en-US"/>
              <a:t>How it depends on the </a:t>
            </a:r>
            <a:r>
              <a:rPr lang="en-US" err="1"/>
              <a:t>binade</a:t>
            </a:r>
            <a:r>
              <a:rPr lang="en-US"/>
              <a:t>?</a:t>
            </a:r>
          </a:p>
          <a:p>
            <a:r>
              <a:rPr lang="en-US"/>
              <a:t>Convert some number (0.1, e, pi, 31.5,  …) between various representations (including decimal)</a:t>
            </a:r>
          </a:p>
          <a:p>
            <a:pPr lvl="1"/>
            <a:r>
              <a:rPr lang="en-US"/>
              <a:t>See what happens and explain it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3575" y="120649"/>
            <a:ext cx="2928425" cy="3571791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1DB26D-6F62-ADF8-3189-779F51F98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279BB7-AE88-7AA2-A907-41324997F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F97063-4E44-B159-04BF-253366266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9D8B0B-B424-4268-9711-C5499786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340AE5-07CF-CDE1-4BD5-38F4B2765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21792-DAD4-2020-1E9C-3477F6B132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 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A652B-1729-6DA8-C128-1749DA19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2A531-E17B-3A7F-8D25-120EDFFC4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88C99-BC35-5DE0-E738-8120470DC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80942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 (precise)</a:t>
            </a:r>
          </a:p>
          <a:p>
            <a:pPr lvl="1"/>
            <a:r>
              <a:rPr lang="en-US"/>
              <a:t>18-7.4= 10.6 =&gt; 18⊖7.4 = 11   (not precise)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18210-85B9-6D74-1F5A-D53B03DDF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95801-0B59-9A3F-8B23-53E41C930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FFF55-09D2-F9E9-2BF6-473892FC5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If a&gt;b&gt;0  =&gt;  </a:t>
            </a:r>
            <a:r>
              <a:rPr lang="en-US" dirty="0" err="1"/>
              <a:t>a+b</a:t>
            </a:r>
            <a:r>
              <a:rPr lang="en-US" dirty="0"/>
              <a:t> &lt; 2a</a:t>
            </a:r>
          </a:p>
          <a:p>
            <a:endParaRPr lang="en-US" dirty="0"/>
          </a:p>
          <a:p>
            <a:r>
              <a:rPr lang="en-US" dirty="0">
                <a:solidFill>
                  <a:srgbClr val="00B050"/>
                </a:solidFill>
              </a:rPr>
              <a:t>c = </a:t>
            </a:r>
            <a:r>
              <a:rPr lang="en-US" dirty="0" err="1">
                <a:solidFill>
                  <a:srgbClr val="00B050"/>
                </a:solidFill>
              </a:rPr>
              <a:t>a⊕b</a:t>
            </a:r>
            <a:endParaRPr lang="en-US" dirty="0">
              <a:solidFill>
                <a:srgbClr val="00B050"/>
              </a:solidFill>
            </a:endParaRPr>
          </a:p>
          <a:p>
            <a:r>
              <a:rPr lang="en-US" dirty="0">
                <a:solidFill>
                  <a:srgbClr val="00B050"/>
                </a:solidFill>
              </a:rPr>
              <a:t>t = </a:t>
            </a:r>
            <a:r>
              <a:rPr lang="en-US" dirty="0" err="1">
                <a:solidFill>
                  <a:srgbClr val="00B050"/>
                </a:solidFill>
              </a:rPr>
              <a:t>c⊖a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>
                <a:solidFill>
                  <a:srgbClr val="00B050"/>
                </a:solidFill>
              </a:rPr>
              <a:t>e = </a:t>
            </a:r>
            <a:r>
              <a:rPr lang="en-US" dirty="0" err="1">
                <a:solidFill>
                  <a:srgbClr val="00B050"/>
                </a:solidFill>
              </a:rPr>
              <a:t>b⊖t</a:t>
            </a:r>
            <a:r>
              <a:rPr lang="en-US" dirty="0">
                <a:solidFill>
                  <a:srgbClr val="00B050"/>
                </a:solidFill>
              </a:rPr>
              <a:t>  is exact</a:t>
            </a:r>
          </a:p>
          <a:p>
            <a:r>
              <a:rPr lang="en-US" dirty="0" err="1"/>
              <a:t>a+b</a:t>
            </a:r>
            <a:r>
              <a:rPr lang="en-US" dirty="0"/>
              <a:t> = </a:t>
            </a:r>
            <a:r>
              <a:rPr lang="en-US" dirty="0" err="1"/>
              <a:t>c+e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e is the error of </a:t>
            </a:r>
            <a:r>
              <a:rPr lang="en-US" dirty="0" err="1"/>
              <a:t>a⊕b</a:t>
            </a:r>
            <a:endParaRPr lang="en-US" dirty="0"/>
          </a:p>
          <a:p>
            <a:endParaRPr lang="en-US" dirty="0"/>
          </a:p>
          <a:p>
            <a:r>
              <a:rPr lang="en-US" dirty="0"/>
              <a:t>This algorithm is known as “</a:t>
            </a:r>
            <a:r>
              <a:rPr lang="en-US" dirty="0" err="1"/>
              <a:t>fastTwoSum</a:t>
            </a:r>
            <a:r>
              <a:rPr lang="en-US" dirty="0"/>
              <a:t>” and (with small modifications) proposed as </a:t>
            </a:r>
            <a:r>
              <a:rPr lang="en-US" dirty="0" err="1"/>
              <a:t>AugmentedSum</a:t>
            </a:r>
            <a:r>
              <a:rPr lang="en-US" dirty="0"/>
              <a:t> in next IEEE754 revision </a:t>
            </a:r>
          </a:p>
          <a:p>
            <a:r>
              <a:rPr lang="en-US" dirty="0"/>
              <a:t>A similar algorithm exists for multiplication as well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E5FB-8775-E443-17AC-3D7A63E7F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2BA9B-2D27-2400-C1EC-50DD63735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50EC1-B4F3-F679-34F4-6784C48C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augmented sum</a:t>
            </a:r>
            <a:br>
              <a:rPr lang="en-US" dirty="0"/>
            </a:br>
            <a:r>
              <a:rPr lang="en-US" sz="2400" dirty="0">
                <a:hlinkClick r:id="rId2"/>
              </a:rPr>
              <a:t>https://godbolt.org/z/nq5Po1Gdz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42⊕3.7 = 46</a:t>
            </a:r>
          </a:p>
          <a:p>
            <a:r>
              <a:rPr lang="en-US" dirty="0">
                <a:solidFill>
                  <a:srgbClr val="00B050"/>
                </a:solidFill>
              </a:rPr>
              <a:t>46⊖42 = 4</a:t>
            </a:r>
          </a:p>
          <a:p>
            <a:r>
              <a:rPr lang="en-US" dirty="0">
                <a:solidFill>
                  <a:srgbClr val="00B050"/>
                </a:solidFill>
              </a:rPr>
              <a:t>3.7⊖4 = -0.3</a:t>
            </a:r>
          </a:p>
          <a:p>
            <a:r>
              <a:rPr lang="en-US" i="1" dirty="0"/>
              <a:t>46-0.3 = 42+3.7  (</a:t>
            </a:r>
            <a:r>
              <a:rPr lang="en-US" i="1" dirty="0" err="1"/>
              <a:t>q.e.d.</a:t>
            </a:r>
            <a:r>
              <a:rPr lang="en-US" i="1" dirty="0"/>
              <a:t>)</a:t>
            </a:r>
          </a:p>
          <a:p>
            <a:r>
              <a:rPr lang="en-US" dirty="0"/>
              <a:t>In short: </a:t>
            </a:r>
            <a:r>
              <a:rPr lang="en-US" dirty="0" err="1">
                <a:solidFill>
                  <a:srgbClr val="00B050"/>
                </a:solidFill>
              </a:rPr>
              <a:t>asum</a:t>
            </a:r>
            <a:r>
              <a:rPr lang="en-US" dirty="0">
                <a:solidFill>
                  <a:srgbClr val="00B050"/>
                </a:solidFill>
              </a:rPr>
              <a:t>(42,3.7) = 46,-0.3</a:t>
            </a:r>
          </a:p>
          <a:p>
            <a:endParaRPr lang="en-US" dirty="0"/>
          </a:p>
          <a:p>
            <a:r>
              <a:rPr lang="en-US" dirty="0"/>
              <a:t>42⊕3.3⊕3.4 = 48 while 42+3.3+3.4 = 48.7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,3.4) = 48,0.4</a:t>
            </a:r>
          </a:p>
          <a:p>
            <a:r>
              <a:rPr lang="en-US" dirty="0" err="1"/>
              <a:t>asum</a:t>
            </a:r>
            <a:r>
              <a:rPr lang="en-US" dirty="0"/>
              <a:t>(48,0.3+0.4) = 49, -0.3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0AA64-266F-9A3E-CBCC-A535EC680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14C84-DEBA-FE5E-D615-4AF55ED6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638C0-8A0E-A896-7CFC-C08E15B8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Does it help for catastrophic cancellation?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42⊕3.3⊕ -45 = 0 while 42+3.3-45 = 0.3</a:t>
            </a:r>
          </a:p>
          <a:p>
            <a:pPr lvl="1"/>
            <a:r>
              <a:rPr lang="en-US"/>
              <a:t>Catastrophic cancellation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,-45) = 0.0,0.0</a:t>
            </a:r>
          </a:p>
          <a:p>
            <a:r>
              <a:rPr lang="en-US" err="1"/>
              <a:t>asum</a:t>
            </a:r>
            <a:r>
              <a:rPr lang="en-US"/>
              <a:t>(0.0,0.3+0.0) = 0.3, 0.0 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97AB1-BA83-20D7-3123-0DDFE92F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43B86-CD61-F84E-DA4A-4741E9F91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C5A63-E55F-020B-6C8E-26ABB9241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/>
              <a:t>Kahan summation</a:t>
            </a:r>
          </a:p>
          <a:p>
            <a:pPr lvl="1"/>
            <a:r>
              <a:rPr lang="en-US">
                <a:hlinkClick r:id="rId2"/>
              </a:rPr>
              <a:t>https://en.wikipedia.org/wiki/Kahan_summation_algorithm</a:t>
            </a:r>
            <a:endParaRPr lang="en-US"/>
          </a:p>
          <a:p>
            <a:pPr lvl="1"/>
            <a:r>
              <a:rPr lang="en-US"/>
              <a:t>with excruciating details </a:t>
            </a:r>
            <a:r>
              <a:rPr lang="en-US">
                <a:hlinkClick r:id="rId3"/>
              </a:rPr>
              <a:t>https://arxiv.org/html/2602.19452v1 - LST2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/>
              <a:t>T </a:t>
            </a:r>
            <a:r>
              <a:rPr lang="en-US" altLang="en-US" sz="1600" b="1" err="1"/>
              <a:t>kahanSum</a:t>
            </a:r>
            <a:r>
              <a:rPr lang="en-US" altLang="en-US" sz="1600" b="1"/>
              <a:t>(T const * input, </a:t>
            </a:r>
            <a:r>
              <a:rPr lang="en-US" altLang="en-US" sz="1600" b="1" err="1"/>
              <a:t>size_t</a:t>
            </a:r>
            <a:r>
              <a:rPr lang="en-US" altLang="en-US" sz="1600" b="1"/>
              <a:t> n) { </a:t>
            </a:r>
          </a:p>
          <a:p>
            <a:pPr eaLnBrk="1" hangingPunct="1"/>
            <a:r>
              <a:rPr lang="en-US" altLang="en-US" sz="1600" b="1"/>
              <a:t>T sum = input[0];</a:t>
            </a:r>
          </a:p>
          <a:p>
            <a:pPr eaLnBrk="1" hangingPunct="1"/>
            <a:r>
              <a:rPr lang="en-US" altLang="en-US" sz="1600" b="1"/>
              <a:t>T t = 0.0;          </a:t>
            </a:r>
          </a:p>
          <a:p>
            <a:pPr eaLnBrk="1" hangingPunct="1"/>
            <a:r>
              <a:rPr lang="en-US" altLang="en-US" sz="1600" b="1"/>
              <a:t>for (</a:t>
            </a:r>
            <a:r>
              <a:rPr lang="en-US" altLang="en-US" sz="1600" b="1" err="1"/>
              <a:t>size_t</a:t>
            </a:r>
            <a:r>
              <a:rPr lang="en-US" altLang="en-US" sz="1600" b="1"/>
              <a:t> </a:t>
            </a:r>
            <a:r>
              <a:rPr lang="en-US" altLang="en-US" sz="1600" b="1" err="1"/>
              <a:t>i</a:t>
            </a:r>
            <a:r>
              <a:rPr lang="en-US" altLang="en-US" sz="1600" b="1"/>
              <a:t> = 1; </a:t>
            </a:r>
            <a:r>
              <a:rPr lang="en-US" altLang="en-US" sz="1600" b="1" err="1"/>
              <a:t>i</a:t>
            </a:r>
            <a:r>
              <a:rPr lang="en-US" altLang="en-US" sz="1600" b="1"/>
              <a:t>&lt;n; ++</a:t>
            </a:r>
            <a:r>
              <a:rPr lang="en-US" altLang="en-US" sz="1600" b="1" err="1"/>
              <a:t>i</a:t>
            </a:r>
            <a:r>
              <a:rPr lang="en-US" altLang="en-US" sz="1600" b="1"/>
              <a:t>)  {  </a:t>
            </a:r>
          </a:p>
          <a:p>
            <a:pPr eaLnBrk="1" hangingPunct="1"/>
            <a:r>
              <a:rPr lang="en-US" altLang="en-US" sz="1600" b="1"/>
              <a:t>  auto y = input[</a:t>
            </a:r>
            <a:r>
              <a:rPr lang="en-US" altLang="en-US" sz="1600" b="1" err="1"/>
              <a:t>i</a:t>
            </a:r>
            <a:r>
              <a:rPr lang="en-US" altLang="en-US" sz="1600" b="1"/>
              <a:t>] – t; </a:t>
            </a:r>
          </a:p>
          <a:p>
            <a:pPr eaLnBrk="1" hangingPunct="1"/>
            <a:r>
              <a:rPr lang="en-US" altLang="en-US" sz="1600" b="1" i="1"/>
              <a:t>  auto s = sum + y</a:t>
            </a:r>
          </a:p>
          <a:p>
            <a:pPr eaLnBrk="1" hangingPunct="1"/>
            <a:r>
              <a:rPr lang="en-US" altLang="en-US" sz="1600" b="1" i="1"/>
              <a:t>  t = (s - sum) – y;   </a:t>
            </a:r>
          </a:p>
          <a:p>
            <a:pPr eaLnBrk="1" hangingPunct="1"/>
            <a:r>
              <a:rPr lang="en-US" altLang="en-US" sz="1600" b="1" i="1"/>
              <a:t>  sum = s;                                    </a:t>
            </a:r>
          </a:p>
          <a:p>
            <a:pPr eaLnBrk="1" hangingPunct="1"/>
            <a:r>
              <a:rPr lang="en-US" altLang="en-US" sz="1600" b="1" i="1"/>
              <a:t>} </a:t>
            </a:r>
          </a:p>
          <a:p>
            <a:pPr eaLnBrk="1" hangingPunct="1"/>
            <a:r>
              <a:rPr lang="en-US" altLang="en-US" sz="1600" b="1" i="1"/>
              <a:t>return sum;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pairwise recursion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optimization for parallelism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A026C23-E632-131E-0AAC-CCA89D4A1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FF7411B-CF3A-8304-E47A-C8F691378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536A8-028D-C576-9C1A-BE4CAC3F2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/>
              <a:t>Also known as MAC (multiply accumulate) instruction on AMD</a:t>
            </a:r>
          </a:p>
          <a:p>
            <a:r>
              <a:rPr lang="en-US" err="1"/>
              <a:t>fma</a:t>
            </a:r>
            <a:r>
              <a:rPr lang="en-US"/>
              <a:t>(</a:t>
            </a:r>
            <a:r>
              <a:rPr lang="en-US" err="1"/>
              <a:t>a,b,c</a:t>
            </a:r>
            <a:r>
              <a:rPr lang="en-US"/>
              <a:t>) computes the correctly rounded result of a*</a:t>
            </a:r>
            <a:r>
              <a:rPr lang="en-US" err="1"/>
              <a:t>b+c</a:t>
            </a:r>
            <a:endParaRPr lang="en-US"/>
          </a:p>
          <a:p>
            <a:pPr lvl="1"/>
            <a:r>
              <a:rPr lang="en-US"/>
              <a:t>It improves speed and precision in many computation such as linear algebra</a:t>
            </a:r>
          </a:p>
          <a:p>
            <a:pPr lvl="1"/>
            <a:r>
              <a:rPr lang="en-US"/>
              <a:t>No standard on how to “contract” expression (depends on compiler)</a:t>
            </a:r>
          </a:p>
          <a:p>
            <a:pPr lvl="2"/>
            <a:r>
              <a:rPr lang="en-US"/>
              <a:t>a*</a:t>
            </a:r>
            <a:r>
              <a:rPr lang="en-US" err="1"/>
              <a:t>b+c</a:t>
            </a:r>
            <a:r>
              <a:rPr lang="en-US"/>
              <a:t>*d ,  </a:t>
            </a:r>
            <a:r>
              <a:rPr lang="en-US" err="1"/>
              <a:t>a+b</a:t>
            </a:r>
            <a:r>
              <a:rPr lang="en-US"/>
              <a:t>*</a:t>
            </a:r>
            <a:r>
              <a:rPr lang="en-US" err="1"/>
              <a:t>c+d</a:t>
            </a:r>
            <a:r>
              <a:rPr lang="en-US"/>
              <a:t> , x*=</a:t>
            </a:r>
            <a:r>
              <a:rPr lang="en-US" err="1"/>
              <a:t>a;x</a:t>
            </a:r>
            <a:r>
              <a:rPr lang="en-US"/>
              <a:t>+=b ,  </a:t>
            </a:r>
            <a:r>
              <a:rPr lang="en-US" err="1"/>
              <a:t>etc</a:t>
            </a:r>
            <a:endParaRPr lang="en-US"/>
          </a:p>
          <a:p>
            <a:pPr lvl="1"/>
            <a:r>
              <a:rPr lang="en-US"/>
              <a:t>It clearly introduces asymmetries </a:t>
            </a:r>
          </a:p>
          <a:p>
            <a:pPr lvl="2"/>
            <a:r>
              <a:rPr lang="en-US"/>
              <a:t>for instance  a*</a:t>
            </a:r>
            <a:r>
              <a:rPr lang="en-US" err="1"/>
              <a:t>b+c</a:t>
            </a:r>
            <a:r>
              <a:rPr lang="en-US"/>
              <a:t>*d ≠ c*</a:t>
            </a:r>
            <a:r>
              <a:rPr lang="en-US" err="1"/>
              <a:t>d+a</a:t>
            </a:r>
            <a:r>
              <a:rPr lang="en-US"/>
              <a:t>*b</a:t>
            </a:r>
          </a:p>
          <a:p>
            <a:r>
              <a:rPr lang="en-US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w: (w,-e)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4697F7-EEF3-94D9-714F-2F27C2252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CD021-A54C-407A-748A-A78F7081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66453-4C51-0285-BE87-5C0544D1B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BAF075-987B-9474-1F4A-6FBA7614A4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948CFB-3E08-5063-6000-46EE3A139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69AF79-0694-DF3A-DDD6-63E0B9FFD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741324" cy="2887663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Sum T(0.1) 10000 times in binary32, binary64, decimal2, decimal5</a:t>
            </a:r>
          </a:p>
          <a:p>
            <a:pPr lvl="1"/>
            <a:r>
              <a:rPr lang="en-US"/>
              <a:t>Google for “patriot failure”</a:t>
            </a:r>
          </a:p>
          <a:p>
            <a:r>
              <a:rPr lang="en-US"/>
              <a:t>Sum 10</a:t>
            </a:r>
            <a:r>
              <a:rPr lang="en-US" baseline="30000"/>
              <a:t>9</a:t>
            </a:r>
            <a:r>
              <a:rPr lang="en-US"/>
              <a:t> positive random numbers (in range   10</a:t>
            </a:r>
            <a:r>
              <a:rPr lang="en-US" baseline="30000"/>
              <a:t>-n</a:t>
            </a:r>
            <a:r>
              <a:rPr lang="en-US"/>
              <a:t>, 10</a:t>
            </a:r>
            <a:r>
              <a:rPr lang="en-US" baseline="30000"/>
              <a:t>+n</a:t>
            </a:r>
            <a:r>
              <a:rPr lang="en-US"/>
              <a:t> )</a:t>
            </a:r>
          </a:p>
          <a:p>
            <a:pPr lvl="1"/>
            <a:r>
              <a:rPr lang="en-US"/>
              <a:t>Typical in </a:t>
            </a:r>
            <a:r>
              <a:rPr lang="en-US" err="1"/>
              <a:t>unbinned</a:t>
            </a:r>
            <a:r>
              <a:rPr lang="en-US"/>
              <a:t> log-</a:t>
            </a:r>
            <a:r>
              <a:rPr lang="en-US" err="1"/>
              <a:t>likehood</a:t>
            </a:r>
            <a:endParaRPr lang="en-US"/>
          </a:p>
          <a:p>
            <a:r>
              <a:rPr lang="en-US"/>
              <a:t>Compute the average age of all humans on earth</a:t>
            </a:r>
          </a:p>
          <a:p>
            <a:endParaRPr lang="en-US"/>
          </a:p>
          <a:p>
            <a:r>
              <a:rPr lang="en-US"/>
              <a:t>Compute π as the integral of 4/(1+x</a:t>
            </a:r>
            <a:r>
              <a:rPr lang="en-US" baseline="30000"/>
              <a:t>2</a:t>
            </a:r>
            <a:r>
              <a:rPr lang="en-US"/>
              <a:t>) between 0 and 1 (use </a:t>
            </a:r>
            <a:r>
              <a:rPr lang="en-US" i="1"/>
              <a:t>float, double, </a:t>
            </a:r>
            <a:r>
              <a:rPr lang="en-US" i="1" err="1"/>
              <a:t>simd</a:t>
            </a:r>
            <a:r>
              <a:rPr lang="en-US" i="1"/>
              <a:t>, int, mixed</a:t>
            </a:r>
            <a:r>
              <a:rPr lang="en-US"/>
              <a:t>)</a:t>
            </a:r>
          </a:p>
          <a:p>
            <a:pPr lvl="1"/>
            <a:r>
              <a:rPr lang="en-US" sz="2100"/>
              <a:t>(credit: Tim Mattson)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7E1852-4690-E1E0-C027-3CFB48A5D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DDF0-B51E-87CD-77E1-90591FAC0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0FFE3-8783-E55E-9CA7-A846A94EE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2C436-3B48-9416-3CF4-B6A30F15431F}"/>
              </a:ext>
            </a:extLst>
          </p:cNvPr>
          <p:cNvSpPr txBox="1"/>
          <p:nvPr/>
        </p:nvSpPr>
        <p:spPr>
          <a:xfrm>
            <a:off x="6266627" y="3169724"/>
            <a:ext cx="3341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https://godbolt.org/z/h6bEa8GY1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Solve the equation </a:t>
            </a:r>
            <a:r>
              <a:rPr lang="en-US" i="1"/>
              <a:t>x</a:t>
            </a:r>
            <a:r>
              <a:rPr lang="en-US" i="1" baseline="30000"/>
              <a:t>2</a:t>
            </a:r>
            <a:r>
              <a:rPr lang="en-US" i="1"/>
              <a:t> – 2bx +1 = 0 </a:t>
            </a:r>
            <a:r>
              <a:rPr lang="en-US"/>
              <a:t>using the “high-school” formula</a:t>
            </a:r>
          </a:p>
          <a:p>
            <a:pPr lvl="1"/>
            <a:r>
              <a:rPr lang="en-US"/>
              <a:t>What is the smallest value of b (single precision) for which one of the solution becomes 0?</a:t>
            </a:r>
          </a:p>
          <a:p>
            <a:pPr lvl="1"/>
            <a:r>
              <a:rPr lang="en-US"/>
              <a:t>What is instead the correct result? (use only single precision computations)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1BB61-0A7C-2ABA-FDC6-A025F215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F551E-08F6-00DE-9B25-A8BD5801B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46934-CDD9-03DB-801C-50FD5DF28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#include &lt;iostream&gt;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iomanip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#include &lt;random&gt;</a:t>
            </a:r>
          </a:p>
          <a:p>
            <a:pPr eaLnBrk="1" hangingPunct="1"/>
            <a:r>
              <a:rPr lang="en-US" altLang="x-none" sz="1400"/>
              <a:t>#include &lt;algorithm&gt;</a:t>
            </a:r>
          </a:p>
          <a:p>
            <a:pPr eaLnBrk="1" hangingPunct="1"/>
            <a:r>
              <a:rPr lang="en-US" altLang="x-none" sz="1400"/>
              <a:t>#include &lt;</a:t>
            </a:r>
            <a:r>
              <a:rPr lang="en-US" altLang="x-none" sz="1400" err="1"/>
              <a:t>cmath</a:t>
            </a:r>
            <a:r>
              <a:rPr lang="en-US" altLang="x-none" sz="1400"/>
              <a:t>&gt;</a:t>
            </a:r>
          </a:p>
          <a:p>
            <a:pPr eaLnBrk="1" hangingPunct="1"/>
            <a:r>
              <a:rPr lang="en-US" altLang="x-none" sz="1400"/>
              <a:t>int main()</a:t>
            </a:r>
          </a:p>
          <a:p>
            <a:pPr eaLnBrk="1" hangingPunct="1"/>
            <a:r>
              <a:rPr lang="en-US" altLang="x-none" sz="1400"/>
              <a:t>{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random_device</a:t>
            </a:r>
            <a:r>
              <a:rPr lang="en-US" altLang="x-none" sz="1400"/>
              <a:t> </a:t>
            </a:r>
            <a:r>
              <a:rPr lang="en-US" altLang="x-none" sz="1400" err="1"/>
              <a:t>rd</a:t>
            </a:r>
            <a:r>
              <a:rPr lang="en-US" altLang="x-none" sz="1400"/>
              <a:t>;  // to obtain a seed for the random number engine</a:t>
            </a:r>
          </a:p>
          <a:p>
            <a:pPr eaLnBrk="1" hangingPunct="1"/>
            <a:r>
              <a:rPr lang="en-US" altLang="x-none" sz="1400"/>
              <a:t>    std::mt19937 gen(</a:t>
            </a:r>
            <a:r>
              <a:rPr lang="en-US" altLang="x-none" sz="1400" err="1"/>
              <a:t>rd</a:t>
            </a:r>
            <a:r>
              <a:rPr lang="en-US" altLang="x-none" sz="1400"/>
              <a:t>()); // Standard </a:t>
            </a:r>
            <a:r>
              <a:rPr lang="en-US" altLang="x-none" sz="1400" err="1"/>
              <a:t>mersenne_twister_engine</a:t>
            </a:r>
            <a:r>
              <a:rPr lang="en-US" altLang="x-none" sz="1400"/>
              <a:t> seeded with </a:t>
            </a:r>
            <a:r>
              <a:rPr lang="en-US" altLang="x-none" sz="1400" err="1"/>
              <a:t>rd</a:t>
            </a:r>
            <a:r>
              <a:rPr lang="en-US" altLang="x-none" sz="1400"/>
              <a:t>()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uniform_real_distribution</a:t>
            </a:r>
            <a:r>
              <a:rPr lang="en-US" altLang="x-none" sz="1400"/>
              <a:t>&lt;float&gt; dis(-1.0, 1.0); </a:t>
            </a:r>
          </a:p>
          <a:p>
            <a:pPr eaLnBrk="1" hangingPunct="1"/>
            <a:r>
              <a:rPr lang="en-US" altLang="x-none" sz="1400"/>
              <a:t>    </a:t>
            </a:r>
            <a:r>
              <a:rPr lang="en-US" altLang="x-none" sz="1400" err="1"/>
              <a:t>size_t</a:t>
            </a:r>
            <a:r>
              <a:rPr lang="en-US" altLang="x-none" sz="1400"/>
              <a:t> N = 40*1000*1000;</a:t>
            </a:r>
          </a:p>
          <a:p>
            <a:pPr eaLnBrk="1" hangingPunct="1"/>
            <a:r>
              <a:rPr lang="en-US" altLang="x-none" sz="1400"/>
              <a:t>    float * x = new float[N];</a:t>
            </a:r>
          </a:p>
          <a:p>
            <a:pPr eaLnBrk="1" hangingPunct="1"/>
            <a:r>
              <a:rPr lang="en-US" altLang="x-none" sz="1400"/>
              <a:t>    for (int n = 0; n &lt; N; ++n) {</a:t>
            </a:r>
          </a:p>
          <a:p>
            <a:pPr eaLnBrk="1" hangingPunct="1"/>
            <a:r>
              <a:rPr lang="en-US" altLang="x-none" sz="140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/>
              <a:t>        x[n] = dis(gen);</a:t>
            </a:r>
          </a:p>
          <a:p>
            <a:pPr eaLnBrk="1" hangingPunct="1"/>
            <a:r>
              <a:rPr lang="en-US" altLang="x-none" sz="1400"/>
              <a:t>    }</a:t>
            </a:r>
          </a:p>
          <a:p>
            <a:pPr eaLnBrk="1" hangingPunct="1"/>
            <a:r>
              <a:rPr lang="en-US" altLang="x-none" sz="1400"/>
              <a:t>    // sort in absolute value</a:t>
            </a:r>
          </a:p>
          <a:p>
            <a:pPr eaLnBrk="1" hangingPunct="1"/>
            <a:r>
              <a:rPr lang="en-US" altLang="x-none" sz="1400"/>
              <a:t>    std::sort(</a:t>
            </a:r>
            <a:r>
              <a:rPr lang="en-US" altLang="x-none" sz="1400" err="1"/>
              <a:t>x,x+N</a:t>
            </a:r>
            <a:r>
              <a:rPr lang="en-US" altLang="x-none" sz="1400"/>
              <a:t>,[](float a, float b) { return std::abs(a) &lt; std::abs(b);});</a:t>
            </a:r>
          </a:p>
          <a:p>
            <a:pPr eaLnBrk="1" hangingPunct="1"/>
            <a:r>
              <a:rPr lang="en-US" altLang="x-none" sz="1400"/>
              <a:t>    // print first and last 40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r>
              <a:rPr lang="en-US" altLang="x-none" sz="1400"/>
              <a:t>   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std::</a:t>
            </a:r>
            <a:r>
              <a:rPr lang="en-US" altLang="x-none" sz="1400" err="1"/>
              <a:t>hexfloat</a:t>
            </a:r>
            <a:r>
              <a:rPr lang="en-US" altLang="x-none" sz="1400"/>
              <a:t>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</a:t>
            </a:r>
            <a:r>
              <a:rPr lang="en-US" altLang="x-none" sz="1400" err="1"/>
              <a:t>i</a:t>
            </a:r>
            <a:r>
              <a:rPr lang="en-US" altLang="x-none" sz="1400"/>
              <a:t>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'\n’;</a:t>
            </a:r>
          </a:p>
          <a:p>
            <a:pPr eaLnBrk="1" hangingPunct="1"/>
            <a:r>
              <a:rPr lang="en-US" altLang="x-none" sz="1400"/>
              <a:t>    for (int </a:t>
            </a:r>
            <a:r>
              <a:rPr lang="en-US" altLang="x-none" sz="1400" err="1"/>
              <a:t>i</a:t>
            </a:r>
            <a:r>
              <a:rPr lang="en-US" altLang="x-none" sz="1400"/>
              <a:t>=0; </a:t>
            </a:r>
            <a:r>
              <a:rPr lang="en-US" altLang="x-none" sz="1400" err="1"/>
              <a:t>i</a:t>
            </a:r>
            <a:r>
              <a:rPr lang="en-US" altLang="x-none" sz="1400"/>
              <a:t>&lt;40; ++</a:t>
            </a:r>
            <a:r>
              <a:rPr lang="en-US" altLang="x-none" sz="1400" err="1"/>
              <a:t>i</a:t>
            </a:r>
            <a:r>
              <a:rPr lang="en-US" altLang="x-none" sz="1400"/>
              <a:t>)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x[N-1-i] &lt;&lt; ' ‘; std::</a:t>
            </a:r>
            <a:r>
              <a:rPr lang="en-US" altLang="x-none" sz="1400" err="1"/>
              <a:t>cout</a:t>
            </a:r>
            <a:r>
              <a:rPr lang="en-US" altLang="x-none" sz="1400"/>
              <a:t> &lt;&lt; '\n';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    delete [] x;</a:t>
            </a:r>
          </a:p>
          <a:p>
            <a:pPr eaLnBrk="1" hangingPunct="1"/>
            <a:r>
              <a:rPr lang="en-US" altLang="x-none" sz="1400"/>
              <a:t>    return 0;</a:t>
            </a:r>
          </a:p>
          <a:p>
            <a:pPr eaLnBrk="1" hangingPunct="1"/>
            <a:r>
              <a:rPr lang="en-US" altLang="x-none" sz="140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/>
          </a:p>
          <a:p>
            <a:pPr eaLnBrk="1" hangingPunct="1"/>
            <a:r>
              <a:rPr lang="en-US" altLang="x-none" sz="140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136137-EDD4-AB78-D5E5-8D3FE9332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A5923A-0928-4412-321D-2E8D7A5DE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F350BE-F637-E4FC-358C-92DEFE98A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Uniform vs canonical</a:t>
            </a:r>
            <a:br>
              <a:rPr lang="en-US"/>
            </a:br>
            <a:r>
              <a:rPr lang="en-US" sz="2200"/>
              <a:t>(for a detailed discussion see among others</a:t>
            </a:r>
            <a:br>
              <a:rPr lang="en-US" sz="2200"/>
            </a:br>
            <a:r>
              <a:rPr lang="en-US" sz="2200">
                <a:hlinkClick r:id="rId2"/>
              </a:rPr>
              <a:t>https://github.com/DiscreteLogarithm/canonical-random-float/tree/master</a:t>
            </a:r>
            <a:r>
              <a:rPr lang="en-US" sz="2200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/>
              <a:t>Uniform in range [</a:t>
            </a:r>
            <a:r>
              <a:rPr lang="en-US" u="sng" err="1"/>
              <a:t>a,b</a:t>
            </a:r>
            <a:r>
              <a:rPr lang="en-US" u="sng"/>
              <a:t>)</a:t>
            </a:r>
          </a:p>
          <a:p>
            <a:r>
              <a:rPr lang="en-US"/>
              <a:t>Throw 32 coins: interpret as a positive integer N</a:t>
            </a:r>
          </a:p>
          <a:p>
            <a:r>
              <a:rPr lang="en-US"/>
              <a:t>Compute r = float(N)/float(2</a:t>
            </a:r>
            <a:r>
              <a:rPr lang="en-US" baseline="30000"/>
              <a:t>32</a:t>
            </a:r>
            <a:r>
              <a:rPr lang="en-US"/>
              <a:t>)*(b-a) –a</a:t>
            </a:r>
          </a:p>
          <a:p>
            <a:pPr marL="0" indent="0">
              <a:buNone/>
            </a:pPr>
            <a:endParaRPr lang="en-US" baseline="30000"/>
          </a:p>
          <a:p>
            <a:pPr marL="0" indent="0">
              <a:buNone/>
            </a:pPr>
            <a:r>
              <a:rPr lang="en-US" u="sng"/>
              <a:t>Canonical</a:t>
            </a:r>
          </a:p>
          <a:p>
            <a:r>
              <a:rPr lang="en-US"/>
              <a:t>Throw 23 coins: set significand of r to them</a:t>
            </a:r>
          </a:p>
          <a:p>
            <a:r>
              <a:rPr lang="en-US"/>
              <a:t>Throw one more coin: if 1 set exponent of r to -1: </a:t>
            </a:r>
            <a:r>
              <a:rPr lang="en-US" i="1"/>
              <a:t>uniform in [0.5,1) prob. 1/2</a:t>
            </a:r>
          </a:p>
          <a:p>
            <a:pPr lvl="1"/>
            <a:r>
              <a:rPr lang="en-US"/>
              <a:t>If 0 :Throw one more coin: if 1 set exponent of r to -2: </a:t>
            </a:r>
            <a:r>
              <a:rPr lang="en-US" i="1"/>
              <a:t>uniform in [0.25,0.5) prob. 1/4</a:t>
            </a:r>
          </a:p>
          <a:p>
            <a:pPr lvl="2"/>
            <a:r>
              <a:rPr lang="en-US"/>
              <a:t>If 0:  Throw one more coin: if 1 set exponent of r to -3: </a:t>
            </a:r>
            <a:r>
              <a:rPr lang="en-US" i="1"/>
              <a:t>uniform in [0.125,0.25) prob. 1/8</a:t>
            </a:r>
          </a:p>
          <a:p>
            <a:pPr lvl="3"/>
            <a:r>
              <a:rPr lang="en-US"/>
              <a:t>If 0:  Throw one more coin: if 1 set exponent of r to -4: </a:t>
            </a:r>
            <a:r>
              <a:rPr lang="en-US" i="1"/>
              <a:t>uniform in [0.0625,0.125) prob. 1/16</a:t>
            </a:r>
          </a:p>
          <a:p>
            <a:pPr lvl="4"/>
            <a:r>
              <a:rPr lang="en-US"/>
              <a:t>If 0: ….	</a:t>
            </a:r>
          </a:p>
          <a:p>
            <a:r>
              <a:rPr lang="en-US"/>
              <a:t>If symmetric interval around 0 needed : use last coin to choose sign</a:t>
            </a:r>
          </a:p>
          <a:p>
            <a:pPr lvl="1"/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98E9A-EF3C-D633-ED36-F60057FF0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1904-6135-3F8D-A713-2FEBDF176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C31B9-6622-755D-6A20-8F8327E37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Generated 256*10</a:t>
            </a:r>
            <a:r>
              <a:rPr lang="en-US" baseline="30000"/>
              <a:t>9 </a:t>
            </a:r>
            <a:r>
              <a:rPr lang="en-US"/>
              <a:t>Normal distributed using Box-Muller</a:t>
            </a:r>
            <a:endParaRPr lang="en-US" baseline="30000"/>
          </a:p>
          <a:p>
            <a:pPr marL="0" indent="0">
              <a:buNone/>
            </a:pPr>
            <a:endParaRPr lang="en-US" baseline="30000"/>
          </a:p>
          <a:p>
            <a:r>
              <a:rPr lang="en-US" baseline="3000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00B050"/>
                </a:solidFill>
              </a:rPr>
              <a:t>sqrt(-2log(2</a:t>
            </a:r>
            <a:r>
              <a:rPr lang="en-US" baseline="30000">
                <a:solidFill>
                  <a:srgbClr val="00B050"/>
                </a:solidFill>
              </a:rPr>
              <a:t>-32</a:t>
            </a:r>
            <a:r>
              <a:rPr lang="en-US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FFC000"/>
                </a:solidFill>
              </a:rPr>
              <a:t>sqrt(-2log(2</a:t>
            </a:r>
            <a:r>
              <a:rPr lang="en-US" baseline="30000">
                <a:solidFill>
                  <a:srgbClr val="FFC000"/>
                </a:solidFill>
              </a:rPr>
              <a:t>-23</a:t>
            </a:r>
            <a:r>
              <a:rPr lang="en-US">
                <a:solidFill>
                  <a:srgbClr val="FFC000"/>
                </a:solidFill>
              </a:rPr>
              <a:t>)) ~ 5.6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9CB7FFD-54D9-306B-0DE7-3543DE82F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FFB7C8-B82E-10B7-B680-E4500A017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5ECB13-71A3-BBCF-FC48-EA2A7C6BD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637063-32CF-D21A-8887-F8935016F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66EC71-0A89-3E6D-4C4A-428734B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20048-DB70-23FB-B855-D76E6847F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IEEE754 defines a set of “additional operations” (aka elementary functions) </a:t>
            </a:r>
          </a:p>
          <a:p>
            <a:pPr lvl="1"/>
            <a:r>
              <a:rPr lang="en-US"/>
              <a:t>exp, log, power of various forms</a:t>
            </a:r>
          </a:p>
          <a:p>
            <a:pPr lvl="1"/>
            <a:r>
              <a:rPr lang="en-US"/>
              <a:t>trig, hyperbolic and their inverse (arc)</a:t>
            </a:r>
          </a:p>
          <a:p>
            <a:pPr lvl="1"/>
            <a:r>
              <a:rPr lang="en-US"/>
              <a:t>They are “required” to be correctly rounded</a:t>
            </a:r>
          </a:p>
          <a:p>
            <a:r>
              <a:rPr lang="en-US"/>
              <a:t>C and C++ std define some more special functions</a:t>
            </a:r>
          </a:p>
          <a:p>
            <a:pPr lvl="1"/>
            <a:r>
              <a:rPr lang="en-US">
                <a:hlinkClick r:id="rId2"/>
              </a:rPr>
              <a:t>https://en.cppreference.com/cpp/numeric/math</a:t>
            </a:r>
            <a:endParaRPr lang="en-US"/>
          </a:p>
          <a:p>
            <a:pPr lvl="1"/>
            <a:r>
              <a:rPr lang="en-US">
                <a:hlinkClick r:id="rId3"/>
              </a:rPr>
              <a:t>https://en.wikipedia.org/wiki/C_mathematical_functions</a:t>
            </a:r>
            <a:endParaRPr lang="en-US"/>
          </a:p>
          <a:p>
            <a:r>
              <a:rPr lang="en-US"/>
              <a:t>Each vendor/compiler provides its own implementation</a:t>
            </a:r>
          </a:p>
          <a:p>
            <a:pPr lvl="1"/>
            <a:r>
              <a:rPr lang="en-US"/>
              <a:t>A comparison of their accuracy is compiled by </a:t>
            </a:r>
            <a:r>
              <a:rPr lang="en-US" err="1"/>
              <a:t>B.Gladman</a:t>
            </a:r>
            <a:r>
              <a:rPr lang="en-US"/>
              <a:t> et al.</a:t>
            </a:r>
          </a:p>
          <a:p>
            <a:pPr lvl="2"/>
            <a:r>
              <a:rPr lang="en-US">
                <a:hlinkClick r:id="rId4"/>
              </a:rPr>
              <a:t>https://members.loria.fr/PZimmermann/papers/accuracy.pdf</a:t>
            </a:r>
            <a:endParaRPr lang="en-US"/>
          </a:p>
          <a:p>
            <a:r>
              <a:rPr lang="en-US"/>
              <a:t>The most accurate implementation to date is from the “core-math” project</a:t>
            </a:r>
          </a:p>
          <a:p>
            <a:pPr lvl="1"/>
            <a:r>
              <a:rPr lang="en-US">
                <a:hlinkClick r:id="rId5"/>
              </a:rPr>
              <a:t>https://core-math.gitlabpages.inria.fr/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DE3E-D67D-A1A4-E232-4A7BB01C7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C795-0250-EBB7-783E-0BC4F3D70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0BA2-9719-AFDB-22F6-16C0EB52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>
                <a:hlinkClick r:id="rId2"/>
              </a:rPr>
              <a:t>https://members.loria.fr/PZimmermann/papers/accuracy.pdf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/>
              <a:t>Evaluating a function</a:t>
            </a:r>
            <a:br>
              <a:rPr lang="en-US"/>
            </a:br>
            <a:r>
              <a:rPr lang="en-US" sz="2700"/>
              <a:t>for a recent review see </a:t>
            </a:r>
            <a:r>
              <a:rPr lang="en-US" sz="2700">
                <a:hlinkClick r:id="rId2"/>
              </a:rPr>
              <a:t>https://dl.acm.org/doi/pdf/10.1145/3747840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Handling special values, under/over-flows and invalid</a:t>
            </a:r>
          </a:p>
          <a:p>
            <a:pPr lvl="1"/>
            <a:r>
              <a:rPr lang="en-US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If required:</a:t>
            </a:r>
          </a:p>
          <a:p>
            <a:pPr lvl="1"/>
            <a:r>
              <a:rPr lang="en-US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Back to full range</a:t>
            </a:r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2CEB2-C6E2-2E81-9AEE-00103BC4EB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A806CA-A6E6-62BE-EE91-5141AE21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1EC1F9-B412-F318-431E-0D1DD5316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/>
              <a:t>exp, log, pow</a:t>
            </a:r>
          </a:p>
          <a:p>
            <a:pPr lvl="1"/>
            <a:r>
              <a:rPr lang="en-US"/>
              <a:t>exploit </a:t>
            </a:r>
            <a:r>
              <a:rPr lang="en-US" err="1"/>
              <a:t>fp</a:t>
            </a:r>
            <a:r>
              <a:rPr lang="en-US"/>
              <a:t> representation: x = 1.mᐧ</a:t>
            </a:r>
            <a:r>
              <a:rPr lang="cs-CZ" altLang="x-none"/>
              <a:t>2</a:t>
            </a:r>
            <a:r>
              <a:rPr lang="en-US" altLang="x-none" baseline="30000"/>
              <a:t>n</a:t>
            </a:r>
            <a:endParaRPr lang="en-US" baseline="30000"/>
          </a:p>
          <a:p>
            <a:pPr lvl="1"/>
            <a:r>
              <a:rPr lang="en-US"/>
              <a:t>For log(x):  x =  yᐧ2</a:t>
            </a:r>
            <a:r>
              <a:rPr lang="en-US" baseline="30000"/>
              <a:t>z</a:t>
            </a:r>
            <a:r>
              <a:rPr lang="en-US"/>
              <a:t>, with  y in [0.75,1.5)</a:t>
            </a:r>
            <a:r>
              <a:rPr lang="en-US" baseline="30000"/>
              <a:t> </a:t>
            </a:r>
            <a:r>
              <a:rPr lang="en-US"/>
              <a:t>. log(x) = </a:t>
            </a:r>
            <a:r>
              <a:rPr lang="en-US" err="1"/>
              <a:t>zᐧlog</a:t>
            </a:r>
            <a:r>
              <a:rPr lang="en-US"/>
              <a:t>(2)+log(y) </a:t>
            </a:r>
          </a:p>
          <a:p>
            <a:pPr lvl="1"/>
            <a:r>
              <a:rPr lang="en-US"/>
              <a:t>For exp(x):  x = </a:t>
            </a:r>
            <a:r>
              <a:rPr lang="en-US" err="1"/>
              <a:t>kᐧlog</a:t>
            </a:r>
            <a:r>
              <a:rPr lang="en-US"/>
              <a:t>(2)+y, with y in [-log(2)/2;log(2)/2). exp(x) = 2</a:t>
            </a:r>
            <a:r>
              <a:rPr lang="en-US" baseline="30000"/>
              <a:t>k </a:t>
            </a:r>
            <a:r>
              <a:rPr lang="en-US" err="1"/>
              <a:t>ᐧexp</a:t>
            </a:r>
            <a:r>
              <a:rPr lang="en-US"/>
              <a:t>(y)</a:t>
            </a:r>
            <a:endParaRPr lang="en-US" baseline="30000"/>
          </a:p>
          <a:p>
            <a:pPr lvl="1"/>
            <a:r>
              <a:rPr lang="en-US" err="1"/>
              <a:t>x</a:t>
            </a:r>
            <a:r>
              <a:rPr lang="en-US" baseline="30000" err="1"/>
              <a:t>y</a:t>
            </a:r>
            <a:r>
              <a:rPr lang="en-US" baseline="30000"/>
              <a:t> </a:t>
            </a:r>
            <a:r>
              <a:rPr lang="en-US"/>
              <a:t>= </a:t>
            </a:r>
            <a:r>
              <a:rPr lang="en-US" err="1"/>
              <a:t>e</a:t>
            </a:r>
            <a:r>
              <a:rPr lang="en-US" baseline="30000" err="1"/>
              <a:t>yᐧlog</a:t>
            </a:r>
            <a:r>
              <a:rPr lang="en-US" baseline="30000"/>
              <a:t>(x)</a:t>
            </a:r>
            <a:endParaRPr lang="en-US"/>
          </a:p>
          <a:p>
            <a:r>
              <a:rPr lang="en-US" err="1"/>
              <a:t>sin,cos,tan,atan</a:t>
            </a:r>
            <a:r>
              <a:rPr lang="en-US"/>
              <a:t>(2)</a:t>
            </a:r>
          </a:p>
          <a:p>
            <a:pPr lvl="1"/>
            <a:r>
              <a:rPr lang="en-US"/>
              <a:t>Reduce to [0, π/4) (trivial for f(π</a:t>
            </a:r>
            <a:r>
              <a:rPr lang="en-US" err="1"/>
              <a:t>ᐧx</a:t>
            </a:r>
            <a:r>
              <a:rPr lang="en-US"/>
              <a:t>) known as </a:t>
            </a:r>
            <a:r>
              <a:rPr lang="en-US" err="1"/>
              <a:t>sinpi,cospi</a:t>
            </a:r>
            <a:r>
              <a:rPr lang="en-US"/>
              <a:t> </a:t>
            </a:r>
            <a:r>
              <a:rPr lang="en-US" err="1"/>
              <a:t>etc</a:t>
            </a:r>
            <a:r>
              <a:rPr lang="en-US"/>
              <a:t>, tricky for sin(x) </a:t>
            </a:r>
            <a:r>
              <a:rPr lang="en-US" err="1"/>
              <a:t>etc</a:t>
            </a:r>
            <a:r>
              <a:rPr lang="en-US"/>
              <a:t>)</a:t>
            </a:r>
          </a:p>
          <a:p>
            <a:pPr lvl="1"/>
            <a:r>
              <a:rPr lang="en-US"/>
              <a:t>use trig identities to go back</a:t>
            </a:r>
          </a:p>
          <a:p>
            <a:r>
              <a:rPr lang="en-US" err="1"/>
              <a:t>asin,acos</a:t>
            </a:r>
            <a:r>
              <a:rPr lang="en-US"/>
              <a:t>, hyperbolic</a:t>
            </a:r>
          </a:p>
          <a:p>
            <a:pPr lvl="1"/>
            <a:r>
              <a:rPr lang="en-US"/>
              <a:t>approximate it in “ad-hoc” intervals (make sure continuity at edges)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F9D0A-87C3-F1A2-0EC5-7BF02A7A0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CB5DA-C398-9FDD-B68E-D9C5A4CE7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823B9F-A74F-686A-6167-3694D75E9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/>
              <a:t>Since 1964 the reference for function approximation is the </a:t>
            </a:r>
            <a:r>
              <a:rPr lang="en-US" i="1"/>
              <a:t>Abramowitz and </a:t>
            </a:r>
            <a:r>
              <a:rPr lang="en-US" i="1" err="1"/>
              <a:t>Stegun</a:t>
            </a:r>
            <a:endParaRPr lang="en-US" i="1"/>
          </a:p>
          <a:p>
            <a:pPr lvl="1"/>
            <a:r>
              <a:rPr lang="en-US"/>
              <a:t>Today replaced by the </a:t>
            </a:r>
            <a:r>
              <a:rPr lang="en-US" i="1"/>
              <a:t>digital library </a:t>
            </a:r>
            <a:r>
              <a:rPr lang="en-US">
                <a:hlinkClick r:id="rId2"/>
              </a:rPr>
              <a:t>https://dlmf.nist.gov/</a:t>
            </a:r>
            <a:endParaRPr lang="en-US"/>
          </a:p>
          <a:p>
            <a:r>
              <a:rPr lang="en-US"/>
              <a:t>Elementary functions are usually approximated either by  </a:t>
            </a:r>
          </a:p>
          <a:p>
            <a:pPr lvl="1"/>
            <a:r>
              <a:rPr lang="en-US"/>
              <a:t>shift-and-add algorithms (CORDIC </a:t>
            </a:r>
            <a:r>
              <a:rPr lang="en-US">
                <a:hlinkClick r:id="rId3"/>
              </a:rPr>
              <a:t>https://en.wikipedia.org/wiki/CORDIC</a:t>
            </a:r>
            <a:r>
              <a:rPr lang="en-US"/>
              <a:t>)</a:t>
            </a:r>
          </a:p>
          <a:p>
            <a:pPr lvl="2"/>
            <a:r>
              <a:rPr lang="en-US"/>
              <a:t>Today limited to FPGA</a:t>
            </a:r>
          </a:p>
          <a:p>
            <a:pPr lvl="1"/>
            <a:r>
              <a:rPr lang="en-US"/>
              <a:t>a polynomial</a:t>
            </a:r>
          </a:p>
          <a:p>
            <a:pPr lvl="2"/>
            <a:r>
              <a:rPr lang="en-US"/>
              <a:t>Chebyshev approximation satisfying the ”superior” norm (max in an interval)</a:t>
            </a:r>
          </a:p>
          <a:p>
            <a:pPr lvl="1"/>
            <a:r>
              <a:rPr lang="en-US"/>
              <a:t>a rational function (ratio of two polynomials)</a:t>
            </a:r>
          </a:p>
          <a:p>
            <a:pPr lvl="2"/>
            <a:r>
              <a:rPr lang="en-US"/>
              <a:t>Pade’ approximation</a:t>
            </a:r>
          </a:p>
          <a:p>
            <a:pPr lvl="1"/>
            <a:r>
              <a:rPr lang="en-US"/>
              <a:t>an iterative method such as Newton-Raphson</a:t>
            </a:r>
          </a:p>
          <a:p>
            <a:pPr marL="0" indent="0">
              <a:buNone/>
            </a:pPr>
            <a:r>
              <a:rPr lang="en-US" sz="1800"/>
              <a:t>See also the short paper by </a:t>
            </a:r>
            <a:r>
              <a:rPr lang="en-US" sz="1800" err="1"/>
              <a:t>J.M.Muller</a:t>
            </a:r>
            <a:r>
              <a:rPr lang="en-US" sz="1800"/>
              <a:t> </a:t>
            </a:r>
            <a:r>
              <a:rPr lang="en-US" sz="1800">
                <a:hlinkClick r:id="rId4"/>
              </a:rPr>
              <a:t>https://hal.science/hal-02517784v1/file/approxfunctions.pdf</a:t>
            </a:r>
            <a:endParaRPr lang="en-US" sz="18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AF1AD8-F3C3-229C-4BF7-7AF1474D0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5CA141-B1AE-30D1-6087-93D46E1E1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B7AC6-3D25-81E3-595A-461F2E63A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1/x,</a:t>
            </a:r>
            <a:r>
              <a:rPr lang="en-US" altLang="en-US">
                <a:ea typeface="ＭＳ Ｐゴシック" panose="020B0600070205080204" pitchFamily="34" charset="-128"/>
              </a:rPr>
              <a:t> √</a:t>
            </a:r>
            <a:r>
              <a:rPr lang="en-US"/>
              <a:t>(x),1/</a:t>
            </a:r>
            <a:r>
              <a:rPr lang="en-US" altLang="en-US">
                <a:ea typeface="ＭＳ Ｐゴシック" panose="020B0600070205080204" pitchFamily="34" charset="-128"/>
              </a:rPr>
              <a:t>√</a:t>
            </a:r>
            <a:r>
              <a:rPr lang="en-US"/>
              <a:t>(x) aka </a:t>
            </a:r>
            <a:r>
              <a:rPr lang="en-US" err="1"/>
              <a:t>rcp</a:t>
            </a:r>
            <a:r>
              <a:rPr lang="en-US"/>
              <a:t>(x),sqrt(x),</a:t>
            </a:r>
            <a:r>
              <a:rPr lang="en-US" err="1"/>
              <a:t>rsqrt</a:t>
            </a:r>
            <a:r>
              <a:rPr lang="en-US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fast-converging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>
                <a:ea typeface="ＭＳ Ｐゴシック" panose="020B0600070205080204" pitchFamily="34" charset="-128"/>
              </a:rPr>
              <a:t>The major contribution of game industry to CS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float </a:t>
            </a:r>
            <a:r>
              <a:rPr lang="en-US" altLang="en-US" sz="1800" err="1"/>
              <a:t>rsqrt</a:t>
            </a:r>
            <a:r>
              <a:rPr lang="en-US" altLang="en-US" sz="1800"/>
              <a:t>(float x){</a:t>
            </a:r>
          </a:p>
          <a:p>
            <a:pPr eaLnBrk="1" hangingPunct="1"/>
            <a:r>
              <a:rPr lang="en-US" altLang="en-US" sz="1800"/>
              <a:t>  union {float </a:t>
            </a:r>
            <a:r>
              <a:rPr lang="en-US" altLang="en-US" sz="1800" err="1"/>
              <a:t>f;int</a:t>
            </a:r>
            <a:r>
              <a:rPr lang="en-US" altLang="en-US" sz="1800"/>
              <a:t> </a:t>
            </a:r>
            <a:r>
              <a:rPr lang="en-US" altLang="en-US" sz="1800" err="1"/>
              <a:t>i</a:t>
            </a:r>
            <a:r>
              <a:rPr lang="en-US" altLang="en-US" sz="1800"/>
              <a:t>;} </a:t>
            </a:r>
            <a:r>
              <a:rPr lang="en-US" altLang="en-US" sz="1800" err="1"/>
              <a:t>tmp</a:t>
            </a:r>
            <a:r>
              <a:rPr lang="en-US" altLang="en-US" sz="1800"/>
              <a:t>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tmp.f</a:t>
            </a:r>
            <a:r>
              <a:rPr lang="en-US" altLang="en-US" sz="1800"/>
              <a:t> = x;</a:t>
            </a:r>
          </a:p>
          <a:p>
            <a:pPr eaLnBrk="1" hangingPunct="1"/>
            <a:r>
              <a:rPr lang="en-US" altLang="en-US" sz="1800"/>
              <a:t>  </a:t>
            </a:r>
            <a:r>
              <a:rPr lang="en-US" altLang="en-US" sz="1800" err="1"/>
              <a:t>tmp.i</a:t>
            </a:r>
            <a:r>
              <a:rPr lang="en-US" altLang="en-US" sz="1800"/>
              <a:t> = 0x5f3759df - (</a:t>
            </a:r>
            <a:r>
              <a:rPr lang="en-US" altLang="en-US" sz="1800" err="1"/>
              <a:t>tmp.i</a:t>
            </a:r>
            <a:r>
              <a:rPr lang="en-US" altLang="en-US" sz="1800"/>
              <a:t> &gt;&gt; 1);</a:t>
            </a:r>
          </a:p>
          <a:p>
            <a:pPr eaLnBrk="1" hangingPunct="1"/>
            <a:r>
              <a:rPr lang="en-US" altLang="en-US" sz="1800"/>
              <a:t>  float y = </a:t>
            </a:r>
            <a:r>
              <a:rPr lang="en-US" altLang="en-US" sz="1800" err="1"/>
              <a:t>tmp.f</a:t>
            </a:r>
            <a:r>
              <a:rPr lang="en-US" altLang="en-US" sz="1800"/>
              <a:t>; // approximate</a:t>
            </a:r>
          </a:p>
          <a:p>
            <a:pPr eaLnBrk="1" hangingPunct="1"/>
            <a:r>
              <a:rPr lang="en-US" altLang="en-US" sz="1800"/>
              <a:t>  return y * (1.5f - 0.5f * x * y * y); // NR</a:t>
            </a:r>
          </a:p>
          <a:p>
            <a:pPr eaLnBrk="1" hangingPunct="1"/>
            <a:r>
              <a:rPr lang="en-US" altLang="en-US" sz="180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hlinkClick r:id="rId2"/>
              </a:rPr>
              <a:t>https://en.wikipedia.org/wiki/Fast_inverse_square_root</a:t>
            </a:r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/>
              <a:t>Real x86_64 code for 1/√x</a:t>
            </a:r>
          </a:p>
          <a:p>
            <a:pPr eaLnBrk="1" hangingPunct="1">
              <a:defRPr/>
            </a:pPr>
            <a:r>
              <a:rPr lang="en-US" sz="1800"/>
              <a:t> _</a:t>
            </a:r>
            <a:r>
              <a:rPr lang="en-US" sz="1800" err="1"/>
              <a:t>mm_store_ss</a:t>
            </a:r>
            <a:r>
              <a:rPr lang="en-US" sz="1800"/>
              <a:t>( &amp;y</a:t>
            </a:r>
            <a:r>
              <a:rPr lang="en-US" sz="1800" b="1"/>
              <a:t>, _</a:t>
            </a:r>
            <a:r>
              <a:rPr lang="en-US" sz="1800" b="1" err="1"/>
              <a:t>mm_rsqrt_ss</a:t>
            </a:r>
            <a:r>
              <a:rPr lang="en-US" sz="1800"/>
              <a:t>( _</a:t>
            </a:r>
            <a:r>
              <a:rPr lang="en-US" sz="1800" err="1"/>
              <a:t>mm_load_ss</a:t>
            </a:r>
            <a:r>
              <a:rPr lang="en-US" sz="1800"/>
              <a:t>( &amp;x ) ) ); </a:t>
            </a:r>
          </a:p>
          <a:p>
            <a:pPr eaLnBrk="1" hangingPunct="1">
              <a:defRPr/>
            </a:pPr>
            <a:r>
              <a:rPr lang="en-US" sz="180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3E3B31-B08C-9964-AD22-81E873C10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9274F-1970-BE8F-D8DA-ED4BE39D8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0D1F65-9041-7B96-D189-3FDF877B6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/>
              <a:t>to guarantee a given precision one needs to evaluate the  error of the approximation “y = f(x)”</a:t>
            </a:r>
          </a:p>
          <a:p>
            <a:pPr lvl="1"/>
            <a:r>
              <a:rPr lang="en-US"/>
              <a:t>From first principle</a:t>
            </a:r>
          </a:p>
          <a:p>
            <a:pPr lvl="1"/>
            <a:r>
              <a:rPr lang="en-US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 Round2Near: if the error interval includes the middle point an even more precise evaluation is required</a:t>
            </a:r>
          </a:p>
          <a:p>
            <a:pPr lvl="1"/>
            <a:r>
              <a:rPr lang="en-US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259725"/>
            <a:ext cx="6109133" cy="4649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31B177-A069-B74D-EBB7-E940CA98E9E5}"/>
              </a:ext>
            </a:extLst>
          </p:cNvPr>
          <p:cNvSpPr txBox="1"/>
          <p:nvPr/>
        </p:nvSpPr>
        <p:spPr>
          <a:xfrm>
            <a:off x="838200" y="5846544"/>
            <a:ext cx="8402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Examples :</a:t>
            </a:r>
          </a:p>
          <a:p>
            <a:r>
              <a:rPr lang="en-US"/>
              <a:t>sin(0.40225342) = 0x1.</a:t>
            </a:r>
            <a:r>
              <a:rPr lang="en-US">
                <a:solidFill>
                  <a:srgbClr val="FF0000"/>
                </a:solidFill>
              </a:rPr>
              <a:t>90e382</a:t>
            </a:r>
            <a:r>
              <a:rPr lang="en-US"/>
              <a:t>fffff7bp-2         sin(0.47485355) = 0x1.</a:t>
            </a:r>
            <a:r>
              <a:rPr lang="en-US">
                <a:solidFill>
                  <a:srgbClr val="FF0000"/>
                </a:solidFill>
              </a:rPr>
              <a:t>d42e63</a:t>
            </a:r>
            <a:r>
              <a:rPr lang="en-US"/>
              <a:t>000000bp-2 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809202-E646-4060-ABDB-18815D74D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13F79CD-2B51-DC90-393D-0553C0F58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09359D-440C-3F4B-E48C-73985AE4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D7954C-623A-8348-34B2-A429017D6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0E66D3-EE9C-F226-5B12-B2C719CF9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264B3D-8902-DBC4-57BB-A3DBA9970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/>
              <a:t>Approximate sin(x) in [0, π/4) with polynomials of increasing order</a:t>
            </a:r>
          </a:p>
          <a:p>
            <a:pPr lvl="1"/>
            <a:r>
              <a:rPr lang="en-US"/>
              <a:t>Taylor</a:t>
            </a:r>
          </a:p>
          <a:p>
            <a:pPr lvl="1"/>
            <a:r>
              <a:rPr lang="en-US"/>
              <a:t>Chebyshev</a:t>
            </a:r>
          </a:p>
          <a:p>
            <a:pPr lvl="1"/>
            <a:r>
              <a:rPr lang="en-US"/>
              <a:t>Pade</a:t>
            </a:r>
          </a:p>
          <a:p>
            <a:r>
              <a:rPr lang="en-US"/>
              <a:t>Plot the absolute and relative error w/r/t a high precision result</a:t>
            </a:r>
          </a:p>
          <a:p>
            <a:endParaRPr lang="en-US"/>
          </a:p>
          <a:p>
            <a:r>
              <a:rPr lang="en-US"/>
              <a:t>Use python </a:t>
            </a:r>
            <a:r>
              <a:rPr lang="en-US" err="1"/>
              <a:t>mpmath</a:t>
            </a:r>
            <a:r>
              <a:rPr lang="en-US"/>
              <a:t> module </a:t>
            </a:r>
            <a:r>
              <a:rPr lang="en-US">
                <a:hlinkClick r:id="rId2"/>
              </a:rPr>
              <a:t>https://mpmath.readthedocs.io/en/latest/calculus/approximation.html</a:t>
            </a:r>
            <a:r>
              <a:rPr lang="en-US"/>
              <a:t>  </a:t>
            </a:r>
          </a:p>
          <a:p>
            <a:r>
              <a:rPr lang="en-US"/>
              <a:t>or sage, or </a:t>
            </a:r>
            <a:r>
              <a:rPr lang="en-US" err="1"/>
              <a:t>mathematica</a:t>
            </a:r>
            <a:r>
              <a:rPr lang="en-US"/>
              <a:t>…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60382-30A2-E8F0-E707-3EB2C7DB6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6D1F21-D9F8-D515-8FF5-926CDC083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527234-32D0-707E-0BCE-8414101BD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Test  </a:t>
            </a:r>
            <a:r>
              <a:rPr lang="en-US" err="1"/>
              <a:t>rsqrt</a:t>
            </a:r>
            <a:r>
              <a:rPr lang="en-US"/>
              <a:t> precision in the interval [0.5, 4) </a:t>
            </a:r>
          </a:p>
          <a:p>
            <a:pPr lvl="1"/>
            <a:r>
              <a:rPr lang="en-US"/>
              <a:t>use “quake magic” and/or x86_64 intrinsics plus multiple NR iterations</a:t>
            </a:r>
          </a:p>
          <a:p>
            <a:pPr lvl="1"/>
            <a:r>
              <a:rPr lang="en-US"/>
              <a:t>Try to reach faithful (or even correct) rounding.</a:t>
            </a:r>
          </a:p>
          <a:p>
            <a:endParaRPr lang="en-US"/>
          </a:p>
          <a:p>
            <a:r>
              <a:rPr lang="en-US"/>
              <a:t>Compute sin(0x1.e64002p-2) using Taylor expansion:</a:t>
            </a:r>
          </a:p>
          <a:p>
            <a:pPr lvl="1"/>
            <a:r>
              <a:rPr lang="en-US"/>
              <a:t>How many terms are needed to reach faithful rounding in single precision?</a:t>
            </a:r>
          </a:p>
          <a:p>
            <a:pPr lvl="1"/>
            <a:r>
              <a:rPr lang="en-US"/>
              <a:t>How many more terms to reach correct rounding (in single precision)?</a:t>
            </a:r>
          </a:p>
          <a:p>
            <a:pPr lvl="1"/>
            <a:r>
              <a:rPr lang="en-US"/>
              <a:t>Use double precision to compute, then round to single   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5952E-1E96-58E9-65A6-FFB71C501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7F5821-2FC7-6D38-E751-A1743B829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D6A333-F130-CC9F-C58F-C4BEE4C9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Use cos(x) approximation in decimal (</a:t>
            </a:r>
            <a:r>
              <a:rPr lang="en-US" err="1"/>
              <a:t>taylor</a:t>
            </a:r>
            <a:r>
              <a:rPr lang="en-US"/>
              <a:t>)</a:t>
            </a:r>
            <a:br>
              <a:rPr lang="en-US"/>
            </a:br>
            <a:r>
              <a:rPr lang="en-US"/>
              <a:t>see </a:t>
            </a:r>
            <a:r>
              <a:rPr lang="en-US">
                <a:hlinkClick r:id="rId2"/>
              </a:rPr>
              <a:t>https://docs.python.org/3/library/decimal.html - recipes</a:t>
            </a:r>
            <a:endParaRPr lang="en-US"/>
          </a:p>
          <a:p>
            <a:pPr marL="0" indent="0">
              <a:buNone/>
            </a:pPr>
            <a:r>
              <a:rPr lang="en-US"/>
              <a:t>to “solve” TMD above  (mind: direct rounding!) 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C63EB2-6FBB-01AD-EED6-855D4FF03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1534A-880E-9B44-4C1C-0F0CC3FDF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9A6E6-CD29-7317-D66F-531C940D6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Precision, </a:t>
            </a:r>
            <a:r>
              <a:rPr lang="en-US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>
                <a:ea typeface="ＭＳ Ｐゴシック" charset="0"/>
                <a:cs typeface="ＭＳ Ｐゴシック" charset="0"/>
              </a:rPr>
              <a:t> </a:t>
            </a:r>
            <a:r>
              <a:rPr lang="en-US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/>
              <a:t>Precision</a:t>
            </a:r>
          </a:p>
          <a:p>
            <a:pPr lvl="1"/>
            <a:r>
              <a:rPr lang="en-US" altLang="x-none"/>
              <a:t>Numerical precision (in bits)</a:t>
            </a:r>
          </a:p>
          <a:p>
            <a:pPr lvl="2"/>
            <a:r>
              <a:rPr lang="en-US" altLang="x-none"/>
              <a:t>For an instrument (ruler!) typically “half a tick” </a:t>
            </a:r>
          </a:p>
          <a:p>
            <a:pPr lvl="2"/>
            <a:r>
              <a:rPr lang="en-US" altLang="x-none"/>
              <a:t>Comes from specs</a:t>
            </a:r>
          </a:p>
          <a:p>
            <a:r>
              <a:rPr lang="en-US" altLang="x-none"/>
              <a:t>Accuracy</a:t>
            </a:r>
          </a:p>
          <a:p>
            <a:pPr lvl="1"/>
            <a:r>
              <a:rPr lang="en-US" altLang="x-none"/>
              <a:t>The error w/r/t the truth</a:t>
            </a:r>
          </a:p>
          <a:p>
            <a:pPr lvl="1"/>
            <a:r>
              <a:rPr lang="en-US" altLang="x-none"/>
              <a:t>Can be evaluated comparing with a “refence” or a different algorithm</a:t>
            </a:r>
          </a:p>
          <a:p>
            <a:pPr lvl="2"/>
            <a:r>
              <a:rPr lang="en-US" altLang="x-none"/>
              <a:t>In science “comparing different experiments”</a:t>
            </a:r>
          </a:p>
          <a:p>
            <a:r>
              <a:rPr lang="en-US" altLang="x-none"/>
              <a:t>Target Accuracy</a:t>
            </a:r>
          </a:p>
          <a:p>
            <a:pPr lvl="1"/>
            <a:r>
              <a:rPr lang="en-US" altLang="x-none"/>
              <a:t>The acceptable tolerance w/r/t the above</a:t>
            </a:r>
          </a:p>
          <a:p>
            <a:pPr lvl="1"/>
            <a:r>
              <a:rPr lang="en-US" altLang="x-none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/>
              <a:t>Cost of operations (in </a:t>
            </a:r>
            <a:r>
              <a:rPr lang="en-US" altLang="x-none" err="1"/>
              <a:t>cpu</a:t>
            </a:r>
            <a:r>
              <a:rPr lang="en-US" altLang="x-none"/>
              <a:t> cycles on x86_64)</a:t>
            </a:r>
            <a:br>
              <a:rPr lang="en-US" altLang="x-none"/>
            </a:br>
            <a:r>
              <a:rPr lang="en-US" altLang="x-none" sz="3100">
                <a:hlinkClick r:id="rId2"/>
              </a:rPr>
              <a:t>https://www.agner.org/optimize/instruction_tables.pdf</a:t>
            </a:r>
            <a:r>
              <a:rPr lang="en-US" altLang="x-none" sz="3100"/>
              <a:t>  (</a:t>
            </a:r>
            <a:r>
              <a:rPr lang="en-US" altLang="x-none" sz="3100" err="1"/>
              <a:t>icelake</a:t>
            </a:r>
            <a:r>
              <a:rPr lang="en-US" altLang="x-none" sz="3100"/>
              <a:t> &amp; zen5)</a:t>
            </a:r>
            <a:endParaRPr lang="en-US" altLang="x-none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862550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 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</a:t>
            </a:r>
            <a:r>
              <a:rPr lang="en-US" altLang="x-none" sz="1800" b="1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>
                <a:solidFill>
                  <a:srgbClr val="FF0000"/>
                </a:solidFill>
              </a:rPr>
              <a:t>(</a:t>
            </a:r>
            <a:r>
              <a:rPr lang="en-US" altLang="x-none" sz="1800" b="1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>
                <a:solidFill>
                  <a:srgbClr val="FF0000"/>
                </a:solidFill>
              </a:rPr>
              <a:t> branches)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56187C-4DD4-0719-7972-2137FE1C9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GPU landscape: </a:t>
            </a:r>
            <a:br>
              <a:rPr lang="en-US"/>
            </a:br>
            <a:r>
              <a:rPr lang="en-US" sz="3200"/>
              <a:t>FP64 is 32 times slower than FP32 on affordable GPU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0212"/>
            <a:ext cx="10515600" cy="1516922"/>
          </a:xfrm>
        </p:spPr>
        <p:txBody>
          <a:bodyPr>
            <a:normAutofit fontScale="90000"/>
          </a:bodyPr>
          <a:lstStyle/>
          <a:p>
            <a:r>
              <a:rPr lang="en-US"/>
              <a:t>GPU (T4) performance</a:t>
            </a:r>
            <a:br>
              <a:rPr lang="en-US"/>
            </a:br>
            <a:r>
              <a:rPr lang="en-US" sz="2700"/>
              <a:t>Brute-force inversion of 5x5 Pos-Def Matrix using Cholesky decomposition</a:t>
            </a:r>
            <a:br>
              <a:rPr lang="en-US" sz="2700"/>
            </a:br>
            <a:r>
              <a:rPr lang="en-US" sz="2200"/>
              <a:t>33 + , 29 - , 126 * , 5 / , no sqrt    (compiler optimization and </a:t>
            </a:r>
            <a:r>
              <a:rPr lang="en-US" sz="2200" err="1"/>
              <a:t>fma</a:t>
            </a:r>
            <a:r>
              <a:rPr lang="en-US" sz="2200"/>
              <a:t> will contract some)</a:t>
            </a:r>
            <a:br>
              <a:rPr lang="en-US"/>
            </a:br>
            <a:endParaRPr lang="en-US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4B4080-0FA9-4368-3238-F4ABA1F75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5498E0-E201-0DF9-2AB9-488DFDF7A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793D-3F0A-5BCF-18EF-6B2D23AFD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/>
              <a:t>In the old days: X87</a:t>
            </a:r>
          </a:p>
          <a:p>
            <a:pPr lvl="1"/>
            <a:r>
              <a:rPr lang="en-US"/>
              <a:t>Double faster than float!</a:t>
            </a:r>
          </a:p>
          <a:p>
            <a:r>
              <a:rPr lang="en-US"/>
              <a:t>X86_64 (and ARM, PPC, RISC)</a:t>
            </a:r>
          </a:p>
          <a:p>
            <a:pPr lvl="1"/>
            <a:r>
              <a:rPr lang="en-US"/>
              <a:t>Scalar: float and double same speed (but div, sqrt, memory bandwidth)</a:t>
            </a:r>
          </a:p>
          <a:p>
            <a:pPr lvl="1"/>
            <a:r>
              <a:rPr lang="en-US"/>
              <a:t>Vector: float twice faster than double</a:t>
            </a:r>
          </a:p>
          <a:p>
            <a:r>
              <a:rPr lang="en-US"/>
              <a:t>GPU: gaming and “Data Center”</a:t>
            </a:r>
          </a:p>
          <a:p>
            <a:pPr lvl="1"/>
            <a:r>
              <a:rPr lang="en-US"/>
              <a:t>Float 64 times faster than double</a:t>
            </a:r>
          </a:p>
          <a:p>
            <a:r>
              <a:rPr lang="en-US"/>
              <a:t>GPU: HPC</a:t>
            </a:r>
          </a:p>
          <a:p>
            <a:pPr lvl="1"/>
            <a:r>
              <a:rPr lang="en-US"/>
              <a:t>Float twice faster than double</a:t>
            </a:r>
          </a:p>
          <a:p>
            <a:r>
              <a:rPr lang="en-US"/>
              <a:t>GPU: AI</a:t>
            </a:r>
          </a:p>
          <a:p>
            <a:pPr lvl="1"/>
            <a:r>
              <a:rPr lang="en-US"/>
              <a:t>Optimized for low-precision tensor operations (GEMM can profit )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127137-E97C-2530-FC5C-9BB430B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EDDAD-7430-CB68-041E-2EC480A88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456BA-9E08-0715-2DA5-2A579E46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Elementary functions 1/throughput (in cycles)</a:t>
            </a:r>
            <a:br>
              <a:rPr lang="en-US"/>
            </a:br>
            <a:r>
              <a:rPr lang="en-US" sz="2400"/>
              <a:t>(origin </a:t>
            </a:r>
            <a:r>
              <a:rPr lang="en-US" sz="2400">
                <a:hlinkClick r:id="rId2"/>
              </a:rPr>
              <a:t>https://core-math.gitlabpages.inria.fr/</a:t>
            </a:r>
            <a:r>
              <a:rPr lang="en-US" sz="2400"/>
              <a:t>)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8B058-E76F-90B4-3BD8-71781F5CE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F90FE-C3E2-A427-B2CC-CCD66D33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799A3-9E4E-55E5-70DA-4B194C3F6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for elementary functions</a:t>
            </a:r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</a:t>
            </a:r>
            <a:r>
              <a:rPr lang="en-US" altLang="x-none" sz="1800" err="1"/>
              <a:t>ms</a:t>
            </a:r>
            <a:r>
              <a:rPr lang="en-US" altLang="x-none" sz="1800"/>
              <a:t>(double </a:t>
            </a:r>
            <a:r>
              <a:rPr lang="en-US" altLang="x-none" sz="1800" err="1"/>
              <a:t>radLen</a:t>
            </a:r>
            <a:r>
              <a:rPr lang="en-US" altLang="x-none" sz="1800"/>
              <a:t>, double m2, double p2) { </a:t>
            </a:r>
          </a:p>
          <a:p>
            <a:pPr eaLnBrk="1" hangingPunct="1"/>
            <a:r>
              <a:rPr lang="en-US" altLang="x-none" sz="1800"/>
              <a:t>  </a:t>
            </a:r>
            <a:r>
              <a:rPr lang="en-US" altLang="x-none" sz="1800" err="1"/>
              <a:t>constexpr</a:t>
            </a:r>
            <a:r>
              <a:rPr lang="en-US" altLang="x-none" sz="1800"/>
              <a:t> double </a:t>
            </a:r>
            <a:r>
              <a:rPr lang="en-US" altLang="x-none" sz="1800" err="1"/>
              <a:t>amscon</a:t>
            </a:r>
            <a:r>
              <a:rPr lang="en-US" altLang="x-none" sz="1800"/>
              <a:t>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 err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</a:t>
            </a:r>
            <a:r>
              <a:rPr lang="en-US" altLang="x-none" sz="1800" err="1"/>
              <a:t>amscon</a:t>
            </a:r>
            <a:r>
              <a:rPr lang="en-US" altLang="x-none" sz="1800"/>
              <a:t>*</a:t>
            </a:r>
            <a:r>
              <a:rPr lang="en-US" altLang="x-none" sz="1800" err="1"/>
              <a:t>radLen</a:t>
            </a:r>
            <a:r>
              <a:rPr lang="en-US" altLang="x-none" sz="1800"/>
              <a:t>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/>
              <a:t>Cash-Karp </a:t>
            </a:r>
            <a:r>
              <a:rPr lang="en-US" err="1"/>
              <a:t>Runge-Kutta</a:t>
            </a:r>
            <a:r>
              <a:rPr lang="en-US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>
                <a:solidFill>
                  <a:srgbClr val="FF0000"/>
                </a:solidFill>
              </a:rPr>
              <a:t>0.9*step/</a:t>
            </a:r>
            <a:r>
              <a:rPr lang="en-US" sz="2000" b="1" err="1">
                <a:solidFill>
                  <a:srgbClr val="FF0000"/>
                </a:solidFill>
              </a:rPr>
              <a:t>pow</a:t>
            </a:r>
            <a:r>
              <a:rPr lang="en-US" sz="2000" b="1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Code pitfalls</a:t>
            </a:r>
            <a:br>
              <a:rPr lang="en-US"/>
            </a:br>
            <a:r>
              <a:rPr lang="en-US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C8776-C25E-AC49-052A-C3D5C6BC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69655E-A71A-8BA3-B02B-E6DC81B46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31793E-FF0D-0D25-7E59-61FDD040B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 essentially any language default FP </a:t>
            </a:r>
            <a:r>
              <a:rPr lang="en-US" err="1"/>
              <a:t>arith</a:t>
            </a:r>
            <a:r>
              <a:rPr lang="en-US"/>
              <a:t> is in double</a:t>
            </a:r>
          </a:p>
          <a:p>
            <a:pPr lvl="1"/>
            <a:r>
              <a:rPr lang="en-US"/>
              <a:t>Any other precision needs to be explicitly stated</a:t>
            </a:r>
          </a:p>
          <a:p>
            <a:pPr lvl="1"/>
            <a:r>
              <a:rPr lang="en-US"/>
              <a:t>One element in double and the whole expression will be evaluated in double</a:t>
            </a:r>
          </a:p>
          <a:p>
            <a:pPr lvl="2"/>
            <a:r>
              <a:rPr lang="en-US"/>
              <a:t>Promotion to double can be turn in a warning using “</a:t>
            </a:r>
            <a:r>
              <a:rPr lang="en-US" i="1"/>
              <a:t>-</a:t>
            </a:r>
            <a:r>
              <a:rPr lang="en-US" i="1" err="1"/>
              <a:t>Wdouble</a:t>
            </a:r>
            <a:r>
              <a:rPr lang="en-US" i="1"/>
              <a:t>-promotion”</a:t>
            </a:r>
            <a:endParaRPr lang="en-US"/>
          </a:p>
          <a:p>
            <a:r>
              <a:rPr lang="en-US"/>
              <a:t>C and C++ compilers (</a:t>
            </a:r>
            <a:r>
              <a:rPr lang="en-US" err="1"/>
              <a:t>gcc</a:t>
            </a:r>
            <a:r>
              <a:rPr lang="en-US"/>
              <a:t>, clang) by default will never reorder or transform expressions if the result may change</a:t>
            </a:r>
          </a:p>
          <a:p>
            <a:pPr lvl="1"/>
            <a:r>
              <a:rPr lang="en-US"/>
              <a:t>FMA is (currently) an exception</a:t>
            </a:r>
          </a:p>
          <a:p>
            <a:r>
              <a:rPr lang="en-US"/>
              <a:t>C is a language born in the late `70</a:t>
            </a:r>
          </a:p>
          <a:p>
            <a:pPr lvl="1"/>
            <a:r>
              <a:rPr lang="en-US"/>
              <a:t>even C++ does not (potentially) break old code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B7BD0-CF76-B344-9C95-09C9F4549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EDC949-1F8C-5C13-2CCB-6CDFE8AEB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BC869-066A-C97D-95A4-23F79D9E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Compiler option affecting FP Arith</a:t>
            </a:r>
            <a:br>
              <a:rPr lang="en-US"/>
            </a:br>
            <a:r>
              <a:rPr lang="en-US" sz="2700">
                <a:hlinkClick r:id="rId2"/>
              </a:rPr>
              <a:t>https://gcc.gnu.org/wiki/FloatingPointMath</a:t>
            </a:r>
            <a:br>
              <a:rPr lang="en-US" sz="3600"/>
            </a:br>
            <a:r>
              <a:rPr lang="en-US" sz="2700">
                <a:hlinkClick r:id="rId3"/>
              </a:rPr>
              <a:t>https://clang.llvm.org/docs/UsersManual.html - controlling-floating-point-behavior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-math-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endParaRPr lang="en-US" dirty="0">
              <a:solidFill>
                <a:srgbClr val="00B050"/>
              </a:solidFill>
            </a:endParaRP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ffinite</a:t>
            </a:r>
            <a:r>
              <a:rPr lang="en-US" dirty="0">
                <a:solidFill>
                  <a:srgbClr val="FFC000"/>
                </a:solidFill>
              </a:rPr>
              <a:t>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endParaRPr lang="en-US" dirty="0">
              <a:solidFill>
                <a:srgbClr val="FFC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ED6A5C-338C-9672-C0CC-E317CA084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91E37-612B-910F-8EAE-E8655764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0CCE-AEC8-220A-8519-3181B775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Controlling </a:t>
            </a:r>
            <a:r>
              <a:rPr lang="en-US" err="1"/>
              <a:t>fma</a:t>
            </a:r>
            <a:r>
              <a:rPr lang="en-US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err="1"/>
              <a:t>gcc</a:t>
            </a:r>
            <a:r>
              <a:rPr lang="en-US"/>
              <a:t>  (and clang)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ffp</a:t>
            </a:r>
            <a:r>
              <a:rPr lang="en-US">
                <a:latin typeface="Courier" pitchFamily="2" charset="0"/>
              </a:rPr>
              <a:t>-contract=off 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fast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2"/>
              </a:rPr>
              <a:t>https://stackoverflow.com/questions/43352510/difference-in-gcc-ffp-contract-options</a:t>
            </a:r>
            <a:endParaRPr lang="en-US" sz="2000"/>
          </a:p>
          <a:p>
            <a:endParaRPr lang="en-US"/>
          </a:p>
          <a:p>
            <a:r>
              <a:rPr lang="en-US" err="1"/>
              <a:t>cuda</a:t>
            </a:r>
            <a:r>
              <a:rPr lang="en-US"/>
              <a:t> (</a:t>
            </a:r>
            <a:r>
              <a:rPr lang="en-US" err="1"/>
              <a:t>nvcc</a:t>
            </a:r>
            <a:r>
              <a:rPr lang="en-US"/>
              <a:t>) flags</a:t>
            </a:r>
          </a:p>
          <a:p>
            <a:pPr lvl="1"/>
            <a:r>
              <a:rPr lang="en-US">
                <a:latin typeface="Courier" pitchFamily="2" charset="0"/>
              </a:rPr>
              <a:t>-</a:t>
            </a:r>
            <a:r>
              <a:rPr lang="en-US" err="1">
                <a:latin typeface="Courier" pitchFamily="2" charset="0"/>
              </a:rPr>
              <a:t>fmad</a:t>
            </a:r>
            <a:r>
              <a:rPr lang="en-US">
                <a:latin typeface="Courier" pitchFamily="2" charset="0"/>
              </a:rPr>
              <a:t>=false </a:t>
            </a:r>
            <a:r>
              <a:rPr lang="en-US"/>
              <a:t>(default is “</a:t>
            </a:r>
            <a:r>
              <a:rPr lang="en-US">
                <a:latin typeface="Courier" pitchFamily="2" charset="0"/>
              </a:rPr>
              <a:t>true</a:t>
            </a:r>
            <a:r>
              <a:rPr lang="en-US"/>
              <a:t>”)</a:t>
            </a:r>
          </a:p>
          <a:p>
            <a:pPr lvl="1"/>
            <a:r>
              <a:rPr lang="en-US" sz="2000">
                <a:hlinkClick r:id="rId3"/>
              </a:rPr>
              <a:t>https://docs.nvidia.com/cuda/floating-point/index.html</a:t>
            </a:r>
            <a:r>
              <a:rPr lang="en-US" sz="2000"/>
              <a:t> </a:t>
            </a:r>
          </a:p>
          <a:p>
            <a:pPr lvl="1"/>
            <a:endParaRPr lang="en-US" sz="2000"/>
          </a:p>
          <a:p>
            <a:r>
              <a:rPr lang="en-US" sz="2400" err="1"/>
              <a:t>fma</a:t>
            </a:r>
            <a:r>
              <a:rPr lang="en-US" sz="2400"/>
              <a:t> function itself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2C764AE-31F1-0D06-F7D4-F3620627E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June 2026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mom.z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  <a:endParaRPr lang="en-US" altLang="en-US" sz="1600" b="1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</a:t>
            </a:r>
            <a:r>
              <a:rPr lang="en-US" altLang="en-US" sz="1600" b="1" err="1">
                <a:solidFill>
                  <a:srgbClr val="000000"/>
                </a:solidFill>
              </a:rPr>
              <a:t>mom.perp</a:t>
            </a:r>
            <a:r>
              <a:rPr lang="en-US" altLang="en-US" sz="1600" b="1">
                <a:solidFill>
                  <a:srgbClr val="000000"/>
                </a:solidFill>
              </a:rPr>
              <a:t>();</a:t>
            </a:r>
            <a:r>
              <a:rPr lang="en-US" altLang="en-US" sz="1600">
                <a:solidFill>
                  <a:srgbClr val="000000"/>
                </a:solidFill>
              </a:rPr>
              <a:t>    //  sqrt(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mom.x</a:t>
            </a:r>
            <a:r>
              <a:rPr lang="en-US" altLang="en-US" sz="1600">
                <a:solidFill>
                  <a:srgbClr val="000000"/>
                </a:solidFill>
              </a:rPr>
              <a:t>()+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()*</a:t>
            </a:r>
            <a:r>
              <a:rPr lang="en-US" altLang="en-US" sz="1600" err="1">
                <a:solidFill>
                  <a:srgbClr val="000000"/>
                </a:solidFill>
              </a:rPr>
              <a:t>mom.y</a:t>
            </a:r>
            <a:r>
              <a:rPr lang="en-US" altLang="en-US" sz="160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</a:t>
            </a:r>
            <a:r>
              <a:rPr lang="en-US" altLang="en-US" sz="1600" b="1" err="1">
                <a:solidFill>
                  <a:srgbClr val="000000"/>
                </a:solidFill>
              </a:rPr>
              <a:t>a_i</a:t>
            </a:r>
            <a:r>
              <a:rPr lang="en-US" altLang="en-US" sz="1600" b="1">
                <a:solidFill>
                  <a:srgbClr val="000000"/>
                </a:solidFill>
              </a:rPr>
              <a:t>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 +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r_x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</a:t>
            </a:r>
            <a:r>
              <a:rPr lang="en-US" altLang="en-US" sz="1600" b="1" err="1">
                <a:solidFill>
                  <a:srgbClr val="000000"/>
                </a:solidFill>
              </a:rPr>
              <a:t>r_y</a:t>
            </a:r>
            <a:r>
              <a:rPr lang="en-US" altLang="en-US" sz="1600" b="1">
                <a:solidFill>
                  <a:srgbClr val="000000"/>
                </a:solidFill>
              </a:rPr>
              <a:t> = 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 - 2* 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()*(</a:t>
            </a:r>
            <a:r>
              <a:rPr lang="en-US" altLang="en-US" sz="1600" b="1" err="1">
                <a:solidFill>
                  <a:srgbClr val="000000"/>
                </a:solidFill>
              </a:rPr>
              <a:t>d_x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mom.x</a:t>
            </a:r>
            <a:r>
              <a:rPr lang="en-US" altLang="en-US" sz="1600" b="1">
                <a:solidFill>
                  <a:srgbClr val="000000"/>
                </a:solidFill>
              </a:rPr>
              <a:t>()+</a:t>
            </a:r>
            <a:r>
              <a:rPr lang="en-US" altLang="en-US" sz="1600" b="1" err="1">
                <a:solidFill>
                  <a:srgbClr val="000000"/>
                </a:solidFill>
              </a:rPr>
              <a:t>d_y</a:t>
            </a:r>
            <a:r>
              <a:rPr lang="en-US" altLang="en-US" sz="1600" b="1">
                <a:solidFill>
                  <a:srgbClr val="000000"/>
                </a:solidFill>
              </a:rPr>
              <a:t>*</a:t>
            </a:r>
            <a:r>
              <a:rPr lang="en-US" altLang="en-US" sz="1600" b="1" err="1">
                <a:solidFill>
                  <a:srgbClr val="000000"/>
                </a:solidFill>
              </a:rPr>
              <a:t>mom.y</a:t>
            </a:r>
            <a:r>
              <a:rPr lang="en-US" altLang="en-US" sz="1600" b="1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June 2026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6944" y="94576"/>
            <a:ext cx="5195056" cy="2339135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44CAB0-B094-7C50-B1B5-888BADBEC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CA2008-32C0-BFAD-8900-1333192DA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FE75A0-0AC9-B769-F1A7-04778AE9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EB5E99E-774C-59A5-B5D9-2494DD85E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970FA-35A5-C18E-4659-69DD12E0D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C154CE-5283-18C4-288F-3F79E580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3E2067-5FD4-40C4-E1F6-AA2C3249C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E239A-5EFE-BF23-806D-50305DD8A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288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/>
              <a:t>Floating point “disasters”</a:t>
            </a:r>
          </a:p>
          <a:p>
            <a:pPr lvl="1"/>
            <a:r>
              <a:rPr lang="en-US">
                <a:hlinkClick r:id="rId2"/>
              </a:rPr>
              <a:t>http://ta.twi.tudelft.nl/users/vuik/wi211/disasters.html</a:t>
            </a:r>
            <a:endParaRPr lang="en-US"/>
          </a:p>
          <a:p>
            <a:pPr lvl="1"/>
            <a:r>
              <a:rPr lang="en-US">
                <a:hlinkClick r:id="rId3"/>
              </a:rPr>
              <a:t>https://www.iro.umontreal.ca/~mignotte/IFT2425/Disasters.html</a:t>
            </a:r>
            <a:endParaRPr lang="en-US"/>
          </a:p>
          <a:p>
            <a:pPr lvl="1"/>
            <a:r>
              <a:rPr lang="en-US">
                <a:hlinkClick r:id="rId4"/>
              </a:rPr>
              <a:t>https://slate.com/technology/2019/10/round-floor-software-errors-stock-market-battlefield.html</a:t>
            </a:r>
            <a:endParaRPr lang="en-US"/>
          </a:p>
          <a:p>
            <a:pPr lvl="1"/>
            <a:r>
              <a:rPr lang="en-US">
                <a:hlinkClick r:id="rId5"/>
              </a:rPr>
              <a:t>https://medium.com/@sohail_saifii/the-floating-point-standard-thats-silently-breaking-financial-software-7f7e93430dbb</a:t>
            </a:r>
            <a:endParaRPr lang="en-US"/>
          </a:p>
          <a:p>
            <a:pPr lvl="1"/>
            <a:r>
              <a:rPr lang="en-US">
                <a:hlinkClick r:id="rId6"/>
              </a:rPr>
              <a:t>https://pavpanchekha.com/blog/casio-mathjs.html</a:t>
            </a:r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572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15C66B8-8089-C5EB-43CD-255A811AB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E8B03E-DA23-029F-D0EC-5A771FF6C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8A8F15-253B-A978-568C-B3333316B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124226"/>
            <a:ext cx="10937111" cy="4843242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r>
              <a:rPr lang="en-US" dirty="0"/>
              <a:t>Low Precision  (2025) </a:t>
            </a:r>
            <a:r>
              <a:rPr lang="en-US" dirty="0">
                <a:hlinkClick r:id="rId6"/>
              </a:rPr>
              <a:t>https://www.siam.org/publications/siam-news/articles/mixed-precision-computing-high-accuracy-with-low-precision/</a:t>
            </a:r>
            <a:endParaRPr lang="en-US" dirty="0"/>
          </a:p>
          <a:p>
            <a:endParaRPr lang="en-US" dirty="0"/>
          </a:p>
          <a:p>
            <a:r>
              <a:rPr lang="en-US" dirty="0"/>
              <a:t>Bleeding edge</a:t>
            </a:r>
          </a:p>
          <a:p>
            <a:pPr lvl="1"/>
            <a:r>
              <a:rPr lang="en-US" dirty="0"/>
              <a:t>IEEE Arith Conference: </a:t>
            </a:r>
            <a:r>
              <a:rPr lang="en-US" dirty="0">
                <a:hlinkClick r:id="rId7"/>
              </a:rPr>
              <a:t>https://arith2026.org/archive.html</a:t>
            </a:r>
            <a:endParaRPr lang="en-US" dirty="0"/>
          </a:p>
          <a:p>
            <a:pPr lvl="1"/>
            <a:r>
              <a:rPr lang="en-US" dirty="0" err="1"/>
              <a:t>FPTalks</a:t>
            </a:r>
            <a:r>
              <a:rPr lang="en-US" dirty="0"/>
              <a:t>: </a:t>
            </a:r>
            <a:r>
              <a:rPr lang="en-US" dirty="0">
                <a:hlinkClick r:id="rId8"/>
              </a:rPr>
              <a:t>https://fptalks.org/</a:t>
            </a:r>
            <a:endParaRPr lang="en-US" dirty="0"/>
          </a:p>
          <a:p>
            <a:pPr lvl="1"/>
            <a:r>
              <a:rPr lang="en-US" dirty="0"/>
              <a:t>NGT Workshop: </a:t>
            </a:r>
            <a:r>
              <a:rPr lang="en-US" dirty="0">
                <a:hlinkClick r:id="rId9"/>
              </a:rPr>
              <a:t>https://indico.cern.ch</a:t>
            </a:r>
            <a:r>
              <a:rPr lang="en-US">
                <a:hlinkClick r:id="rId9"/>
              </a:rPr>
              <a:t>/event/1538409/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00018A-1EC4-7D72-580D-2E94DBC5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June 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74150F-E0F1-6A3D-09D0-868001683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1D393-FED8-EB36-E3E4-3F87EAF4D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610" y="1367959"/>
            <a:ext cx="10053577" cy="435133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How many significand bits does have a single precision FP number?</a:t>
            </a:r>
          </a:p>
          <a:p>
            <a:r>
              <a:rPr lang="en-US" dirty="0"/>
              <a:t>How many single precision binary FP numbers exist between 2 and 3?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single precision FP 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</a:t>
            </a:r>
            <a:r>
              <a:rPr lang="en-US" dirty="0" err="1"/>
              <a:t>ffinite</a:t>
            </a:r>
            <a:r>
              <a:rPr lang="en-US" dirty="0"/>
              <a:t>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r>
              <a:rPr lang="en-US" dirty="0"/>
              <a:t>What is faster: a </a:t>
            </a:r>
            <a:r>
              <a:rPr lang="en-US" dirty="0" err="1"/>
              <a:t>fma</a:t>
            </a:r>
            <a:r>
              <a:rPr lang="en-US" dirty="0"/>
              <a:t> instruction or a division?</a:t>
            </a:r>
          </a:p>
          <a:p>
            <a:r>
              <a:rPr lang="en-US" dirty="0"/>
              <a:t>How many </a:t>
            </a:r>
            <a:r>
              <a:rPr lang="en-US" dirty="0" err="1"/>
              <a:t>fma</a:t>
            </a:r>
            <a:r>
              <a:rPr lang="en-US" dirty="0"/>
              <a:t> instructions a modern processor can execute while a similar one is computing a single precision ”exp” functions?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32D96-C23B-F5B8-5008-1F1828EE4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70AA1-7AA0-0CBF-F6AA-7F60BB8D1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A5DC-79AE-EA4D-AC23-859B92B9D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FF54A-1EBC-6155-C4BE-81AB18E9A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6F3478-8596-AF21-564D-0AA351FDB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405C1-4C3E-DC30-4A4B-43ACEFE59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1.2E-7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1.1E-16</a:t>
                      </a:r>
                      <a:endParaRPr lang="en-US" baseline="30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48A0-7198-238D-2C8D-7BA77F556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E8837-DE4C-3170-1654-FB129C3EB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BF5A9-0832-ED92-6ADE-96AD9012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97F97-E819-0D00-8197-F99C39037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= r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>
              <a:latin typeface="Lucida Calligraphy" charset="0"/>
            </a:endParaRPr>
          </a:p>
          <a:p>
            <a:pPr eaLnBrk="1" hangingPunct="1"/>
            <a:r>
              <a:rPr lang="en-US" altLang="x-none" sz="1800">
                <a:latin typeface="Lucida Calligraphy" charset="0"/>
              </a:rPr>
              <a:t>Compute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x</a:t>
            </a:r>
            <a:r>
              <a:rPr lang="en-US" altLang="x-none" sz="1800" baseline="30000"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=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latin typeface="Lucida Calligraphy" charset="0"/>
              </a:rPr>
              <a:t> 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    ~ 0 (zero)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 baseline="-2500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/>
              <a:t>Alternative formulation equivalent to change of </a:t>
            </a:r>
          </a:p>
          <a:p>
            <a:pPr eaLnBrk="1" hangingPunct="1"/>
            <a:r>
              <a:rPr lang="en-US" altLang="x-none" sz="1800"/>
              <a:t>coordinate centered at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-2ar(x-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>
                <a:latin typeface="Lucida Calligraphy" charset="0"/>
              </a:rPr>
              <a:t>(y-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/>
              <a:t>In our simplified case </a:t>
            </a:r>
            <a:r>
              <a:rPr lang="en-US" altLang="x-none" sz="1800">
                <a:latin typeface="Lucida Calligraphy" charset="0"/>
              </a:rPr>
              <a:t>a=1, b=0,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- 2(x-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 </a:t>
            </a:r>
            <a:r>
              <a:rPr lang="en-US" altLang="x-none" sz="1800" baseline="30000">
                <a:latin typeface="Lucida Calligraphy" charset="0"/>
              </a:rPr>
              <a:t> </a:t>
            </a:r>
            <a:r>
              <a:rPr lang="en-US" altLang="x-none" sz="1800">
                <a:latin typeface="Lucida Calligraphy" charset="0"/>
              </a:rPr>
              <a:t>= 0</a:t>
            </a:r>
            <a:endParaRPr lang="en-US" altLang="x-none" sz="1800" baseline="300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   </a:t>
            </a:r>
            <a:r>
              <a:rPr lang="en-US" altLang="x-none" sz="1800">
                <a:latin typeface="Lucida Calligraphy" charset="0"/>
              </a:rPr>
              <a:t>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latin typeface="Lucida Calligraphy" charset="0"/>
              </a:rPr>
              <a:t>              </a:t>
            </a:r>
            <a:r>
              <a:rPr lang="en-US" altLang="x-none" sz="1800">
                <a:latin typeface="+mn-lt"/>
              </a:rPr>
              <a:t>(naïve: cancellation!!)</a:t>
            </a:r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x =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(r </a:t>
            </a:r>
            <a:r>
              <a:rPr lang="en-US" altLang="x-none" sz="180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>
                <a:latin typeface="Lucida Calligraphy" charset="0"/>
              </a:rPr>
              <a:t>r</a:t>
            </a:r>
            <a:r>
              <a:rPr lang="en-US" altLang="x-none" sz="1800" baseline="30000">
                <a:latin typeface="Lucida Calligraphy" charset="0"/>
              </a:rPr>
              <a:t>2 –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</a:t>
            </a:r>
            <a:r>
              <a:rPr lang="en-US" altLang="x-none" sz="1800" baseline="30000">
                <a:latin typeface="Lucida Calligraphy" charset="0"/>
              </a:rPr>
              <a:t>1/2</a:t>
            </a:r>
            <a:r>
              <a:rPr lang="en-US" altLang="x-none" sz="1800">
                <a:latin typeface="Lucida Calligraphy" charset="0"/>
              </a:rPr>
              <a:t> )   ~ </a:t>
            </a:r>
            <a:r>
              <a:rPr lang="en-US" altLang="x-none" sz="180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+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</a:t>
            </a:r>
            <a:r>
              <a:rPr lang="en-US" altLang="x-none" sz="1800">
                <a:latin typeface="Lucida Calligraphy" charset="0"/>
              </a:rPr>
              <a:t>/ 2r   </a:t>
            </a:r>
            <a:r>
              <a:rPr lang="en-US" altLang="x-none" sz="1800"/>
              <a:t>(optimal)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44062F-5D33-7AB7-ECCB-830A3D61E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63433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Ultimate single hit 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  <a:p>
            <a:endParaRPr lang="en-US" dirty="0"/>
          </a:p>
          <a:p>
            <a:r>
              <a:rPr lang="en-US" dirty="0"/>
              <a:t>In both cases 19 bits (absolute: </a:t>
            </a:r>
            <a:r>
              <a:rPr lang="en-US" dirty="0" err="1"/>
              <a:t>ie</a:t>
            </a:r>
            <a:r>
              <a:rPr lang="en-US" dirty="0"/>
              <a:t> integer) are enough as precision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163F2B-7D66-A934-3E4A-5ADDB8CDD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DCA85-5ED4-D5FD-D1ED-CBC1E4512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024-9344-3CA3-1226-88E0E9397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Ultimate 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/>
              <a:t>1Gev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>
                <a:solidFill>
                  <a:srgbClr val="FF0000"/>
                </a:solidFill>
              </a:rPr>
              <a:t>100GeV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EE2636-66F2-D591-32EF-397031DA2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7F6D5-C5FB-D65A-77C5-8DA203E7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38D14C-8396-966D-10C8-7FC332606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11AE08-7C68-EFCB-2A3A-22C5ED3CCDAE}"/>
              </a:ext>
            </a:extLst>
          </p:cNvPr>
          <p:cNvSpPr txBox="1"/>
          <p:nvPr/>
        </p:nvSpPr>
        <p:spPr>
          <a:xfrm>
            <a:off x="650449" y="5288437"/>
            <a:ext cx="11456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 bits (relative)                                                      18 bits absolute                                       14 bits absolute  (inside beam pipe)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CMS Electromagnetic </a:t>
            </a:r>
            <a:r>
              <a:rPr lang="en-US" err="1"/>
              <a:t>Calorimiter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13C20A6-40D4-78BA-8CF8-50E6F890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2CFA264-2651-05E2-3C8D-759B9CBAE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Vincenzo Innocente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702BE9F-55AD-ADE3-D473-764DF3FC1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71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7AC14-9179-9B9B-3036-049C5497D8C1}"/>
              </a:ext>
            </a:extLst>
          </p:cNvPr>
          <p:cNvSpPr txBox="1"/>
          <p:nvPr/>
        </p:nvSpPr>
        <p:spPr>
          <a:xfrm>
            <a:off x="1593130" y="5307291"/>
            <a:ext cx="1450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bits relative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0E2A77-C2C7-4A9A-218F-CCE193FB535E}"/>
              </a:ext>
            </a:extLst>
          </p:cNvPr>
          <p:cNvSpPr txBox="1"/>
          <p:nvPr/>
        </p:nvSpPr>
        <p:spPr>
          <a:xfrm>
            <a:off x="6202837" y="5203596"/>
            <a:ext cx="1673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 bits absolute</a:t>
            </a:r>
          </a:p>
        </p:txBody>
      </p:sp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72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inline float pt2(float x, float y) {return x*</a:t>
            </a:r>
            <a:r>
              <a:rPr lang="en-US" altLang="x-none" sz="1800" err="1"/>
              <a:t>x+y</a:t>
            </a:r>
            <a:r>
              <a:rPr lang="en-US" altLang="x-none" sz="1800"/>
              <a:t>*y;}</a:t>
            </a:r>
          </a:p>
          <a:p>
            <a:pPr eaLnBrk="1" hangingPunct="1"/>
            <a:r>
              <a:rPr lang="en-US" altLang="x-none" sz="1800"/>
              <a:t>inline float pt(float x, float y) {return std::sqrt(pt2(</a:t>
            </a:r>
            <a:r>
              <a:rPr lang="en-US" altLang="x-none" sz="1800" err="1"/>
              <a:t>x,y</a:t>
            </a:r>
            <a:r>
              <a:rPr lang="en-US" altLang="x-none" sz="1800"/>
              <a:t>));}</a:t>
            </a:r>
          </a:p>
          <a:p>
            <a:pPr eaLnBrk="1" hangingPunct="1"/>
            <a:r>
              <a:rPr lang="en-US" altLang="x-none" sz="1800"/>
              <a:t>inline float phi(float x, float y) {return std::atan2(</a:t>
            </a:r>
            <a:r>
              <a:rPr lang="en-US" altLang="x-none" sz="1800" err="1"/>
              <a:t>y,x</a:t>
            </a:r>
            <a:r>
              <a:rPr lang="en-US" altLang="x-none" sz="1800"/>
              <a:t>);}</a:t>
            </a:r>
          </a:p>
          <a:p>
            <a:pPr eaLnBrk="1" hangingPunct="1"/>
            <a:r>
              <a:rPr lang="en-US" altLang="x-none" sz="1800"/>
              <a:t>inline eta(float x, float y, float z) { float t(z/pt(</a:t>
            </a:r>
            <a:r>
              <a:rPr lang="en-US" altLang="x-none" sz="1800" err="1"/>
              <a:t>x,y</a:t>
            </a:r>
            <a:r>
              <a:rPr lang="en-US" altLang="x-none" sz="1800"/>
              <a:t>)); return ::</a:t>
            </a:r>
            <a:r>
              <a:rPr lang="en-US" altLang="x-none" sz="1800" err="1"/>
              <a:t>asinhf</a:t>
            </a:r>
            <a:r>
              <a:rPr lang="en-US" altLang="x-none" sz="1800"/>
              <a:t>(t);} </a:t>
            </a:r>
          </a:p>
          <a:p>
            <a:pPr eaLnBrk="1" hangingPunct="1"/>
            <a:r>
              <a:rPr lang="en-US" altLang="x-none" sz="180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/>
              <a:t>Inline float </a:t>
            </a:r>
            <a:r>
              <a:rPr lang="en-US" altLang="x-none" sz="1800" err="1"/>
              <a:t>dphi</a:t>
            </a:r>
            <a:r>
              <a:rPr lang="en-US" altLang="x-none" sz="1800"/>
              <a:t>(float p1,float p2) {</a:t>
            </a:r>
          </a:p>
          <a:p>
            <a:pPr eaLnBrk="1" hangingPunct="1"/>
            <a:r>
              <a:rPr lang="en-US" altLang="x-none" sz="1800"/>
              <a:t>    auto </a:t>
            </a:r>
            <a:r>
              <a:rPr lang="en-US" altLang="x-none" sz="1800" err="1"/>
              <a:t>dp</a:t>
            </a:r>
            <a:r>
              <a:rPr lang="en-US" altLang="x-none" sz="1800"/>
              <a:t>=std::abs(p1-p2); if (</a:t>
            </a:r>
            <a:r>
              <a:rPr lang="en-US" altLang="x-none" sz="1800" err="1"/>
              <a:t>dp</a:t>
            </a:r>
            <a:r>
              <a:rPr lang="en-US" altLang="x-none" sz="1800"/>
              <a:t>&gt;float(M_PI)) </a:t>
            </a:r>
            <a:r>
              <a:rPr lang="en-US" altLang="x-none" sz="1800" err="1"/>
              <a:t>dp</a:t>
            </a:r>
            <a:r>
              <a:rPr lang="en-US" altLang="x-none" sz="1800"/>
              <a:t>-=float(2*M_PI);</a:t>
            </a:r>
          </a:p>
          <a:p>
            <a:pPr eaLnBrk="1" hangingPunct="1"/>
            <a:r>
              <a:rPr lang="en-US" altLang="x-none" sz="1800"/>
              <a:t>    return std::abs(</a:t>
            </a:r>
            <a:r>
              <a:rPr lang="en-US" altLang="x-none" sz="1800" err="1"/>
              <a:t>dp</a:t>
            </a:r>
            <a:r>
              <a:rPr lang="en-US" altLang="x-none" sz="1800"/>
              <a:t>);</a:t>
            </a:r>
          </a:p>
          <a:p>
            <a:pPr eaLnBrk="1" hangingPunct="1"/>
            <a:r>
              <a:rPr lang="en-US" altLang="x-none" sz="180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DD3490-4496-5DE2-48C7-78644AC3C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91294</TotalTime>
  <Words>7316</Words>
  <Application>Microsoft Macintosh PowerPoint</Application>
  <PresentationFormat>Widescreen</PresentationFormat>
  <Paragraphs>983</Paragraphs>
  <Slides>72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6" baseType="lpstr">
      <vt:lpstr>Arial Unicode MS</vt:lpstr>
      <vt:lpstr>ＭＳ Ｐゴシック</vt:lpstr>
      <vt:lpstr>Aptos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Scientists: Precision, Accuracy, Efficiency </vt:lpstr>
      <vt:lpstr>Definitions</vt:lpstr>
      <vt:lpstr>What is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 https://godbolt.org/z/nq5Po1Gdz</vt:lpstr>
      <vt:lpstr>Does it help for catastrophic cancellation?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PowerPoint Presentation</vt:lpstr>
      <vt:lpstr>TMD in decimal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float vs double: summary</vt:lpstr>
      <vt:lpstr>Elementary functions 1/throughput (in cycles) (origin https://core-math.gitlabpages.inria.fr/)</vt:lpstr>
      <vt:lpstr>Precision vs Speed for elementary functions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PowerPoint Presentation</vt:lpstr>
      <vt:lpstr>Anecdotes</vt:lpstr>
      <vt:lpstr>References</vt:lpstr>
      <vt:lpstr>Self Assessment</vt:lpstr>
      <vt:lpstr>“additional” material</vt:lpstr>
      <vt:lpstr>What precision is good enough?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Ultimate track resolution </vt:lpstr>
      <vt:lpstr>Example: CMS Electromagnetic Calorimiter</vt:lpstr>
      <vt:lpstr>Example: cut in pt, phi, eta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356</cp:revision>
  <dcterms:created xsi:type="dcterms:W3CDTF">2026-04-12T14:58:51Z</dcterms:created>
  <dcterms:modified xsi:type="dcterms:W3CDTF">2026-06-23T09:55:27Z</dcterms:modified>
</cp:coreProperties>
</file>