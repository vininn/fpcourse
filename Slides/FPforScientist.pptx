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56" r:id="rId5"/>
    <p:sldId id="260" r:id="rId6"/>
    <p:sldId id="261" r:id="rId7"/>
    <p:sldId id="461" r:id="rId8"/>
    <p:sldId id="455" r:id="rId9"/>
    <p:sldId id="439" r:id="rId10"/>
    <p:sldId id="394" r:id="rId11"/>
    <p:sldId id="262" r:id="rId12"/>
    <p:sldId id="456" r:id="rId13"/>
    <p:sldId id="457" r:id="rId14"/>
    <p:sldId id="458" r:id="rId15"/>
    <p:sldId id="459" r:id="rId16"/>
    <p:sldId id="460" r:id="rId17"/>
    <p:sldId id="462" r:id="rId18"/>
    <p:sldId id="463" r:id="rId19"/>
    <p:sldId id="464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258"/>
    <p:restoredTop sz="96327"/>
  </p:normalViewPr>
  <p:slideViewPr>
    <p:cSldViewPr snapToGrid="0" snapToObjects="1">
      <p:cViewPr varScale="1">
        <p:scale>
          <a:sx n="104" d="100"/>
          <a:sy n="104" d="100"/>
        </p:scale>
        <p:origin x="232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</a:t>
            </a:r>
            <a:r>
              <a:rPr lang="en-US" sz="3200" dirty="0" err="1">
                <a:latin typeface="Corbel" panose="020B0503020204020204" pitchFamily="34" charset="0"/>
              </a:rPr>
              <a:t>Innocente</a:t>
            </a: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 dirty="0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  (printed in decimal)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  (printed in </a:t>
            </a:r>
            <a:r>
              <a:rPr lang="en-US" dirty="0" err="1"/>
              <a:t>exadecimal</a:t>
            </a:r>
            <a:r>
              <a:rPr lang="en-US" dirty="0"/>
              <a:t>)</a:t>
            </a:r>
            <a:endParaRPr lang="en-US" baseline="30000" dirty="0"/>
          </a:p>
        </p:txBody>
      </p:sp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 dirty="0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 err="1"/>
              <a:t>Le’ts</a:t>
            </a:r>
            <a:r>
              <a:rPr lang="en-US" dirty="0"/>
              <a:t> be the result of a measurement  3.1415 and its accuracy, say, 0.1.</a:t>
            </a:r>
          </a:p>
          <a:p>
            <a:pPr marL="0" indent="0">
              <a:buNone/>
            </a:pPr>
            <a:r>
              <a:rPr lang="en-US" dirty="0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 dirty="0"/>
              <a:t>3.1415 -&gt; 3.1  (3.1515 -&gt; 3.2)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represents all numbers in the interval [30.5ᐧ10</a:t>
            </a:r>
            <a:r>
              <a:rPr lang="en-US" baseline="30000" dirty="0"/>
              <a:t>-1</a:t>
            </a:r>
            <a:r>
              <a:rPr lang="en-US" dirty="0"/>
              <a:t>, 31.5ᐧ10</a:t>
            </a:r>
            <a:r>
              <a:rPr lang="en-US" baseline="30000" dirty="0"/>
              <a:t>-1</a:t>
            </a:r>
            <a:r>
              <a:rPr lang="en-US" dirty="0"/>
              <a:t>]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represents all numbers in the interval [</a:t>
            </a:r>
            <a:r>
              <a:rPr lang="cs-CZ" altLang="x-none" dirty="0"/>
              <a:t>1.921fb5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,1.921fb7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]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dirty="0"/>
                <a:t>1.921fb8</a:t>
              </a:r>
              <a:r>
                <a:rPr lang="en-US" sz="1800" dirty="0" err="1"/>
                <a:t>ᐧ</a:t>
              </a:r>
              <a:r>
                <a:rPr lang="cs-CZ" altLang="x-none" sz="1800" dirty="0"/>
                <a:t>2</a:t>
              </a:r>
              <a:r>
                <a:rPr lang="cs-CZ" altLang="x-none" sz="1800" baseline="30000" dirty="0"/>
                <a:t>+1</a:t>
              </a:r>
              <a:endParaRPr lang="en-US" altLang="x-none" sz="1800" dirty="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dirty="0"/>
                <a:t>1.921fb4</a:t>
              </a:r>
              <a:r>
                <a:rPr lang="en-US" sz="1800" dirty="0" err="1"/>
                <a:t>ᐧ</a:t>
              </a:r>
              <a:r>
                <a:rPr lang="cs-CZ" altLang="x-none" sz="1800" dirty="0"/>
                <a:t>2</a:t>
              </a:r>
              <a:r>
                <a:rPr lang="cs-CZ" altLang="x-none" sz="1800" baseline="30000" dirty="0"/>
                <a:t>+1</a:t>
              </a:r>
              <a:endParaRPr lang="en-US" altLang="x-none" sz="1800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dirty="0"/>
                <a:t>1.921fb5</a:t>
              </a:r>
              <a:r>
                <a:rPr lang="en-US" sz="1800" dirty="0" err="1"/>
                <a:t>ᐧ</a:t>
              </a:r>
              <a:r>
                <a:rPr lang="cs-CZ" altLang="x-none" sz="1800" dirty="0"/>
                <a:t>2</a:t>
              </a:r>
              <a:r>
                <a:rPr lang="cs-CZ" altLang="x-none" sz="1800" baseline="30000" dirty="0"/>
                <a:t>+1</a:t>
              </a:r>
              <a:endParaRPr lang="en-US" altLang="x-none" sz="1800" dirty="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dirty="0"/>
                <a:t>1.921fb7</a:t>
              </a:r>
              <a:r>
                <a:rPr lang="en-US" sz="1800" dirty="0" err="1"/>
                <a:t>ᐧ</a:t>
              </a:r>
              <a:r>
                <a:rPr lang="cs-CZ" altLang="x-none" sz="1800" dirty="0"/>
                <a:t>2</a:t>
              </a:r>
              <a:r>
                <a:rPr lang="cs-CZ" altLang="x-none" sz="1800" baseline="30000" dirty="0"/>
                <a:t>+1</a:t>
              </a:r>
              <a:endParaRPr lang="en-US" altLang="x-none" sz="1800" dirty="0"/>
            </a:p>
            <a:p>
              <a:pPr eaLnBrk="1" hangingPunct="1"/>
              <a:endParaRPr lang="en-US" altLang="x-none" sz="1800" dirty="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 dirty="0">
                  <a:solidFill>
                    <a:srgbClr val="0070C0"/>
                  </a:solidFill>
                </a:rPr>
                <a:t>1.921fb6</a:t>
              </a:r>
              <a:r>
                <a:rPr lang="en-US" sz="1800" b="1" dirty="0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 dirty="0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 dirty="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 dirty="0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 dirty="0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 dirty="0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 dirty="0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 dirty="0"/>
              <a:t>FP are well suited to perform arithmetic on a computer</a:t>
            </a:r>
          </a:p>
          <a:p>
            <a:pPr lvl="1"/>
            <a:r>
              <a:rPr lang="en-US" dirty="0"/>
              <a:t>Since 1985 FP representations and operations are standardized in IEEE754  (</a:t>
            </a:r>
            <a:r>
              <a:rPr lang="en-US" dirty="0">
                <a:hlinkClick r:id="rId2"/>
              </a:rPr>
              <a:t>https://en.wikipedia.org/wiki/IEEE_754</a:t>
            </a:r>
            <a:r>
              <a:rPr lang="en-US" dirty="0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 dirty="0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</p:nvPr>
        </p:nvGraphicFramePr>
        <p:xfrm>
          <a:off x="1752600" y="3352800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7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8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 dirty="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3.14159274e+00 0x1.921fb6p+1   01000000010010010000111111011011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1.00000001e-01 0x1.99999ap-4   00111101110011001100110011001101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</a:t>
            </a:r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2.93873588e-39 0x1p-128        00000000001000000000000000000000</a:t>
            </a:r>
            <a:endParaRPr lang="en-US" altLang="x-none" sz="1600" dirty="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 dirty="0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5605" name="TextBox 5"/>
          <p:cNvSpPr txBox="1">
            <a:spLocks noChangeArrowheads="1"/>
          </p:cNvSpPr>
          <p:nvPr/>
        </p:nvSpPr>
        <p:spPr bwMode="auto">
          <a:xfrm>
            <a:off x="1329982" y="1117000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(int));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 dirty="0"/>
              <a:t>Everything you want to know about an arithmetic type is in </a:t>
            </a:r>
          </a:p>
          <a:p>
            <a:pPr lvl="1"/>
            <a:r>
              <a:rPr lang="en-US" altLang="x-none" dirty="0" err="1"/>
              <a:t>std</a:t>
            </a:r>
            <a:r>
              <a:rPr lang="en-US" altLang="x-none" dirty="0"/>
              <a:t>::</a:t>
            </a:r>
            <a:r>
              <a:rPr lang="en-US" altLang="x-none" dirty="0" err="1"/>
              <a:t>numeric_limits</a:t>
            </a:r>
            <a:r>
              <a:rPr lang="en-US" altLang="x-none" dirty="0"/>
              <a:t>&lt;T&gt;  </a:t>
            </a:r>
          </a:p>
          <a:p>
            <a:pPr lvl="1"/>
            <a:r>
              <a:rPr lang="en-US" altLang="x-none" dirty="0"/>
              <a:t>see </a:t>
            </a:r>
            <a:r>
              <a:rPr lang="en-US" altLang="x-none" sz="2000" dirty="0"/>
              <a:t>http://</a:t>
            </a:r>
            <a:r>
              <a:rPr lang="en-US" altLang="x-none" sz="2000" dirty="0" err="1"/>
              <a:t>www.cplusplus.com</a:t>
            </a:r>
            <a:r>
              <a:rPr lang="en-US" altLang="x-none" sz="2000" dirty="0"/>
              <a:t>/reference/limits/</a:t>
            </a:r>
            <a:r>
              <a:rPr lang="en-US" altLang="x-none" sz="2000" dirty="0" err="1"/>
              <a:t>numeric_limits</a:t>
            </a:r>
            <a:r>
              <a:rPr lang="en-US" altLang="x-none" sz="2000" dirty="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 dirty="0"/>
              <a:t>#include &lt;</a:t>
            </a:r>
            <a:r>
              <a:rPr lang="en-US" altLang="x-none" sz="1600" dirty="0" err="1"/>
              <a:t>iostream</a:t>
            </a:r>
            <a:r>
              <a:rPr lang="en-US" altLang="x-none" sz="1600" dirty="0"/>
              <a:t>&gt;     // </a:t>
            </a:r>
            <a:r>
              <a:rPr lang="en-US" altLang="x-none" sz="1600" dirty="0" err="1"/>
              <a:t>std</a:t>
            </a:r>
            <a:r>
              <a:rPr lang="en-US" altLang="x-none" sz="1600" dirty="0"/>
              <a:t>::</a:t>
            </a:r>
            <a:r>
              <a:rPr lang="en-US" altLang="x-none" sz="1600" dirty="0" err="1"/>
              <a:t>cout</a:t>
            </a:r>
            <a:endParaRPr lang="en-US" altLang="x-none" sz="1600" dirty="0"/>
          </a:p>
          <a:p>
            <a:r>
              <a:rPr lang="en-US" altLang="x-none" sz="1600" dirty="0"/>
              <a:t>#include &lt;limits&gt;       // </a:t>
            </a:r>
            <a:r>
              <a:rPr lang="en-US" altLang="x-none" sz="1600" dirty="0" err="1"/>
              <a:t>std</a:t>
            </a:r>
            <a:r>
              <a:rPr lang="en-US" altLang="x-none" sz="1600" dirty="0"/>
              <a:t>::</a:t>
            </a:r>
            <a:r>
              <a:rPr lang="en-US" altLang="x-none" sz="1600" dirty="0" err="1"/>
              <a:t>numeric_limits</a:t>
            </a:r>
            <a:endParaRPr lang="en-US" altLang="x-none" sz="1600" dirty="0"/>
          </a:p>
          <a:p>
            <a:r>
              <a:rPr lang="fr-FR" altLang="x-none" sz="1600" dirty="0" err="1"/>
              <a:t>int</a:t>
            </a:r>
            <a:r>
              <a:rPr lang="fr-FR" altLang="x-none" sz="1600" dirty="0"/>
              <a:t> main () {</a:t>
            </a:r>
          </a:p>
          <a:p>
            <a:r>
              <a:rPr lang="fr-FR" altLang="x-none" sz="1600" dirty="0"/>
              <a:t> 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::cout &lt;&lt;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</a:t>
            </a:r>
            <a:r>
              <a:rPr lang="fr-FR" altLang="x-none" sz="1600" dirty="0" err="1"/>
              <a:t>boolalpha</a:t>
            </a:r>
            <a:r>
              <a:rPr lang="fr-FR" altLang="x-none" sz="1600" dirty="0"/>
              <a:t>;</a:t>
            </a:r>
          </a:p>
          <a:p>
            <a:r>
              <a:rPr lang="fr-FR" altLang="x-none" sz="1600" dirty="0"/>
              <a:t> 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::cout &lt;&lt; "Minimum value: " &lt;&lt;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&gt;::min() &lt;&lt; '\n';</a:t>
            </a:r>
          </a:p>
          <a:p>
            <a:r>
              <a:rPr lang="fr-FR" altLang="x-none" sz="1600" dirty="0"/>
              <a:t> 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::cout &lt;&lt; "Maximum value: " &lt;&lt;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&gt;::max() &lt;&lt; '\n';</a:t>
            </a:r>
          </a:p>
          <a:p>
            <a:r>
              <a:rPr lang="fr-FR" altLang="x-none" sz="1600" dirty="0"/>
              <a:t> 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::cout &lt;&lt; "Is </a:t>
            </a:r>
            <a:r>
              <a:rPr lang="fr-FR" altLang="x-none" sz="1600" dirty="0" err="1"/>
              <a:t>signed</a:t>
            </a:r>
            <a:r>
              <a:rPr lang="fr-FR" altLang="x-none" sz="1600" dirty="0"/>
              <a:t>: " &lt;&lt;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</a:t>
            </a:r>
            <a:r>
              <a:rPr lang="fr-FR" altLang="x-none" sz="1600" dirty="0" err="1"/>
              <a:t>is_signed</a:t>
            </a:r>
            <a:r>
              <a:rPr lang="fr-FR" altLang="x-none" sz="1600" dirty="0"/>
              <a:t> &lt;&lt; '\n';</a:t>
            </a:r>
          </a:p>
          <a:p>
            <a:r>
              <a:rPr lang="fr-FR" altLang="x-none" sz="1600" dirty="0"/>
              <a:t> 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::cout &lt;&lt; "</a:t>
            </a:r>
            <a:r>
              <a:rPr lang="fr-FR" altLang="x-none" sz="1600" dirty="0" err="1"/>
              <a:t>significand</a:t>
            </a:r>
            <a:r>
              <a:rPr lang="fr-FR" altLang="x-none" sz="1600" dirty="0"/>
              <a:t> bits: " &lt;&lt;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&gt;::digits &lt;&lt; '\n';</a:t>
            </a:r>
          </a:p>
          <a:p>
            <a:r>
              <a:rPr lang="fr-FR" altLang="x-none" sz="1600" dirty="0"/>
              <a:t> 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::cout &lt;&lt; "</a:t>
            </a:r>
            <a:r>
              <a:rPr lang="fr-FR" altLang="x-none" sz="1600" dirty="0" err="1"/>
              <a:t>precision</a:t>
            </a:r>
            <a:r>
              <a:rPr lang="fr-FR" altLang="x-none" sz="1600" dirty="0"/>
              <a:t>: " &lt;&lt;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&gt;::epsilon() &lt;&lt; '\n';</a:t>
            </a:r>
          </a:p>
          <a:p>
            <a:r>
              <a:rPr lang="fr-FR" altLang="x-none" sz="1600" dirty="0"/>
              <a:t> 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::cout &lt;&lt; "has </a:t>
            </a:r>
            <a:r>
              <a:rPr lang="fr-FR" altLang="x-none" sz="1600" dirty="0" err="1"/>
              <a:t>infinity</a:t>
            </a:r>
            <a:r>
              <a:rPr lang="fr-FR" altLang="x-none" sz="1600" dirty="0"/>
              <a:t>: " &lt;&lt;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</a:t>
            </a:r>
            <a:r>
              <a:rPr lang="fr-FR" altLang="x-none" sz="1600" dirty="0" err="1"/>
              <a:t>has_infinity</a:t>
            </a:r>
            <a:r>
              <a:rPr lang="fr-FR" altLang="x-none" sz="1600" dirty="0"/>
              <a:t> &lt;&lt; '\n';</a:t>
            </a:r>
          </a:p>
          <a:p>
            <a:r>
              <a:rPr lang="is-IS" altLang="x-none" sz="1600" dirty="0"/>
              <a:t>  return 0;</a:t>
            </a:r>
          </a:p>
          <a:p>
            <a:r>
              <a:rPr lang="is-IS" altLang="x-none" sz="1600" dirty="0"/>
              <a:t>}</a:t>
            </a:r>
            <a:endParaRPr lang="es-ES_tradnl" altLang="x-none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Fixed width floating-point types (since C++23)</a:t>
            </a:r>
            <a:br>
              <a:rPr lang="en-US" dirty="0"/>
            </a:br>
            <a:r>
              <a:rPr lang="en-US" sz="2800" dirty="0">
                <a:hlinkClick r:id="rId2"/>
              </a:rPr>
              <a:t>https://en.cppreference.com/w/cpp/types/floating-point.html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intrinsic “float” is actually double precision</a:t>
            </a:r>
          </a:p>
          <a:p>
            <a:pPr lvl="1"/>
            <a:r>
              <a:rPr lang="en-US" dirty="0" err="1"/>
              <a:t>float.hex</a:t>
            </a:r>
            <a:r>
              <a:rPr lang="en-US" dirty="0"/>
              <a:t>() and </a:t>
            </a:r>
            <a:r>
              <a:rPr lang="en-US" dirty="0" err="1"/>
              <a:t>float.fromhex</a:t>
            </a:r>
            <a:r>
              <a:rPr lang="en-US" dirty="0"/>
              <a:t>() allows to convert to/from </a:t>
            </a:r>
            <a:r>
              <a:rPr lang="en-US" dirty="0" err="1"/>
              <a:t>exadecimal</a:t>
            </a:r>
            <a:r>
              <a:rPr lang="en-US" dirty="0"/>
              <a:t> string</a:t>
            </a:r>
          </a:p>
          <a:p>
            <a:r>
              <a:rPr lang="en-US" b="1" dirty="0" err="1"/>
              <a:t>numpy</a:t>
            </a:r>
            <a:r>
              <a:rPr lang="en-US" dirty="0"/>
              <a:t> defines float16, float32, float64 (and float128 on x86_64)</a:t>
            </a:r>
          </a:p>
          <a:p>
            <a:pPr lvl="1"/>
            <a:r>
              <a:rPr lang="en-US" dirty="0">
                <a:hlinkClick r:id="rId2"/>
              </a:rPr>
              <a:t>https://numpy.org/doc/2.3/reference/arrays.scalars.html - floating-point-types</a:t>
            </a:r>
            <a:endParaRPr lang="en-US" dirty="0"/>
          </a:p>
          <a:p>
            <a:r>
              <a:rPr lang="en-US" b="1" dirty="0"/>
              <a:t>decimal</a:t>
            </a:r>
            <a:r>
              <a:rPr lang="en-US" dirty="0"/>
              <a:t> is a module providing FP in base 10</a:t>
            </a:r>
          </a:p>
          <a:p>
            <a:pPr lvl="1"/>
            <a:r>
              <a:rPr lang="en-US" dirty="0">
                <a:hlinkClick r:id="rId3"/>
              </a:rPr>
              <a:t>https://docs.python.org/3/library/decimal.html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 dirty="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Either in Python or C++</a:t>
            </a:r>
          </a:p>
          <a:p>
            <a:endParaRPr lang="en-US" dirty="0"/>
          </a:p>
          <a:p>
            <a:r>
              <a:rPr lang="en-US" dirty="0"/>
              <a:t>For C++ one can use </a:t>
            </a:r>
            <a:r>
              <a:rPr lang="en-US" dirty="0" err="1"/>
              <a:t>godbolt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https://godbolt.org/z/d1e18j3jK</a:t>
            </a:r>
            <a:r>
              <a:rPr lang="en-US" dirty="0"/>
              <a:t>  ) </a:t>
            </a:r>
          </a:p>
          <a:p>
            <a:r>
              <a:rPr lang="en-US" dirty="0"/>
              <a:t>For Python either a python3 shell on your PC, or a </a:t>
            </a:r>
            <a:r>
              <a:rPr lang="en-US" dirty="0" err="1"/>
              <a:t>jupyter</a:t>
            </a:r>
            <a:r>
              <a:rPr lang="en-US" dirty="0"/>
              <a:t> notebook or the browser shell in </a:t>
            </a:r>
            <a:r>
              <a:rPr lang="en-US" dirty="0">
                <a:hlinkClick r:id="rId3"/>
              </a:rPr>
              <a:t>https://numpy.org/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the number of FP in a </a:t>
            </a:r>
            <a:r>
              <a:rPr lang="en-US" dirty="0" err="1"/>
              <a:t>binade</a:t>
            </a:r>
            <a:endParaRPr lang="en-US" dirty="0"/>
          </a:p>
          <a:p>
            <a:pPr lvl="1"/>
            <a:r>
              <a:rPr lang="en-US" dirty="0"/>
              <a:t>Verify that they are the same for two different </a:t>
            </a:r>
            <a:r>
              <a:rPr lang="en-US" dirty="0" err="1"/>
              <a:t>binades</a:t>
            </a:r>
            <a:endParaRPr lang="en-US" dirty="0"/>
          </a:p>
          <a:p>
            <a:r>
              <a:rPr lang="en-US" dirty="0"/>
              <a:t>Compute the ULP for some FPs</a:t>
            </a:r>
          </a:p>
          <a:p>
            <a:pPr lvl="1"/>
            <a:r>
              <a:rPr lang="en-US" dirty="0"/>
              <a:t>How it depends on the </a:t>
            </a:r>
            <a:r>
              <a:rPr lang="en-US" dirty="0" err="1"/>
              <a:t>binade</a:t>
            </a:r>
            <a:r>
              <a:rPr lang="en-US" dirty="0"/>
              <a:t>?</a:t>
            </a:r>
          </a:p>
          <a:p>
            <a:r>
              <a:rPr lang="en-US" dirty="0"/>
              <a:t>Convert some number (0.1, pi, 31.5,  …) between various representations (including decimal)</a:t>
            </a:r>
          </a:p>
          <a:p>
            <a:pPr lvl="1"/>
            <a:r>
              <a:rPr lang="en-US" dirty="0"/>
              <a:t>See what happens and explain it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849" y="1467279"/>
            <a:ext cx="11232292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There are two basic operations: </a:t>
            </a:r>
          </a:p>
          <a:p>
            <a:r>
              <a:rPr lang="en-US" dirty="0"/>
              <a:t>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difference of two number of the same </a:t>
            </a:r>
            <a:r>
              <a:rPr lang="en-US" dirty="0" err="1"/>
              <a:t>binade</a:t>
            </a:r>
            <a:r>
              <a:rPr lang="en-US" dirty="0"/>
              <a:t> is precise</a:t>
            </a:r>
          </a:p>
          <a:p>
            <a:pPr lvl="1"/>
            <a:r>
              <a:rPr lang="en-US" dirty="0"/>
              <a:t>99-11 = 88, 42-37 = 5</a:t>
            </a:r>
          </a:p>
          <a:p>
            <a:pPr lvl="1"/>
            <a:r>
              <a:rPr lang="en-US" dirty="0"/>
              <a:t>0x1.921fb6p+1 - 0x1.001e72p+1 = 0x1.240288p+0</a:t>
            </a:r>
          </a:p>
          <a:p>
            <a:endParaRPr lang="en-US" dirty="0"/>
          </a:p>
          <a:p>
            <a:r>
              <a:rPr lang="en-US" dirty="0"/>
              <a:t>If 2b&gt;a&gt;b/2&gt;0 then </a:t>
            </a:r>
            <a:r>
              <a:rPr lang="en-US" dirty="0" err="1"/>
              <a:t>a⊖b</a:t>
            </a:r>
            <a:r>
              <a:rPr lang="en-US" dirty="0"/>
              <a:t> = a-b (is precise)</a:t>
            </a:r>
            <a:br>
              <a:rPr lang="en-US" dirty="0"/>
            </a:br>
            <a:r>
              <a:rPr lang="en-US" dirty="0"/>
              <a:t>(</a:t>
            </a:r>
            <a:r>
              <a:rPr lang="en-US" dirty="0">
                <a:hlinkClick r:id="rId2"/>
              </a:rPr>
              <a:t>https://en.wikipedia.org/wiki/Sterbenz_lemma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12-7.4 = 4.6, 18-7.4= 10.6 =&gt; 18⊖7.4 = 11</a:t>
            </a:r>
          </a:p>
          <a:p>
            <a:pPr lvl="1"/>
            <a:r>
              <a:rPr lang="en-US" dirty="0"/>
              <a:t>0x1.333334p-2 ⊖ 0x1.99999ap-3 = 0x1.99999ap-4 (precise)</a:t>
            </a:r>
          </a:p>
          <a:p>
            <a:pPr lvl="1"/>
            <a:r>
              <a:rPr lang="en-US" dirty="0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If a&gt;b&gt;0 : </a:t>
            </a:r>
            <a:r>
              <a:rPr lang="en-US" dirty="0" err="1"/>
              <a:t>a+b</a:t>
            </a:r>
            <a:r>
              <a:rPr lang="en-US" dirty="0"/>
              <a:t> &lt; 2a</a:t>
            </a:r>
          </a:p>
          <a:p>
            <a:endParaRPr lang="en-US" dirty="0"/>
          </a:p>
          <a:p>
            <a:r>
              <a:rPr lang="en-US" dirty="0"/>
              <a:t>c = </a:t>
            </a:r>
            <a:r>
              <a:rPr lang="en-US" dirty="0" err="1"/>
              <a:t>a⊕b</a:t>
            </a:r>
            <a:endParaRPr lang="en-US" dirty="0"/>
          </a:p>
          <a:p>
            <a:r>
              <a:rPr lang="en-US" dirty="0"/>
              <a:t>t = </a:t>
            </a:r>
            <a:r>
              <a:rPr lang="en-US" dirty="0" err="1"/>
              <a:t>c⊖a</a:t>
            </a:r>
            <a:r>
              <a:rPr lang="en-US" dirty="0"/>
              <a:t>  is exact</a:t>
            </a:r>
          </a:p>
          <a:p>
            <a:r>
              <a:rPr lang="en-US" dirty="0"/>
              <a:t>e = </a:t>
            </a:r>
            <a:r>
              <a:rPr lang="en-US" dirty="0" err="1"/>
              <a:t>b⊖t</a:t>
            </a:r>
            <a:r>
              <a:rPr lang="en-US" dirty="0"/>
              <a:t>  is exact</a:t>
            </a:r>
          </a:p>
          <a:p>
            <a:r>
              <a:rPr lang="en-US" dirty="0" err="1"/>
              <a:t>a+b</a:t>
            </a:r>
            <a:r>
              <a:rPr lang="en-US" dirty="0"/>
              <a:t> = </a:t>
            </a:r>
            <a:r>
              <a:rPr lang="en-US" dirty="0" err="1"/>
              <a:t>c+e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e is the error of </a:t>
            </a:r>
            <a:r>
              <a:rPr lang="en-US" dirty="0" err="1"/>
              <a:t>a⊕b</a:t>
            </a:r>
            <a:endParaRPr lang="en-US" dirty="0"/>
          </a:p>
          <a:p>
            <a:endParaRPr lang="en-US" dirty="0"/>
          </a:p>
          <a:p>
            <a:r>
              <a:rPr lang="en-US" dirty="0"/>
              <a:t>This algorithm is known as “</a:t>
            </a:r>
            <a:r>
              <a:rPr lang="en-US" dirty="0" err="1"/>
              <a:t>fastTwoSum</a:t>
            </a:r>
            <a:r>
              <a:rPr lang="en-US" dirty="0"/>
              <a:t>” and proposed as </a:t>
            </a:r>
            <a:r>
              <a:rPr lang="en-US" dirty="0" err="1"/>
              <a:t>AugmentedSum</a:t>
            </a:r>
            <a:r>
              <a:rPr lang="en-US" dirty="0"/>
              <a:t> in next IEEE754 revision </a:t>
            </a:r>
          </a:p>
          <a:p>
            <a:r>
              <a:rPr lang="en-US" dirty="0"/>
              <a:t>A similar algorithm exists for multiplication as well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42⊕3.7 = 46</a:t>
            </a:r>
          </a:p>
          <a:p>
            <a:r>
              <a:rPr lang="en-US" dirty="0"/>
              <a:t>46⊖42 = 4</a:t>
            </a:r>
          </a:p>
          <a:p>
            <a:r>
              <a:rPr lang="en-US" dirty="0"/>
              <a:t>3.7⊖4 = -0.3</a:t>
            </a:r>
          </a:p>
          <a:p>
            <a:r>
              <a:rPr lang="en-US" dirty="0"/>
              <a:t>46-0.3 = 42+3.7</a:t>
            </a:r>
          </a:p>
          <a:p>
            <a:r>
              <a:rPr lang="en-US" dirty="0"/>
              <a:t>In short: </a:t>
            </a:r>
            <a:r>
              <a:rPr lang="en-US" dirty="0" err="1"/>
              <a:t>asum</a:t>
            </a:r>
            <a:r>
              <a:rPr lang="en-US" dirty="0"/>
              <a:t>(42,3.7) = 46,-0.3</a:t>
            </a:r>
          </a:p>
          <a:p>
            <a:endParaRPr lang="en-US" dirty="0"/>
          </a:p>
          <a:p>
            <a:r>
              <a:rPr lang="en-US" dirty="0"/>
              <a:t>42⊕3.3⊕3.4 = 48 while 42+3.3+3.4 = 48.7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,3.4) = 48,0.4</a:t>
            </a:r>
          </a:p>
          <a:p>
            <a:r>
              <a:rPr lang="en-US" dirty="0" err="1"/>
              <a:t>asum</a:t>
            </a:r>
            <a:r>
              <a:rPr lang="en-US" dirty="0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4236</TotalTime>
  <Words>1545</Words>
  <Application>Microsoft Macintosh PowerPoint</Application>
  <PresentationFormat>Widescreen</PresentationFormat>
  <Paragraphs>196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ＭＳ Ｐゴシック</vt:lpstr>
      <vt:lpstr>Arial</vt:lpstr>
      <vt:lpstr>Calibri</vt:lpstr>
      <vt:lpstr>Calibri Light</vt:lpstr>
      <vt:lpstr>Corbel</vt:lpstr>
      <vt:lpstr>Garamond</vt:lpstr>
      <vt:lpstr>Lucida Console</vt:lpstr>
      <vt:lpstr>Office Theme</vt:lpstr>
      <vt:lpstr>FloatingPoint Arithmetic for Scientist: Precision, Accuracy, Efficiency </vt:lpstr>
      <vt:lpstr>What’s a Floating Point? https://en.wikipedia.org/wiki/Floating-point_arithmetic</vt:lpstr>
      <vt:lpstr>Some Trivial properties of FP</vt:lpstr>
      <vt:lpstr>Precision and Rounding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FP Arithmetic</vt:lpstr>
      <vt:lpstr>A first theorem</vt:lpstr>
      <vt:lpstr>Augmented Arithmetic</vt:lpstr>
      <vt:lpstr>Example of augmented sum</vt:lpstr>
      <vt:lpstr>Catastrophic cancellation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67</cp:revision>
  <dcterms:created xsi:type="dcterms:W3CDTF">2026-04-12T14:58:51Z</dcterms:created>
  <dcterms:modified xsi:type="dcterms:W3CDTF">2026-04-15T14:43:25Z</dcterms:modified>
</cp:coreProperties>
</file>