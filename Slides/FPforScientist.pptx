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372" r:id="rId6"/>
    <p:sldId id="260" r:id="rId7"/>
    <p:sldId id="261" r:id="rId8"/>
    <p:sldId id="461" r:id="rId9"/>
    <p:sldId id="455" r:id="rId10"/>
    <p:sldId id="439" r:id="rId11"/>
    <p:sldId id="394" r:id="rId12"/>
    <p:sldId id="262" r:id="rId13"/>
    <p:sldId id="456" r:id="rId14"/>
    <p:sldId id="457" r:id="rId15"/>
    <p:sldId id="458" r:id="rId16"/>
    <p:sldId id="459" r:id="rId17"/>
    <p:sldId id="441" r:id="rId18"/>
    <p:sldId id="460" r:id="rId19"/>
    <p:sldId id="462" r:id="rId20"/>
    <p:sldId id="463" r:id="rId21"/>
    <p:sldId id="464" r:id="rId22"/>
    <p:sldId id="465" r:id="rId23"/>
    <p:sldId id="468" r:id="rId24"/>
    <p:sldId id="466" r:id="rId25"/>
    <p:sldId id="467" r:id="rId26"/>
    <p:sldId id="469" r:id="rId27"/>
    <p:sldId id="482" r:id="rId28"/>
    <p:sldId id="276" r:id="rId29"/>
    <p:sldId id="470" r:id="rId30"/>
    <p:sldId id="480" r:id="rId31"/>
    <p:sldId id="471" r:id="rId32"/>
    <p:sldId id="474" r:id="rId33"/>
    <p:sldId id="473" r:id="rId34"/>
    <p:sldId id="475" r:id="rId35"/>
    <p:sldId id="472" r:id="rId36"/>
    <p:sldId id="476" r:id="rId37"/>
    <p:sldId id="477" r:id="rId38"/>
    <p:sldId id="478" r:id="rId39"/>
    <p:sldId id="479" r:id="rId40"/>
    <p:sldId id="381" r:id="rId41"/>
    <p:sldId id="396" r:id="rId42"/>
    <p:sldId id="341" r:id="rId43"/>
    <p:sldId id="413" r:id="rId44"/>
    <p:sldId id="481" r:id="rId45"/>
    <p:sldId id="444" r:id="rId46"/>
    <p:sldId id="397" r:id="rId47"/>
    <p:sldId id="265" r:id="rId48"/>
    <p:sldId id="365" r:id="rId49"/>
    <p:sldId id="393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09"/>
    <p:restoredTop sz="96327"/>
  </p:normalViewPr>
  <p:slideViewPr>
    <p:cSldViewPr snapToGrid="0" snapToObjects="1">
      <p:cViewPr>
        <p:scale>
          <a:sx n="120" d="100"/>
          <a:sy n="120" d="100"/>
        </p:scale>
        <p:origin x="14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9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7071" y="68481"/>
            <a:ext cx="3376067" cy="3037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4"/>
            <a:ext cx="8229600" cy="1139825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1774825" y="908051"/>
            <a:ext cx="8713788" cy="5184775"/>
          </a:xfrm>
        </p:spPr>
        <p:txBody>
          <a:bodyPr/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endParaRPr lang="en-US" altLang="x-none" sz="2000" dirty="0"/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5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752600" y="3352800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they are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There are two basic operations: </a:t>
            </a:r>
          </a:p>
          <a:p>
            <a:r>
              <a:rPr lang="en-US" dirty="0"/>
              <a:t>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17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differently handling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F68500B-495C-0FA3-7CB7-25F805161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30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1189"/>
          </a:xfrm>
        </p:spPr>
        <p:txBody>
          <a:bodyPr/>
          <a:lstStyle/>
          <a:p>
            <a:r>
              <a:rPr lang="en-US" dirty="0"/>
              <a:t>Evaluating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873" y="1105615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r>
              <a:rPr lang="en-US" dirty="0"/>
              <a:t> ,</a:t>
            </a:r>
            <a:r>
              <a:rPr lang="en-US" dirty="0" err="1"/>
              <a:t>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</a:t>
            </a:r>
            <a:r>
              <a:rPr lang="en-US"/>
              <a:t>two polynomials)</a:t>
            </a:r>
            <a:endParaRPr lang="en-US" dirty="0"/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</a:t>
            </a:r>
            <a:r>
              <a:rPr lang="en-US" dirty="0" err="1"/>
              <a:t>polynomomials</a:t>
            </a:r>
            <a:r>
              <a:rPr lang="en-US" dirty="0"/>
              <a:t>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 using “augmented arithmetic”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40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41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42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167563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5" y="2598327"/>
            <a:ext cx="207835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overhead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April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43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in </a:t>
            </a:r>
            <a:r>
              <a:rPr lang="en-US" altLang="en-US"/>
              <a:t>“</a:t>
            </a:r>
            <a:r>
              <a:rPr lang="en-US" altLang="ja-JP"/>
              <a:t>libm</a:t>
            </a:r>
            <a:r>
              <a:rPr lang="en-US" altLang="en-US"/>
              <a:t>”</a:t>
            </a:r>
            <a:endParaRPr lang="en-US" altLang="x-none"/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063" y="3429001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46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277814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>
                <a:ea typeface="ＭＳ Ｐゴシック" panose="020B0600070205080204" pitchFamily="34" charset="-128"/>
              </a:rPr>
            </a:br>
            <a:r>
              <a:rPr lang="en-US" altLang="en-US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48</a:t>
            </a:fld>
            <a:endParaRPr lang="en-US" altLang="en-US" sz="120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1676401"/>
            <a:ext cx="8153400" cy="2092325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double p = mom.mag();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normalisedPath = fabs(p/mom.z())*radLen;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z = exp(-normalisedPath);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varz = (exp(-normalisedPath*log(3.)/log(2.))- exp(-2*normalisedPath));</a:t>
            </a: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pt = mom.perp();</a:t>
            </a:r>
            <a:r>
              <a:rPr lang="en-US" altLang="en-US" sz="1600">
                <a:solidFill>
                  <a:srgbClr val="000000"/>
                </a:solidFill>
              </a:rPr>
              <a:t> 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j = a_i*(d_x * mom.x() + d_y * mom.y())/(pt*pt);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r_x = d_x - 2* mom.x()*(d_x*mom.x()+d_y*mom.y())/(pt*pt);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r_y = d_y - 2* mom.y()*(d_x*mom.x()+d_y*mom.y())/(pt*pt);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s = 1/(pt*pt*sqrt(1 - j*j));</a:t>
            </a:r>
            <a:endParaRPr lang="en-US" altLang="en-US" sz="1600">
              <a:solidFill>
                <a:srgbClr val="000000"/>
              </a:solidFill>
            </a:endParaRP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9" name="TextBox 1">
            <a:extLst>
              <a:ext uri="{FF2B5EF4-FFF2-40B4-BE49-F238E27FC236}">
                <a16:creationId xmlns:a16="http://schemas.microsoft.com/office/drawing/2014/main" id="{B3718853-E251-143A-73D6-4FD78F34C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9651" y="5805488"/>
            <a:ext cx="7827963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Exercise: edit </a:t>
            </a:r>
            <a:r>
              <a:rPr lang="en-US" altLang="en-US" sz="1800" dirty="0" err="1"/>
              <a:t>OptimizeIt.cc</a:t>
            </a:r>
            <a:r>
              <a:rPr lang="en-US" altLang="en-US" sz="1800" dirty="0"/>
              <a:t> to make it “optimal”</a:t>
            </a:r>
          </a:p>
          <a:p>
            <a:pPr eaLnBrk="1" hangingPunct="1"/>
            <a:r>
              <a:rPr lang="en-US" altLang="en-US" sz="1800" dirty="0"/>
              <a:t>check the generated assembly, modify </a:t>
            </a:r>
            <a:r>
              <a:rPr lang="en-US" altLang="en-US" sz="1800" dirty="0" err="1"/>
              <a:t>Benchmark.cpp</a:t>
            </a:r>
            <a:r>
              <a:rPr lang="en-US" altLang="en-US" sz="1800" dirty="0"/>
              <a:t> to verify speed gain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49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797051" y="1196975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inline float pt2(float x, float y) {return x*x+y*y;}</a:t>
            </a:r>
          </a:p>
          <a:p>
            <a:pPr eaLnBrk="1" hangingPunct="1"/>
            <a:r>
              <a:rPr lang="en-US" altLang="x-none" sz="1800"/>
              <a:t>inline float pt(float x, float y) {return std::sqrt(pt2(x,y));}</a:t>
            </a:r>
          </a:p>
          <a:p>
            <a:pPr eaLnBrk="1" hangingPunct="1"/>
            <a:r>
              <a:rPr lang="en-US" altLang="x-none" sz="1800"/>
              <a:t>inline float phi(float x, float y) {return std::atan2(y,x);}</a:t>
            </a:r>
          </a:p>
          <a:p>
            <a:pPr eaLnBrk="1" hangingPunct="1"/>
            <a:r>
              <a:rPr lang="en-US" altLang="x-none" sz="1800"/>
              <a:t>inline eta(float x, float y, float z) { float t(z/pt(x,y)); return ::asinhf(t);} </a:t>
            </a:r>
          </a:p>
          <a:p>
            <a:pPr eaLnBrk="1" hangingPunct="1"/>
            <a:r>
              <a:rPr lang="en-US" altLang="x-none" sz="180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/>
              <a:t>Inline float dphi(float p1,float p2) {</a:t>
            </a:r>
          </a:p>
          <a:p>
            <a:pPr eaLnBrk="1" hangingPunct="1"/>
            <a:r>
              <a:rPr lang="en-US" altLang="x-none" sz="1800"/>
              <a:t>    auto dp=std::abs(p1-p2); if (dp&gt;float(M_PI)) dp-=float(2*M_PI);</a:t>
            </a:r>
          </a:p>
          <a:p>
            <a:pPr eaLnBrk="1" hangingPunct="1"/>
            <a:r>
              <a:rPr lang="en-US" altLang="x-none" sz="1800"/>
              <a:t>    return std::abs(dp);</a:t>
            </a:r>
          </a:p>
          <a:p>
            <a:pPr eaLnBrk="1" hangingPunct="1"/>
            <a:r>
              <a:rPr lang="en-US" altLang="x-none" sz="180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992314" y="3933826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17313</TotalTime>
  <Words>5247</Words>
  <Application>Microsoft Macintosh PowerPoint</Application>
  <PresentationFormat>Widescreen</PresentationFormat>
  <Paragraphs>582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60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Garamond</vt:lpstr>
      <vt:lpstr>Lucida Console</vt:lpstr>
      <vt:lpstr>Wingdings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Library functions</vt:lpstr>
      <vt:lpstr>Evaluating a function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Elementary functions throughput (in cycles) (origin https://core-math.gitlabpages.inria.fr/)</vt:lpstr>
      <vt:lpstr>Precision vs Speed in “libm”</vt:lpstr>
      <vt:lpstr>Example: multiple scattering formula</vt:lpstr>
      <vt:lpstr>Cash-Karp Runge-Kutta Step</vt:lpstr>
      <vt:lpstr>Formula Translation:  what was the author’s intention?</vt:lpstr>
      <vt:lpstr>Example: cut in pt, phi, eta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176</cp:revision>
  <dcterms:created xsi:type="dcterms:W3CDTF">2026-04-12T14:58:51Z</dcterms:created>
  <dcterms:modified xsi:type="dcterms:W3CDTF">2026-04-24T16:40:27Z</dcterms:modified>
</cp:coreProperties>
</file>