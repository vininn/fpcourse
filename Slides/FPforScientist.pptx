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56" r:id="rId5"/>
    <p:sldId id="372" r:id="rId6"/>
    <p:sldId id="260" r:id="rId7"/>
    <p:sldId id="261" r:id="rId8"/>
    <p:sldId id="461" r:id="rId9"/>
    <p:sldId id="455" r:id="rId10"/>
    <p:sldId id="439" r:id="rId11"/>
    <p:sldId id="394" r:id="rId12"/>
    <p:sldId id="262" r:id="rId13"/>
    <p:sldId id="456" r:id="rId14"/>
    <p:sldId id="457" r:id="rId15"/>
    <p:sldId id="458" r:id="rId16"/>
    <p:sldId id="459" r:id="rId17"/>
    <p:sldId id="441" r:id="rId18"/>
    <p:sldId id="460" r:id="rId19"/>
    <p:sldId id="462" r:id="rId20"/>
    <p:sldId id="463" r:id="rId21"/>
    <p:sldId id="464" r:id="rId22"/>
    <p:sldId id="465" r:id="rId23"/>
    <p:sldId id="468" r:id="rId24"/>
    <p:sldId id="466" r:id="rId25"/>
    <p:sldId id="467" r:id="rId26"/>
    <p:sldId id="469" r:id="rId27"/>
    <p:sldId id="482" r:id="rId28"/>
    <p:sldId id="276" r:id="rId29"/>
    <p:sldId id="470" r:id="rId30"/>
    <p:sldId id="480" r:id="rId31"/>
    <p:sldId id="471" r:id="rId32"/>
    <p:sldId id="474" r:id="rId33"/>
    <p:sldId id="473" r:id="rId34"/>
    <p:sldId id="475" r:id="rId35"/>
    <p:sldId id="472" r:id="rId36"/>
    <p:sldId id="476" r:id="rId37"/>
    <p:sldId id="477" r:id="rId38"/>
    <p:sldId id="478" r:id="rId39"/>
    <p:sldId id="479" r:id="rId40"/>
    <p:sldId id="381" r:id="rId41"/>
    <p:sldId id="396" r:id="rId42"/>
    <p:sldId id="444" r:id="rId43"/>
    <p:sldId id="397" r:id="rId44"/>
    <p:sldId id="341" r:id="rId45"/>
    <p:sldId id="413" r:id="rId46"/>
    <p:sldId id="481" r:id="rId47"/>
    <p:sldId id="365" r:id="rId4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837"/>
    <p:restoredTop sz="96327"/>
  </p:normalViewPr>
  <p:slideViewPr>
    <p:cSldViewPr snapToGrid="0" snapToObjects="1">
      <p:cViewPr>
        <p:scale>
          <a:sx n="120" d="100"/>
          <a:sy n="120" d="100"/>
        </p:scale>
        <p:origin x="144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4D1CC-E622-9933-2868-FA23CB495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9F49D-42D4-EADA-802E-10DF942EA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6A0B4-8090-AE63-458E-05DD8A612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1E06B-7144-164C-5FFF-3E805720F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84222-DA2F-1FD7-A1C8-0E8274EBA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59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A1288-4C93-BE36-8B37-19C57035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DD9A3-1019-F71C-F371-E56FBD071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1966E-8EB2-89BB-3296-C745F3852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2773DD-1005-7412-2D94-0AFCFF504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DD6C6-F32A-6D88-4AED-04F55944A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894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C3827-39DE-2E4C-AF81-22B0FFA1B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C61E50-9984-78E9-2C35-310DE4504F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3C9E6-89F3-7195-D617-C54E91861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025A9-8CEA-4104-A630-2ECE864E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137A8-EFCE-4B63-AA96-5120A039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757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F1987-5523-2F89-6C40-1061465C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4363-371F-F9EB-9A10-B654A31D8D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DAB543-4557-3208-9093-BB3945739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0FA3E-7D70-81D9-C21F-B82CFA9F6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3A4237-8333-DD18-4AB4-88753F15D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5BE0D9-B300-304A-7DF4-B0DFE1A6F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804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00608-1577-7AA4-2C84-8A3B9FF6A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F7FAB-B816-E945-118A-A870AE0D1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8F3376-C428-7B30-296A-43A692247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7EBA15-C2EC-7C6F-3DC7-A2822D23C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0875C1-19F2-91B9-F044-8F328BAA6F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3405A3-BC33-0500-6DE1-766771B9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344012-7C9A-5389-C9B1-DB6C7E17C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2EB64E-66AF-E892-2042-802F0AC7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10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354FB-34D7-41F9-4F18-5C5D0EE9F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CEB5AA-D9D2-53CE-6267-11268D813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8B1DBF-4FE7-FE09-42BA-2B4C3EF93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2431B-38EB-0B7E-E375-0C2ADD1A1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340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3FA5D1-2EE6-8A9E-0492-AF9E940F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D8DC07-1464-A056-1F98-F8B9D71EB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A9582-C4AB-EF4D-9268-95E1FB065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62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ACE12-B809-16F6-E5E5-388C1910C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B339F-2FE2-2E90-F911-1715DEBAF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26C5F7-3DAE-2D99-E257-1954DE6B59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D8A80C-2FC9-A276-D774-EC0F0D321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2A28F0-C969-F136-BA7A-D4C9032CB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3915-7E92-C40C-B63E-4E1042C4C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94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A3C02-70F2-06F6-67E2-C703BECC1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39ADC8-1BD8-2DFB-9487-C95D7FC976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69C5A2-C293-78CA-40CE-644491C73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655FA-DBE3-249C-74F7-EEC213014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61FF39-B7F3-A35B-82E0-11ECE97E3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42919-C396-7D0F-48FE-F795020D9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680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A591-0050-49EE-F471-AEAACF380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4215F7-F253-A1C1-C23E-7527B472C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78D57C-3555-4A31-D8FC-1A83191FD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73DC82-D6E2-9F0A-D80F-74A0DC5D2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BCA39-7884-EE34-FA1A-2048E1256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589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1EE23A-D4BF-DE6E-2E98-D24079B950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FFA71-64E7-5833-49E7-89DF123AD7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858B3-F21F-7B88-C5DA-CA579D1DE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8DC47-1AFA-164F-D573-3620FC19C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10C44C-A3E8-1127-AD56-A62F465EE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871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F80EA6-DA30-58F1-9E76-6A415E5E8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9C406-3D01-9DE0-CFE8-3338018364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8B8FD6-498D-D7C7-1F2F-2A9EE6A506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3F677-D08B-9509-7D91-754A90F64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5791-ECEA-494B-E074-17DCE5FBB0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632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en.wikipedia.org/wiki/Floating-point_arithmetic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en.wikipedia.org/wiki/IEEE_754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://en.wikipedia.org/wiki/Na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en.cppreference.com/w/cpp/types/floating-point.html" TargetMode="Externa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decimal.html" TargetMode="External"/><Relationship Id="rId2" Type="http://schemas.openxmlformats.org/officeDocument/2006/relationships/hyperlink" Target="https://numpy.org/doc/2.3/reference/arrays.scalars.html#floating-point-types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Sterbenz_lemma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html/2602.19452v1#LST2" TargetMode="External"/><Relationship Id="rId2" Type="http://schemas.openxmlformats.org/officeDocument/2006/relationships/hyperlink" Target="https://en.wikipedia.org/wiki/Kahan_summation_algorithm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iscreteLogarithm/canonical-random-float/tree/master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_mathematical_functions" TargetMode="External"/><Relationship Id="rId2" Type="http://schemas.openxmlformats.org/officeDocument/2006/relationships/hyperlink" Target="https://en.cppreference.com/cpp/numeric/math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re-math.gitlabpages.inria.fr/" TargetMode="External"/><Relationship Id="rId4" Type="http://schemas.openxmlformats.org/officeDocument/2006/relationships/hyperlink" Target="https://members.loria.fr/PZimmermann/papers/accuracy.pdf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members.loria.fr/PZimmermann/papers/accuracy.pdf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RDIC" TargetMode="External"/><Relationship Id="rId2" Type="http://schemas.openxmlformats.org/officeDocument/2006/relationships/hyperlink" Target="https://dlmf.nist.gov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al.science/hal-02517784v1/file/approxfunctions.pdf" TargetMode="Externa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Fast_inverse_square_root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hyperlink" Target="https://mpmath.readthedocs.io/en/latest/calculus/approximation.html" TargetMode="Externa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docs.python.org/3/library/decimal.html#recipes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gner.org/optimize/instruction_tables.pdf" TargetMode="Externa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hyperlink" Target="https://core-math.gitlabpages.inria.fr/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0.png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 descr="JPEG - 68.7 kb">
            <a:extLst>
              <a:ext uri="{FF2B5EF4-FFF2-40B4-BE49-F238E27FC236}">
                <a16:creationId xmlns:a16="http://schemas.microsoft.com/office/drawing/2014/main" id="{1877A84C-6BE1-5045-8D17-7898BF495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750" y="1249079"/>
            <a:ext cx="2679998" cy="1414201"/>
          </a:xfrm>
          <a:prstGeom prst="rect">
            <a:avLst/>
          </a:prstGeom>
          <a:noFill/>
        </p:spPr>
      </p:pic>
      <p:pic>
        <p:nvPicPr>
          <p:cNvPr id="9" name="Picture 4" descr="JPEG - 23.2 kb">
            <a:extLst>
              <a:ext uri="{FF2B5EF4-FFF2-40B4-BE49-F238E27FC236}">
                <a16:creationId xmlns:a16="http://schemas.microsoft.com/office/drawing/2014/main" id="{56DA42E4-78A7-2A44-97F2-C6455AC97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2750" y="3623013"/>
            <a:ext cx="2232248" cy="1596576"/>
          </a:xfrm>
          <a:prstGeom prst="rect">
            <a:avLst/>
          </a:prstGeom>
          <a:noFill/>
        </p:spPr>
      </p:pic>
      <p:pic>
        <p:nvPicPr>
          <p:cNvPr id="8" name="Picture 6" descr="http://www.prace-ri.eu/IMG/png/finalbaker91-2.png">
            <a:extLst>
              <a:ext uri="{FF2B5EF4-FFF2-40B4-BE49-F238E27FC236}">
                <a16:creationId xmlns:a16="http://schemas.microsoft.com/office/drawing/2014/main" id="{FD183C20-5D6C-2A4B-B575-BC0F8FC8D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-2555" y="2359233"/>
            <a:ext cx="3070358" cy="1127887"/>
          </a:xfrm>
          <a:prstGeom prst="rect">
            <a:avLst/>
          </a:prstGeom>
          <a:noFill/>
        </p:spPr>
      </p:pic>
      <p:pic>
        <p:nvPicPr>
          <p:cNvPr id="7" name="Picture 8" descr="JPEG - 844 kb">
            <a:extLst>
              <a:ext uri="{FF2B5EF4-FFF2-40B4-BE49-F238E27FC236}">
                <a16:creationId xmlns:a16="http://schemas.microsoft.com/office/drawing/2014/main" id="{E177579B-E168-E346-BD05-3C8A582AC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998177" y="1869587"/>
            <a:ext cx="3022996" cy="2011994"/>
          </a:xfrm>
          <a:prstGeom prst="rect">
            <a:avLst/>
          </a:prstGeom>
          <a:noFill/>
        </p:spPr>
      </p:pic>
      <p:pic>
        <p:nvPicPr>
          <p:cNvPr id="6" name="Picture 2" descr="GIF - 41.4 kb">
            <a:extLst>
              <a:ext uri="{FF2B5EF4-FFF2-40B4-BE49-F238E27FC236}">
                <a16:creationId xmlns:a16="http://schemas.microsoft.com/office/drawing/2014/main" id="{DBC3CFB4-F3FE-E24A-A5C4-693BB6A9F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337554" y="3914663"/>
            <a:ext cx="3686175" cy="1304926"/>
          </a:xfrm>
          <a:prstGeom prst="rect">
            <a:avLst/>
          </a:prstGeom>
          <a:noFill/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9B12CF97-86BA-E548-8433-CC4C405DB0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23729" y="2345567"/>
            <a:ext cx="6168271" cy="2283106"/>
          </a:xfrm>
        </p:spPr>
        <p:txBody>
          <a:bodyPr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Vincenzo Innocente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CERN, June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732488-3532-D14E-9FDD-B6D28AE88DBA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AFFFF"/>
              </a:clrFrom>
              <a:clrTo>
                <a:srgbClr val="FAFFFF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  <a:alphaModFix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sharpenSoften amount="46000"/>
                    </a14:imgEffect>
                    <a14:imgEffect>
                      <a14:colorTemperature colorTemp="5717"/>
                    </a14:imgEffect>
                    <a14:imgEffect>
                      <a14:saturation sat="290000"/>
                    </a14:imgEffect>
                    <a14:imgEffect>
                      <a14:brightnessContrast contrast="-1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" y="1249079"/>
            <a:ext cx="6023728" cy="5608921"/>
          </a:xfrm>
          <a:prstGeom prst="rect">
            <a:avLst/>
          </a:prstGeom>
          <a:noFill/>
          <a:effectLst>
            <a:glow>
              <a:schemeClr val="bg1"/>
            </a:glo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D6A989-8750-A946-9EA5-654E46C07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0731" y="0"/>
            <a:ext cx="10941269" cy="1444171"/>
          </a:xfrm>
        </p:spPr>
        <p:txBody>
          <a:bodyPr>
            <a:normAutofit fontScale="90000"/>
          </a:bodyPr>
          <a:lstStyle/>
          <a:p>
            <a:pPr algn="r"/>
            <a:r>
              <a:rPr lang="en-US" dirty="0" err="1">
                <a:latin typeface="Corbel" panose="020B0503020204020204" pitchFamily="34" charset="0"/>
              </a:rPr>
              <a:t>FloatingPoint</a:t>
            </a:r>
            <a:r>
              <a:rPr lang="en-US">
                <a:latin typeface="Corbel" panose="020B0503020204020204" pitchFamily="34" charset="0"/>
              </a:rPr>
              <a:t> Arithmetic for Scientist: Precision, Accuracy, Efficiency </a:t>
            </a:r>
          </a:p>
        </p:txBody>
      </p:sp>
    </p:spTree>
    <p:extLst>
      <p:ext uri="{BB962C8B-B14F-4D97-AF65-F5344CB8AC3E}">
        <p14:creationId xmlns:p14="http://schemas.microsoft.com/office/powerpoint/2010/main" val="3130243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68F8-85E7-DA38-B02A-4ADDB868C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What’s a Floating Point?</a:t>
            </a:r>
            <a:br>
              <a:rPr lang="en-US" dirty="0"/>
            </a:br>
            <a:r>
              <a:rPr lang="en-US" sz="1600" dirty="0">
                <a:hlinkClick r:id="rId2"/>
              </a:rPr>
              <a:t>https://en.wikipedia.org/wiki/Floating-point_arithmetic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FB85D-0262-522C-7650-5A45147461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Science is based on Measurements</a:t>
            </a:r>
          </a:p>
          <a:p>
            <a:r>
              <a:rPr lang="en-US" dirty="0"/>
              <a:t>The result of a Measurement is a Rational Number</a:t>
            </a:r>
          </a:p>
          <a:p>
            <a:pPr lvl="1"/>
            <a:r>
              <a:rPr lang="en-US" dirty="0"/>
              <a:t>M</a:t>
            </a:r>
            <a:r>
              <a:rPr lang="en-US" baseline="-25000" dirty="0"/>
              <a:t>H</a:t>
            </a:r>
            <a:r>
              <a:rPr lang="en-US" dirty="0"/>
              <a:t> = 125.04 ± 0.12 GeV     =    2.2290ᐧ10</a:t>
            </a:r>
            <a:r>
              <a:rPr lang="en-US" baseline="30000" dirty="0"/>
              <a:t>-25</a:t>
            </a:r>
            <a:r>
              <a:rPr lang="en-US" dirty="0"/>
              <a:t> ± 2.1ᐧ10</a:t>
            </a:r>
            <a:r>
              <a:rPr lang="en-US" baseline="30000" dirty="0"/>
              <a:t>-28</a:t>
            </a:r>
            <a:r>
              <a:rPr lang="en-US" dirty="0"/>
              <a:t> Kg</a:t>
            </a:r>
          </a:p>
          <a:p>
            <a:r>
              <a:rPr lang="en-US" dirty="0"/>
              <a:t>“Floating Point” is a way to represent Rational Numbers by a fixed number of digits (precision) multiplied by a “base” with an exponent</a:t>
            </a:r>
          </a:p>
          <a:p>
            <a:pPr lvl="1"/>
            <a:r>
              <a:rPr lang="en-US" dirty="0"/>
              <a:t>A form of “Scientific Notation”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is a FP in base 10 with “precision” 2   (printed in decimal)</a:t>
            </a:r>
          </a:p>
          <a:p>
            <a:pPr marL="0" indent="0">
              <a:buNone/>
            </a:pP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</a:t>
            </a:r>
            <a:r>
              <a:rPr lang="en-US" dirty="0"/>
              <a:t>is a FP in base 2 with precision 24   (printed in </a:t>
            </a:r>
            <a:r>
              <a:rPr lang="en-US" dirty="0" err="1"/>
              <a:t>exadecimal</a:t>
            </a:r>
            <a:r>
              <a:rPr lang="en-US" dirty="0"/>
              <a:t>)</a:t>
            </a:r>
            <a:endParaRPr lang="en-US" baseline="30000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4795F761-D29F-6D3D-0704-2A2B8ED29F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67071" y="68481"/>
            <a:ext cx="3376067" cy="3037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51513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0F8CC-3C21-4921-6714-6705D02DF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Trivial properties of FP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FCA01-9C0D-C660-E004-78866BE1C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FP has a previous and a next</a:t>
            </a:r>
          </a:p>
          <a:p>
            <a:pPr lvl="1"/>
            <a:r>
              <a:rPr lang="en-US" dirty="0"/>
              <a:t>Previous of 31ᐧ10</a:t>
            </a:r>
            <a:r>
              <a:rPr lang="en-US" baseline="30000" dirty="0"/>
              <a:t>-1 </a:t>
            </a:r>
            <a:r>
              <a:rPr lang="en-US" dirty="0"/>
              <a:t>is</a:t>
            </a:r>
            <a:r>
              <a:rPr lang="en-US" baseline="30000" dirty="0"/>
              <a:t> </a:t>
            </a:r>
            <a:r>
              <a:rPr lang="en-US" dirty="0"/>
              <a:t>30ᐧ10</a:t>
            </a:r>
            <a:r>
              <a:rPr lang="en-US" baseline="30000" dirty="0"/>
              <a:t>-1</a:t>
            </a:r>
            <a:r>
              <a:rPr lang="en-US" dirty="0"/>
              <a:t>, next is 32ᐧ10</a:t>
            </a:r>
            <a:r>
              <a:rPr lang="en-US" baseline="30000" dirty="0"/>
              <a:t>-1</a:t>
            </a:r>
          </a:p>
          <a:p>
            <a:pPr lvl="1"/>
            <a:r>
              <a:rPr lang="en-US" dirty="0"/>
              <a:t>Previous of </a:t>
            </a: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 </a:t>
            </a:r>
            <a:r>
              <a:rPr lang="cs-CZ" altLang="x-none" dirty="0" err="1"/>
              <a:t>is</a:t>
            </a:r>
            <a:r>
              <a:rPr lang="cs-CZ" altLang="x-none" dirty="0"/>
              <a:t> 1.921fb4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, </a:t>
            </a:r>
            <a:r>
              <a:rPr lang="cs-CZ" altLang="x-none" dirty="0" err="1"/>
              <a:t>next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1.921fb8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 </a:t>
            </a:r>
          </a:p>
          <a:p>
            <a:pPr lvl="1"/>
            <a:r>
              <a:rPr lang="cs-CZ" altLang="x-none" dirty="0" err="1"/>
              <a:t>The</a:t>
            </a:r>
            <a:r>
              <a:rPr lang="cs-CZ" altLang="x-none" dirty="0"/>
              <a:t> </a:t>
            </a:r>
            <a:r>
              <a:rPr lang="cs-CZ" altLang="x-none" dirty="0" err="1"/>
              <a:t>difference</a:t>
            </a:r>
            <a:r>
              <a:rPr lang="cs-CZ" altLang="x-none" dirty="0"/>
              <a:t> </a:t>
            </a:r>
            <a:r>
              <a:rPr lang="cs-CZ" altLang="x-none" dirty="0" err="1"/>
              <a:t>between</a:t>
            </a:r>
            <a:r>
              <a:rPr lang="cs-CZ" altLang="x-none" dirty="0"/>
              <a:t> </a:t>
            </a:r>
            <a:r>
              <a:rPr lang="cs-CZ" altLang="x-none" dirty="0" err="1"/>
              <a:t>two</a:t>
            </a:r>
            <a:r>
              <a:rPr lang="cs-CZ" altLang="x-none" dirty="0"/>
              <a:t> </a:t>
            </a:r>
            <a:r>
              <a:rPr lang="cs-CZ" altLang="x-none" dirty="0" err="1"/>
              <a:t>consecutive</a:t>
            </a:r>
            <a:r>
              <a:rPr lang="cs-CZ" altLang="x-none" dirty="0"/>
              <a:t> FP </a:t>
            </a:r>
            <a:r>
              <a:rPr lang="cs-CZ" altLang="x-none" dirty="0" err="1"/>
              <a:t>is</a:t>
            </a:r>
            <a:r>
              <a:rPr lang="cs-CZ" altLang="x-none" dirty="0"/>
              <a:t> </a:t>
            </a:r>
            <a:r>
              <a:rPr lang="cs-CZ" altLang="x-none" dirty="0" err="1"/>
              <a:t>called</a:t>
            </a:r>
            <a:r>
              <a:rPr lang="cs-CZ" altLang="x-none" dirty="0"/>
              <a:t> ULP (unit in last place)</a:t>
            </a:r>
          </a:p>
          <a:p>
            <a:r>
              <a:rPr lang="cs-CZ" altLang="x-none" dirty="0" err="1"/>
              <a:t>For</a:t>
            </a:r>
            <a:r>
              <a:rPr lang="cs-CZ" altLang="x-none" dirty="0"/>
              <a:t> </a:t>
            </a:r>
            <a:r>
              <a:rPr lang="cs-CZ" altLang="x-none" dirty="0" err="1"/>
              <a:t>each</a:t>
            </a:r>
            <a:r>
              <a:rPr lang="cs-CZ" altLang="x-none" dirty="0"/>
              <a:t> </a:t>
            </a:r>
            <a:r>
              <a:rPr lang="cs-CZ" altLang="x-none" dirty="0" err="1"/>
              <a:t>value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</a:t>
            </a:r>
            <a:r>
              <a:rPr lang="cs-CZ" altLang="x-none" dirty="0" err="1"/>
              <a:t>the</a:t>
            </a:r>
            <a:r>
              <a:rPr lang="cs-CZ" altLang="x-none" dirty="0"/>
              <a:t> exponent </a:t>
            </a:r>
            <a:r>
              <a:rPr lang="cs-CZ" altLang="x-none" dirty="0" err="1"/>
              <a:t>there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a </a:t>
            </a:r>
            <a:r>
              <a:rPr lang="cs-CZ" altLang="x-none" dirty="0" err="1"/>
              <a:t>finite</a:t>
            </a:r>
            <a:r>
              <a:rPr lang="cs-CZ" altLang="x-none" dirty="0"/>
              <a:t> </a:t>
            </a:r>
            <a:r>
              <a:rPr lang="cs-CZ" altLang="x-none" dirty="0" err="1"/>
              <a:t>number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FP</a:t>
            </a:r>
          </a:p>
          <a:p>
            <a:pPr lvl="1"/>
            <a:r>
              <a:rPr lang="cs-CZ" altLang="x-none" dirty="0"/>
              <a:t> 10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- </a:t>
            </a:r>
            <a:r>
              <a:rPr lang="cs-CZ" dirty="0"/>
              <a:t>99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1.000000ᐧ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- 1.ffffffᐧ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(called “</a:t>
            </a:r>
            <a:r>
              <a:rPr lang="en-US" dirty="0" err="1"/>
              <a:t>binade</a:t>
            </a:r>
            <a:r>
              <a:rPr lang="en-US" dirty="0"/>
              <a:t>”)</a:t>
            </a:r>
          </a:p>
        </p:txBody>
      </p:sp>
    </p:spTree>
    <p:extLst>
      <p:ext uri="{BB962C8B-B14F-4D97-AF65-F5344CB8AC3E}">
        <p14:creationId xmlns:p14="http://schemas.microsoft.com/office/powerpoint/2010/main" val="40714793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A3A9D8-867E-6417-96D4-7E682A564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968"/>
            <a:ext cx="10515600" cy="1304924"/>
          </a:xfrm>
        </p:spPr>
        <p:txBody>
          <a:bodyPr/>
          <a:lstStyle/>
          <a:p>
            <a:r>
              <a:rPr lang="en-US"/>
              <a:t>Precision and Rounding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207A04-A816-749B-D772-9ADF868CFE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804" y="1106109"/>
            <a:ext cx="11003996" cy="384061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err="1"/>
              <a:t>Le’ts</a:t>
            </a:r>
            <a:r>
              <a:rPr lang="en-US"/>
              <a:t> be the result of a measurement  3.1415 and its accuracy, say, 0.1.</a:t>
            </a:r>
          </a:p>
          <a:p>
            <a:pPr marL="0" indent="0">
              <a:buNone/>
            </a:pPr>
            <a:r>
              <a:rPr lang="en-US"/>
              <a:t>This result needs to be rounded. Default is to round to “nearest”</a:t>
            </a:r>
          </a:p>
          <a:p>
            <a:pPr marL="0" indent="0">
              <a:buNone/>
            </a:pPr>
            <a:r>
              <a:rPr lang="en-US"/>
              <a:t>3.1415 -&gt; 3.1  (3.1515 -&gt; 3.2)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31ᐧ10</a:t>
            </a:r>
            <a:r>
              <a:rPr lang="en-US" baseline="30000"/>
              <a:t>-1</a:t>
            </a:r>
            <a:r>
              <a:rPr lang="en-US"/>
              <a:t> represents all numbers in the interval [30.5ᐧ10</a:t>
            </a:r>
            <a:r>
              <a:rPr lang="en-US" baseline="30000"/>
              <a:t>-1</a:t>
            </a:r>
            <a:r>
              <a:rPr lang="en-US"/>
              <a:t>, 31.5ᐧ10</a:t>
            </a:r>
            <a:r>
              <a:rPr lang="en-US" baseline="30000"/>
              <a:t>-1</a:t>
            </a:r>
            <a:r>
              <a:rPr lang="en-US"/>
              <a:t>]</a:t>
            </a:r>
          </a:p>
          <a:p>
            <a:pPr marL="0" indent="0">
              <a:buNone/>
            </a:pPr>
            <a:r>
              <a:rPr lang="cs-CZ" altLang="x-none"/>
              <a:t>1.921fb6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 </a:t>
            </a:r>
            <a:r>
              <a:rPr lang="en-US"/>
              <a:t>represents all numbers in the interval [</a:t>
            </a:r>
            <a:r>
              <a:rPr lang="cs-CZ" altLang="x-none"/>
              <a:t>1.921fb5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,1.921fb7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]</a:t>
            </a: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 </a:t>
            </a:r>
          </a:p>
        </p:txBody>
      </p:sp>
      <p:grpSp>
        <p:nvGrpSpPr>
          <p:cNvPr id="2" name="Group 29">
            <a:extLst>
              <a:ext uri="{FF2B5EF4-FFF2-40B4-BE49-F238E27FC236}">
                <a16:creationId xmlns:a16="http://schemas.microsoft.com/office/drawing/2014/main" id="{13824B21-6E52-B544-EBED-01ED8CAFB180}"/>
              </a:ext>
            </a:extLst>
          </p:cNvPr>
          <p:cNvGrpSpPr>
            <a:grpSpLocks/>
          </p:cNvGrpSpPr>
          <p:nvPr/>
        </p:nvGrpSpPr>
        <p:grpSpPr bwMode="auto">
          <a:xfrm>
            <a:off x="1875392" y="3542505"/>
            <a:ext cx="7632700" cy="3249617"/>
            <a:chOff x="899592" y="764704"/>
            <a:chExt cx="7632848" cy="3249656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D0E227D9-2D4A-B22E-F248-369A9CF5EB0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99592" y="2709415"/>
              <a:ext cx="7632848" cy="0"/>
            </a:xfrm>
            <a:prstGeom prst="straightConnector1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7BF4DE9F-4E1C-AFB4-1588-025BA0A4984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355646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00BA996-B837-CAE1-0EAE-928976C6F1D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7237015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E087550-CD3F-C920-D935-DFB4E4DF546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620331" y="1988682"/>
              <a:ext cx="0" cy="576269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" name="TextBox 12">
              <a:extLst>
                <a:ext uri="{FF2B5EF4-FFF2-40B4-BE49-F238E27FC236}">
                  <a16:creationId xmlns:a16="http://schemas.microsoft.com/office/drawing/2014/main" id="{B2E9F211-B946-FFC4-BB41-DEB9D86792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35896" y="1700808"/>
              <a:ext cx="140420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 b="1">
                  <a:solidFill>
                    <a:srgbClr val="3366FF"/>
                  </a:solidFill>
                </a:rPr>
                <a:t>3.14159274</a:t>
              </a:r>
            </a:p>
          </p:txBody>
        </p:sp>
        <p:sp>
          <p:nvSpPr>
            <p:cNvPr id="10" name="Curved Down Arrow 9">
              <a:extLst>
                <a:ext uri="{FF2B5EF4-FFF2-40B4-BE49-F238E27FC236}">
                  <a16:creationId xmlns:a16="http://schemas.microsoft.com/office/drawing/2014/main" id="{7947E535-3DC8-82A8-F99A-E0F78527E727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404427" y="1052045"/>
              <a:ext cx="2879781" cy="649295"/>
            </a:xfrm>
            <a:prstGeom prst="curvedDownArrow">
              <a:avLst>
                <a:gd name="adj1" fmla="val 24989"/>
                <a:gd name="adj2" fmla="val 49999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1" name="TextBox 14">
              <a:extLst>
                <a:ext uri="{FF2B5EF4-FFF2-40B4-BE49-F238E27FC236}">
                  <a16:creationId xmlns:a16="http://schemas.microsoft.com/office/drawing/2014/main" id="{5F4F21E6-F4C7-085F-C4FB-C28DEBF1C6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92080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nextafter(pi,inf)</a:t>
              </a:r>
            </a:p>
          </p:txBody>
        </p:sp>
        <p:sp>
          <p:nvSpPr>
            <p:cNvPr id="12" name="Curved Down Arrow 11">
              <a:extLst>
                <a:ext uri="{FF2B5EF4-FFF2-40B4-BE49-F238E27FC236}">
                  <a16:creationId xmlns:a16="http://schemas.microsoft.com/office/drawing/2014/main" id="{2D42BAC7-78D8-F5C2-F179-F55CE53379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1550" y="1052045"/>
              <a:ext cx="2665465" cy="649295"/>
            </a:xfrm>
            <a:prstGeom prst="curvedDownArrow">
              <a:avLst>
                <a:gd name="adj1" fmla="val 24992"/>
                <a:gd name="adj2" fmla="val 50003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3" name="TextBox 19">
              <a:extLst>
                <a:ext uri="{FF2B5EF4-FFF2-40B4-BE49-F238E27FC236}">
                  <a16:creationId xmlns:a16="http://schemas.microsoft.com/office/drawing/2014/main" id="{21D7C7E1-2617-4291-642B-25776DBCD7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63688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nextafter(pi,-inf)</a:t>
              </a:r>
            </a:p>
          </p:txBody>
        </p:sp>
        <p:sp>
          <p:nvSpPr>
            <p:cNvPr id="14" name="TextBox 20">
              <a:extLst>
                <a:ext uri="{FF2B5EF4-FFF2-40B4-BE49-F238E27FC236}">
                  <a16:creationId xmlns:a16="http://schemas.microsoft.com/office/drawing/2014/main" id="{6A59F1EF-62D0-1053-52F9-22FA24E7D2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224" y="177281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1.921fb8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5" name="TextBox 21">
              <a:extLst>
                <a:ext uri="{FF2B5EF4-FFF2-40B4-BE49-F238E27FC236}">
                  <a16:creationId xmlns:a16="http://schemas.microsoft.com/office/drawing/2014/main" id="{89CA3602-C364-0B21-51F3-DFBBCFDCFB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71600" y="1700808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1.921fb4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A41708-3507-93FE-41AC-24C6F319E7D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844317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F99F614-BCCC-24BA-A1BC-5FA4B09093B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868563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8" name="TextBox 25">
              <a:extLst>
                <a:ext uri="{FF2B5EF4-FFF2-40B4-BE49-F238E27FC236}">
                  <a16:creationId xmlns:a16="http://schemas.microsoft.com/office/drawing/2014/main" id="{044DDC94-42F7-90DF-A4B0-9D41FA23C5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95736" y="1988840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1.921fb5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9" name="TextBox 26">
              <a:extLst>
                <a:ext uri="{FF2B5EF4-FFF2-40B4-BE49-F238E27FC236}">
                  <a16:creationId xmlns:a16="http://schemas.microsoft.com/office/drawing/2014/main" id="{854015D3-9213-39E0-47F6-20ADF760D6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76056" y="1988840"/>
              <a:ext cx="1433434" cy="6463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1.921fb7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  <a:p>
              <a:pPr eaLnBrk="1" hangingPunct="1"/>
              <a:endParaRPr lang="en-US" altLang="x-none" sz="1800"/>
            </a:p>
          </p:txBody>
        </p:sp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325B6550-875B-B4DB-809F-413D0C9C7493}"/>
                </a:ext>
              </a:extLst>
            </p:cNvPr>
            <p:cNvSpPr>
              <a:spLocks/>
            </p:cNvSpPr>
            <p:nvPr/>
          </p:nvSpPr>
          <p:spPr bwMode="auto">
            <a:xfrm rot="5400000" flipV="1">
              <a:off x="3959560" y="1664022"/>
              <a:ext cx="792172" cy="3168711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21" name="TextBox 28">
              <a:extLst>
                <a:ext uri="{FF2B5EF4-FFF2-40B4-BE49-F238E27FC236}">
                  <a16:creationId xmlns:a16="http://schemas.microsoft.com/office/drawing/2014/main" id="{68E838FC-A75C-B2F1-36C7-9C117998FF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1879" y="3645024"/>
              <a:ext cx="3490189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b="1">
                  <a:solidFill>
                    <a:srgbClr val="0070C0"/>
                  </a:solidFill>
                </a:rPr>
                <a:t>1.921fb6</a:t>
              </a:r>
              <a:r>
                <a:rPr lang="en-US" sz="1800" b="1" err="1">
                  <a:solidFill>
                    <a:srgbClr val="0070C0"/>
                  </a:solidFill>
                </a:rPr>
                <a:t>ᐧ</a:t>
              </a:r>
              <a:r>
                <a:rPr lang="cs-CZ" altLang="x-none" sz="1800" b="1">
                  <a:solidFill>
                    <a:srgbClr val="0070C0"/>
                  </a:solidFill>
                </a:rPr>
                <a:t>2</a:t>
              </a:r>
              <a:r>
                <a:rPr lang="cs-CZ" altLang="x-none" sz="1800" b="1" baseline="30000">
                  <a:solidFill>
                    <a:srgbClr val="0070C0"/>
                  </a:solidFill>
                </a:rPr>
                <a:t>+1  (</a:t>
              </a:r>
              <a:r>
                <a:rPr lang="en-US" altLang="x-none" sz="1800" b="1">
                  <a:solidFill>
                    <a:srgbClr val="3366FF"/>
                  </a:solidFill>
                </a:rPr>
                <a:t>0x1.921fb6p+1</a:t>
              </a:r>
              <a:r>
                <a:rPr lang="en-US" altLang="x-none" sz="1800" b="1">
                  <a:solidFill>
                    <a:srgbClr val="0070C0"/>
                  </a:solidFill>
                </a:rPr>
                <a:t>)</a:t>
              </a: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E1C98D-09CA-4D8C-DE4E-8F86C76056E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3685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A9C9EA-1988-CAF2-C977-231B3CF91DC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28572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1EE3197-2DFE-ECFA-751E-8054D5C4A238}"/>
              </a:ext>
            </a:extLst>
          </p:cNvPr>
          <p:cNvSpPr txBox="1"/>
          <p:nvPr/>
        </p:nvSpPr>
        <p:spPr>
          <a:xfrm>
            <a:off x="3504735" y="4109799"/>
            <a:ext cx="64216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b="1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ea typeface="ＭＳ Ｐゴシック" charset="0"/>
                <a:cs typeface="ＭＳ Ｐゴシック" charset="0"/>
              </a:rPr>
              <a:t>ULP</a:t>
            </a:r>
          </a:p>
        </p:txBody>
      </p:sp>
      <p:sp>
        <p:nvSpPr>
          <p:cNvPr id="25" name="TextBox 7">
            <a:extLst>
              <a:ext uri="{FF2B5EF4-FFF2-40B4-BE49-F238E27FC236}">
                <a16:creationId xmlns:a16="http://schemas.microsoft.com/office/drawing/2014/main" id="{EE49D4AA-A8CD-BC51-9761-7E2946100E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37195" y="4154247"/>
            <a:ext cx="528637" cy="522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 i="1">
                <a:solidFill>
                  <a:srgbClr val="FF0000"/>
                </a:solidFill>
              </a:rPr>
              <a:t>π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046D4B4-6DE4-6554-459F-4BDCFB109E5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53095" y="4657484"/>
            <a:ext cx="0" cy="792163"/>
          </a:xfrm>
          <a:prstGeom prst="straightConnector1">
            <a:avLst/>
          </a:prstGeom>
          <a:noFill/>
          <a:ln w="254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  <p:extLst>
      <p:ext uri="{BB962C8B-B14F-4D97-AF65-F5344CB8AC3E}">
        <p14:creationId xmlns:p14="http://schemas.microsoft.com/office/powerpoint/2010/main" val="6268929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Title 1"/>
          <p:cNvSpPr>
            <a:spLocks noGrp="1"/>
          </p:cNvSpPr>
          <p:nvPr>
            <p:ph type="title"/>
          </p:nvPr>
        </p:nvSpPr>
        <p:spPr>
          <a:xfrm>
            <a:off x="1992313" y="188914"/>
            <a:ext cx="8229600" cy="1139825"/>
          </a:xfrm>
        </p:spPr>
        <p:txBody>
          <a:bodyPr/>
          <a:lstStyle/>
          <a:p>
            <a:r>
              <a:rPr lang="en-US" altLang="x-none"/>
              <a:t>Rounding Algorithms</a:t>
            </a:r>
          </a:p>
        </p:txBody>
      </p:sp>
      <p:sp>
        <p:nvSpPr>
          <p:cNvPr id="30722" name="Content Placeholder 2"/>
          <p:cNvSpPr>
            <a:spLocks noGrp="1"/>
          </p:cNvSpPr>
          <p:nvPr>
            <p:ph idx="1"/>
          </p:nvPr>
        </p:nvSpPr>
        <p:spPr>
          <a:xfrm>
            <a:off x="1774825" y="908051"/>
            <a:ext cx="8713788" cy="5184775"/>
          </a:xfrm>
        </p:spPr>
        <p:txBody>
          <a:bodyPr/>
          <a:lstStyle/>
          <a:p>
            <a:r>
              <a:rPr lang="en-US" altLang="x-none" sz="2000" dirty="0"/>
              <a:t>The standard defines five rounding algorithms.</a:t>
            </a:r>
          </a:p>
          <a:p>
            <a:pPr lvl="1"/>
            <a:r>
              <a:rPr lang="en-US" altLang="x-none" sz="1800" dirty="0"/>
              <a:t>The first two round to a nearest value; the others are called directed </a:t>
            </a:r>
            <a:r>
              <a:rPr lang="en-US" altLang="x-none" sz="1800" dirty="0" err="1"/>
              <a:t>roundings</a:t>
            </a:r>
            <a:r>
              <a:rPr lang="en-US" altLang="x-none" sz="1800" dirty="0"/>
              <a:t>:</a:t>
            </a:r>
            <a:endParaRPr lang="en-US" altLang="x-none" sz="2000" dirty="0"/>
          </a:p>
          <a:p>
            <a:r>
              <a:rPr lang="en-US" altLang="x-none" sz="2000" dirty="0" err="1"/>
              <a:t>Roundings</a:t>
            </a:r>
            <a:r>
              <a:rPr lang="en-US" altLang="x-none" sz="2000" dirty="0"/>
              <a:t> to nearest</a:t>
            </a:r>
          </a:p>
          <a:p>
            <a:pPr lvl="1"/>
            <a:r>
              <a:rPr lang="en-US" altLang="x-none" sz="1800" b="1" dirty="0">
                <a:solidFill>
                  <a:srgbClr val="FF0000"/>
                </a:solidFill>
              </a:rPr>
              <a:t>Round to nearest, ties to even – rounds to the nearest value;</a:t>
            </a:r>
            <a:r>
              <a:rPr lang="en-US" altLang="x-none" sz="1800" dirty="0"/>
              <a:t> if the number falls midway it is rounded to the nearest value with an even (zero) least significant bit, which occurs 50% of the time; </a:t>
            </a:r>
            <a:r>
              <a:rPr lang="en-US" altLang="x-none" sz="1800" dirty="0">
                <a:solidFill>
                  <a:srgbClr val="FF0000"/>
                </a:solidFill>
              </a:rPr>
              <a:t>this is the default algorithm for binary floating-point </a:t>
            </a:r>
            <a:r>
              <a:rPr lang="en-US" altLang="x-none" sz="1800" dirty="0"/>
              <a:t>and the recommended default for decimal</a:t>
            </a:r>
          </a:p>
          <a:p>
            <a:pPr lvl="1"/>
            <a:r>
              <a:rPr lang="en-US" altLang="x-none" sz="1800" dirty="0"/>
              <a:t>Round to nearest, ties away from zero – rounds to the nearest value; if the number falls midway it is rounded to the nearest value above (for positive numbers) or below (for negative numbers)</a:t>
            </a:r>
          </a:p>
          <a:p>
            <a:r>
              <a:rPr lang="en-US" altLang="x-none" sz="2000" dirty="0"/>
              <a:t>Directed </a:t>
            </a:r>
            <a:r>
              <a:rPr lang="en-US" altLang="x-none" sz="2000" dirty="0" err="1"/>
              <a:t>roundings</a:t>
            </a:r>
            <a:endParaRPr lang="en-US" altLang="x-none" sz="2000" dirty="0"/>
          </a:p>
          <a:p>
            <a:pPr lvl="1"/>
            <a:r>
              <a:rPr lang="en-US" altLang="x-none" sz="1800" dirty="0"/>
              <a:t>Round toward 0 – directed rounding towards zero (also known as truncation).</a:t>
            </a:r>
          </a:p>
          <a:p>
            <a:pPr lvl="1"/>
            <a:r>
              <a:rPr lang="en-US" altLang="x-none" sz="1800" dirty="0"/>
              <a:t>Round toward +∞ – directed rounding towards positive infinity (also known as rounding up or ceiling).</a:t>
            </a:r>
          </a:p>
          <a:p>
            <a:pPr lvl="1"/>
            <a:r>
              <a:rPr lang="en-US" altLang="x-none" sz="1800" dirty="0"/>
              <a:t>Round toward −∞ – directed rounding towards negative infinity (also known as rounding down or floor).</a:t>
            </a:r>
          </a:p>
          <a:p>
            <a:endParaRPr lang="en-US" altLang="x-none" sz="2000" dirty="0"/>
          </a:p>
        </p:txBody>
      </p:sp>
      <p:sp>
        <p:nvSpPr>
          <p:cNvPr id="30723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4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5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016689D5-6FA2-274B-8EB3-26E90C03259E}" type="slidenum">
              <a:rPr lang="it-IT" altLang="x-none" sz="1200">
                <a:latin typeface="Garamond" charset="0"/>
              </a:rPr>
              <a:pPr eaLnBrk="1" hangingPunct="1"/>
              <a:t>5</a:t>
            </a:fld>
            <a:endParaRPr lang="it-IT" altLang="x-none" sz="1200">
              <a:latin typeface="Garamond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007A8-7189-021D-6B56-2AD6C8687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8194"/>
          </a:xfrm>
        </p:spPr>
        <p:txBody>
          <a:bodyPr/>
          <a:lstStyle/>
          <a:p>
            <a:r>
              <a:rPr lang="en-US"/>
              <a:t>FP on a Computer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F42EC-D4A4-BB1D-42E2-CC05E4E97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3320"/>
            <a:ext cx="10515600" cy="1523055"/>
          </a:xfrm>
        </p:spPr>
        <p:txBody>
          <a:bodyPr/>
          <a:lstStyle/>
          <a:p>
            <a:r>
              <a:rPr lang="en-US"/>
              <a:t>FP are well suited to perform arithmetic on a computer</a:t>
            </a:r>
          </a:p>
          <a:p>
            <a:pPr lvl="1"/>
            <a:r>
              <a:rPr lang="en-US"/>
              <a:t>Since 1985 FP representations and operations are standardized in IEEE754  (</a:t>
            </a:r>
            <a:r>
              <a:rPr lang="en-US">
                <a:hlinkClick r:id="rId2"/>
              </a:rPr>
              <a:t>https://en.wikipedia.org/wiki/IEEE_754</a:t>
            </a:r>
            <a:r>
              <a:rPr lang="en-US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E99ED7-3831-8E78-7501-C819F3AA6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209" y="2482846"/>
            <a:ext cx="7772400" cy="4226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4826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54F6A7-30BA-FD40-3C85-7621FFDBA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binary representations in IEEE754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94316B-6BD7-88F6-1EEA-1C3225F02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71011"/>
            <a:ext cx="9213326" cy="3323214"/>
          </a:xfrm>
          <a:prstGeom prst="rect">
            <a:avLst/>
          </a:prstGeom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9920FC59-424C-4E9A-94E8-0D3C2A0830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7183" y="5057775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7">
            <a:extLst>
              <a:ext uri="{FF2B5EF4-FFF2-40B4-BE49-F238E27FC236}">
                <a16:creationId xmlns:a16="http://schemas.microsoft.com/office/drawing/2014/main" id="{AE825F26-D7F3-F3C2-FCBA-6C6B27EB8F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4383" y="6200775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>
            <a:extLst>
              <a:ext uri="{FF2B5EF4-FFF2-40B4-BE49-F238E27FC236}">
                <a16:creationId xmlns:a16="http://schemas.microsoft.com/office/drawing/2014/main" id="{41FDC136-B6F7-971D-D527-578ED6F93762}"/>
              </a:ext>
            </a:extLst>
          </p:cNvPr>
          <p:cNvSpPr>
            <a:spLocks/>
          </p:cNvSpPr>
          <p:nvPr/>
        </p:nvSpPr>
        <p:spPr bwMode="auto">
          <a:xfrm flipH="1" flipV="1">
            <a:off x="3109783" y="4676775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46F693-DF46-E92A-EF7C-AF3BDF4A23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8383" y="4524375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  <p:extLst>
      <p:ext uri="{BB962C8B-B14F-4D97-AF65-F5344CB8AC3E}">
        <p14:creationId xmlns:p14="http://schemas.microsoft.com/office/powerpoint/2010/main" val="8479419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Title 1"/>
          <p:cNvSpPr>
            <a:spLocks noGrp="1"/>
          </p:cNvSpPr>
          <p:nvPr>
            <p:ph type="title"/>
          </p:nvPr>
        </p:nvSpPr>
        <p:spPr>
          <a:xfrm>
            <a:off x="1981200" y="277814"/>
            <a:ext cx="8229600" cy="630907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x-none"/>
              <a:t>IEEE 754 representation of single precision FP</a:t>
            </a:r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idx="1"/>
          </p:nvPr>
        </p:nvGraphicFramePr>
        <p:xfrm>
          <a:off x="1752600" y="3352800"/>
          <a:ext cx="8610600" cy="3181350"/>
        </p:xfrm>
        <a:graphic>
          <a:graphicData uri="http://schemas.openxmlformats.org/drawingml/2006/table">
            <a:tbl>
              <a:tblPr/>
              <a:tblGrid>
                <a:gridCol w="215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non-zero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Equation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00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zero, −0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subnormal numbers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(-1)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−126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0.significandbits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01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, ..., FE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exponentbits-127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1.significandbits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FF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±infinity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  <a:hlinkClick r:id="rId2"/>
                        </a:rPr>
                        <a:t>NaN (quiet,signalling)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581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2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3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CE4F9FE7-EDA6-7B4F-A207-843BFCE22E1D}" type="slidenum">
              <a:rPr lang="it-IT" altLang="x-none" sz="1200">
                <a:latin typeface="Garamond" charset="0"/>
              </a:rPr>
              <a:pPr eaLnBrk="1" hangingPunct="1"/>
              <a:t>8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3584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0" y="1752600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3585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0" y="2895600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/>
          <p:cNvSpPr>
            <a:spLocks/>
          </p:cNvSpPr>
          <p:nvPr/>
        </p:nvSpPr>
        <p:spPr bwMode="auto">
          <a:xfrm flipH="1" flipV="1">
            <a:off x="3657600" y="1371600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23587" name="TextBox 11"/>
          <p:cNvSpPr txBox="1">
            <a:spLocks noChangeArrowheads="1"/>
          </p:cNvSpPr>
          <p:nvPr/>
        </p:nvSpPr>
        <p:spPr bwMode="auto">
          <a:xfrm>
            <a:off x="7696201" y="1219200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/>
              <a:t>examples</a:t>
            </a:r>
          </a:p>
        </p:txBody>
      </p:sp>
      <p:sp>
        <p:nvSpPr>
          <p:cNvPr id="27650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2F5B2064-19F4-9B4B-9C86-075C784918A9}" type="slidenum">
              <a:rPr lang="it-IT" altLang="x-none" sz="1200">
                <a:latin typeface="Garamond" charset="0"/>
              </a:rPr>
              <a:pPr eaLnBrk="1" hangingPunct="1"/>
              <a:t>9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7653" name="TextBox 6"/>
          <p:cNvSpPr txBox="1">
            <a:spLocks noChangeArrowheads="1"/>
          </p:cNvSpPr>
          <p:nvPr/>
        </p:nvSpPr>
        <p:spPr bwMode="auto">
          <a:xfrm>
            <a:off x="1703388" y="1196975"/>
            <a:ext cx="8856662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is-IS" altLang="x-none" sz="1600">
                <a:latin typeface="Lucida Console" charset="0"/>
              </a:rPr>
              <a:t>0.00000000e+00 0x0p+0          00000000000000000000000000000000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5.00000000e-01 0x1p-1          00111111000000000000000000000000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1.00000000e+00 0x1p+0          00111111100000000000000000000000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1.50000000e+00 0x1.8p+0        00111111110000000000000000000000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2.00000000e+00 0x1p+1          01000000000000000000000000000000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2.50000000e+00 0x1.4p+1        01000000001000000000000000000000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3.00000000e+00 0x1.8p+1        01000000010000000000000000000000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8.00000000e+00 0x1p+3          01000001000000000000000000000000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3.14159274e+00 0x1.921fb6p+1   01000000010010010000111111011011</a:t>
            </a:r>
            <a:endParaRPr lang="is-IS" altLang="x-none" sz="1600">
              <a:latin typeface="Lucida Console" charset="0"/>
            </a:endParaRPr>
          </a:p>
          <a:p>
            <a:pPr eaLnBrk="1" hangingPunct="1"/>
            <a:r>
              <a:rPr lang="cs-CZ" altLang="x-none" sz="1600">
                <a:latin typeface="Lucida Console" charset="0"/>
              </a:rPr>
              <a:t>1.00000001e-01 0x1.99999ap-4   00111101110011001100110011001101</a:t>
            </a:r>
            <a:endParaRPr lang="is-IS" altLang="x-none" sz="1600">
              <a:latin typeface="Lucida Console" charset="0"/>
            </a:endParaRPr>
          </a:p>
          <a:p>
            <a:pPr eaLnBrk="1" hangingPunct="1"/>
            <a:r>
              <a:rPr lang="cs-CZ" altLang="x-none" sz="1600">
                <a:latin typeface="Lucida Console" charset="0"/>
              </a:rPr>
              <a:t>1.17549435e-38 0x1p-126        00000000100000000000000000000000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3.40282347e+38 0x1.fffffep+127 01111111011111111111111111111111</a:t>
            </a:r>
          </a:p>
          <a:p>
            <a:pPr eaLnBrk="1" hangingPunct="1"/>
            <a:r>
              <a:rPr lang="cs-CZ" altLang="x-none" sz="1600" err="1">
                <a:latin typeface="Lucida Console" charset="0"/>
              </a:rPr>
              <a:t>nan</a:t>
            </a:r>
            <a:r>
              <a:rPr lang="cs-CZ" altLang="x-none" sz="1600">
                <a:latin typeface="Lucida Console" charset="0"/>
              </a:rPr>
              <a:t>            </a:t>
            </a:r>
            <a:r>
              <a:rPr lang="cs-CZ" altLang="x-none" sz="1600" err="1">
                <a:latin typeface="Lucida Console" charset="0"/>
              </a:rPr>
              <a:t>nan</a:t>
            </a:r>
            <a:r>
              <a:rPr lang="cs-CZ" altLang="x-none" sz="1600">
                <a:latin typeface="Lucida Console" charset="0"/>
              </a:rPr>
              <a:t>             11111111110000000000000000000000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-</a:t>
            </a:r>
            <a:r>
              <a:rPr lang="cs-CZ" altLang="x-none" sz="1600" err="1">
                <a:latin typeface="Lucida Console" charset="0"/>
              </a:rPr>
              <a:t>inf</a:t>
            </a:r>
            <a:r>
              <a:rPr lang="cs-CZ" altLang="x-none" sz="1600">
                <a:latin typeface="Lucida Console" charset="0"/>
              </a:rPr>
              <a:t>           -</a:t>
            </a:r>
            <a:r>
              <a:rPr lang="cs-CZ" altLang="x-none" sz="1600" err="1">
                <a:latin typeface="Lucida Console" charset="0"/>
              </a:rPr>
              <a:t>inf</a:t>
            </a:r>
            <a:r>
              <a:rPr lang="cs-CZ" altLang="x-none" sz="1600">
                <a:latin typeface="Lucida Console" charset="0"/>
              </a:rPr>
              <a:t>            11111111100000000000000000000000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2.93873588e-39 0x1p-128        00000000001000000000000000000000</a:t>
            </a:r>
            <a:endParaRPr lang="en-US" altLang="x-none" sz="1600">
              <a:latin typeface="Lucida Console" charset="0"/>
            </a:endParaRPr>
          </a:p>
        </p:txBody>
      </p:sp>
      <p:cxnSp>
        <p:nvCxnSpPr>
          <p:cNvPr id="9" name="Straight Connector 8"/>
          <p:cNvCxnSpPr>
            <a:cxnSpLocks noChangeShapeType="1"/>
          </p:cNvCxnSpPr>
          <p:nvPr/>
        </p:nvCxnSpPr>
        <p:spPr bwMode="auto">
          <a:xfrm>
            <a:off x="5735638" y="990600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6672064" y="1053182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56" name="TextBox 20"/>
          <p:cNvSpPr txBox="1">
            <a:spLocks noChangeArrowheads="1"/>
          </p:cNvSpPr>
          <p:nvPr/>
        </p:nvSpPr>
        <p:spPr bwMode="auto">
          <a:xfrm>
            <a:off x="5447928" y="620714"/>
            <a:ext cx="351351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sign  exponent        significant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0551"/>
          </a:xfrm>
        </p:spPr>
        <p:txBody>
          <a:bodyPr/>
          <a:lstStyle/>
          <a:p>
            <a:r>
              <a:rPr lang="en-US" altLang="x-none"/>
              <a:t>C++ interlude</a:t>
            </a:r>
          </a:p>
        </p:txBody>
      </p:sp>
      <p:sp>
        <p:nvSpPr>
          <p:cNvPr id="25602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02E4000-0355-7D4E-B01D-371C3A18747A}" type="slidenum">
              <a:rPr lang="it-IT" altLang="x-none" sz="1200">
                <a:latin typeface="Garamond" charset="0"/>
              </a:rPr>
              <a:pPr eaLnBrk="1" hangingPunct="1"/>
              <a:t>10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BF8EE6-D613-F684-C3CF-2FD958AE1F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1123179"/>
            <a:ext cx="8497888" cy="5078413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#include&lt;iostream&gt;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iomanip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cmath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#include&lt;limits&gt;</a:t>
            </a:r>
          </a:p>
          <a:p>
            <a:pPr eaLnBrk="1" hangingPunct="1"/>
            <a:r>
              <a:rPr lang="en-US" altLang="x-none" sz="1800" dirty="0"/>
              <a:t>//  std style</a:t>
            </a:r>
          </a:p>
          <a:p>
            <a:pPr eaLnBrk="1" hangingPunct="1"/>
            <a:r>
              <a:rPr lang="en-US" altLang="x-none" sz="1800" dirty="0"/>
              <a:t>template&lt;</a:t>
            </a:r>
            <a:r>
              <a:rPr lang="en-US" altLang="x-none" sz="1800" dirty="0" err="1"/>
              <a:t>typename</a:t>
            </a:r>
            <a:r>
              <a:rPr lang="en-US" altLang="x-none" sz="1800" dirty="0"/>
              <a:t> T&gt;</a:t>
            </a:r>
          </a:p>
          <a:p>
            <a:pPr eaLnBrk="1" hangingPunct="1"/>
            <a:r>
              <a:rPr lang="en-US" altLang="x-none" sz="1800" dirty="0"/>
              <a:t>void print(T x) {          </a:t>
            </a:r>
          </a:p>
          <a:p>
            <a:pPr eaLnBrk="1" hangingPunct="1"/>
            <a:r>
              <a:rPr lang="en-US" altLang="x-none" sz="1800" dirty="0"/>
              <a:t> 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hexfloat</a:t>
            </a:r>
            <a:r>
              <a:rPr lang="en-US" altLang="x-none" sz="1800" dirty="0"/>
              <a:t> &lt;&lt; x &lt;&lt;'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exact binary representation</a:t>
            </a:r>
          </a:p>
          <a:p>
            <a:pPr eaLnBrk="1" hangingPunct="1"/>
            <a:r>
              <a:rPr lang="en-US" altLang="x-none" sz="1800" dirty="0"/>
              <a:t>                &lt;&lt;  std::scientific &lt;&lt; std::</a:t>
            </a:r>
            <a:r>
              <a:rPr lang="en-US" altLang="x-none" sz="1800" dirty="0" err="1"/>
              <a:t>setprecision</a:t>
            </a:r>
            <a:r>
              <a:rPr lang="en-US" altLang="x-none" sz="1800" dirty="0"/>
              <a:t>(8) &lt;&lt; x &lt;&lt; 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8 decimal digits</a:t>
            </a:r>
          </a:p>
          <a:p>
            <a:pPr eaLnBrk="1" hangingPunct="1"/>
            <a:r>
              <a:rPr lang="en-US" altLang="x-none" sz="1800" dirty="0"/>
              <a:t>                &lt;&lt;  std::</a:t>
            </a:r>
            <a:r>
              <a:rPr lang="en-US" altLang="x-none" sz="1800" dirty="0" err="1"/>
              <a:t>defaultfloat</a:t>
            </a:r>
            <a:r>
              <a:rPr lang="en-US" altLang="x-none" sz="1800" dirty="0"/>
              <a:t> &lt;&lt; x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   </a:t>
            </a:r>
            <a:r>
              <a:rPr lang="en-US" altLang="x-none" sz="1800" dirty="0">
                <a:solidFill>
                  <a:srgbClr val="FF0000"/>
                </a:solidFill>
              </a:rPr>
              <a:t>// 6 decimal digits for float </a:t>
            </a:r>
          </a:p>
          <a:p>
            <a:pPr eaLnBrk="1" hangingPunct="1"/>
            <a:r>
              <a:rPr lang="en-US" altLang="x-none" sz="1800" dirty="0"/>
              <a:t>}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/>
              <a:t>// integer representation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cstring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int f2i(float x) { int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 </a:t>
            </a:r>
            <a:r>
              <a:rPr lang="en-US" altLang="x-none" sz="1800" dirty="0" err="1"/>
              <a:t>memcpy</a:t>
            </a:r>
            <a:r>
              <a:rPr lang="en-US" altLang="x-none" sz="1800" dirty="0"/>
              <a:t>(&amp;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,&amp;</a:t>
            </a:r>
            <a:r>
              <a:rPr lang="en-US" altLang="x-none" sz="1800" dirty="0" err="1"/>
              <a:t>x,sizeof</a:t>
            </a:r>
            <a:r>
              <a:rPr lang="en-US" altLang="x-none" sz="1800" dirty="0"/>
              <a:t>(int)); return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;} </a:t>
            </a:r>
            <a:r>
              <a:rPr lang="en-US" altLang="x-none" sz="1800" dirty="0">
                <a:solidFill>
                  <a:srgbClr val="FF0000"/>
                </a:solidFill>
              </a:rPr>
              <a:t>// compiler will optimize</a:t>
            </a:r>
          </a:p>
          <a:p>
            <a:pPr eaLnBrk="1" hangingPunct="1"/>
            <a:r>
              <a:rPr lang="en-US" altLang="x-none" sz="1800" dirty="0"/>
              <a:t>//  use 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 to print in binary (bit by bit) </a:t>
            </a:r>
          </a:p>
          <a:p>
            <a:pPr eaLnBrk="1" hangingPunct="1"/>
            <a:r>
              <a:rPr lang="en-US" altLang="x-none" sz="1800" dirty="0"/>
              <a:t>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&lt;32&gt;(f2i(x))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;   </a:t>
            </a:r>
            <a:r>
              <a:rPr lang="en-US" altLang="x-none" sz="1800" dirty="0">
                <a:solidFill>
                  <a:srgbClr val="FF0000"/>
                </a:solidFill>
              </a:rPr>
              <a:t>// bit by bit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Limits</a:t>
            </a:r>
          </a:p>
        </p:txBody>
      </p:sp>
      <p:sp>
        <p:nvSpPr>
          <p:cNvPr id="26626" name="Content Placeholder 5"/>
          <p:cNvSpPr>
            <a:spLocks noGrp="1"/>
          </p:cNvSpPr>
          <p:nvPr>
            <p:ph idx="1"/>
          </p:nvPr>
        </p:nvSpPr>
        <p:spPr>
          <a:xfrm>
            <a:off x="714633" y="1367851"/>
            <a:ext cx="8229600" cy="1931404"/>
          </a:xfrm>
        </p:spPr>
        <p:txBody>
          <a:bodyPr/>
          <a:lstStyle/>
          <a:p>
            <a:r>
              <a:rPr lang="en-US" altLang="x-none"/>
              <a:t>Everything you want to know about an arithmetic type is in </a:t>
            </a:r>
          </a:p>
          <a:p>
            <a:pPr lvl="1"/>
            <a:r>
              <a:rPr lang="en-US" altLang="x-none" err="1"/>
              <a:t>std</a:t>
            </a:r>
            <a:r>
              <a:rPr lang="en-US" altLang="x-none"/>
              <a:t>::</a:t>
            </a:r>
            <a:r>
              <a:rPr lang="en-US" altLang="x-none" err="1"/>
              <a:t>numeric_limits</a:t>
            </a:r>
            <a:r>
              <a:rPr lang="en-US" altLang="x-none"/>
              <a:t>&lt;T&gt;  </a:t>
            </a:r>
          </a:p>
          <a:p>
            <a:pPr lvl="1"/>
            <a:r>
              <a:rPr lang="en-US" altLang="x-none"/>
              <a:t>see </a:t>
            </a:r>
            <a:r>
              <a:rPr lang="en-US" altLang="x-none" sz="2000"/>
              <a:t>http://</a:t>
            </a:r>
            <a:r>
              <a:rPr lang="en-US" altLang="x-none" sz="2000" err="1"/>
              <a:t>www.cplusplus.com</a:t>
            </a:r>
            <a:r>
              <a:rPr lang="en-US" altLang="x-none" sz="2000"/>
              <a:t>/reference/limits/</a:t>
            </a:r>
            <a:r>
              <a:rPr lang="en-US" altLang="x-none" sz="2000" err="1"/>
              <a:t>numeric_limits</a:t>
            </a:r>
            <a:r>
              <a:rPr lang="en-US" altLang="x-none" sz="2000"/>
              <a:t>/</a:t>
            </a:r>
          </a:p>
        </p:txBody>
      </p:sp>
      <p:sp>
        <p:nvSpPr>
          <p:cNvPr id="26627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8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9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A44000F-1B7D-CC46-A072-D0868C9398B7}" type="slidenum">
              <a:rPr lang="it-IT" altLang="x-none" sz="1200">
                <a:latin typeface="Garamond" charset="0"/>
              </a:rPr>
              <a:pPr eaLnBrk="1" hangingPunct="1"/>
              <a:t>11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6630" name="TextBox 5"/>
          <p:cNvSpPr txBox="1">
            <a:spLocks noChangeArrowheads="1"/>
          </p:cNvSpPr>
          <p:nvPr/>
        </p:nvSpPr>
        <p:spPr bwMode="auto">
          <a:xfrm>
            <a:off x="951883" y="3224289"/>
            <a:ext cx="8713787" cy="304698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600"/>
              <a:t>#include &lt;</a:t>
            </a:r>
            <a:r>
              <a:rPr lang="en-US" altLang="x-none" sz="1600" err="1"/>
              <a:t>iostream</a:t>
            </a:r>
            <a:r>
              <a:rPr lang="en-US" altLang="x-none" sz="1600"/>
              <a:t>&gt;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cout</a:t>
            </a:r>
            <a:endParaRPr lang="en-US" altLang="x-none" sz="1600"/>
          </a:p>
          <a:p>
            <a:r>
              <a:rPr lang="en-US" altLang="x-none" sz="1600"/>
              <a:t>#include &lt;limits&gt;  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numeric_limits</a:t>
            </a:r>
            <a:endParaRPr lang="en-US" altLang="x-none" sz="1600"/>
          </a:p>
          <a:p>
            <a:r>
              <a:rPr lang="fr-FR" altLang="x-none" sz="1600" err="1"/>
              <a:t>int</a:t>
            </a:r>
            <a:r>
              <a:rPr lang="fr-FR" altLang="x-none" sz="1600"/>
              <a:t> main () {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boolalpha</a:t>
            </a:r>
            <a:r>
              <a:rPr lang="fr-FR" altLang="x-none" sz="1600"/>
              <a:t>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"Minimum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&gt;::min()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"Maximum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&gt;::max()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"Is </a:t>
            </a:r>
            <a:r>
              <a:rPr lang="fr-FR" altLang="x-none" sz="1600" err="1"/>
              <a:t>signed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is_signed</a:t>
            </a:r>
            <a:r>
              <a:rPr lang="fr-FR" altLang="x-none" sz="1600"/>
              <a:t>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significand</a:t>
            </a:r>
            <a:r>
              <a:rPr lang="fr-FR" altLang="x-none" sz="1600"/>
              <a:t> bits: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&gt;::digits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precision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&gt;::epsilon()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"has </a:t>
            </a:r>
            <a:r>
              <a:rPr lang="fr-FR" altLang="x-none" sz="1600" err="1"/>
              <a:t>infinity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has_infinity</a:t>
            </a:r>
            <a:r>
              <a:rPr lang="fr-FR" altLang="x-none" sz="1600"/>
              <a:t> &lt;&lt; '\n';</a:t>
            </a:r>
          </a:p>
          <a:p>
            <a:r>
              <a:rPr lang="is-IS" altLang="x-none" sz="1600"/>
              <a:t>  return 0;</a:t>
            </a:r>
          </a:p>
          <a:p>
            <a:r>
              <a:rPr lang="is-IS" altLang="x-none" sz="1600"/>
              <a:t>}</a:t>
            </a:r>
            <a:endParaRPr lang="es-ES_tradnl" altLang="x-none" sz="1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E6E17-2320-B4E8-C34D-A4003CB03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Fixed width floating-point types (since C++23)</a:t>
            </a:r>
            <a:br>
              <a:rPr lang="en-US"/>
            </a:br>
            <a:r>
              <a:rPr lang="en-US" sz="2800">
                <a:hlinkClick r:id="rId2"/>
              </a:rPr>
              <a:t>https://en.cppreference.com/w/cpp/types/floating-point.html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78096F-C156-5E7E-33C3-8A1ECDE36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9" y="1824630"/>
            <a:ext cx="12094461" cy="2912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175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B25DD-862D-7A79-453B-2A77FA25C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Python interlude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6797E-987F-A023-3746-9B0EAF6BF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Python intrinsic “float” is actually double precision</a:t>
            </a:r>
          </a:p>
          <a:p>
            <a:pPr lvl="1"/>
            <a:r>
              <a:rPr lang="en-US" err="1"/>
              <a:t>float.hex</a:t>
            </a:r>
            <a:r>
              <a:rPr lang="en-US"/>
              <a:t>() and </a:t>
            </a:r>
            <a:r>
              <a:rPr lang="en-US" err="1"/>
              <a:t>float.fromhex</a:t>
            </a:r>
            <a:r>
              <a:rPr lang="en-US"/>
              <a:t>() allows to convert to/from </a:t>
            </a:r>
            <a:r>
              <a:rPr lang="en-US" err="1"/>
              <a:t>exadecimal</a:t>
            </a:r>
            <a:r>
              <a:rPr lang="en-US"/>
              <a:t> string</a:t>
            </a:r>
          </a:p>
          <a:p>
            <a:r>
              <a:rPr lang="en-US" b="1" err="1"/>
              <a:t>numpy</a:t>
            </a:r>
            <a:r>
              <a:rPr lang="en-US"/>
              <a:t> defines float16, float32, float64 (and float128 on x86_64)</a:t>
            </a:r>
          </a:p>
          <a:p>
            <a:pPr lvl="1"/>
            <a:r>
              <a:rPr lang="en-US">
                <a:hlinkClick r:id="rId2"/>
              </a:rPr>
              <a:t>https://numpy.org/doc/2.3/reference/arrays.scalars.html - floating-point-types</a:t>
            </a:r>
            <a:endParaRPr lang="en-US"/>
          </a:p>
          <a:p>
            <a:r>
              <a:rPr lang="en-US" b="1"/>
              <a:t>decimal</a:t>
            </a:r>
            <a:r>
              <a:rPr lang="en-US"/>
              <a:t> is a module providing FP in base 10</a:t>
            </a:r>
          </a:p>
          <a:p>
            <a:pPr lvl="1"/>
            <a:r>
              <a:rPr lang="en-US">
                <a:hlinkClick r:id="rId3"/>
              </a:rPr>
              <a:t>https://docs.python.org/3/library/decimal.html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3298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CA9CE8-5518-5ECA-0924-1A0E2D2AA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7E4ED0-7E73-91A2-45E0-6A4AC47AA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397D800-2A5D-8DE1-A99F-EB71EAD3AA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25387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E4F31B8-A7B9-38EC-1040-6B6993B06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B73195-2A5F-D6F4-66AD-545144681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Count the number of FP in a </a:t>
            </a:r>
            <a:r>
              <a:rPr lang="en-US" dirty="0" err="1"/>
              <a:t>binade</a:t>
            </a:r>
            <a:endParaRPr lang="en-US" dirty="0"/>
          </a:p>
          <a:p>
            <a:pPr lvl="1"/>
            <a:r>
              <a:rPr lang="en-US" dirty="0"/>
              <a:t>Verify that they are the same for two different </a:t>
            </a:r>
            <a:r>
              <a:rPr lang="en-US" dirty="0" err="1"/>
              <a:t>binades</a:t>
            </a:r>
            <a:endParaRPr lang="en-US" dirty="0"/>
          </a:p>
          <a:p>
            <a:r>
              <a:rPr lang="en-US" dirty="0"/>
              <a:t>Compute the ULP for some FPs</a:t>
            </a:r>
          </a:p>
          <a:p>
            <a:pPr lvl="1"/>
            <a:r>
              <a:rPr lang="en-US" dirty="0"/>
              <a:t>How it depends on the </a:t>
            </a:r>
            <a:r>
              <a:rPr lang="en-US" dirty="0" err="1"/>
              <a:t>binade</a:t>
            </a:r>
            <a:r>
              <a:rPr lang="en-US" dirty="0"/>
              <a:t>?</a:t>
            </a:r>
          </a:p>
          <a:p>
            <a:r>
              <a:rPr lang="en-US" dirty="0"/>
              <a:t>Convert some number (0.1, e, pi, 31.5,  …) between various representations (including decimal)</a:t>
            </a:r>
          </a:p>
          <a:p>
            <a:pPr lvl="1"/>
            <a:r>
              <a:rPr lang="en-US" dirty="0"/>
              <a:t>See what happens and explain it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11342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DF874-3597-BFB0-AECD-EAF9C9471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22559-4366-0A66-160C-67AB5C7A6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1849" y="1467279"/>
            <a:ext cx="11232292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There are two basic operations: </a:t>
            </a:r>
          </a:p>
          <a:p>
            <a:r>
              <a:rPr lang="en-US" dirty="0"/>
              <a:t>sum and multiplication</a:t>
            </a:r>
          </a:p>
          <a:p>
            <a:pPr lvl="1"/>
            <a:r>
              <a:rPr lang="en-US" dirty="0" err="1"/>
              <a:t>a+b</a:t>
            </a:r>
            <a:r>
              <a:rPr lang="en-US" dirty="0"/>
              <a:t> and </a:t>
            </a:r>
            <a:r>
              <a:rPr lang="en-US" dirty="0" err="1"/>
              <a:t>a×b</a:t>
            </a:r>
            <a:r>
              <a:rPr lang="en-US" dirty="0"/>
              <a:t>  symbolize the exact sum and multiplication between a and b</a:t>
            </a:r>
          </a:p>
          <a:p>
            <a:pPr lvl="1"/>
            <a:r>
              <a:rPr lang="en-US" dirty="0" err="1"/>
              <a:t>a⊕b</a:t>
            </a:r>
            <a:r>
              <a:rPr lang="en-US" dirty="0"/>
              <a:t> and </a:t>
            </a:r>
            <a:r>
              <a:rPr lang="en-US" dirty="0" err="1"/>
              <a:t>a⊗b</a:t>
            </a:r>
            <a:r>
              <a:rPr lang="en-US" dirty="0"/>
              <a:t>  symbolize the rounded sum and multiplication between FPs a and b</a:t>
            </a:r>
          </a:p>
          <a:p>
            <a:pPr lvl="2"/>
            <a:r>
              <a:rPr lang="en-US" dirty="0" err="1"/>
              <a:t>a+b</a:t>
            </a:r>
            <a:r>
              <a:rPr lang="en-US" dirty="0"/>
              <a:t> and a*b  are the corresponding operations in code</a:t>
            </a:r>
          </a:p>
          <a:p>
            <a:r>
              <a:rPr lang="en-US" dirty="0"/>
              <a:t>We will use decimal precision 2 for all examples to allow mental arithmetic in a finite time</a:t>
            </a:r>
          </a:p>
          <a:p>
            <a:pPr lvl="1"/>
            <a:r>
              <a:rPr lang="en-US" dirty="0"/>
              <a:t>42+3.7 = …</a:t>
            </a:r>
          </a:p>
          <a:p>
            <a:pPr lvl="1"/>
            <a:r>
              <a:rPr lang="en-US" dirty="0"/>
              <a:t>42⊕3.7 = …</a:t>
            </a:r>
          </a:p>
          <a:p>
            <a:pPr lvl="1"/>
            <a:r>
              <a:rPr lang="en-US" dirty="0"/>
              <a:t>42⊕3.3 = … , 42⊕3.5 = … , 43⊕3.5 = …</a:t>
            </a:r>
            <a:br>
              <a:rPr lang="en-US" dirty="0"/>
            </a:br>
            <a:r>
              <a:rPr lang="en-US" dirty="0"/>
              <a:t>42⊕3.3⊕3.4 = … , 3.4⊕3.3⊕42 = … </a:t>
            </a:r>
            <a:br>
              <a:rPr lang="en-US" dirty="0"/>
            </a:br>
            <a:r>
              <a:rPr lang="en-US" dirty="0"/>
              <a:t>42⊕3.3⊕ -45 = … </a:t>
            </a:r>
          </a:p>
          <a:p>
            <a:pPr marL="457200" lvl="1" indent="0">
              <a:buNone/>
            </a:pPr>
            <a:r>
              <a:rPr lang="en-US" dirty="0"/>
              <a:t>(use python decimal to verify results)</a:t>
            </a:r>
          </a:p>
        </p:txBody>
      </p:sp>
    </p:spTree>
    <p:extLst>
      <p:ext uri="{BB962C8B-B14F-4D97-AF65-F5344CB8AC3E}">
        <p14:creationId xmlns:p14="http://schemas.microsoft.com/office/powerpoint/2010/main" val="21960158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Title 1"/>
          <p:cNvSpPr>
            <a:spLocks noGrp="1"/>
          </p:cNvSpPr>
          <p:nvPr>
            <p:ph type="title"/>
          </p:nvPr>
        </p:nvSpPr>
        <p:spPr>
          <a:xfrm>
            <a:off x="234778" y="258763"/>
            <a:ext cx="11957222" cy="1225550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Classical example of loss of precision due to cancellation</a:t>
            </a:r>
          </a:p>
        </p:txBody>
      </p:sp>
      <p:sp>
        <p:nvSpPr>
          <p:cNvPr id="32770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1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2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E060A6B-253B-E84D-BDFF-791BD1DD4C11}" type="slidenum">
              <a:rPr lang="it-IT" altLang="x-none" sz="1200">
                <a:latin typeface="Garamond" charset="0"/>
              </a:rPr>
              <a:pPr eaLnBrk="1" hangingPunct="1"/>
              <a:t>17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2774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4825" y="1484313"/>
            <a:ext cx="5005388" cy="2665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2775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7655" y="2267125"/>
            <a:ext cx="4611687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776" name="TextBox 11"/>
          <p:cNvSpPr txBox="1">
            <a:spLocks noChangeArrowheads="1"/>
          </p:cNvSpPr>
          <p:nvPr/>
        </p:nvSpPr>
        <p:spPr bwMode="auto">
          <a:xfrm>
            <a:off x="6715662" y="1921154"/>
            <a:ext cx="274530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Well know better solution</a:t>
            </a:r>
          </a:p>
        </p:txBody>
      </p:sp>
      <p:sp>
        <p:nvSpPr>
          <p:cNvPr id="32777" name="TextBox 12"/>
          <p:cNvSpPr txBox="1">
            <a:spLocks noChangeArrowheads="1"/>
          </p:cNvSpPr>
          <p:nvPr/>
        </p:nvSpPr>
        <p:spPr bwMode="auto">
          <a:xfrm>
            <a:off x="3575050" y="4797425"/>
            <a:ext cx="4967288" cy="52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>
                <a:solidFill>
                  <a:srgbClr val="FF0000"/>
                </a:solidFill>
              </a:rPr>
              <a:t>Two sources of cancellation</a:t>
            </a:r>
          </a:p>
        </p:txBody>
      </p:sp>
      <p:cxnSp>
        <p:nvCxnSpPr>
          <p:cNvPr id="15" name="Straight Arrow Connector 14"/>
          <p:cNvCxnSpPr>
            <a:cxnSpLocks noChangeShapeType="1"/>
          </p:cNvCxnSpPr>
          <p:nvPr/>
        </p:nvCxnSpPr>
        <p:spPr bwMode="auto">
          <a:xfrm flipH="1" flipV="1">
            <a:off x="4727575" y="3500439"/>
            <a:ext cx="1512888" cy="1368425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" name="Straight Arrow Connector 16"/>
          <p:cNvCxnSpPr>
            <a:cxnSpLocks noChangeShapeType="1"/>
          </p:cNvCxnSpPr>
          <p:nvPr/>
        </p:nvCxnSpPr>
        <p:spPr bwMode="auto">
          <a:xfrm flipH="1" flipV="1">
            <a:off x="3792538" y="3500438"/>
            <a:ext cx="215900" cy="1441450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2780" name="TextBox 19"/>
          <p:cNvSpPr txBox="1">
            <a:spLocks noChangeArrowheads="1"/>
          </p:cNvSpPr>
          <p:nvPr/>
        </p:nvSpPr>
        <p:spPr bwMode="auto">
          <a:xfrm>
            <a:off x="2424113" y="5661025"/>
            <a:ext cx="520065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https://en.wikipedia.org/wiki/Loss_of_significance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5E44-1145-B3B5-99CB-164A17DB7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first theorem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A1BBA-EAF2-6BF3-A6DF-55D23C2E2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The difference of two number of the same </a:t>
            </a:r>
            <a:r>
              <a:rPr lang="en-US" err="1"/>
              <a:t>binade</a:t>
            </a:r>
            <a:r>
              <a:rPr lang="en-US"/>
              <a:t> is precise</a:t>
            </a:r>
          </a:p>
          <a:p>
            <a:pPr lvl="1"/>
            <a:r>
              <a:rPr lang="en-US"/>
              <a:t>99-11 = 88, 42-37 = 5</a:t>
            </a:r>
          </a:p>
          <a:p>
            <a:pPr lvl="1"/>
            <a:r>
              <a:rPr lang="en-US"/>
              <a:t>0x1.921fb6p+1 - 0x1.001e72p+1 = 0x1.240288p+0</a:t>
            </a:r>
          </a:p>
          <a:p>
            <a:endParaRPr lang="en-US"/>
          </a:p>
          <a:p>
            <a:r>
              <a:rPr lang="en-US"/>
              <a:t>If 2b&gt;a&gt;b/2&gt;0 then </a:t>
            </a:r>
            <a:r>
              <a:rPr lang="en-US" err="1"/>
              <a:t>a⊖b</a:t>
            </a:r>
            <a:r>
              <a:rPr lang="en-US"/>
              <a:t> = a-b (is precise)</a:t>
            </a:r>
            <a:br>
              <a:rPr lang="en-US"/>
            </a:br>
            <a:r>
              <a:rPr lang="en-US"/>
              <a:t>(</a:t>
            </a:r>
            <a:r>
              <a:rPr lang="en-US">
                <a:hlinkClick r:id="rId2"/>
              </a:rPr>
              <a:t>https://en.wikipedia.org/wiki/Sterbenz_lemma</a:t>
            </a:r>
            <a:r>
              <a:rPr lang="en-US"/>
              <a:t>)</a:t>
            </a:r>
          </a:p>
          <a:p>
            <a:pPr lvl="1"/>
            <a:r>
              <a:rPr lang="en-US"/>
              <a:t>12-7.4 = 4.6, 18-7.4= 10.6 =&gt; 18⊖7.4 = 11</a:t>
            </a:r>
          </a:p>
          <a:p>
            <a:pPr lvl="1"/>
            <a:r>
              <a:rPr lang="en-US"/>
              <a:t>0x1.333334p-2 ⊖ 0x1.99999ap-3 = 0x1.99999ap-4 (precise)</a:t>
            </a:r>
          </a:p>
          <a:p>
            <a:pPr lvl="1"/>
            <a:r>
              <a:rPr lang="en-US"/>
              <a:t>0x1.333334p-2 ⊖ 0x1.99999ap-4 = 0x1.99999cp-3 (not precise)</a:t>
            </a:r>
          </a:p>
        </p:txBody>
      </p:sp>
    </p:spTree>
    <p:extLst>
      <p:ext uri="{BB962C8B-B14F-4D97-AF65-F5344CB8AC3E}">
        <p14:creationId xmlns:p14="http://schemas.microsoft.com/office/powerpoint/2010/main" val="40582275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EE935-6904-8630-3A5E-C062BD088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Augmented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41BE4-A79E-81D3-30F4-1363BA165B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6989" y="1690688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/>
              <a:t>If a&gt;b&gt;0 : </a:t>
            </a:r>
            <a:r>
              <a:rPr lang="en-US" err="1"/>
              <a:t>a+b</a:t>
            </a:r>
            <a:r>
              <a:rPr lang="en-US"/>
              <a:t> &lt; 2a</a:t>
            </a:r>
          </a:p>
          <a:p>
            <a:endParaRPr lang="en-US"/>
          </a:p>
          <a:p>
            <a:r>
              <a:rPr lang="en-US"/>
              <a:t>c = </a:t>
            </a:r>
            <a:r>
              <a:rPr lang="en-US" err="1"/>
              <a:t>a⊕b</a:t>
            </a:r>
            <a:endParaRPr lang="en-US"/>
          </a:p>
          <a:p>
            <a:r>
              <a:rPr lang="en-US"/>
              <a:t>t = </a:t>
            </a:r>
            <a:r>
              <a:rPr lang="en-US" err="1"/>
              <a:t>c⊖a</a:t>
            </a:r>
            <a:r>
              <a:rPr lang="en-US"/>
              <a:t>  is exact</a:t>
            </a:r>
          </a:p>
          <a:p>
            <a:r>
              <a:rPr lang="en-US"/>
              <a:t>e = </a:t>
            </a:r>
            <a:r>
              <a:rPr lang="en-US" err="1"/>
              <a:t>b⊖t</a:t>
            </a:r>
            <a:r>
              <a:rPr lang="en-US"/>
              <a:t>  is exact</a:t>
            </a:r>
          </a:p>
          <a:p>
            <a:r>
              <a:rPr lang="en-US" err="1"/>
              <a:t>a+b</a:t>
            </a:r>
            <a:r>
              <a:rPr lang="en-US"/>
              <a:t> = </a:t>
            </a:r>
            <a:r>
              <a:rPr lang="en-US" err="1"/>
              <a:t>c+e</a:t>
            </a:r>
            <a:r>
              <a:rPr lang="en-US"/>
              <a:t> </a:t>
            </a:r>
          </a:p>
          <a:p>
            <a:pPr lvl="1"/>
            <a:r>
              <a:rPr lang="en-US"/>
              <a:t>e is the error of </a:t>
            </a:r>
            <a:r>
              <a:rPr lang="en-US" err="1"/>
              <a:t>a⊕b</a:t>
            </a:r>
            <a:endParaRPr lang="en-US"/>
          </a:p>
          <a:p>
            <a:endParaRPr lang="en-US"/>
          </a:p>
          <a:p>
            <a:r>
              <a:rPr lang="en-US"/>
              <a:t>This algorithm is known as “</a:t>
            </a:r>
            <a:r>
              <a:rPr lang="en-US" err="1"/>
              <a:t>fastTwoSum</a:t>
            </a:r>
            <a:r>
              <a:rPr lang="en-US"/>
              <a:t>” and (with small modifications) proposed as </a:t>
            </a:r>
            <a:r>
              <a:rPr lang="en-US" err="1"/>
              <a:t>AugmentedSum</a:t>
            </a:r>
            <a:r>
              <a:rPr lang="en-US"/>
              <a:t> in next IEEE754 revision </a:t>
            </a:r>
          </a:p>
          <a:p>
            <a:r>
              <a:rPr lang="en-US"/>
              <a:t>A similar algorithm exists for multiplication as well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77977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2FB71-B737-C32C-CF86-409365860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of augmented sum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B01E0E-6FCF-CEA0-F220-94CD44A4F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59380"/>
          </a:xfrm>
        </p:spPr>
        <p:txBody>
          <a:bodyPr>
            <a:normAutofit lnSpcReduction="10000"/>
          </a:bodyPr>
          <a:lstStyle/>
          <a:p>
            <a:r>
              <a:rPr lang="en-US"/>
              <a:t>42⊕3.7 = 46</a:t>
            </a:r>
          </a:p>
          <a:p>
            <a:r>
              <a:rPr lang="en-US"/>
              <a:t>46⊖42 = 4</a:t>
            </a:r>
          </a:p>
          <a:p>
            <a:r>
              <a:rPr lang="en-US"/>
              <a:t>3.7⊖4 = -0.3</a:t>
            </a:r>
          </a:p>
          <a:p>
            <a:r>
              <a:rPr lang="en-US"/>
              <a:t>46-0.3 = 42+3.7</a:t>
            </a:r>
          </a:p>
          <a:p>
            <a:r>
              <a:rPr lang="en-US"/>
              <a:t>In short: </a:t>
            </a:r>
            <a:r>
              <a:rPr lang="en-US" err="1"/>
              <a:t>asum</a:t>
            </a:r>
            <a:r>
              <a:rPr lang="en-US"/>
              <a:t>(42,3.7) = 46,-0.3</a:t>
            </a:r>
          </a:p>
          <a:p>
            <a:endParaRPr lang="en-US"/>
          </a:p>
          <a:p>
            <a:r>
              <a:rPr lang="en-US"/>
              <a:t>42⊕3.3⊕3.4 = 48 while 42+3.3+3.4 = 48.7</a:t>
            </a:r>
          </a:p>
          <a:p>
            <a:r>
              <a:rPr lang="en-US" err="1"/>
              <a:t>asum</a:t>
            </a:r>
            <a:r>
              <a:rPr lang="en-US"/>
              <a:t>(42,3.3) = 45,0.3</a:t>
            </a:r>
          </a:p>
          <a:p>
            <a:r>
              <a:rPr lang="en-US" err="1"/>
              <a:t>asum</a:t>
            </a:r>
            <a:r>
              <a:rPr lang="en-US"/>
              <a:t>(45 ,3.4) = 48,0.4</a:t>
            </a:r>
          </a:p>
          <a:p>
            <a:r>
              <a:rPr lang="en-US" err="1"/>
              <a:t>asum</a:t>
            </a:r>
            <a:r>
              <a:rPr lang="en-US"/>
              <a:t>(48,0.3+0.4) = 49, -0.3 </a:t>
            </a:r>
          </a:p>
        </p:txBody>
      </p:sp>
    </p:spTree>
    <p:extLst>
      <p:ext uri="{BB962C8B-B14F-4D97-AF65-F5344CB8AC3E}">
        <p14:creationId xmlns:p14="http://schemas.microsoft.com/office/powerpoint/2010/main" val="31824723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D461D-F652-AAC2-4FC1-FDE365440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Catastrophic cancellation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86B28-45D1-57E1-A9B0-C1CC5697A3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42⊕3.3⊕ -45 = 0 while 42+3.3-45 = 0.3</a:t>
            </a:r>
          </a:p>
          <a:p>
            <a:pPr lvl="1"/>
            <a:r>
              <a:rPr lang="en-US" dirty="0"/>
              <a:t>Catastrophic cancellation</a:t>
            </a:r>
          </a:p>
          <a:p>
            <a:r>
              <a:rPr lang="en-US" dirty="0" err="1"/>
              <a:t>asum</a:t>
            </a:r>
            <a:r>
              <a:rPr lang="en-US" dirty="0"/>
              <a:t>(42,3.3) = 45,0.3</a:t>
            </a:r>
          </a:p>
          <a:p>
            <a:r>
              <a:rPr lang="en-US" dirty="0" err="1"/>
              <a:t>asum</a:t>
            </a:r>
            <a:r>
              <a:rPr lang="en-US" dirty="0"/>
              <a:t>(45 ,-45) = 0.0,0.0</a:t>
            </a:r>
          </a:p>
          <a:p>
            <a:r>
              <a:rPr lang="en-US" dirty="0" err="1"/>
              <a:t>asum</a:t>
            </a:r>
            <a:r>
              <a:rPr lang="en-US" dirty="0"/>
              <a:t>(0.0,0.3+0.0) = 0.3, 0.0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55524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4D40A-FA76-6F94-EE86-7C1679F6F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Compensating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F316F0-F6EA-A0F3-3D5D-CC38A74474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531266"/>
          </a:xfrm>
        </p:spPr>
        <p:txBody>
          <a:bodyPr/>
          <a:lstStyle/>
          <a:p>
            <a:r>
              <a:rPr lang="en-US" dirty="0"/>
              <a:t>Kahan summation</a:t>
            </a:r>
          </a:p>
          <a:p>
            <a:pPr lvl="1"/>
            <a:r>
              <a:rPr lang="en-US" dirty="0">
                <a:hlinkClick r:id="rId2"/>
              </a:rPr>
              <a:t>https://en.wikipedia.org/wiki/Kahan_summation_algorithm</a:t>
            </a:r>
            <a:endParaRPr lang="en-US" dirty="0"/>
          </a:p>
          <a:p>
            <a:pPr lvl="1"/>
            <a:r>
              <a:rPr lang="en-US" dirty="0"/>
              <a:t>with excruciating details </a:t>
            </a:r>
            <a:r>
              <a:rPr lang="en-US" dirty="0">
                <a:hlinkClick r:id="rId3"/>
              </a:rPr>
              <a:t>https://arxiv.org/html/2602.19452v1 - LST2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22782E-2AE8-5E4E-D2AA-20DCC4B008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098" y="3287851"/>
            <a:ext cx="3985413" cy="2554545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b="1" dirty="0"/>
              <a:t>T </a:t>
            </a:r>
            <a:r>
              <a:rPr lang="en-US" altLang="en-US" sz="1600" b="1" dirty="0" err="1"/>
              <a:t>kahanSum</a:t>
            </a:r>
            <a:r>
              <a:rPr lang="en-US" altLang="en-US" sz="1600" b="1" dirty="0"/>
              <a:t>(T const * input, 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n) { </a:t>
            </a:r>
          </a:p>
          <a:p>
            <a:pPr eaLnBrk="1" hangingPunct="1"/>
            <a:r>
              <a:rPr lang="en-US" altLang="en-US" sz="1600" b="1" dirty="0"/>
              <a:t>T sum = input[0];</a:t>
            </a:r>
          </a:p>
          <a:p>
            <a:pPr eaLnBrk="1" hangingPunct="1"/>
            <a:r>
              <a:rPr lang="en-US" altLang="en-US" sz="1600" b="1" dirty="0"/>
              <a:t>T t = 0.0;          </a:t>
            </a:r>
          </a:p>
          <a:p>
            <a:pPr eaLnBrk="1" hangingPunct="1"/>
            <a:r>
              <a:rPr lang="en-US" altLang="en-US" sz="1600" b="1" dirty="0"/>
              <a:t>for (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 = 1;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&lt;n; ++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)  {  </a:t>
            </a:r>
          </a:p>
          <a:p>
            <a:pPr eaLnBrk="1" hangingPunct="1"/>
            <a:r>
              <a:rPr lang="en-US" altLang="en-US" sz="1600" b="1" dirty="0"/>
              <a:t>  y = input[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] – t; </a:t>
            </a:r>
          </a:p>
          <a:p>
            <a:pPr eaLnBrk="1" hangingPunct="1"/>
            <a:r>
              <a:rPr lang="en-US" altLang="en-US" sz="1600" b="1" i="1" dirty="0"/>
              <a:t>  auto s = sum + y</a:t>
            </a:r>
          </a:p>
          <a:p>
            <a:pPr eaLnBrk="1" hangingPunct="1"/>
            <a:r>
              <a:rPr lang="en-US" altLang="en-US" sz="1600" b="1" i="1" dirty="0"/>
              <a:t>  t = (s - sum) – y;   </a:t>
            </a:r>
          </a:p>
          <a:p>
            <a:pPr eaLnBrk="1" hangingPunct="1"/>
            <a:r>
              <a:rPr lang="en-US" altLang="en-US" sz="1600" b="1" i="1" dirty="0"/>
              <a:t>  sum = s;                                    </a:t>
            </a:r>
          </a:p>
          <a:p>
            <a:pPr eaLnBrk="1" hangingPunct="1"/>
            <a:r>
              <a:rPr lang="en-US" altLang="en-US" sz="1600" b="1" i="1" dirty="0"/>
              <a:t>} </a:t>
            </a:r>
          </a:p>
          <a:p>
            <a:pPr eaLnBrk="1" hangingPunct="1"/>
            <a:r>
              <a:rPr lang="en-US" altLang="en-US" sz="1600" b="1" i="1" dirty="0"/>
              <a:t>return sum;</a:t>
            </a:r>
            <a:endParaRPr lang="en-US" altLang="en-US" sz="1600" b="1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23E267-73A4-1A4E-36A1-BA2B20C5695B}"/>
              </a:ext>
            </a:extLst>
          </p:cNvPr>
          <p:cNvSpPr txBox="1"/>
          <p:nvPr/>
        </p:nvSpPr>
        <p:spPr>
          <a:xfrm>
            <a:off x="4756108" y="3356891"/>
            <a:ext cx="49524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Improved algorithms exist, differently handling various magnitude ranges (“big”, “medium” and “tiny”) or by (partial) sorting</a:t>
            </a:r>
          </a:p>
        </p:txBody>
      </p:sp>
    </p:spTree>
    <p:extLst>
      <p:ext uri="{BB962C8B-B14F-4D97-AF65-F5344CB8AC3E}">
        <p14:creationId xmlns:p14="http://schemas.microsoft.com/office/powerpoint/2010/main" val="11994032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E20AA-B625-0B63-9F2F-C72BE2EA5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FMA: Fused Multiple Add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2866DD-121A-7352-FBC1-5EB3685E66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0125"/>
            <a:ext cx="10515600" cy="355030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Also known as MAC (multiply accumulate) instruction on AMD</a:t>
            </a:r>
          </a:p>
          <a:p>
            <a:r>
              <a:rPr lang="en-US" dirty="0" err="1"/>
              <a:t>fma</a:t>
            </a:r>
            <a:r>
              <a:rPr lang="en-US" dirty="0"/>
              <a:t>(</a:t>
            </a:r>
            <a:r>
              <a:rPr lang="en-US" dirty="0" err="1"/>
              <a:t>a,b,c</a:t>
            </a:r>
            <a:r>
              <a:rPr lang="en-US" dirty="0"/>
              <a:t>) computes the correctly rounded result of a*</a:t>
            </a:r>
            <a:r>
              <a:rPr lang="en-US" dirty="0" err="1"/>
              <a:t>b+c</a:t>
            </a:r>
            <a:endParaRPr lang="en-US" dirty="0"/>
          </a:p>
          <a:p>
            <a:pPr lvl="1"/>
            <a:r>
              <a:rPr lang="en-US" dirty="0"/>
              <a:t>It improves speed and precision in many computation such as linear algebra</a:t>
            </a:r>
          </a:p>
          <a:p>
            <a:pPr lvl="1"/>
            <a:r>
              <a:rPr lang="en-US" dirty="0"/>
              <a:t>No standard on how to “contract” expression (depends on compiler)</a:t>
            </a:r>
          </a:p>
          <a:p>
            <a:pPr lvl="2"/>
            <a:r>
              <a:rPr lang="en-US" dirty="0"/>
              <a:t>a*</a:t>
            </a:r>
            <a:r>
              <a:rPr lang="en-US" dirty="0" err="1"/>
              <a:t>b+c</a:t>
            </a:r>
            <a:r>
              <a:rPr lang="en-US" dirty="0"/>
              <a:t>*d ,  </a:t>
            </a:r>
            <a:r>
              <a:rPr lang="en-US" dirty="0" err="1"/>
              <a:t>a+b</a:t>
            </a:r>
            <a:r>
              <a:rPr lang="en-US" dirty="0"/>
              <a:t>*</a:t>
            </a:r>
            <a:r>
              <a:rPr lang="en-US" dirty="0" err="1"/>
              <a:t>c+d</a:t>
            </a:r>
            <a:r>
              <a:rPr lang="en-US" dirty="0"/>
              <a:t> , x*=</a:t>
            </a:r>
            <a:r>
              <a:rPr lang="en-US" dirty="0" err="1"/>
              <a:t>a;x</a:t>
            </a:r>
            <a:r>
              <a:rPr lang="en-US" dirty="0"/>
              <a:t>+=b ,  </a:t>
            </a:r>
            <a:r>
              <a:rPr lang="en-US" dirty="0" err="1"/>
              <a:t>etc</a:t>
            </a:r>
            <a:endParaRPr lang="en-US" dirty="0"/>
          </a:p>
          <a:p>
            <a:pPr lvl="1"/>
            <a:r>
              <a:rPr lang="en-US" dirty="0"/>
              <a:t>It clearly introduces asymmetries </a:t>
            </a:r>
          </a:p>
          <a:p>
            <a:pPr lvl="2"/>
            <a:r>
              <a:rPr lang="en-US" dirty="0"/>
              <a:t>for instance  a*</a:t>
            </a:r>
            <a:r>
              <a:rPr lang="en-US" dirty="0" err="1"/>
              <a:t>b+c</a:t>
            </a:r>
            <a:r>
              <a:rPr lang="en-US" dirty="0"/>
              <a:t>*d ≠ c*</a:t>
            </a:r>
            <a:r>
              <a:rPr lang="en-US" dirty="0" err="1"/>
              <a:t>d+a</a:t>
            </a:r>
            <a:r>
              <a:rPr lang="en-US" dirty="0"/>
              <a:t>*b</a:t>
            </a:r>
          </a:p>
          <a:p>
            <a:r>
              <a:rPr lang="en-US" dirty="0"/>
              <a:t>Kahan comes to the rescue again with this algorithm</a:t>
            </a:r>
          </a:p>
          <a:p>
            <a:pPr marL="914400" lvl="2" indent="0">
              <a:buNone/>
            </a:pPr>
            <a:r>
              <a:rPr lang="en-US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7EF3BD-4D64-9993-8C80-6011D1A0EA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1843" y="4565174"/>
            <a:ext cx="6612012" cy="1815882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T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kahanDet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(T a, T b, T c, T d) { // a*d-b*c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using std::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w = b*c;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e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(-b, c, w); // error on w (w,-e)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augmentedMultiply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b,c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f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(a, d, -w);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return 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f+e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}</a:t>
            </a:r>
            <a:endParaRPr lang="en-US" altLang="en-US" sz="3600" dirty="0"/>
          </a:p>
        </p:txBody>
      </p:sp>
    </p:spTree>
    <p:extLst>
      <p:ext uri="{BB962C8B-B14F-4D97-AF65-F5344CB8AC3E}">
        <p14:creationId xmlns:p14="http://schemas.microsoft.com/office/powerpoint/2010/main" val="33674586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E9581-E325-5E7E-0859-53684EED8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9DA1CFB-C459-B481-2D99-2558956DF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F988BC-AA84-EA5B-1D5E-2B46A6087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1F68500B-495C-0FA3-7CB7-25F8051616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764309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7EAC43B-26A5-792A-9D83-2D4F75A3F27E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530492" y="541337"/>
            <a:ext cx="10515600" cy="28876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Sum T(0.1) 10000 times in binary32, binary64, decimal2, decimal5</a:t>
            </a:r>
          </a:p>
          <a:p>
            <a:pPr lvl="1"/>
            <a:r>
              <a:rPr lang="en-US" dirty="0"/>
              <a:t>Google for “patriot failure”</a:t>
            </a:r>
          </a:p>
          <a:p>
            <a:r>
              <a:rPr lang="en-US" dirty="0"/>
              <a:t>Sum 10</a:t>
            </a:r>
            <a:r>
              <a:rPr lang="en-US" baseline="30000" dirty="0"/>
              <a:t>9</a:t>
            </a:r>
            <a:r>
              <a:rPr lang="en-US" dirty="0"/>
              <a:t> positive random numbers (in range   10</a:t>
            </a:r>
            <a:r>
              <a:rPr lang="en-US" baseline="30000" dirty="0"/>
              <a:t>-n</a:t>
            </a:r>
            <a:r>
              <a:rPr lang="en-US" dirty="0"/>
              <a:t>, 10</a:t>
            </a:r>
            <a:r>
              <a:rPr lang="en-US" baseline="30000" dirty="0"/>
              <a:t>+n</a:t>
            </a:r>
            <a:r>
              <a:rPr lang="en-US" dirty="0"/>
              <a:t> )</a:t>
            </a:r>
          </a:p>
          <a:p>
            <a:pPr lvl="1"/>
            <a:r>
              <a:rPr lang="en-US" dirty="0"/>
              <a:t>Typical in </a:t>
            </a:r>
            <a:r>
              <a:rPr lang="en-US" dirty="0" err="1"/>
              <a:t>unbinned</a:t>
            </a:r>
            <a:r>
              <a:rPr lang="en-US" dirty="0"/>
              <a:t> log-</a:t>
            </a:r>
            <a:r>
              <a:rPr lang="en-US" dirty="0" err="1"/>
              <a:t>likehood</a:t>
            </a:r>
            <a:endParaRPr lang="en-US" dirty="0"/>
          </a:p>
          <a:p>
            <a:r>
              <a:rPr lang="en-US" dirty="0"/>
              <a:t>Compute the average age of all humans on earth</a:t>
            </a:r>
          </a:p>
          <a:p>
            <a:endParaRPr lang="en-US" dirty="0"/>
          </a:p>
          <a:p>
            <a:r>
              <a:rPr lang="en-US" dirty="0"/>
              <a:t>Compute π as the integral of 4/(1+x</a:t>
            </a:r>
            <a:r>
              <a:rPr lang="en-US" baseline="30000" dirty="0"/>
              <a:t>2</a:t>
            </a:r>
            <a:r>
              <a:rPr lang="en-US" dirty="0"/>
              <a:t>) between 0 and 1</a:t>
            </a:r>
            <a:endParaRPr lang="en-US" baseline="30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D55FF4-1135-3B72-0E12-51A04E2647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087" y="3613194"/>
            <a:ext cx="4630750" cy="28918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F7091E-0E56-FB7A-8067-4CBEA07396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627" y="3515270"/>
            <a:ext cx="4203603" cy="3172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7501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5">
            <a:extLst>
              <a:ext uri="{FF2B5EF4-FFF2-40B4-BE49-F238E27FC236}">
                <a16:creationId xmlns:a16="http://schemas.microsoft.com/office/drawing/2014/main" id="{12C6D14A-6777-8EE3-EC4F-B869119030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517803"/>
            <a:ext cx="6682946" cy="6340197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#include &lt;iostream&gt;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iomanip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#include &lt;random&gt;</a:t>
            </a:r>
          </a:p>
          <a:p>
            <a:pPr eaLnBrk="1" hangingPunct="1"/>
            <a:r>
              <a:rPr lang="en-US" altLang="x-none" sz="1400" dirty="0"/>
              <a:t>#include &lt;algorithm&gt;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cmath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int main()</a:t>
            </a:r>
          </a:p>
          <a:p>
            <a:pPr eaLnBrk="1" hangingPunct="1"/>
            <a:r>
              <a:rPr lang="en-US" altLang="x-none" sz="1400" dirty="0"/>
              <a:t>{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random_device</a:t>
            </a:r>
            <a:r>
              <a:rPr lang="en-US" altLang="x-none" sz="1400" dirty="0"/>
              <a:t>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;  // to obtain a seed for the random number engine</a:t>
            </a:r>
          </a:p>
          <a:p>
            <a:pPr eaLnBrk="1" hangingPunct="1"/>
            <a:r>
              <a:rPr lang="en-US" altLang="x-none" sz="1400" dirty="0"/>
              <a:t>    std::mt19937 gen(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()); // Standard </a:t>
            </a:r>
            <a:r>
              <a:rPr lang="en-US" altLang="x-none" sz="1400" dirty="0" err="1"/>
              <a:t>mersenne_twister_engine</a:t>
            </a:r>
            <a:r>
              <a:rPr lang="en-US" altLang="x-none" sz="1400" dirty="0"/>
              <a:t> seeded with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uniform_real_distribution</a:t>
            </a:r>
            <a:r>
              <a:rPr lang="en-US" altLang="x-none" sz="1400" dirty="0"/>
              <a:t>&lt;float&gt; dis(-1.0, 1.0); </a:t>
            </a:r>
          </a:p>
          <a:p>
            <a:pPr eaLnBrk="1" hangingPunct="1"/>
            <a:r>
              <a:rPr lang="en-US" altLang="x-none" sz="1400" dirty="0"/>
              <a:t>    </a:t>
            </a:r>
            <a:r>
              <a:rPr lang="en-US" altLang="x-none" sz="1400" dirty="0" err="1"/>
              <a:t>size_t</a:t>
            </a:r>
            <a:r>
              <a:rPr lang="en-US" altLang="x-none" sz="1400" dirty="0"/>
              <a:t> N = 40*1000*1000;</a:t>
            </a:r>
          </a:p>
          <a:p>
            <a:pPr eaLnBrk="1" hangingPunct="1"/>
            <a:r>
              <a:rPr lang="en-US" altLang="x-none" sz="1400" dirty="0"/>
              <a:t>    float * x = new float[N];</a:t>
            </a:r>
          </a:p>
          <a:p>
            <a:pPr eaLnBrk="1" hangingPunct="1"/>
            <a:r>
              <a:rPr lang="en-US" altLang="x-none" sz="1400" dirty="0"/>
              <a:t>    for (int n = 0; n &lt; N; ++n) {</a:t>
            </a:r>
          </a:p>
          <a:p>
            <a:pPr eaLnBrk="1" hangingPunct="1"/>
            <a:r>
              <a:rPr lang="en-US" altLang="x-none" sz="1400" dirty="0"/>
              <a:t>        // Use dis to transform the random unsigned int generated by gen into a</a:t>
            </a:r>
          </a:p>
          <a:p>
            <a:pPr eaLnBrk="1" hangingPunct="1"/>
            <a:r>
              <a:rPr lang="en-US" altLang="x-none" sz="1400" dirty="0"/>
              <a:t>        // float in [-1, 1). Each call to dis(gen) generates a new random float.</a:t>
            </a:r>
          </a:p>
          <a:p>
            <a:pPr eaLnBrk="1" hangingPunct="1"/>
            <a:r>
              <a:rPr lang="en-US" altLang="x-none" sz="1400" dirty="0"/>
              <a:t>        x[n] = dis(gen);</a:t>
            </a:r>
          </a:p>
          <a:p>
            <a:pPr eaLnBrk="1" hangingPunct="1"/>
            <a:r>
              <a:rPr lang="en-US" altLang="x-none" sz="1400" dirty="0"/>
              <a:t>    }</a:t>
            </a:r>
          </a:p>
          <a:p>
            <a:pPr eaLnBrk="1" hangingPunct="1"/>
            <a:r>
              <a:rPr lang="en-US" altLang="x-none" sz="1400" dirty="0"/>
              <a:t>    // sort in absolute value</a:t>
            </a:r>
          </a:p>
          <a:p>
            <a:pPr eaLnBrk="1" hangingPunct="1"/>
            <a:r>
              <a:rPr lang="en-US" altLang="x-none" sz="1400" dirty="0"/>
              <a:t>    std::sort(</a:t>
            </a:r>
            <a:r>
              <a:rPr lang="en-US" altLang="x-none" sz="1400" dirty="0" err="1"/>
              <a:t>x,x+N</a:t>
            </a:r>
            <a:r>
              <a:rPr lang="en-US" altLang="x-none" sz="1400" dirty="0"/>
              <a:t>,[](float a, float b) { return std::abs(a) &lt; std::abs(b);});</a:t>
            </a:r>
          </a:p>
          <a:p>
            <a:pPr eaLnBrk="1" hangingPunct="1"/>
            <a:r>
              <a:rPr lang="en-US" altLang="x-none" sz="1400" dirty="0"/>
              <a:t>    // print first and last 40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std::</a:t>
            </a:r>
            <a:r>
              <a:rPr lang="en-US" altLang="x-none" sz="1400" dirty="0" err="1"/>
              <a:t>hexfloat</a:t>
            </a:r>
            <a:r>
              <a:rPr lang="en-US" altLang="x-none" sz="1400" dirty="0"/>
              <a:t>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    delete [] x;</a:t>
            </a:r>
          </a:p>
          <a:p>
            <a:pPr eaLnBrk="1" hangingPunct="1"/>
            <a:r>
              <a:rPr lang="en-US" altLang="x-none" sz="1400" dirty="0"/>
              <a:t>    return 0;</a:t>
            </a:r>
          </a:p>
          <a:p>
            <a:pPr eaLnBrk="1" hangingPunct="1"/>
            <a:r>
              <a:rPr lang="en-US" altLang="x-none" sz="1400" dirty="0"/>
              <a:t>}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D2F4D33E-677C-6D18-A2E1-B5488259B3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2946" y="339429"/>
            <a:ext cx="5509054" cy="65556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0 -5.96046e-08 1.19209e-07 -1.19209e-07 1.19209e-07 -1.19209e-07 1.19209e-07 1.19209e-07 -1.78814e-07 2.38419e-07 -2.38419e-07 -3.57628e-07 3.57628e-07 3.57628e-07 -4.17233e-07 -4.17233e-07 -4.17233e-07 4.76837e-07 4.76837e-07 4.76837e-07 5.96046e-07 -5.96046e-07 -6.55651e-07 7.15256e-07 -7.15256e-07 -7.7486e-07 8.34465e-07 8.34465e-07 -8.34465e-07 8.34465e-07 -8.9407e-07 -9.53674e-07 -9.53674e-07 -9.53674e-07 9.53674e-07 1.07288e-06 1.07288e-06 1.19209e-06 1.19209e-06 1.19209e-06</a:t>
            </a:r>
          </a:p>
          <a:p>
            <a:pPr eaLnBrk="1" hangingPunct="1"/>
            <a:r>
              <a:rPr lang="en-US" altLang="x-none" sz="1400" dirty="0"/>
              <a:t>1 -1 1 1 1 -1 1 1 1 1 -1 -1 -1 -1 -1 1 1 0.999999 0.999999 -0.999999 -0.999999 -0.999999 -0.999999 -0.999999 0.999999 0.999999 0.999999 0.999999 -0.999999 -0.999999 -0.999999 0.999999 0.999999 -0.999999 -0.999999 -0.999999 0.999999 0.999999 0.999999 -0.999999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0x0p+0 -0x1p-24 0x1p-23 -0x1p-23 0x1p-23 -0x1p-23 0x1p-23 0x1p-23 -0x1.8p-23 0x1p-22 -0x1p-22 -0x1.8p-22 0x1.8p-22 0x1.8p-22 -0x1.cp-22 -0x1.cp-22 -0x1.cp-22 0x1p-21 0x1p-21 0x1p-21 0x1.4p-21 -0x1.4p-21 -0x1.6p-21 0x1.8p-21 -0x1.8p-21 -0x1.ap-21 0x1.cp-21 0x1.cp-21 -0x1.cp-21 0x1.cp-21 -0x1.ep-21 -0x1p-20 -0x1p-20 -0x1p-20 0x1p-20 0x1.2p-20 0x1.2p-20 0x1.4p-20 0x1.4p-20 0x1.4p-20</a:t>
            </a:r>
          </a:p>
          <a:p>
            <a:pPr eaLnBrk="1" hangingPunct="1"/>
            <a:r>
              <a:rPr lang="en-US" altLang="x-none" sz="1400" dirty="0"/>
              <a:t>0x1p+0 -0x1p+0 0x1p+0 0x1p+0 0x1p+0 -0x1.fffffep-1 0x1.fffffcp-1 0x1.fffffcp-1 0x1.fffff8p-1 0x1.fffff4p-1 -0x1.fffff4p-1 -0x1.fffff2p-1 -0x1.fffff2p-1 -0x1.fffffp-1 -0x1.fffffp-1 0x1.fffffp-1 0x1.fffffp-1 0x1.ffffecp-1 0x1.ffffecp-1 -0x1.ffffeap-1 -0x1.ffffeap-1 -0x1.ffffeap-1 -0x1.ffffeap-1 -0x1.ffffeap-1 0x1.ffffe8p-1 0x1.ffffe8p-1 0x1.ffffe8p-1 0x1.ffffe8p-1 -0x1.ffffe6p-1 -0x1.ffffe6p-1 -0x1.ffffe6p-1 0x1.ffffe4p-1 0x1.ffffe4p-1 -0x1.ffffe2p-1 -0x1.ffffe2p-1 -0x1.ffffep-1 0x1.ffffep-1 0x1.ffffep-1 0x1.ffffep-1 -0x1.ffffep-1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BAAF5F-A54C-2843-F80E-D8605F16A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013" y="0"/>
            <a:ext cx="6682946" cy="870551"/>
          </a:xfrm>
        </p:spPr>
        <p:txBody>
          <a:bodyPr/>
          <a:lstStyle/>
          <a:p>
            <a:r>
              <a:rPr lang="en-US" dirty="0"/>
              <a:t>Random Number interlude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9B69373-28D4-967A-ED33-3BA269A49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2518" y="667389"/>
            <a:ext cx="3713482" cy="13368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696056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A2A27-8BC3-D8E6-E35B-0D725A86A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Uniform vs canonical</a:t>
            </a:r>
            <a:br>
              <a:rPr lang="en-US" dirty="0"/>
            </a:br>
            <a:r>
              <a:rPr lang="en-US" sz="2200" dirty="0"/>
              <a:t>(for a detailed discussion see among others</a:t>
            </a:r>
            <a:br>
              <a:rPr lang="en-US" sz="2200" dirty="0"/>
            </a:br>
            <a:r>
              <a:rPr lang="en-US" sz="2200" dirty="0">
                <a:hlinkClick r:id="rId2"/>
              </a:rPr>
              <a:t>https://github.com/DiscreteLogarithm/canonical-random-float/tree/master</a:t>
            </a:r>
            <a:r>
              <a:rPr lang="en-US" sz="2200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8EBA84-CCDB-3151-928F-7A00CCB87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851037" cy="46672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u="sng" dirty="0"/>
              <a:t>Uniform in range [</a:t>
            </a:r>
            <a:r>
              <a:rPr lang="en-US" u="sng" dirty="0" err="1"/>
              <a:t>a,b</a:t>
            </a:r>
            <a:r>
              <a:rPr lang="en-US" u="sng" dirty="0"/>
              <a:t>)</a:t>
            </a:r>
          </a:p>
          <a:p>
            <a:r>
              <a:rPr lang="en-US" dirty="0"/>
              <a:t>Throw 32 coins: interpret as a positive integer N</a:t>
            </a:r>
          </a:p>
          <a:p>
            <a:r>
              <a:rPr lang="en-US" dirty="0"/>
              <a:t>Compute r = float(N)/float(2</a:t>
            </a:r>
            <a:r>
              <a:rPr lang="en-US" baseline="30000" dirty="0"/>
              <a:t>32</a:t>
            </a:r>
            <a:r>
              <a:rPr lang="en-US" dirty="0"/>
              <a:t>)*(b-a) –a</a:t>
            </a:r>
          </a:p>
          <a:p>
            <a:pPr marL="0" indent="0">
              <a:buNone/>
            </a:pPr>
            <a:endParaRPr lang="en-US" baseline="30000" dirty="0"/>
          </a:p>
          <a:p>
            <a:pPr marL="0" indent="0">
              <a:buNone/>
            </a:pPr>
            <a:r>
              <a:rPr lang="en-US" u="sng" dirty="0"/>
              <a:t>Canonical</a:t>
            </a:r>
          </a:p>
          <a:p>
            <a:r>
              <a:rPr lang="en-US" dirty="0"/>
              <a:t>Throw 23 coins: set significand of r to them</a:t>
            </a:r>
          </a:p>
          <a:p>
            <a:r>
              <a:rPr lang="en-US" dirty="0"/>
              <a:t>Throw one more coin: if 1 set exponent of r to -1: uniform in [0.5,1)</a:t>
            </a:r>
          </a:p>
          <a:p>
            <a:pPr lvl="1"/>
            <a:r>
              <a:rPr lang="en-US" dirty="0"/>
              <a:t>If 0 :Throw one more coin: if 1 set exponent of r to -2: uniform in [0.25,0.5)</a:t>
            </a:r>
          </a:p>
          <a:p>
            <a:pPr lvl="2"/>
            <a:r>
              <a:rPr lang="en-US" dirty="0"/>
              <a:t>If 0:  Throw one more coin: if 1 set exponent of r to -3: uniform in [0.125,0.25)</a:t>
            </a:r>
          </a:p>
          <a:p>
            <a:pPr lvl="3"/>
            <a:r>
              <a:rPr lang="en-US" dirty="0"/>
              <a:t>If 0:  Throw one more coin: if 1 set exponent of r to -4: uniform in [0.0625,0.125)</a:t>
            </a:r>
          </a:p>
          <a:p>
            <a:pPr lvl="4"/>
            <a:r>
              <a:rPr lang="en-US" dirty="0"/>
              <a:t>If 0: ….	</a:t>
            </a:r>
          </a:p>
          <a:p>
            <a:r>
              <a:rPr lang="en-US" dirty="0"/>
              <a:t>If symmetric interval around 0 use last coin to choose sign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25438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690117-F887-E4E1-FE6A-411EDB8C6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349372"/>
            <a:ext cx="10515600" cy="1515153"/>
          </a:xfrm>
        </p:spPr>
        <p:txBody>
          <a:bodyPr>
            <a:normAutofit/>
          </a:bodyPr>
          <a:lstStyle/>
          <a:p>
            <a:r>
              <a:rPr lang="en-US" dirty="0"/>
              <a:t> Gaussian Tail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DCF096E-5ACB-4EFC-C309-58C23DF22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7628" y="497991"/>
            <a:ext cx="7630275" cy="1325562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Generated 256*10</a:t>
            </a:r>
            <a:r>
              <a:rPr lang="en-US" baseline="30000" dirty="0"/>
              <a:t>9 </a:t>
            </a:r>
            <a:r>
              <a:rPr lang="en-US" dirty="0"/>
              <a:t>Normal distributed using Box-Muller</a:t>
            </a:r>
            <a:endParaRPr lang="en-US" baseline="30000" dirty="0"/>
          </a:p>
          <a:p>
            <a:pPr marL="0" indent="0">
              <a:buNone/>
            </a:pPr>
            <a:endParaRPr lang="en-US" baseline="30000" dirty="0"/>
          </a:p>
          <a:p>
            <a:r>
              <a:rPr lang="en-US" baseline="30000" dirty="0">
                <a:solidFill>
                  <a:srgbClr val="FF0000"/>
                </a:solidFill>
              </a:rPr>
              <a:t>Mix: 23 bits for U2, 41 bits for U1 </a:t>
            </a:r>
          </a:p>
          <a:p>
            <a:r>
              <a:rPr lang="en-US" baseline="30000" dirty="0">
                <a:solidFill>
                  <a:srgbClr val="7030A0"/>
                </a:solidFill>
              </a:rPr>
              <a:t>Lux: all-possible floats for both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389EE30-8AD0-5E32-BF70-8C3EE90C6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252" y="1864525"/>
            <a:ext cx="10502900" cy="4610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1A93714-3098-EE65-A716-4C94B850E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1934" y="2770960"/>
            <a:ext cx="5838466" cy="16202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57850CB-9387-7EF8-62D7-531BD0082637}"/>
              </a:ext>
            </a:extLst>
          </p:cNvPr>
          <p:cNvSpPr txBox="1"/>
          <p:nvPr/>
        </p:nvSpPr>
        <p:spPr>
          <a:xfrm>
            <a:off x="5562600" y="2349754"/>
            <a:ext cx="2861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Box-Muller Algorithm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5A6DC3-61D8-A584-FC6E-3B5A7EC540A4}"/>
              </a:ext>
            </a:extLst>
          </p:cNvPr>
          <p:cNvSpPr txBox="1"/>
          <p:nvPr/>
        </p:nvSpPr>
        <p:spPr>
          <a:xfrm>
            <a:off x="3348370" y="5561930"/>
            <a:ext cx="21929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sqrt(-2log(2</a:t>
            </a:r>
            <a:r>
              <a:rPr lang="en-US" baseline="30000" dirty="0">
                <a:solidFill>
                  <a:srgbClr val="00B050"/>
                </a:solidFill>
              </a:rPr>
              <a:t>-32</a:t>
            </a:r>
            <a:r>
              <a:rPr lang="en-US" dirty="0">
                <a:solidFill>
                  <a:srgbClr val="00B050"/>
                </a:solidFill>
              </a:rPr>
              <a:t>)) ~ 6.6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106C92-051F-1885-3A01-0D0826C5B579}"/>
              </a:ext>
            </a:extLst>
          </p:cNvPr>
          <p:cNvSpPr txBox="1"/>
          <p:nvPr/>
        </p:nvSpPr>
        <p:spPr>
          <a:xfrm>
            <a:off x="4242391" y="3189767"/>
            <a:ext cx="212651" cy="5741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989CB7-7507-EAB2-FB48-25D5A0CE8A2C}"/>
              </a:ext>
            </a:extLst>
          </p:cNvPr>
          <p:cNvSpPr txBox="1"/>
          <p:nvPr/>
        </p:nvSpPr>
        <p:spPr>
          <a:xfrm>
            <a:off x="1612584" y="4478262"/>
            <a:ext cx="23464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sqrt(-2log(2</a:t>
            </a:r>
            <a:r>
              <a:rPr lang="en-US" baseline="30000" dirty="0">
                <a:solidFill>
                  <a:srgbClr val="FFC000"/>
                </a:solidFill>
              </a:rPr>
              <a:t>-23</a:t>
            </a:r>
            <a:r>
              <a:rPr lang="en-US" dirty="0">
                <a:solidFill>
                  <a:srgbClr val="FFC000"/>
                </a:solidFill>
              </a:rPr>
              <a:t>)) ~ 5.6 </a:t>
            </a:r>
          </a:p>
        </p:txBody>
      </p:sp>
    </p:spTree>
    <p:extLst>
      <p:ext uri="{BB962C8B-B14F-4D97-AF65-F5344CB8AC3E}">
        <p14:creationId xmlns:p14="http://schemas.microsoft.com/office/powerpoint/2010/main" val="24430645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A59C7-A3CA-91DB-D251-2D35BFC1E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B0296-7549-07A9-DB46-A197286DF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IEEE754 defines a set of “additional operations” (aka elementary functions) </a:t>
            </a:r>
          </a:p>
          <a:p>
            <a:pPr lvl="1"/>
            <a:r>
              <a:rPr lang="en-US" dirty="0"/>
              <a:t>exp, log, power of various forms</a:t>
            </a:r>
          </a:p>
          <a:p>
            <a:pPr lvl="1"/>
            <a:r>
              <a:rPr lang="en-US" dirty="0"/>
              <a:t>trig, hyperbolic and their inverse (arc)</a:t>
            </a:r>
          </a:p>
          <a:p>
            <a:pPr lvl="1"/>
            <a:r>
              <a:rPr lang="en-US" dirty="0"/>
              <a:t>They are “required” to be correctly rounded</a:t>
            </a:r>
          </a:p>
          <a:p>
            <a:r>
              <a:rPr lang="en-US" dirty="0"/>
              <a:t>C and C++ std define some more special functions</a:t>
            </a:r>
          </a:p>
          <a:p>
            <a:pPr lvl="1"/>
            <a:r>
              <a:rPr lang="en-US" dirty="0">
                <a:hlinkClick r:id="rId2"/>
              </a:rPr>
              <a:t>https://en.cppreference.com/cpp/numeric/math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https://en.wikipedia.org/wiki/C_mathematical_functions</a:t>
            </a:r>
            <a:endParaRPr lang="en-US" dirty="0"/>
          </a:p>
          <a:p>
            <a:r>
              <a:rPr lang="en-US" dirty="0"/>
              <a:t>Each vendor/compiler provides its own implementation</a:t>
            </a:r>
          </a:p>
          <a:p>
            <a:pPr lvl="1"/>
            <a:r>
              <a:rPr lang="en-US" dirty="0"/>
              <a:t>A comparison of their accuracy is compiled by </a:t>
            </a:r>
            <a:r>
              <a:rPr lang="en-US" dirty="0" err="1"/>
              <a:t>B.Gladman</a:t>
            </a:r>
            <a:endParaRPr lang="en-US" dirty="0"/>
          </a:p>
          <a:p>
            <a:pPr lvl="2"/>
            <a:r>
              <a:rPr lang="en-US" dirty="0">
                <a:hlinkClick r:id="rId4"/>
              </a:rPr>
              <a:t>https://members.loria.fr/PZimmermann/papers/accuracy.pdf</a:t>
            </a:r>
            <a:endParaRPr lang="en-US" dirty="0"/>
          </a:p>
          <a:p>
            <a:r>
              <a:rPr lang="en-US" dirty="0"/>
              <a:t>The most accurate implementation to date is from the “core-math” project</a:t>
            </a:r>
          </a:p>
          <a:p>
            <a:pPr lvl="1"/>
            <a:r>
              <a:rPr lang="en-US" dirty="0">
                <a:hlinkClick r:id="rId5"/>
              </a:rPr>
              <a:t>https://core-math.gitlabpages.inria.fr/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79149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606DE-C899-6844-8CF7-F5F9A44A8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ED6A3A-AEDA-BC4E-82AD-F1AA1D4FE8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685406"/>
            <a:ext cx="10515600" cy="705215"/>
          </a:xfrm>
        </p:spPr>
        <p:txBody>
          <a:bodyPr/>
          <a:lstStyle/>
          <a:p>
            <a:r>
              <a:rPr lang="en-US" dirty="0">
                <a:hlinkClick r:id="rId2"/>
              </a:rPr>
              <a:t>https://members.loria.fr/PZimmermann/papers/accuracy.pdf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540C4C-B678-4041-BD67-6527373CC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01A2FC-DB09-8144-92F1-5D21AB9A5879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7889F-FE40-C740-B271-3670DFF21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 HPC in HEP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729A71-BBC1-574E-86E1-9B53D806A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D0D4D-849C-9F43-9E32-2F43D5C86DA0}" type="slidenum">
              <a:rPr lang="en-US" smtClean="0"/>
              <a:t>30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9EE449-BB21-A44B-BDA5-58672ED5AE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0" y="1460897"/>
            <a:ext cx="8712200" cy="35687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E2365B0-AD44-A44D-8213-330063DB1A50}"/>
              </a:ext>
            </a:extLst>
          </p:cNvPr>
          <p:cNvSpPr txBox="1"/>
          <p:nvPr/>
        </p:nvSpPr>
        <p:spPr>
          <a:xfrm>
            <a:off x="1270000" y="5316074"/>
            <a:ext cx="8784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Maximal error (in bits) for single precision functions as implemented in various math library</a:t>
            </a:r>
          </a:p>
        </p:txBody>
      </p:sp>
    </p:spTree>
    <p:extLst>
      <p:ext uri="{BB962C8B-B14F-4D97-AF65-F5344CB8AC3E}">
        <p14:creationId xmlns:p14="http://schemas.microsoft.com/office/powerpoint/2010/main" val="145970636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A1F9A-4DE0-E93B-B0EA-198097595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1189"/>
          </a:xfrm>
        </p:spPr>
        <p:txBody>
          <a:bodyPr/>
          <a:lstStyle/>
          <a:p>
            <a:r>
              <a:rPr lang="en-US" dirty="0"/>
              <a:t>Evaluating a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FA385-BE03-A1B4-A776-3419E23CAE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3873" y="1105615"/>
            <a:ext cx="10515600" cy="484702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Five steps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Handling special values, under/over-flows and invalid</a:t>
            </a:r>
          </a:p>
          <a:p>
            <a:pPr lvl="1"/>
            <a:r>
              <a:rPr lang="en-US" dirty="0"/>
              <a:t>Standard specify them all!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Range Reduction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Approximation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required:</a:t>
            </a:r>
          </a:p>
          <a:p>
            <a:pPr lvl="1"/>
            <a:r>
              <a:rPr lang="en-US" dirty="0"/>
              <a:t>precision test and handling of “Table Maker’s Dilemma”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Back to full range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92516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5A76E-847D-8C9D-A4E2-A1B587BCA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Range reduction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01C695-E4BD-B119-1B0B-4E90AA85A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721" y="1825625"/>
            <a:ext cx="11310330" cy="4351338"/>
          </a:xfrm>
        </p:spPr>
        <p:txBody>
          <a:bodyPr>
            <a:normAutofit/>
          </a:bodyPr>
          <a:lstStyle/>
          <a:p>
            <a:r>
              <a:rPr lang="en-US" dirty="0"/>
              <a:t>exp, log, pow</a:t>
            </a:r>
          </a:p>
          <a:p>
            <a:pPr lvl="1"/>
            <a:r>
              <a:rPr lang="en-US" dirty="0"/>
              <a:t>exploit </a:t>
            </a:r>
            <a:r>
              <a:rPr lang="en-US" dirty="0" err="1"/>
              <a:t>fp</a:t>
            </a:r>
            <a:r>
              <a:rPr lang="en-US" dirty="0"/>
              <a:t> representation: x = 1.mᐧ</a:t>
            </a:r>
            <a:r>
              <a:rPr lang="cs-CZ" altLang="x-none" dirty="0"/>
              <a:t>2</a:t>
            </a:r>
            <a:r>
              <a:rPr lang="en-US" altLang="x-none" baseline="30000" dirty="0"/>
              <a:t>n</a:t>
            </a:r>
            <a:endParaRPr lang="en-US" baseline="30000" dirty="0"/>
          </a:p>
          <a:p>
            <a:pPr lvl="1"/>
            <a:r>
              <a:rPr lang="en-US" dirty="0"/>
              <a:t>For exp(x):  x = </a:t>
            </a:r>
            <a:r>
              <a:rPr lang="en-US" dirty="0" err="1"/>
              <a:t>kᐧlog</a:t>
            </a:r>
            <a:r>
              <a:rPr lang="en-US" dirty="0"/>
              <a:t>(2)+y, with y in [-log(2)/2;log(2)/2). exp(x) = 2</a:t>
            </a:r>
            <a:r>
              <a:rPr lang="en-US" baseline="30000" dirty="0"/>
              <a:t>k </a:t>
            </a:r>
            <a:r>
              <a:rPr lang="en-US" dirty="0" err="1"/>
              <a:t>ᐧexp</a:t>
            </a:r>
            <a:r>
              <a:rPr lang="en-US" dirty="0"/>
              <a:t>(y)</a:t>
            </a:r>
            <a:endParaRPr lang="en-US" baseline="30000" dirty="0"/>
          </a:p>
          <a:p>
            <a:pPr lvl="1"/>
            <a:r>
              <a:rPr lang="en-US" dirty="0"/>
              <a:t>For log(x):  x =  yᐧ2</a:t>
            </a:r>
            <a:r>
              <a:rPr lang="en-US" baseline="30000" dirty="0"/>
              <a:t>z</a:t>
            </a:r>
            <a:r>
              <a:rPr lang="en-US" dirty="0"/>
              <a:t>, with  y in [0.75,1.5)</a:t>
            </a:r>
            <a:r>
              <a:rPr lang="en-US" baseline="30000" dirty="0"/>
              <a:t> </a:t>
            </a:r>
            <a:r>
              <a:rPr lang="en-US" dirty="0"/>
              <a:t>. log(x) = </a:t>
            </a:r>
            <a:r>
              <a:rPr lang="en-US" dirty="0" err="1"/>
              <a:t>zᐧlog</a:t>
            </a:r>
            <a:r>
              <a:rPr lang="en-US" dirty="0"/>
              <a:t>(2)+log(y) </a:t>
            </a:r>
          </a:p>
          <a:p>
            <a:pPr lvl="1"/>
            <a:r>
              <a:rPr lang="en-US" dirty="0" err="1"/>
              <a:t>x</a:t>
            </a:r>
            <a:r>
              <a:rPr lang="en-US" baseline="30000" dirty="0" err="1"/>
              <a:t>y</a:t>
            </a:r>
            <a:r>
              <a:rPr lang="en-US" baseline="30000" dirty="0"/>
              <a:t> </a:t>
            </a:r>
            <a:r>
              <a:rPr lang="en-US" dirty="0"/>
              <a:t>= </a:t>
            </a:r>
            <a:r>
              <a:rPr lang="en-US" dirty="0" err="1"/>
              <a:t>e</a:t>
            </a:r>
            <a:r>
              <a:rPr lang="en-US" baseline="30000" dirty="0" err="1"/>
              <a:t>yᐧlog</a:t>
            </a:r>
            <a:r>
              <a:rPr lang="en-US" baseline="30000" dirty="0"/>
              <a:t>(x)</a:t>
            </a:r>
            <a:endParaRPr lang="en-US" dirty="0"/>
          </a:p>
          <a:p>
            <a:r>
              <a:rPr lang="en-US" dirty="0" err="1"/>
              <a:t>sin,cos,tan</a:t>
            </a:r>
            <a:endParaRPr lang="en-US" dirty="0"/>
          </a:p>
          <a:p>
            <a:pPr lvl="1"/>
            <a:r>
              <a:rPr lang="en-US" dirty="0"/>
              <a:t>Reduce to [0, π/4) (trivial for f(π</a:t>
            </a:r>
            <a:r>
              <a:rPr lang="en-US" dirty="0" err="1"/>
              <a:t>ᐧx</a:t>
            </a:r>
            <a:r>
              <a:rPr lang="en-US" dirty="0"/>
              <a:t>) known as </a:t>
            </a:r>
            <a:r>
              <a:rPr lang="en-US" dirty="0" err="1"/>
              <a:t>sinpi,cospi</a:t>
            </a:r>
            <a:r>
              <a:rPr lang="en-US" dirty="0"/>
              <a:t> </a:t>
            </a:r>
            <a:r>
              <a:rPr lang="en-US" dirty="0" err="1"/>
              <a:t>etc</a:t>
            </a:r>
            <a:r>
              <a:rPr lang="en-US" dirty="0"/>
              <a:t>, tricky for sin(x)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use trig identities to go back</a:t>
            </a:r>
          </a:p>
          <a:p>
            <a:r>
              <a:rPr lang="en-US" dirty="0" err="1"/>
              <a:t>asin,acos,atan</a:t>
            </a:r>
            <a:r>
              <a:rPr lang="en-US" dirty="0"/>
              <a:t>(2)</a:t>
            </a:r>
          </a:p>
          <a:p>
            <a:pPr lvl="1"/>
            <a:r>
              <a:rPr lang="en-US" dirty="0"/>
              <a:t>approximate it in “ad-hoc” intervals (make sure continuity at edges)</a:t>
            </a:r>
          </a:p>
        </p:txBody>
      </p:sp>
    </p:spTree>
    <p:extLst>
      <p:ext uri="{BB962C8B-B14F-4D97-AF65-F5344CB8AC3E}">
        <p14:creationId xmlns:p14="http://schemas.microsoft.com/office/powerpoint/2010/main" val="18549198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3096E-0FB8-D1CA-58AB-3E330A508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EC86E-C3C4-005B-E8CD-545CAC7EC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357"/>
            <a:ext cx="10515600" cy="4783830"/>
          </a:xfrm>
        </p:spPr>
        <p:txBody>
          <a:bodyPr>
            <a:normAutofit/>
          </a:bodyPr>
          <a:lstStyle/>
          <a:p>
            <a:r>
              <a:rPr lang="en-US" dirty="0"/>
              <a:t>Since 1964 the reference for function approximation is the </a:t>
            </a:r>
            <a:r>
              <a:rPr lang="en-US" i="1" dirty="0"/>
              <a:t>Abramowitz and </a:t>
            </a:r>
            <a:r>
              <a:rPr lang="en-US" i="1" dirty="0" err="1"/>
              <a:t>Stegun</a:t>
            </a:r>
            <a:endParaRPr lang="en-US" i="1" dirty="0"/>
          </a:p>
          <a:p>
            <a:pPr lvl="1"/>
            <a:r>
              <a:rPr lang="en-US" dirty="0"/>
              <a:t>Today replaced by the </a:t>
            </a:r>
            <a:r>
              <a:rPr lang="en-US" i="1" dirty="0"/>
              <a:t>digital library </a:t>
            </a:r>
            <a:r>
              <a:rPr lang="en-US" dirty="0">
                <a:hlinkClick r:id="rId2"/>
              </a:rPr>
              <a:t>https://dlmf.nist.gov/</a:t>
            </a:r>
            <a:endParaRPr lang="en-US" dirty="0"/>
          </a:p>
          <a:p>
            <a:r>
              <a:rPr lang="en-US" dirty="0"/>
              <a:t>Elementary functions are usually approximated either by  </a:t>
            </a:r>
          </a:p>
          <a:p>
            <a:pPr lvl="1"/>
            <a:r>
              <a:rPr lang="en-US" dirty="0"/>
              <a:t>Shift-and-add algorithms (CORDIC </a:t>
            </a:r>
            <a:r>
              <a:rPr lang="en-US" dirty="0">
                <a:hlinkClick r:id="rId3"/>
              </a:rPr>
              <a:t>https://en.wikipedia.org/wiki/CORDIC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Today limited to FPGA</a:t>
            </a:r>
          </a:p>
          <a:p>
            <a:pPr lvl="1"/>
            <a:r>
              <a:rPr lang="en-US" dirty="0"/>
              <a:t>a polynomial</a:t>
            </a:r>
          </a:p>
          <a:p>
            <a:pPr lvl="2"/>
            <a:r>
              <a:rPr lang="en-US" dirty="0"/>
              <a:t>Chebyshev approximation satisfying the ”superior” norm (max in an interval)</a:t>
            </a:r>
          </a:p>
          <a:p>
            <a:pPr lvl="1"/>
            <a:r>
              <a:rPr lang="en-US" dirty="0"/>
              <a:t>a rational function (ratio of two polynomial)</a:t>
            </a:r>
          </a:p>
          <a:p>
            <a:pPr lvl="2"/>
            <a:r>
              <a:rPr lang="en-US" dirty="0"/>
              <a:t>Pade’ approximation</a:t>
            </a:r>
          </a:p>
          <a:p>
            <a:pPr lvl="1"/>
            <a:r>
              <a:rPr lang="en-US" dirty="0"/>
              <a:t>an iterative method such as Newton-Raphson</a:t>
            </a:r>
          </a:p>
          <a:p>
            <a:pPr marL="0" indent="0">
              <a:buNone/>
            </a:pPr>
            <a:r>
              <a:rPr lang="en-US" sz="1800" dirty="0"/>
              <a:t>See also the short paper by </a:t>
            </a:r>
            <a:r>
              <a:rPr lang="en-US" sz="1800" dirty="0" err="1"/>
              <a:t>J.M.Muller</a:t>
            </a:r>
            <a:r>
              <a:rPr lang="en-US" sz="1800" dirty="0"/>
              <a:t> </a:t>
            </a:r>
            <a:r>
              <a:rPr lang="en-US" sz="1800" dirty="0">
                <a:hlinkClick r:id="rId4"/>
              </a:rPr>
              <a:t>https://hal.science/hal-02517784v1/file/approxfunctions.pdf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0869425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7C1BC-635C-B440-306B-771A7D703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1/x,</a:t>
            </a:r>
            <a:r>
              <a:rPr lang="en-US" altLang="en-US" dirty="0">
                <a:ea typeface="ＭＳ Ｐゴシック" panose="020B0600070205080204" pitchFamily="34" charset="-128"/>
              </a:rPr>
              <a:t> √</a:t>
            </a:r>
            <a:r>
              <a:rPr lang="en-US" dirty="0"/>
              <a:t>(x),1/</a:t>
            </a:r>
            <a:r>
              <a:rPr lang="en-US" altLang="en-US" dirty="0">
                <a:ea typeface="ＭＳ Ｐゴシック" panose="020B0600070205080204" pitchFamily="34" charset="-128"/>
              </a:rPr>
              <a:t>√</a:t>
            </a:r>
            <a:r>
              <a:rPr lang="en-US" dirty="0"/>
              <a:t>(x) aka </a:t>
            </a:r>
            <a:r>
              <a:rPr lang="en-US" dirty="0" err="1"/>
              <a:t>rcp</a:t>
            </a:r>
            <a:r>
              <a:rPr lang="en-US" dirty="0"/>
              <a:t>(x),sqrt(x),</a:t>
            </a:r>
            <a:r>
              <a:rPr lang="en-US" dirty="0" err="1"/>
              <a:t>rsqrt</a:t>
            </a:r>
            <a:r>
              <a:rPr lang="en-US" dirty="0"/>
              <a:t>(x)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48287-65FB-35C0-3D99-A7760E441E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1518"/>
            <a:ext cx="10515600" cy="2476350"/>
          </a:xfrm>
        </p:spPr>
        <p:txBody>
          <a:bodyPr>
            <a:normAutofit/>
          </a:bodyPr>
          <a:lstStyle/>
          <a:p>
            <a:r>
              <a:rPr lang="en-US" dirty="0"/>
              <a:t>Few fast converging Newton-Raphson iterations</a:t>
            </a:r>
          </a:p>
          <a:p>
            <a:pPr lvl="1"/>
            <a:r>
              <a:rPr lang="en-US" dirty="0"/>
              <a:t>Starting point is an approximation of  </a:t>
            </a:r>
            <a:r>
              <a:rPr lang="en-US" i="1" dirty="0"/>
              <a:t>f</a:t>
            </a:r>
            <a:r>
              <a:rPr lang="en-US" dirty="0"/>
              <a:t>(1.m)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ECB73D8-E6ED-0730-F110-9A5324BBB611}"/>
              </a:ext>
            </a:extLst>
          </p:cNvPr>
          <p:cNvSpPr txBox="1">
            <a:spLocks/>
          </p:cNvSpPr>
          <p:nvPr/>
        </p:nvSpPr>
        <p:spPr>
          <a:xfrm>
            <a:off x="1470814" y="2675694"/>
            <a:ext cx="8458200" cy="1066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altLang="en-US" dirty="0">
                <a:ea typeface="ＭＳ Ｐゴシック" panose="020B0600070205080204" pitchFamily="34" charset="-128"/>
              </a:rPr>
              <a:t>The major contribution of game industry to SE is the discovery of the “magic” fast 1/√x algorithm in quake3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1FB198-5BA2-7463-B22E-2D8A8537B0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0024" y="3742494"/>
            <a:ext cx="4648200" cy="2032000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/>
              <a:t>float </a:t>
            </a:r>
            <a:r>
              <a:rPr lang="en-US" altLang="en-US" sz="1800" dirty="0" err="1"/>
              <a:t>rsqrt</a:t>
            </a:r>
            <a:r>
              <a:rPr lang="en-US" altLang="en-US" sz="1800" dirty="0"/>
              <a:t>(float x){</a:t>
            </a:r>
          </a:p>
          <a:p>
            <a:pPr eaLnBrk="1" hangingPunct="1"/>
            <a:r>
              <a:rPr lang="en-US" altLang="en-US" sz="1800" dirty="0"/>
              <a:t>  union {float </a:t>
            </a:r>
            <a:r>
              <a:rPr lang="en-US" altLang="en-US" sz="1800" dirty="0" err="1"/>
              <a:t>f;int</a:t>
            </a:r>
            <a:r>
              <a:rPr lang="en-US" altLang="en-US" sz="1800" dirty="0"/>
              <a:t> </a:t>
            </a:r>
            <a:r>
              <a:rPr lang="en-US" altLang="en-US" sz="1800" dirty="0" err="1"/>
              <a:t>i</a:t>
            </a:r>
            <a:r>
              <a:rPr lang="en-US" altLang="en-US" sz="1800" dirty="0"/>
              <a:t>;} </a:t>
            </a:r>
            <a:r>
              <a:rPr lang="en-US" altLang="en-US" sz="1800" dirty="0" err="1"/>
              <a:t>tmp</a:t>
            </a:r>
            <a:r>
              <a:rPr lang="en-US" altLang="en-US" sz="1800" dirty="0"/>
              <a:t>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 = x;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= 0x5f3759df - (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&gt;&gt; 1);</a:t>
            </a:r>
          </a:p>
          <a:p>
            <a:pPr eaLnBrk="1" hangingPunct="1"/>
            <a:r>
              <a:rPr lang="en-US" altLang="en-US" sz="1800" dirty="0"/>
              <a:t>  float y =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; // approximate</a:t>
            </a:r>
          </a:p>
          <a:p>
            <a:pPr eaLnBrk="1" hangingPunct="1"/>
            <a:r>
              <a:rPr lang="en-US" altLang="en-US" sz="1800" dirty="0"/>
              <a:t>  return y * (1.5f - 0.5f * x * y * y); // NR</a:t>
            </a:r>
          </a:p>
          <a:p>
            <a:pPr eaLnBrk="1" hangingPunct="1"/>
            <a:r>
              <a:rPr lang="en-US" altLang="en-US" sz="1800" dirty="0"/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FE26A6-BE0B-DF7E-E51E-058EF259F85F}"/>
              </a:ext>
            </a:extLst>
          </p:cNvPr>
          <p:cNvSpPr txBox="1"/>
          <p:nvPr/>
        </p:nvSpPr>
        <p:spPr>
          <a:xfrm>
            <a:off x="259450" y="5849512"/>
            <a:ext cx="544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2"/>
              </a:rPr>
              <a:t>https://en.wikipedia.org/wiki/Fast_inverse_square_root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CFECC8-000C-5FCD-2219-D383F2794BFB}"/>
              </a:ext>
            </a:extLst>
          </p:cNvPr>
          <p:cNvSpPr txBox="1"/>
          <p:nvPr/>
        </p:nvSpPr>
        <p:spPr>
          <a:xfrm>
            <a:off x="5098901" y="3651974"/>
            <a:ext cx="6823075" cy="1200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800" dirty="0"/>
              <a:t>Real x86_64 code for 1/√x</a:t>
            </a:r>
          </a:p>
          <a:p>
            <a:pPr eaLnBrk="1" hangingPunct="1">
              <a:defRPr/>
            </a:pPr>
            <a:r>
              <a:rPr lang="en-US" sz="1800" dirty="0"/>
              <a:t> _</a:t>
            </a:r>
            <a:r>
              <a:rPr lang="en-US" sz="1800" dirty="0" err="1"/>
              <a:t>mm_store_ss</a:t>
            </a:r>
            <a:r>
              <a:rPr lang="en-US" sz="1800" dirty="0"/>
              <a:t>( &amp;y</a:t>
            </a:r>
            <a:r>
              <a:rPr lang="en-US" sz="1800" b="1" dirty="0"/>
              <a:t>, _</a:t>
            </a:r>
            <a:r>
              <a:rPr lang="en-US" sz="1800" b="1" dirty="0" err="1"/>
              <a:t>mm_rsqrt_ss</a:t>
            </a:r>
            <a:r>
              <a:rPr lang="en-US" sz="1800" dirty="0"/>
              <a:t>( _</a:t>
            </a:r>
            <a:r>
              <a:rPr lang="en-US" sz="1800" dirty="0" err="1"/>
              <a:t>mm_load_ss</a:t>
            </a:r>
            <a:r>
              <a:rPr lang="en-US" sz="1800" dirty="0"/>
              <a:t>( &amp;x ) ) ); </a:t>
            </a:r>
          </a:p>
          <a:p>
            <a:pPr eaLnBrk="1" hangingPunct="1">
              <a:defRPr/>
            </a:pPr>
            <a:r>
              <a:rPr lang="en-US" sz="1800" dirty="0"/>
              <a:t>return y * (1.5f - 0.5f * x * y * y); // One round of Newton's method</a:t>
            </a:r>
          </a:p>
          <a:p>
            <a:pPr eaLnBrk="1" hangingPunct="1">
              <a:defRPr/>
            </a:pPr>
            <a:r>
              <a:rPr lang="en-US" sz="1800" dirty="0"/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118DCB-422D-391F-653D-D4278409250C}"/>
              </a:ext>
            </a:extLst>
          </p:cNvPr>
          <p:cNvSpPr txBox="1"/>
          <p:nvPr/>
        </p:nvSpPr>
        <p:spPr>
          <a:xfrm>
            <a:off x="5699914" y="4888078"/>
            <a:ext cx="6043613" cy="92392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/>
              <a:t>Real x86_64 code for 1/x</a:t>
            </a:r>
          </a:p>
          <a:p>
            <a:pPr eaLnBrk="1" hangingPunct="1"/>
            <a:r>
              <a:rPr lang="en-US" altLang="en-US" sz="1800"/>
              <a:t>_mm_store_ss( &amp;y,</a:t>
            </a:r>
            <a:r>
              <a:rPr lang="en-US" altLang="en-US" sz="1800" b="1"/>
              <a:t>_mm_rcp_ss</a:t>
            </a:r>
            <a:r>
              <a:rPr lang="en-US" altLang="en-US" sz="1800"/>
              <a:t>( _mm_load_ss( &amp;x ) ) );</a:t>
            </a:r>
          </a:p>
          <a:p>
            <a:pPr eaLnBrk="1" hangingPunct="1"/>
            <a:r>
              <a:rPr lang="en-US" altLang="en-US" sz="1800"/>
              <a:t> return (y+y) – x*y*y; // One round of Newton's method</a:t>
            </a:r>
          </a:p>
        </p:txBody>
      </p:sp>
    </p:spTree>
    <p:extLst>
      <p:ext uri="{BB962C8B-B14F-4D97-AF65-F5344CB8AC3E}">
        <p14:creationId xmlns:p14="http://schemas.microsoft.com/office/powerpoint/2010/main" val="397133351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5343B-1389-DA64-EB0F-528286A51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Maker’s Dilemma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6B04A-95BD-FA41-2381-3A717B3D5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13014" y="1253331"/>
            <a:ext cx="5198673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to guarantee a given precision one needs to evaluate the  error of the approximation “y = f(x)”</a:t>
            </a:r>
          </a:p>
          <a:p>
            <a:pPr lvl="1"/>
            <a:r>
              <a:rPr lang="en-US" dirty="0"/>
              <a:t>From first principle</a:t>
            </a:r>
          </a:p>
          <a:p>
            <a:pPr lvl="1"/>
            <a:r>
              <a:rPr lang="en-US" dirty="0"/>
              <a:t>Or on the fly as seen before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function need to be computed with at least one more digit (the round digit)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 Round2Near: if the error interval includes the middle point an even more precise evaluation is required</a:t>
            </a:r>
          </a:p>
          <a:p>
            <a:pPr lvl="1"/>
            <a:r>
              <a:rPr lang="en-US" dirty="0"/>
              <a:t>the round digit may be followed by a sequel of 0’s or 1’s (or 9’s) and the TMD solution may be very expensive</a:t>
            </a:r>
          </a:p>
          <a:p>
            <a:pPr marL="971550" lvl="1" indent="-514350">
              <a:buFont typeface="+mj-lt"/>
              <a:buAutoNum type="arabicPeriod"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2868B6-1862-A422-6CB6-CBFCB24EC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13" y="1690688"/>
            <a:ext cx="6109133" cy="4649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08141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DE45D-8A1B-77C4-8416-9CFA674E3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FD803B3-A662-93AE-BFEA-520D2B54E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57D02F-13B0-63C1-7316-0EDEA28A31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7E436A6E-4BF4-AE61-7CAC-6EE44526F2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519976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3A2906-2B42-271A-75CE-31C743862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Polynomials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591255-06FB-D5FE-F5F4-3295E62E1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486" y="1825625"/>
            <a:ext cx="10921314" cy="4389824"/>
          </a:xfrm>
        </p:spPr>
        <p:txBody>
          <a:bodyPr/>
          <a:lstStyle/>
          <a:p>
            <a:r>
              <a:rPr lang="en-US" dirty="0"/>
              <a:t>Approximate sin(x) in [0, π/4) with </a:t>
            </a:r>
            <a:r>
              <a:rPr lang="en-US" dirty="0" err="1"/>
              <a:t>polynomomials</a:t>
            </a:r>
            <a:r>
              <a:rPr lang="en-US" dirty="0"/>
              <a:t> of increasing order</a:t>
            </a:r>
          </a:p>
          <a:p>
            <a:pPr lvl="1"/>
            <a:r>
              <a:rPr lang="en-US" dirty="0"/>
              <a:t>Taylor</a:t>
            </a:r>
          </a:p>
          <a:p>
            <a:pPr lvl="1"/>
            <a:r>
              <a:rPr lang="en-US" dirty="0"/>
              <a:t>Chebyshev</a:t>
            </a:r>
          </a:p>
          <a:p>
            <a:pPr lvl="1"/>
            <a:r>
              <a:rPr lang="en-US" dirty="0"/>
              <a:t>Pade</a:t>
            </a:r>
          </a:p>
          <a:p>
            <a:r>
              <a:rPr lang="en-US" dirty="0"/>
              <a:t>Plot the absolute and relative error w/r/t a high precision result</a:t>
            </a:r>
          </a:p>
          <a:p>
            <a:endParaRPr lang="en-US" dirty="0"/>
          </a:p>
          <a:p>
            <a:r>
              <a:rPr lang="en-US" dirty="0"/>
              <a:t>Use python </a:t>
            </a:r>
            <a:r>
              <a:rPr lang="en-US" dirty="0" err="1"/>
              <a:t>mpmath</a:t>
            </a:r>
            <a:r>
              <a:rPr lang="en-US" dirty="0"/>
              <a:t> module </a:t>
            </a:r>
            <a:r>
              <a:rPr lang="en-US" dirty="0">
                <a:hlinkClick r:id="rId2"/>
              </a:rPr>
              <a:t>https://mpmath.readthedocs.io/en/latest/calculus/approximation.html</a:t>
            </a:r>
            <a:r>
              <a:rPr lang="en-US" dirty="0"/>
              <a:t>  </a:t>
            </a:r>
          </a:p>
          <a:p>
            <a:r>
              <a:rPr lang="en-US" dirty="0"/>
              <a:t>or sage, or </a:t>
            </a:r>
            <a:r>
              <a:rPr lang="en-US" dirty="0" err="1"/>
              <a:t>mathematica</a:t>
            </a:r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16246367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C4263-5C9C-37A3-2658-4E5AD8605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694" y="232922"/>
            <a:ext cx="10515600" cy="1325563"/>
          </a:xfrm>
        </p:spPr>
        <p:txBody>
          <a:bodyPr/>
          <a:lstStyle/>
          <a:p>
            <a:r>
              <a:rPr lang="en-US" dirty="0"/>
              <a:t>TMD in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2530F-11DB-A49D-AC71-4F92AF696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649" y="4660135"/>
            <a:ext cx="11425832" cy="17847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Use cos(x) approximation in decimal (</a:t>
            </a:r>
            <a:r>
              <a:rPr lang="en-US" dirty="0" err="1"/>
              <a:t>taylor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2"/>
              </a:rPr>
              <a:t>https://docs.python.org/3/library/decimal.html - recipes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to “solve” TMD above  (mind: direct rounding!) 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9AFE6B-031D-E082-91CB-04D189843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649" y="1230151"/>
            <a:ext cx="7772400" cy="3160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36770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76CAE-1C6F-71E7-5459-91BEC2C40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rsqrt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50B62-55DA-5A04-7FA2-868807EEBF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Test  </a:t>
            </a:r>
            <a:r>
              <a:rPr lang="en-US" dirty="0" err="1"/>
              <a:t>rsqrt</a:t>
            </a:r>
            <a:r>
              <a:rPr lang="en-US" dirty="0"/>
              <a:t> precision in the interval [0.5, 4) </a:t>
            </a:r>
          </a:p>
          <a:p>
            <a:pPr lvl="1"/>
            <a:r>
              <a:rPr lang="en-US" dirty="0"/>
              <a:t>use “quake magic” and/or x86_64 intrinsics plus multiple NR iterations</a:t>
            </a:r>
          </a:p>
          <a:p>
            <a:pPr lvl="1"/>
            <a:r>
              <a:rPr lang="en-US" dirty="0"/>
              <a:t>Try to reach faithful (or even correct) rounding using “augmented arithmetic”</a:t>
            </a:r>
          </a:p>
        </p:txBody>
      </p:sp>
    </p:spTree>
    <p:extLst>
      <p:ext uri="{BB962C8B-B14F-4D97-AF65-F5344CB8AC3E}">
        <p14:creationId xmlns:p14="http://schemas.microsoft.com/office/powerpoint/2010/main" val="39972627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Precision, </a:t>
            </a:r>
            <a:r>
              <a:rPr lang="en-US" dirty="0">
                <a:solidFill>
                  <a:srgbClr val="FF0000"/>
                </a:solidFill>
                <a:ea typeface="ＭＳ Ｐゴシック" charset="0"/>
                <a:cs typeface="ＭＳ Ｐゴシック" charset="0"/>
              </a:rPr>
              <a:t>accuracy,</a:t>
            </a:r>
            <a:r>
              <a:rPr lang="en-US" dirty="0">
                <a:ea typeface="ＭＳ Ｐゴシック" charset="0"/>
                <a:cs typeface="ＭＳ Ｐゴシック" charset="0"/>
              </a:rPr>
              <a:t> speed</a:t>
            </a:r>
          </a:p>
        </p:txBody>
      </p:sp>
      <p:sp>
        <p:nvSpPr>
          <p:cNvPr id="4096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x-none"/>
          </a:p>
        </p:txBody>
      </p:sp>
      <p:sp>
        <p:nvSpPr>
          <p:cNvPr id="40963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4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5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E74AEA11-21EC-8340-B6C0-1AF2C04111D7}" type="slidenum">
              <a:rPr lang="it-IT" altLang="x-none" sz="1200">
                <a:latin typeface="Garamond" charset="0"/>
              </a:rPr>
              <a:pPr eaLnBrk="1" hangingPunct="1"/>
              <a:t>40</a:t>
            </a:fld>
            <a:endParaRPr lang="it-IT" altLang="x-none" sz="1200">
              <a:latin typeface="Garamond" charset="0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5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 dirty="0"/>
              <a:t>Definitions </a:t>
            </a:r>
          </a:p>
        </p:txBody>
      </p:sp>
      <p:sp>
        <p:nvSpPr>
          <p:cNvPr id="41986" name="Content Placeholder 7"/>
          <p:cNvSpPr>
            <a:spLocks noGrp="1"/>
          </p:cNvSpPr>
          <p:nvPr>
            <p:ph idx="1"/>
          </p:nvPr>
        </p:nvSpPr>
        <p:spPr>
          <a:xfrm>
            <a:off x="575304" y="1371015"/>
            <a:ext cx="8229600" cy="4895850"/>
          </a:xfrm>
        </p:spPr>
        <p:txBody>
          <a:bodyPr/>
          <a:lstStyle/>
          <a:p>
            <a:r>
              <a:rPr lang="en-US" altLang="x-none" dirty="0"/>
              <a:t>Precision</a:t>
            </a:r>
          </a:p>
          <a:p>
            <a:pPr lvl="1"/>
            <a:r>
              <a:rPr lang="en-US" altLang="x-none" dirty="0"/>
              <a:t>Numerical precision (in bits)</a:t>
            </a:r>
          </a:p>
          <a:p>
            <a:pPr lvl="2"/>
            <a:r>
              <a:rPr lang="en-US" altLang="x-none" dirty="0"/>
              <a:t>For an instrument (ruler!) typically “half a tick” </a:t>
            </a:r>
          </a:p>
          <a:p>
            <a:pPr lvl="1"/>
            <a:r>
              <a:rPr lang="en-US" altLang="x-none" dirty="0"/>
              <a:t>Can be evaluated using a higher </a:t>
            </a:r>
            <a:r>
              <a:rPr lang="en-US" altLang="en-US" dirty="0"/>
              <a:t>“</a:t>
            </a:r>
            <a:r>
              <a:rPr lang="en-US" altLang="x-none" dirty="0"/>
              <a:t>precision</a:t>
            </a:r>
            <a:r>
              <a:rPr lang="en-US" altLang="en-US" dirty="0"/>
              <a:t>”</a:t>
            </a:r>
            <a:endParaRPr lang="en-US" altLang="x-none" dirty="0"/>
          </a:p>
          <a:p>
            <a:r>
              <a:rPr lang="en-US" altLang="x-none" dirty="0"/>
              <a:t>Accuracy</a:t>
            </a:r>
          </a:p>
          <a:p>
            <a:pPr lvl="1"/>
            <a:r>
              <a:rPr lang="en-US" altLang="x-none" dirty="0"/>
              <a:t>The error w/r/t the truth</a:t>
            </a:r>
          </a:p>
          <a:p>
            <a:pPr lvl="1"/>
            <a:r>
              <a:rPr lang="en-US" altLang="x-none" dirty="0"/>
              <a:t>Can be evaluated comparing different algorithms</a:t>
            </a:r>
          </a:p>
          <a:p>
            <a:pPr lvl="2"/>
            <a:r>
              <a:rPr lang="en-US" altLang="x-none" dirty="0"/>
              <a:t>In science “comparing different experiments”</a:t>
            </a:r>
          </a:p>
          <a:p>
            <a:r>
              <a:rPr lang="en-US" altLang="x-none" dirty="0"/>
              <a:t>Target Accuracy</a:t>
            </a:r>
          </a:p>
          <a:p>
            <a:pPr lvl="1"/>
            <a:r>
              <a:rPr lang="en-US" altLang="x-none" dirty="0"/>
              <a:t>The acceptable tolerance w/r/t the above</a:t>
            </a:r>
          </a:p>
          <a:p>
            <a:pPr lvl="1"/>
            <a:r>
              <a:rPr lang="en-US" altLang="x-none" dirty="0"/>
              <a:t>Evaluated, for instance, w/r/t  know error on the truth </a:t>
            </a:r>
          </a:p>
        </p:txBody>
      </p:sp>
      <p:sp>
        <p:nvSpPr>
          <p:cNvPr id="41987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8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9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AEDF44EA-EC42-6D42-8111-94D13066666A}" type="slidenum">
              <a:rPr lang="it-IT" altLang="x-none" sz="1200">
                <a:latin typeface="Garamond" charset="0"/>
              </a:rPr>
              <a:pPr eaLnBrk="1" hangingPunct="1"/>
              <a:t>41</a:t>
            </a:fld>
            <a:endParaRPr lang="it-IT" altLang="x-none" sz="1200">
              <a:latin typeface="Garamond" charset="0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Precision vs Speed in </a:t>
            </a:r>
            <a:r>
              <a:rPr lang="en-US" altLang="en-US"/>
              <a:t>“</a:t>
            </a:r>
            <a:r>
              <a:rPr lang="en-US" altLang="ja-JP"/>
              <a:t>libm</a:t>
            </a:r>
            <a:r>
              <a:rPr lang="en-US" altLang="en-US"/>
              <a:t>”</a:t>
            </a:r>
            <a:endParaRPr lang="en-US" altLang="x-none"/>
          </a:p>
        </p:txBody>
      </p:sp>
      <p:sp>
        <p:nvSpPr>
          <p:cNvPr id="49154" name="Content Placeholder 2"/>
          <p:cNvSpPr>
            <a:spLocks noGrp="1"/>
          </p:cNvSpPr>
          <p:nvPr>
            <p:ph idx="1"/>
          </p:nvPr>
        </p:nvSpPr>
        <p:spPr>
          <a:xfrm>
            <a:off x="1981200" y="1484314"/>
            <a:ext cx="8229600" cy="2232025"/>
          </a:xfrm>
        </p:spPr>
        <p:txBody>
          <a:bodyPr/>
          <a:lstStyle/>
          <a:p>
            <a:r>
              <a:rPr lang="en-US" altLang="x-none"/>
              <a:t>Log</a:t>
            </a:r>
          </a:p>
          <a:p>
            <a:pPr lvl="1"/>
            <a:r>
              <a:rPr lang="en-US" altLang="x-none"/>
              <a:t>24 bit precision needs 8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16 bit precision needs 5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  7 bit precision needs 2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</p:txBody>
      </p:sp>
      <p:sp>
        <p:nvSpPr>
          <p:cNvPr id="49155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6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7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5AD297D-B083-7041-8A74-D2C04E204E53}" type="slidenum">
              <a:rPr lang="it-IT" altLang="x-none" sz="1200">
                <a:latin typeface="Garamond" charset="0"/>
              </a:rPr>
              <a:pPr eaLnBrk="1" hangingPunct="1"/>
              <a:t>42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49158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6063" y="3429001"/>
            <a:ext cx="9144001" cy="2760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multiple scattering formula</a:t>
            </a:r>
          </a:p>
        </p:txBody>
      </p:sp>
      <p:sp>
        <p:nvSpPr>
          <p:cNvPr id="50178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</a:p>
        </p:txBody>
      </p:sp>
      <p:sp>
        <p:nvSpPr>
          <p:cNvPr id="50179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</a:p>
        </p:txBody>
      </p:sp>
      <p:sp>
        <p:nvSpPr>
          <p:cNvPr id="5018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DA5B59D6-910D-034D-8D83-A57C63F78C9A}" type="slidenum">
              <a:rPr lang="en-US" altLang="x-none" sz="1200">
                <a:latin typeface="Garamond" charset="0"/>
              </a:rPr>
              <a:pPr eaLnBrk="1" hangingPunct="1"/>
              <a:t>43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50181" name="TextBox 5"/>
          <p:cNvSpPr txBox="1">
            <a:spLocks noChangeArrowheads="1"/>
          </p:cNvSpPr>
          <p:nvPr/>
        </p:nvSpPr>
        <p:spPr bwMode="auto">
          <a:xfrm>
            <a:off x="1797050" y="1304926"/>
            <a:ext cx="6280150" cy="230822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double ms(double radLen, double m2, double p2) { </a:t>
            </a:r>
          </a:p>
          <a:p>
            <a:pPr eaLnBrk="1" hangingPunct="1"/>
            <a:r>
              <a:rPr lang="en-US" altLang="x-none" sz="1800"/>
              <a:t>  constexpr double amscon = 1.8496e-4;    // (13.6MeV)**2</a:t>
            </a:r>
          </a:p>
          <a:p>
            <a:pPr eaLnBrk="1" hangingPunct="1"/>
            <a:r>
              <a:rPr lang="en-US" altLang="x-none" sz="1800"/>
              <a:t>  double e2     = p2 + m2;</a:t>
            </a:r>
          </a:p>
          <a:p>
            <a:pPr eaLnBrk="1" hangingPunct="1"/>
            <a:r>
              <a:rPr lang="en-US" altLang="x-none" sz="1800"/>
              <a:t>  double beta2  = p2/e2;</a:t>
            </a:r>
          </a:p>
          <a:p>
            <a:pPr eaLnBrk="1" hangingPunct="1"/>
            <a:r>
              <a:rPr lang="en-US" altLang="x-none" sz="1800"/>
              <a:t>  double fact = 1 + 0.038*log(</a:t>
            </a:r>
            <a:r>
              <a:rPr lang="en-US" altLang="x-none" sz="1800" b="1">
                <a:solidFill>
                  <a:srgbClr val="FF0000"/>
                </a:solidFill>
              </a:rPr>
              <a:t>radLen</a:t>
            </a:r>
            <a:r>
              <a:rPr lang="en-US" altLang="x-none" sz="1800"/>
              <a:t>);  fact *=fact;</a:t>
            </a:r>
          </a:p>
          <a:p>
            <a:pPr eaLnBrk="1" hangingPunct="1"/>
            <a:r>
              <a:rPr lang="en-US" altLang="x-none" sz="1800"/>
              <a:t>  double a = fact/(beta2*p2);</a:t>
            </a:r>
          </a:p>
          <a:p>
            <a:pPr eaLnBrk="1" hangingPunct="1"/>
            <a:r>
              <a:rPr lang="en-US" altLang="x-none" sz="1800"/>
              <a:t>  return amscon*radLen*a;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10" name="Straight Arrow Connector 9"/>
          <p:cNvCxnSpPr>
            <a:cxnSpLocks noChangeShapeType="1"/>
            <a:stCxn id="50185" idx="1"/>
          </p:cNvCxnSpPr>
          <p:nvPr/>
        </p:nvCxnSpPr>
        <p:spPr bwMode="auto">
          <a:xfrm flipH="1" flipV="1">
            <a:off x="5303839" y="2636839"/>
            <a:ext cx="3024187" cy="390227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" name="Straight Arrow Connector 11"/>
          <p:cNvCxnSpPr>
            <a:cxnSpLocks noChangeShapeType="1"/>
            <a:stCxn id="50184" idx="1"/>
          </p:cNvCxnSpPr>
          <p:nvPr/>
        </p:nvCxnSpPr>
        <p:spPr bwMode="auto">
          <a:xfrm flipH="1">
            <a:off x="4295775" y="1556654"/>
            <a:ext cx="4008438" cy="100874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4" name="TextBox 14"/>
          <p:cNvSpPr txBox="1">
            <a:spLocks noChangeArrowheads="1"/>
          </p:cNvSpPr>
          <p:nvPr/>
        </p:nvSpPr>
        <p:spPr bwMode="auto">
          <a:xfrm>
            <a:off x="8304214" y="1233489"/>
            <a:ext cx="163378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Already an </a:t>
            </a:r>
          </a:p>
          <a:p>
            <a:pPr eaLnBrk="1" hangingPunct="1"/>
            <a:r>
              <a:rPr lang="en-US" altLang="x-none" sz="1800"/>
              <a:t>approximation</a:t>
            </a:r>
          </a:p>
        </p:txBody>
      </p:sp>
      <p:sp>
        <p:nvSpPr>
          <p:cNvPr id="50185" name="TextBox 18"/>
          <p:cNvSpPr txBox="1">
            <a:spLocks noChangeArrowheads="1"/>
          </p:cNvSpPr>
          <p:nvPr/>
        </p:nvSpPr>
        <p:spPr bwMode="auto">
          <a:xfrm>
            <a:off x="8328025" y="2565400"/>
            <a:ext cx="2403222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Material density, </a:t>
            </a:r>
          </a:p>
          <a:p>
            <a:pPr eaLnBrk="1" hangingPunct="1"/>
            <a:r>
              <a:rPr lang="en-US" altLang="x-none" sz="1800"/>
              <a:t>thickness, track angle</a:t>
            </a:r>
          </a:p>
          <a:p>
            <a:pPr eaLnBrk="1" hangingPunct="1"/>
            <a:r>
              <a:rPr lang="en-US" altLang="x-none" sz="1800"/>
              <a:t>Known at percent?</a:t>
            </a:r>
          </a:p>
        </p:txBody>
      </p:sp>
      <p:sp>
        <p:nvSpPr>
          <p:cNvPr id="50186" name="TextBox 5"/>
          <p:cNvSpPr txBox="1">
            <a:spLocks noChangeArrowheads="1"/>
          </p:cNvSpPr>
          <p:nvPr/>
        </p:nvSpPr>
        <p:spPr bwMode="auto">
          <a:xfrm>
            <a:off x="1879600" y="4044950"/>
            <a:ext cx="6280150" cy="258603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float msf(float radLen, float m2, float p2) { </a:t>
            </a:r>
          </a:p>
          <a:p>
            <a:pPr eaLnBrk="1" hangingPunct="1"/>
            <a:r>
              <a:rPr lang="en-US" altLang="x-none" sz="1800"/>
              <a:t>  constexpr float amscon = 1.8496e-4;    // (13.6MeV)**2</a:t>
            </a:r>
          </a:p>
          <a:p>
            <a:pPr eaLnBrk="1" hangingPunct="1"/>
            <a:r>
              <a:rPr lang="en-US" altLang="x-none" sz="1800"/>
              <a:t>  float e2     = p2 + m2;</a:t>
            </a:r>
          </a:p>
          <a:p>
            <a:pPr eaLnBrk="1" hangingPunct="1"/>
            <a:r>
              <a:rPr lang="en-US" altLang="x-none" sz="1800"/>
              <a:t>  </a:t>
            </a:r>
          </a:p>
          <a:p>
            <a:pPr eaLnBrk="1" hangingPunct="1"/>
            <a:r>
              <a:rPr lang="en-US" altLang="x-none" sz="1800"/>
              <a:t>  float fact = 1.f + 0.038f*unsafe_logf&lt;2&gt;(radLen); fact /= p2;</a:t>
            </a:r>
          </a:p>
          <a:p>
            <a:pPr eaLnBrk="1" hangingPunct="1"/>
            <a:r>
              <a:rPr lang="en-US" altLang="x-none" sz="1800"/>
              <a:t>  fact *=fact;</a:t>
            </a:r>
          </a:p>
          <a:p>
            <a:pPr eaLnBrk="1" hangingPunct="1"/>
            <a:r>
              <a:rPr lang="en-US" altLang="x-none" sz="1800"/>
              <a:t>  float a = e2*fact;</a:t>
            </a:r>
          </a:p>
          <a:p>
            <a:pPr eaLnBrk="1" hangingPunct="1"/>
            <a:r>
              <a:rPr lang="en-US" altLang="x-none" sz="1800"/>
              <a:t>  return amscon*radLen*a;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25" name="Straight Arrow Connector 24"/>
          <p:cNvCxnSpPr>
            <a:cxnSpLocks noChangeShapeType="1"/>
            <a:stCxn id="50188" idx="1"/>
          </p:cNvCxnSpPr>
          <p:nvPr/>
        </p:nvCxnSpPr>
        <p:spPr bwMode="auto">
          <a:xfrm flipH="1">
            <a:off x="5232401" y="4405829"/>
            <a:ext cx="2951163" cy="82339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8" name="TextBox 26"/>
          <p:cNvSpPr txBox="1">
            <a:spLocks noChangeArrowheads="1"/>
          </p:cNvSpPr>
          <p:nvPr/>
        </p:nvSpPr>
        <p:spPr bwMode="auto">
          <a:xfrm>
            <a:off x="8183563" y="4221163"/>
            <a:ext cx="23166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2</a:t>
            </a:r>
            <a:r>
              <a:rPr lang="en-US" altLang="x-none" sz="1800" baseline="30000"/>
              <a:t>nd</a:t>
            </a:r>
            <a:r>
              <a:rPr lang="en-US" altLang="x-none" sz="1800"/>
              <a:t> order polynomial 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05216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Cost of operations (in </a:t>
            </a:r>
            <a:r>
              <a:rPr lang="en-US" altLang="x-none" dirty="0" err="1"/>
              <a:t>cpu</a:t>
            </a:r>
            <a:r>
              <a:rPr lang="en-US" altLang="x-none" dirty="0"/>
              <a:t> cycles on x86_64)</a:t>
            </a:r>
            <a:br>
              <a:rPr lang="en-US" altLang="x-none" dirty="0"/>
            </a:br>
            <a:r>
              <a:rPr lang="en-US" altLang="x-none" sz="3100" dirty="0">
                <a:hlinkClick r:id="rId2"/>
              </a:rPr>
              <a:t>https://www.agner.org/optimize/instruction_tables.pdf</a:t>
            </a:r>
            <a:endParaRPr lang="en-US" altLang="x-none" dirty="0"/>
          </a:p>
        </p:txBody>
      </p:sp>
      <p:sp>
        <p:nvSpPr>
          <p:cNvPr id="4608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608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41B67AE8-072D-9244-AE10-F2F9233C5E3B}" type="slidenum">
              <a:rPr lang="it-IT" altLang="x-none" sz="1200">
                <a:latin typeface="Garamond" charset="0"/>
              </a:rPr>
              <a:pPr eaLnBrk="1" hangingPunct="1"/>
              <a:t>44</a:t>
            </a:fld>
            <a:endParaRPr lang="it-IT" altLang="x-none" sz="1200">
              <a:latin typeface="Garamond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464147"/>
              </p:ext>
            </p:extLst>
          </p:nvPr>
        </p:nvGraphicFramePr>
        <p:xfrm>
          <a:off x="1574638" y="1462429"/>
          <a:ext cx="8208911" cy="4904084"/>
        </p:xfrm>
        <a:graphic>
          <a:graphicData uri="http://schemas.openxmlformats.org/drawingml/2006/table">
            <a:tbl>
              <a:tblPr/>
              <a:tblGrid>
                <a:gridCol w="11973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67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95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4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76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7348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op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instruction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sse 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sse d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avx 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avx</a:t>
                      </a: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d </a:t>
                      </a: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(FMA 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s&amp;d</a:t>
                      </a: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)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+,-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ADD,SUB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                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9463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==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&lt; &gt;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COMISS CMP..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      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9463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f=d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d=f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CVT..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|,&amp;,^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AND,OR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*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MUL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                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/,sqrt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DIV, 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10-14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10-22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21-29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21-45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39763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1.f/ ,  1.f/sqrt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RCP, RSQRT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MOV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1,4,….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1,4,…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6157" name="TextBox 1"/>
          <p:cNvSpPr txBox="1">
            <a:spLocks noChangeArrowheads="1"/>
          </p:cNvSpPr>
          <p:nvPr/>
        </p:nvSpPr>
        <p:spPr bwMode="auto">
          <a:xfrm>
            <a:off x="8477036" y="5780450"/>
            <a:ext cx="1763713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 </a:t>
            </a:r>
            <a:r>
              <a:rPr lang="en-US" altLang="x-none" sz="1800" b="1" dirty="0">
                <a:solidFill>
                  <a:srgbClr val="FF0000"/>
                </a:solidFill>
                <a:latin typeface="Wingdings" charset="2"/>
                <a:sym typeface="Wingdings" charset="2"/>
              </a:rPr>
              <a:t></a:t>
            </a:r>
            <a:r>
              <a:rPr lang="en-US" altLang="x-none" sz="1800" b="1" dirty="0">
                <a:solidFill>
                  <a:srgbClr val="FF0000"/>
                </a:solidFill>
              </a:rPr>
              <a:t>350 from main memory 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42850F5-594B-8748-CE9C-FC5DF5CB7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484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GPU landscape: </a:t>
            </a:r>
            <a:br>
              <a:rPr lang="en-US" dirty="0"/>
            </a:br>
            <a:r>
              <a:rPr lang="en-US" sz="3200" dirty="0"/>
              <a:t>FP64 is 32 times slower than FP32 on affordable GPU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C75642-A9D0-4DCC-1ADE-EDA829FFD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A0C4FC-48AF-8D42-8503-343767FBAC60}" type="datetime4">
              <a:rPr lang="en-US" smtClean="0"/>
              <a:t>April 22,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CCF686-8583-78AF-0F93-93FD555E0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VI: Math in Particle Physics Experiments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25C367-B602-5C3B-1A9C-CA7F103ED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45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1F9CC64-8128-DDF2-F9E8-2282F49FE7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217139"/>
            <a:ext cx="4726608" cy="22605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9ADAD41-0AFE-E8C6-419B-3EFB9E7C5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021" y="3626768"/>
            <a:ext cx="4726608" cy="2212994"/>
          </a:xfrm>
          <a:prstGeom prst="rect">
            <a:avLst/>
          </a:prstGeom>
        </p:spPr>
      </p:pic>
      <p:pic>
        <p:nvPicPr>
          <p:cNvPr id="13" name="Picture 2" descr="https://lh6.googleusercontent.com/YJBkvJUIWySmGjHqnByeJ0tkCmpcCiwGijQ2ZL-x40ALSEsRiiDybq4f5voYZQHoj8yjhkmVOY70YxS8fqiXXWFhzM7mSmUXJ0R774HXkNjMRadGfficqKxf0wvo4WCN6Wxigr6MOjk">
            <a:extLst>
              <a:ext uri="{FF2B5EF4-FFF2-40B4-BE49-F238E27FC236}">
                <a16:creationId xmlns:a16="http://schemas.microsoft.com/office/drawing/2014/main" id="{71A9DFB9-FEE5-56A0-8879-6B42A0DA1E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1" y="4296299"/>
            <a:ext cx="4046793" cy="1026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91FAD85-DDF9-BE60-B3DB-C2CD8AE365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9284" y="1260528"/>
            <a:ext cx="4678716" cy="216847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DE889A-F38D-5549-E26E-9AECD2678D4A}"/>
              </a:ext>
            </a:extLst>
          </p:cNvPr>
          <p:cNvSpPr txBox="1"/>
          <p:nvPr/>
        </p:nvSpPr>
        <p:spPr>
          <a:xfrm>
            <a:off x="2468137" y="5544058"/>
            <a:ext cx="3280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min rank for tensor is 16 (not 4)! </a:t>
            </a:r>
          </a:p>
        </p:txBody>
      </p:sp>
    </p:spTree>
    <p:extLst>
      <p:ext uri="{BB962C8B-B14F-4D97-AF65-F5344CB8AC3E}">
        <p14:creationId xmlns:p14="http://schemas.microsoft.com/office/powerpoint/2010/main" val="247979633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D419E-2B4A-C2A3-FB0B-CE3CD2729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 throughput (in cycles)</a:t>
            </a:r>
            <a:br>
              <a:rPr lang="en-US" dirty="0"/>
            </a:br>
            <a:r>
              <a:rPr lang="en-US" sz="2400" dirty="0"/>
              <a:t>(origin </a:t>
            </a:r>
            <a:r>
              <a:rPr lang="en-US" sz="2400" dirty="0">
                <a:hlinkClick r:id="rId2"/>
              </a:rPr>
              <a:t>https://core-math.gitlabpages.inria.fr/</a:t>
            </a:r>
            <a:r>
              <a:rPr lang="en-US" sz="2400" dirty="0"/>
              <a:t>)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310067-2EAB-C7EA-310D-EBA60F4663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6549" y="1761634"/>
            <a:ext cx="7772400" cy="227918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1049743-76F6-153F-AE8C-21E6D7F0A0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6549" y="4284121"/>
            <a:ext cx="7772400" cy="2086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4600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>
            <a:extLst>
              <a:ext uri="{FF2B5EF4-FFF2-40B4-BE49-F238E27FC236}">
                <a16:creationId xmlns:a16="http://schemas.microsoft.com/office/drawing/2014/main" id="{67F279E4-798B-9D4A-9F99-36D7821C6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000" y="277814"/>
            <a:ext cx="8305800" cy="1139825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>
                <a:ea typeface="ＭＳ Ｐゴシック" panose="020B0600070205080204" pitchFamily="34" charset="-128"/>
              </a:rPr>
              <a:t>Formula Translation: </a:t>
            </a:r>
            <a:br>
              <a:rPr lang="en-US" altLang="en-US">
                <a:ea typeface="ＭＳ Ｐゴシック" panose="020B0600070205080204" pitchFamily="34" charset="-128"/>
              </a:rPr>
            </a:br>
            <a:r>
              <a:rPr lang="en-US" altLang="en-US">
                <a:ea typeface="ＭＳ Ｐゴシック" panose="020B0600070205080204" pitchFamily="34" charset="-128"/>
              </a:rPr>
              <a:t>what was the author’s intention?</a:t>
            </a:r>
          </a:p>
        </p:txBody>
      </p:sp>
      <p:sp>
        <p:nvSpPr>
          <p:cNvPr id="44034" name="Slide Number Placeholder 2">
            <a:extLst>
              <a:ext uri="{FF2B5EF4-FFF2-40B4-BE49-F238E27FC236}">
                <a16:creationId xmlns:a16="http://schemas.microsoft.com/office/drawing/2014/main" id="{8690833D-F70A-7A13-2CCE-6B478E510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l" eaLnBrk="1" hangingPunct="1"/>
            <a:fld id="{3EE553D8-5B70-2B47-8216-F80BC25C743D}" type="slidenum">
              <a:rPr lang="en-US" altLang="en-US" sz="1200">
                <a:latin typeface="Garamond" panose="02020404030301010803" pitchFamily="18" charset="0"/>
              </a:rPr>
              <a:pPr algn="l" eaLnBrk="1" hangingPunct="1"/>
              <a:t>47</a:t>
            </a:fld>
            <a:endParaRPr lang="en-US" altLang="en-US" sz="1200">
              <a:latin typeface="Garamond" panose="020204040303010108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0E64A5-664F-7067-5917-CFCFF16FF4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5000" y="1676401"/>
            <a:ext cx="8153400" cy="2092325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// Energy loss and variance according to Bethe and Heitler, see also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 // Comp. Phys. Comm. 79 (1994) 157.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 //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 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double p = mom.mag();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 double normalisedPath = fabs(p/mom.z())*radLen;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 double z = exp(-normalisedPath);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 double varz = (exp(-normalisedPath*log(3.)/log(2.))- exp(-2*normalisedPath));</a:t>
            </a:r>
          </a:p>
          <a:p>
            <a:pPr eaLnBrk="1" hangingPunct="1"/>
            <a:endParaRPr lang="en-US" altLang="en-US" sz="160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E22716-0B3B-10B3-6F35-152C62CFE2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5000" y="4038600"/>
            <a:ext cx="8153400" cy="157003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 b="1">
                <a:solidFill>
                  <a:srgbClr val="000000"/>
                </a:solidFill>
              </a:rPr>
              <a:t>double pt = mom.perp();</a:t>
            </a:r>
            <a:r>
              <a:rPr lang="en-US" altLang="en-US" sz="1600">
                <a:solidFill>
                  <a:srgbClr val="000000"/>
                </a:solidFill>
              </a:rPr>
              <a:t> 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</a:rPr>
              <a:t> </a:t>
            </a:r>
            <a:r>
              <a:rPr lang="en-US" altLang="en-US" sz="1600" b="1">
                <a:solidFill>
                  <a:srgbClr val="000000"/>
                </a:solidFill>
              </a:rPr>
              <a:t>double j = a_i*(d_x * mom.x() + d_y * mom.y())/(pt*pt);      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</a:rPr>
              <a:t> double r_x = d_x - 2* mom.x()*(d_x*mom.x()+d_y*mom.y())/(pt*pt);         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</a:rPr>
              <a:t> double r_y = d_y - 2* mom.y()*(d_x*mom.x()+d_y*mom.y())/(pt*pt);         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</a:rPr>
              <a:t> double s = 1/(pt*pt*sqrt(1 - j*j));</a:t>
            </a:r>
            <a:endParaRPr lang="en-US" altLang="en-US" sz="1600">
              <a:solidFill>
                <a:srgbClr val="000000"/>
              </a:solidFill>
            </a:endParaRPr>
          </a:p>
          <a:p>
            <a:pPr eaLnBrk="1" hangingPunct="1"/>
            <a:endParaRPr lang="en-US" altLang="en-US" sz="160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44037" name="Date Placeholder 6">
            <a:extLst>
              <a:ext uri="{FF2B5EF4-FFF2-40B4-BE49-F238E27FC236}">
                <a16:creationId xmlns:a16="http://schemas.microsoft.com/office/drawing/2014/main" id="{38C4F485-D91D-560D-BD67-1E98F1115A6D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25 October 2011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sp>
        <p:nvSpPr>
          <p:cNvPr id="44038" name="Footer Placeholder 7">
            <a:extLst>
              <a:ext uri="{FF2B5EF4-FFF2-40B4-BE49-F238E27FC236}">
                <a16:creationId xmlns:a16="http://schemas.microsoft.com/office/drawing/2014/main" id="{8333B058-DEB9-BFE4-10AD-9A0CF6A4F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Vincenzo Innocente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sp>
        <p:nvSpPr>
          <p:cNvPr id="44039" name="TextBox 1">
            <a:extLst>
              <a:ext uri="{FF2B5EF4-FFF2-40B4-BE49-F238E27FC236}">
                <a16:creationId xmlns:a16="http://schemas.microsoft.com/office/drawing/2014/main" id="{B3718853-E251-143A-73D6-4FD78F34C9D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9651" y="5805488"/>
            <a:ext cx="7827963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/>
              <a:t>Exercise: edit OptimizeIt.cc to make it “optimal”</a:t>
            </a:r>
          </a:p>
          <a:p>
            <a:pPr eaLnBrk="1" hangingPunct="1"/>
            <a:r>
              <a:rPr lang="en-US" altLang="en-US" sz="1800"/>
              <a:t>check the generated assembly, modify Benchmark.cpp to verify speed gain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37A6DAB0-E1CD-E449-B6EE-57B7DC127C1F}" vid="{2E9FF5FA-A0F4-BB4E-AFDB-74A19D908E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14413</TotalTime>
  <Words>4967</Words>
  <Application>Microsoft Macintosh PowerPoint</Application>
  <PresentationFormat>Widescreen</PresentationFormat>
  <Paragraphs>553</Paragraphs>
  <Slides>47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8" baseType="lpstr">
      <vt:lpstr>Arial Unicode MS</vt:lpstr>
      <vt:lpstr>ＭＳ Ｐゴシック</vt:lpstr>
      <vt:lpstr>Arial</vt:lpstr>
      <vt:lpstr>Arial Narrow</vt:lpstr>
      <vt:lpstr>Calibri</vt:lpstr>
      <vt:lpstr>Calibri Light</vt:lpstr>
      <vt:lpstr>Corbel</vt:lpstr>
      <vt:lpstr>Garamond</vt:lpstr>
      <vt:lpstr>Lucida Console</vt:lpstr>
      <vt:lpstr>Wingdings</vt:lpstr>
      <vt:lpstr>Office Theme</vt:lpstr>
      <vt:lpstr>FloatingPoint Arithmetic for Scientist: Precision, Accuracy, Efficiency </vt:lpstr>
      <vt:lpstr>What’s a Floating Point? https://en.wikipedia.org/wiki/Floating-point_arithmetic</vt:lpstr>
      <vt:lpstr>Some Trivial properties of FP</vt:lpstr>
      <vt:lpstr>Precision and Rounding</vt:lpstr>
      <vt:lpstr>Rounding Algorithms</vt:lpstr>
      <vt:lpstr>FP on a Computer</vt:lpstr>
      <vt:lpstr>FP binary representations in IEEE754</vt:lpstr>
      <vt:lpstr>IEEE 754 representation of single precision FP</vt:lpstr>
      <vt:lpstr>examples</vt:lpstr>
      <vt:lpstr>C++ interlude</vt:lpstr>
      <vt:lpstr>Limits</vt:lpstr>
      <vt:lpstr>Fixed width floating-point types (since C++23) https://en.cppreference.com/w/cpp/types/floating-point.html</vt:lpstr>
      <vt:lpstr>Python interlude</vt:lpstr>
      <vt:lpstr>EXERCISES</vt:lpstr>
      <vt:lpstr>PowerPoint Presentation</vt:lpstr>
      <vt:lpstr>FP Arithmetic</vt:lpstr>
      <vt:lpstr>Classical example of loss of precision due to cancellation</vt:lpstr>
      <vt:lpstr>A first theorem</vt:lpstr>
      <vt:lpstr>Augmented Arithmetic</vt:lpstr>
      <vt:lpstr>Example of augmented sum</vt:lpstr>
      <vt:lpstr>Catastrophic cancellation</vt:lpstr>
      <vt:lpstr>Compensating algorithms</vt:lpstr>
      <vt:lpstr>FMA: Fused Multiple Add</vt:lpstr>
      <vt:lpstr>EXERCISES</vt:lpstr>
      <vt:lpstr>PowerPoint Presentation</vt:lpstr>
      <vt:lpstr>Random Number interlude</vt:lpstr>
      <vt:lpstr>Uniform vs canonical (for a detailed discussion see among others https://github.com/DiscreteLogarithm/canonical-random-float/tree/master)</vt:lpstr>
      <vt:lpstr> Gaussian Tail</vt:lpstr>
      <vt:lpstr>Elementary functions</vt:lpstr>
      <vt:lpstr>Library functions</vt:lpstr>
      <vt:lpstr>Evaluating a function</vt:lpstr>
      <vt:lpstr>Range reduction</vt:lpstr>
      <vt:lpstr>Approximation</vt:lpstr>
      <vt:lpstr>1/x, √(x),1/√(x) aka rcp(x),sqrt(x),rsqrt(x)</vt:lpstr>
      <vt:lpstr>Table Maker’s Dilemma</vt:lpstr>
      <vt:lpstr>EXERCISES</vt:lpstr>
      <vt:lpstr>Polynomials</vt:lpstr>
      <vt:lpstr>TMD in decimal</vt:lpstr>
      <vt:lpstr>rsqrt</vt:lpstr>
      <vt:lpstr>Precision, accuracy, speed</vt:lpstr>
      <vt:lpstr>Definitions </vt:lpstr>
      <vt:lpstr>Precision vs Speed in “libm”</vt:lpstr>
      <vt:lpstr>Example: multiple scattering formula</vt:lpstr>
      <vt:lpstr>Cost of operations (in cpu cycles on x86_64) https://www.agner.org/optimize/instruction_tables.pdf</vt:lpstr>
      <vt:lpstr>GPU landscape:  FP64 is 32 times slower than FP32 on affordable GPU</vt:lpstr>
      <vt:lpstr>Elementary functions throughput (in cycles) (origin https://core-math.gitlabpages.inria.fr/)</vt:lpstr>
      <vt:lpstr>Formula Translation:  what was the author’s intention?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Vincenzo Innocente</dc:creator>
  <cp:lastModifiedBy>Vincenzo Innocente</cp:lastModifiedBy>
  <cp:revision>156</cp:revision>
  <dcterms:created xsi:type="dcterms:W3CDTF">2026-04-12T14:58:51Z</dcterms:created>
  <dcterms:modified xsi:type="dcterms:W3CDTF">2026-04-22T16:20:13Z</dcterms:modified>
</cp:coreProperties>
</file>