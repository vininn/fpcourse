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260" r:id="rId6"/>
    <p:sldId id="261" r:id="rId7"/>
    <p:sldId id="455" r:id="rId8"/>
    <p:sldId id="439" r:id="rId9"/>
    <p:sldId id="394" r:id="rId10"/>
    <p:sldId id="262" r:id="rId11"/>
    <p:sldId id="456" r:id="rId12"/>
    <p:sldId id="457" r:id="rId13"/>
    <p:sldId id="458" r:id="rId14"/>
    <p:sldId id="459" r:id="rId15"/>
    <p:sldId id="46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</a:t>
            </a:r>
            <a:r>
              <a:rPr lang="en-US" sz="3200" dirty="0" err="1">
                <a:latin typeface="Corbel" panose="020B0503020204020204" pitchFamily="34" charset="0"/>
              </a:rPr>
              <a:t>Innocente</a:t>
            </a: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 dirty="0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Le’ts</a:t>
            </a:r>
            <a:r>
              <a:rPr lang="en-US" dirty="0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1.921fb8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1.921fb4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1.921fb5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1.921fb7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  <a:p>
              <a:pPr eaLnBrk="1" hangingPunct="1"/>
              <a:endParaRPr lang="en-US" altLang="x-none" sz="1800" dirty="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 dirty="0">
                  <a:solidFill>
                    <a:srgbClr val="0070C0"/>
                  </a:solidFill>
                </a:rPr>
                <a:t>1.921fb6</a:t>
              </a:r>
              <a:r>
                <a:rPr lang="en-US" sz="1800" b="1" dirty="0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 dirty="0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 dirty="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 dirty="0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 dirty="0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 dirty="0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 dirty="0"/>
              <a:t>FP are well suited to perform arithmetic on a computer</a:t>
            </a:r>
          </a:p>
          <a:p>
            <a:pPr lvl="1"/>
            <a:r>
              <a:rPr lang="en-US" dirty="0"/>
              <a:t>Since 1985 FP representations and operations are standardized in IEEE754  (</a:t>
            </a:r>
            <a:r>
              <a:rPr lang="en-US" dirty="0">
                <a:hlinkClick r:id="rId2"/>
              </a:rPr>
              <a:t>https://en.wikipedia.org/wiki/IEEE_754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491" y="135356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5605" name="TextBox 5"/>
          <p:cNvSpPr txBox="1">
            <a:spLocks noChangeArrowheads="1"/>
          </p:cNvSpPr>
          <p:nvPr/>
        </p:nvSpPr>
        <p:spPr bwMode="auto">
          <a:xfrm>
            <a:off x="1329982" y="1117000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 dirty="0"/>
              <a:t>Everything you want to know about an arithmetic type is in </a:t>
            </a:r>
          </a:p>
          <a:p>
            <a:pPr lvl="1"/>
            <a:r>
              <a:rPr lang="en-US" altLang="x-none" dirty="0" err="1"/>
              <a:t>std</a:t>
            </a:r>
            <a:r>
              <a:rPr lang="en-US" altLang="x-none" dirty="0"/>
              <a:t>::</a:t>
            </a:r>
            <a:r>
              <a:rPr lang="en-US" altLang="x-none" dirty="0" err="1"/>
              <a:t>numeric_limits</a:t>
            </a:r>
            <a:r>
              <a:rPr lang="en-US" altLang="x-none" dirty="0"/>
              <a:t>&lt;T&gt;  </a:t>
            </a:r>
          </a:p>
          <a:p>
            <a:pPr lvl="1"/>
            <a:r>
              <a:rPr lang="en-US" altLang="x-none" dirty="0"/>
              <a:t>see </a:t>
            </a:r>
            <a:r>
              <a:rPr lang="en-US" altLang="x-none" sz="2000" dirty="0"/>
              <a:t>http://</a:t>
            </a:r>
            <a:r>
              <a:rPr lang="en-US" altLang="x-none" sz="2000" dirty="0" err="1"/>
              <a:t>www.cplusplus.com</a:t>
            </a:r>
            <a:r>
              <a:rPr lang="en-US" altLang="x-none" sz="2000" dirty="0"/>
              <a:t>/reference/limits/</a:t>
            </a:r>
            <a:r>
              <a:rPr lang="en-US" altLang="x-none" sz="2000" dirty="0" err="1"/>
              <a:t>numeric_limits</a:t>
            </a:r>
            <a:r>
              <a:rPr lang="en-US" altLang="x-none" sz="2000" dirty="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 dirty="0"/>
              <a:t>#include &lt;</a:t>
            </a:r>
            <a:r>
              <a:rPr lang="en-US" altLang="x-none" sz="1600" dirty="0" err="1"/>
              <a:t>iostream</a:t>
            </a:r>
            <a:r>
              <a:rPr lang="en-US" altLang="x-none" sz="1600" dirty="0"/>
              <a:t>&gt;     // </a:t>
            </a:r>
            <a:r>
              <a:rPr lang="en-US" altLang="x-none" sz="1600" dirty="0" err="1"/>
              <a:t>std</a:t>
            </a:r>
            <a:r>
              <a:rPr lang="en-US" altLang="x-none" sz="1600" dirty="0"/>
              <a:t>::</a:t>
            </a:r>
            <a:r>
              <a:rPr lang="en-US" altLang="x-none" sz="1600" dirty="0" err="1"/>
              <a:t>cout</a:t>
            </a:r>
            <a:endParaRPr lang="en-US" altLang="x-none" sz="1600" dirty="0"/>
          </a:p>
          <a:p>
            <a:r>
              <a:rPr lang="en-US" altLang="x-none" sz="1600" dirty="0"/>
              <a:t>#include &lt;limits&gt;       // </a:t>
            </a:r>
            <a:r>
              <a:rPr lang="en-US" altLang="x-none" sz="1600" dirty="0" err="1"/>
              <a:t>std</a:t>
            </a:r>
            <a:r>
              <a:rPr lang="en-US" altLang="x-none" sz="1600" dirty="0"/>
              <a:t>::</a:t>
            </a:r>
            <a:r>
              <a:rPr lang="en-US" altLang="x-none" sz="1600" dirty="0" err="1"/>
              <a:t>numeric_limits</a:t>
            </a:r>
            <a:endParaRPr lang="en-US" altLang="x-none" sz="1600" dirty="0"/>
          </a:p>
          <a:p>
            <a:r>
              <a:rPr lang="fr-FR" altLang="x-none" sz="1600" dirty="0" err="1"/>
              <a:t>int</a:t>
            </a:r>
            <a:r>
              <a:rPr lang="fr-FR" altLang="x-none" sz="1600" dirty="0"/>
              <a:t> main () {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boolalpha</a:t>
            </a:r>
            <a:r>
              <a:rPr lang="fr-FR" altLang="x-none" sz="1600" dirty="0"/>
              <a:t>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"Minimum value: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&gt;::min()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"Maximum value: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&gt;::max()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"Is </a:t>
            </a:r>
            <a:r>
              <a:rPr lang="fr-FR" altLang="x-none" sz="1600" dirty="0" err="1"/>
              <a:t>signed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is_signed</a:t>
            </a:r>
            <a:r>
              <a:rPr lang="fr-FR" altLang="x-none" sz="1600" dirty="0"/>
              <a:t>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</a:t>
            </a:r>
            <a:r>
              <a:rPr lang="fr-FR" altLang="x-none" sz="1600" dirty="0" err="1"/>
              <a:t>significand</a:t>
            </a:r>
            <a:r>
              <a:rPr lang="fr-FR" altLang="x-none" sz="1600" dirty="0"/>
              <a:t> bits: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&gt;::digits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</a:t>
            </a:r>
            <a:r>
              <a:rPr lang="fr-FR" altLang="x-none" sz="1600" dirty="0" err="1"/>
              <a:t>precision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&gt;::epsilon()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"has </a:t>
            </a:r>
            <a:r>
              <a:rPr lang="fr-FR" altLang="x-none" sz="1600" dirty="0" err="1"/>
              <a:t>infinity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has_infinity</a:t>
            </a:r>
            <a:r>
              <a:rPr lang="fr-FR" altLang="x-none" sz="1600" dirty="0"/>
              <a:t> &lt;&lt; '\n';</a:t>
            </a:r>
          </a:p>
          <a:p>
            <a:r>
              <a:rPr lang="is-IS" altLang="x-none" sz="1600" dirty="0"/>
              <a:t>  return 0;</a:t>
            </a:r>
          </a:p>
          <a:p>
            <a:r>
              <a:rPr lang="is-IS" altLang="x-none" sz="1600" dirty="0"/>
              <a:t>}</a:t>
            </a:r>
            <a:endParaRPr lang="es-ES_tradnl" altLang="x-none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Fixed width floating-point types (since C++23)</a:t>
            </a:r>
            <a:br>
              <a:rPr lang="en-US" dirty="0"/>
            </a:br>
            <a:r>
              <a:rPr lang="en-US" sz="2800" dirty="0">
                <a:hlinkClick r:id="rId2"/>
              </a:rPr>
              <a:t>https://en.cppreference.com/w/cpp/types/floating-point.html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42⊕3.3⊕3.3 = … , 3.3⊕3.3⊕42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difference of two number of the same </a:t>
            </a:r>
            <a:r>
              <a:rPr lang="en-US" dirty="0" err="1"/>
              <a:t>binade</a:t>
            </a:r>
            <a:r>
              <a:rPr lang="en-US" dirty="0"/>
              <a:t> is precise</a:t>
            </a:r>
          </a:p>
          <a:p>
            <a:pPr lvl="1"/>
            <a:r>
              <a:rPr lang="en-US" dirty="0"/>
              <a:t>99-11 = 88, 42-37 = 5</a:t>
            </a:r>
          </a:p>
          <a:p>
            <a:pPr lvl="1"/>
            <a:r>
              <a:rPr lang="en-US" dirty="0"/>
              <a:t>0x1.921fb6p+1 - 0x1.001e72p+1 = 0x1.240288p+0</a:t>
            </a:r>
          </a:p>
          <a:p>
            <a:endParaRPr lang="en-US" dirty="0"/>
          </a:p>
          <a:p>
            <a:r>
              <a:rPr lang="en-US" dirty="0"/>
              <a:t>If a&gt;b&gt;a/2&gt;0 then </a:t>
            </a:r>
            <a:r>
              <a:rPr lang="en-US" dirty="0" err="1"/>
              <a:t>a⊖b</a:t>
            </a:r>
            <a:r>
              <a:rPr lang="en-US" dirty="0"/>
              <a:t> = a-b (is precise)</a:t>
            </a:r>
          </a:p>
          <a:p>
            <a:pPr lvl="1"/>
            <a:r>
              <a:rPr lang="en-US" dirty="0"/>
              <a:t>12-7.4 = 4.6, 18-7.4= 10.6 =&gt; 18⊖7.4 = 11</a:t>
            </a:r>
          </a:p>
          <a:p>
            <a:pPr lvl="1"/>
            <a:r>
              <a:rPr lang="en-US" dirty="0"/>
              <a:t>0x1.333334p-2 ⊖ 0x1.99999ap-3 = 0x1.99999ap-4 (precise)</a:t>
            </a:r>
          </a:p>
          <a:p>
            <a:pPr lvl="1"/>
            <a:r>
              <a:rPr lang="en-US"/>
              <a:t>0x1.333334p-2 </a:t>
            </a:r>
            <a:r>
              <a:rPr lang="en-US" dirty="0"/>
              <a:t>⊖ 0x1.99999ap-4 = 0x1.99999cp-3 (</a:t>
            </a:r>
            <a:r>
              <a:rPr lang="en-US"/>
              <a:t>not precise)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4096</TotalTime>
  <Words>1280</Words>
  <Application>Microsoft Macintosh PowerPoint</Application>
  <PresentationFormat>Widescreen</PresentationFormat>
  <Paragraphs>148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FP on a Computer</vt:lpstr>
      <vt:lpstr>FP binary representations in IEEE754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A first theorem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53</cp:revision>
  <dcterms:created xsi:type="dcterms:W3CDTF">2026-04-12T14:58:51Z</dcterms:created>
  <dcterms:modified xsi:type="dcterms:W3CDTF">2026-04-15T12:23:34Z</dcterms:modified>
</cp:coreProperties>
</file>