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  <p:sldId id="258" r:id="rId3"/>
    <p:sldId id="259" r:id="rId4"/>
    <p:sldId id="256" r:id="rId5"/>
    <p:sldId id="260" r:id="rId6"/>
    <p:sldId id="261" r:id="rId7"/>
    <p:sldId id="455" r:id="rId8"/>
    <p:sldId id="439" r:id="rId9"/>
    <p:sldId id="394" r:id="rId10"/>
    <p:sldId id="262" r:id="rId11"/>
    <p:sldId id="456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258"/>
    <p:restoredTop sz="96327"/>
  </p:normalViewPr>
  <p:slideViewPr>
    <p:cSldViewPr snapToGrid="0" snapToObjects="1">
      <p:cViewPr varScale="1">
        <p:scale>
          <a:sx n="104" d="100"/>
          <a:sy n="104" d="100"/>
        </p:scale>
        <p:origin x="232" y="6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C4D1CC-E622-9933-2868-FA23CB49572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3C9F49D-42D4-EADA-802E-10DF942EA9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26A0B4-8090-AE63-458E-05DD8A6121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D1E06B-7144-164C-5FFF-3E805720FF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684222-DA2F-1FD7-A1C8-0E8274EBA1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33598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AA1288-4C93-BE36-8B37-19C57035C9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6DD9A3-1019-F71C-F371-E56FBD071B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B1966E-8EB2-89BB-3296-C745F3852E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2773DD-1005-7412-2D94-0AFCFF504C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BDD6C6-F32A-6D88-4AED-04F55944A5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88942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9C3827-39DE-2E4C-AF81-22B0FFA1BD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0C61E50-9984-78E9-2C35-310DE4504F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B3C9E6-89F3-7195-D617-C54E91861A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1025A9-8CEA-4104-A630-2ECE864E2D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0137A8-EFCE-4B63-AA96-5120A039A2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27578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2F1987-5523-2F89-6C40-1061465C07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884363-371F-F9EB-9A10-B654A31D8D4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EDAB543-4557-3208-9093-BB394573928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430FA3E-7D70-81D9-C21F-B82CFA9F6F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13A4237-8333-DD18-4AB4-88753F15D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C5BE0D9-B300-304A-7DF4-B0DFE1A6F9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08044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800608-1577-7AA4-2C84-8A3B9FF6A7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BF7FAB-B816-E945-118A-A870AE0D10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8F3376-C428-7B30-296A-43A6922475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27EBA15-C2EC-7C6F-3DC7-A2822D23C14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30875C1-19F2-91B9-F044-8F328BAA6FC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E3405A3-BC33-0500-6DE1-766771B97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B344012-7C9A-5389-C9B1-DB6C7E17C2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A2EB64E-66AF-E892-2042-802F0AC731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57108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A354FB-34D7-41F9-4F18-5C5D0EE9FD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4CEB5AA-D9D2-53CE-6267-11268D8139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C8B1DBF-4FE7-FE09-42BA-2B4C3EF933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4B2431B-38EB-0B7E-E375-0C2ADD1A1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13401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E3FA5D1-2EE6-8A9E-0492-AF9E940FEF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FD8DC07-1464-A056-1F98-F8B9D71EB7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8A9582-C4AB-EF4D-9268-95E1FB0657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46218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CACE12-B809-16F6-E5E5-388C1910C0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CB339F-2FE2-2E90-F911-1715DEBAF6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A26C5F7-3DAE-2D99-E257-1954DE6B590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2D8A80C-2FC9-A276-D774-EC0F0D3214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52A28F0-C969-F136-BA7A-D4C9032CB8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5A3915-7E92-C40C-B63E-4E1042C4C1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36946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1A3C02-70F2-06F6-67E2-C703BECC1F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739ADC8-1BD8-2DFB-9487-C95D7FC9763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169C5A2-C293-78CA-40CE-644491C73BE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D655FA-DBE3-249C-74F7-EEC2130147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061FF39-B7F3-A35B-82E0-11ECE97E3E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9742919-C396-7D0F-48FE-F795020D91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26803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24A591-0050-49EE-F471-AEAACF3800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54215F7-F253-A1C1-C23E-7527B472CAF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78D57C-3555-4A31-D8FC-1A83191FD3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73DC82-D6E2-9F0A-D80F-74A0DC5D28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BBCA39-7884-EE34-FA1A-2048E12561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35897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91EE23A-D4BF-DE6E-2E98-D24079B950D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8CFFA71-64E7-5833-49E7-89DF123AD7A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F858B3-F21F-7B88-C5DA-CA579D1DEF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C8DC47-1AFA-164F-D573-3620FC19C7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10C44C-A3E8-1127-AD56-A62F465EE6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88718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8F80EA6-DA30-58F1-9E76-6A415E5E82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6C9C406-3D01-9DE0-CFE8-3338018364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8B8FD6-498D-D7C7-1F2F-2A9EE6A5066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F3F677-D08B-9509-7D91-754A90F6464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005791-ECEA-494B-E074-17DCE5FBB01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66326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7" Type="http://schemas.openxmlformats.org/officeDocument/2006/relationships/image" Target="../media/image6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gif"/><Relationship Id="rId5" Type="http://schemas.openxmlformats.org/officeDocument/2006/relationships/image" Target="../media/image4.jpe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s://en.wikipedia.org/wiki/Floating-point_arithmetic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hyperlink" Target="https://en.wikipedia.org/wiki/IEEE_754" TargetMode="Externa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hyperlink" Target="https://en.cppreference.com/w/cpp/types/floating-point.html" TargetMode="Externa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library/decimal.html" TargetMode="External"/><Relationship Id="rId2" Type="http://schemas.openxmlformats.org/officeDocument/2006/relationships/hyperlink" Target="https://numpy.org/doc/2.3/reference/arrays.scalars.html#floating-point-types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10" descr="JPEG - 68.7 kb">
            <a:extLst>
              <a:ext uri="{FF2B5EF4-FFF2-40B4-BE49-F238E27FC236}">
                <a16:creationId xmlns:a16="http://schemas.microsoft.com/office/drawing/2014/main" id="{1877A84C-6BE1-5045-8D17-7898BF4958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02750" y="1249079"/>
            <a:ext cx="2679998" cy="1414201"/>
          </a:xfrm>
          <a:prstGeom prst="rect">
            <a:avLst/>
          </a:prstGeom>
          <a:noFill/>
        </p:spPr>
      </p:pic>
      <p:pic>
        <p:nvPicPr>
          <p:cNvPr id="9" name="Picture 4" descr="JPEG - 23.2 kb">
            <a:extLst>
              <a:ext uri="{FF2B5EF4-FFF2-40B4-BE49-F238E27FC236}">
                <a16:creationId xmlns:a16="http://schemas.microsoft.com/office/drawing/2014/main" id="{56DA42E4-78A7-2A44-97F2-C6455AC973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02750" y="3623013"/>
            <a:ext cx="2232248" cy="1596576"/>
          </a:xfrm>
          <a:prstGeom prst="rect">
            <a:avLst/>
          </a:prstGeom>
          <a:noFill/>
        </p:spPr>
      </p:pic>
      <p:pic>
        <p:nvPicPr>
          <p:cNvPr id="8" name="Picture 6" descr="http://www.prace-ri.eu/IMG/png/finalbaker91-2.png">
            <a:extLst>
              <a:ext uri="{FF2B5EF4-FFF2-40B4-BE49-F238E27FC236}">
                <a16:creationId xmlns:a16="http://schemas.microsoft.com/office/drawing/2014/main" id="{FD183C20-5D6C-2A4B-B575-BC0F8FC8DE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-2555" y="2359233"/>
            <a:ext cx="3070358" cy="1127887"/>
          </a:xfrm>
          <a:prstGeom prst="rect">
            <a:avLst/>
          </a:prstGeom>
          <a:noFill/>
        </p:spPr>
      </p:pic>
      <p:pic>
        <p:nvPicPr>
          <p:cNvPr id="7" name="Picture 8" descr="JPEG - 844 kb">
            <a:extLst>
              <a:ext uri="{FF2B5EF4-FFF2-40B4-BE49-F238E27FC236}">
                <a16:creationId xmlns:a16="http://schemas.microsoft.com/office/drawing/2014/main" id="{E177579B-E168-E346-BD05-3C8A582ACC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2998177" y="1869587"/>
            <a:ext cx="3022996" cy="2011994"/>
          </a:xfrm>
          <a:prstGeom prst="rect">
            <a:avLst/>
          </a:prstGeom>
          <a:noFill/>
        </p:spPr>
      </p:pic>
      <p:pic>
        <p:nvPicPr>
          <p:cNvPr id="6" name="Picture 2" descr="GIF - 41.4 kb">
            <a:extLst>
              <a:ext uri="{FF2B5EF4-FFF2-40B4-BE49-F238E27FC236}">
                <a16:creationId xmlns:a16="http://schemas.microsoft.com/office/drawing/2014/main" id="{DBC3CFB4-F3FE-E24A-A5C4-693BB6A9F0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2337554" y="3914663"/>
            <a:ext cx="3686175" cy="1304926"/>
          </a:xfrm>
          <a:prstGeom prst="rect">
            <a:avLst/>
          </a:prstGeom>
          <a:noFill/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9B12CF97-86BA-E548-8433-CC4C405DB02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23729" y="2345567"/>
            <a:ext cx="6168271" cy="2283106"/>
          </a:xfrm>
        </p:spPr>
        <p:txBody>
          <a:bodyPr>
            <a:norm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lang="en-US" sz="3200" dirty="0">
                <a:latin typeface="Corbel" panose="020B0503020204020204" pitchFamily="34" charset="0"/>
              </a:rPr>
              <a:t>Vincenzo </a:t>
            </a:r>
            <a:r>
              <a:rPr lang="en-US" sz="3200" dirty="0" err="1">
                <a:latin typeface="Corbel" panose="020B0503020204020204" pitchFamily="34" charset="0"/>
              </a:rPr>
              <a:t>Innocente</a:t>
            </a:r>
            <a:endParaRPr lang="en-US" sz="3200" dirty="0">
              <a:latin typeface="Corbel" panose="020B0503020204020204" pitchFamily="34" charset="0"/>
            </a:endParaRPr>
          </a:p>
          <a:p>
            <a:pPr algn="r">
              <a:lnSpc>
                <a:spcPct val="100000"/>
              </a:lnSpc>
              <a:spcBef>
                <a:spcPts val="0"/>
              </a:spcBef>
            </a:pPr>
            <a:endParaRPr lang="en-US" sz="3200" dirty="0">
              <a:latin typeface="Corbel" panose="020B0503020204020204" pitchFamily="34" charset="0"/>
            </a:endParaRPr>
          </a:p>
          <a:p>
            <a:pPr algn="r">
              <a:lnSpc>
                <a:spcPct val="100000"/>
              </a:lnSpc>
              <a:spcBef>
                <a:spcPts val="0"/>
              </a:spcBef>
            </a:pPr>
            <a:endParaRPr lang="en-US" sz="3200" dirty="0">
              <a:latin typeface="Corbel" panose="020B0503020204020204" pitchFamily="34" charset="0"/>
            </a:endParaRPr>
          </a:p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lang="en-US" sz="3200" dirty="0">
                <a:latin typeface="Corbel" panose="020B0503020204020204" pitchFamily="34" charset="0"/>
              </a:rPr>
              <a:t>CERN, June 2026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E732488-3532-D14E-9FDD-B6D28AE88DBA}"/>
              </a:ext>
            </a:extLst>
          </p:cNvPr>
          <p:cNvPicPr>
            <a:picLocks noChangeAspect="1"/>
          </p:cNvPicPr>
          <p:nvPr/>
        </p:nvPicPr>
        <p:blipFill>
          <a:blip r:embed="rId7">
            <a:clrChange>
              <a:clrFrom>
                <a:srgbClr val="FAFFFF"/>
              </a:clrFrom>
              <a:clrTo>
                <a:srgbClr val="FAFFFF">
                  <a:alpha val="0"/>
                </a:srgbClr>
              </a:clrTo>
            </a:clrChange>
            <a:duotone>
              <a:schemeClr val="accent5">
                <a:shade val="45000"/>
                <a:satMod val="135000"/>
              </a:schemeClr>
              <a:prstClr val="white"/>
            </a:duotone>
            <a:alphaModFix/>
            <a:extLst>
              <a:ext uri="{BEBA8EAE-BF5A-486C-A8C5-ECC9F3942E4B}">
                <a14:imgProps xmlns:a14="http://schemas.microsoft.com/office/drawing/2010/main">
                  <a14:imgLayer>
                    <a14:imgEffect>
                      <a14:sharpenSoften amount="46000"/>
                    </a14:imgEffect>
                    <a14:imgEffect>
                      <a14:colorTemperature colorTemp="5717"/>
                    </a14:imgEffect>
                    <a14:imgEffect>
                      <a14:saturation sat="290000"/>
                    </a14:imgEffect>
                    <a14:imgEffect>
                      <a14:brightnessContrast contrast="-1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" y="1249079"/>
            <a:ext cx="6023728" cy="5608921"/>
          </a:xfrm>
          <a:prstGeom prst="rect">
            <a:avLst/>
          </a:prstGeom>
          <a:noFill/>
          <a:effectLst>
            <a:glow>
              <a:schemeClr val="bg1"/>
            </a:glo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7D6A989-8750-A946-9EA5-654E46C0746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50731" y="0"/>
            <a:ext cx="10941269" cy="1444171"/>
          </a:xfrm>
        </p:spPr>
        <p:txBody>
          <a:bodyPr>
            <a:normAutofit fontScale="90000"/>
          </a:bodyPr>
          <a:lstStyle/>
          <a:p>
            <a:pPr algn="r"/>
            <a:r>
              <a:rPr lang="en-US" dirty="0" err="1">
                <a:latin typeface="Corbel" panose="020B0503020204020204" pitchFamily="34" charset="0"/>
              </a:rPr>
              <a:t>FloatingPoint</a:t>
            </a:r>
            <a:r>
              <a:rPr lang="en-US" dirty="0">
                <a:latin typeface="Corbel" panose="020B0503020204020204" pitchFamily="34" charset="0"/>
              </a:rPr>
              <a:t> Arithmetic for Scientist: Precision, Accuracy, Efficiency </a:t>
            </a:r>
          </a:p>
        </p:txBody>
      </p:sp>
    </p:spTree>
    <p:extLst>
      <p:ext uri="{BB962C8B-B14F-4D97-AF65-F5344CB8AC3E}">
        <p14:creationId xmlns:p14="http://schemas.microsoft.com/office/powerpoint/2010/main" val="31302432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7268F8-85E7-DA38-B02A-4ADDB868CD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What’s a Floating Point?</a:t>
            </a:r>
            <a:br>
              <a:rPr lang="en-US" dirty="0"/>
            </a:br>
            <a:r>
              <a:rPr lang="en-US" sz="1600" dirty="0">
                <a:hlinkClick r:id="rId2"/>
              </a:rPr>
              <a:t>https://en.wikipedia.org/wiki/Floating-point_arithmetic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FFB85D-0262-522C-7650-5A45147461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Science is based on Measurements</a:t>
            </a:r>
          </a:p>
          <a:p>
            <a:r>
              <a:rPr lang="en-US" dirty="0"/>
              <a:t>The result of a Measurement is a Rational Number</a:t>
            </a:r>
          </a:p>
          <a:p>
            <a:r>
              <a:rPr lang="en-US" dirty="0"/>
              <a:t>“Floating Point” is a way to represent Rational Numbers by a fixed number of digits (precision) multiplied by a “base” with an exponent</a:t>
            </a:r>
          </a:p>
          <a:p>
            <a:pPr lvl="1"/>
            <a:r>
              <a:rPr lang="en-US" dirty="0"/>
              <a:t>A form of “Scientific Notation”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31ᐧ10</a:t>
            </a:r>
            <a:r>
              <a:rPr lang="en-US" baseline="30000" dirty="0"/>
              <a:t>-1</a:t>
            </a:r>
            <a:r>
              <a:rPr lang="en-US" dirty="0"/>
              <a:t> is a FP in base 10 with “precision” 2   (printed in decimal)</a:t>
            </a:r>
          </a:p>
          <a:p>
            <a:pPr marL="0" indent="0">
              <a:buNone/>
            </a:pPr>
            <a:r>
              <a:rPr lang="cs-CZ" altLang="x-none" dirty="0"/>
              <a:t>1.921fb6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 </a:t>
            </a:r>
            <a:r>
              <a:rPr lang="en-US" dirty="0"/>
              <a:t>is a FP in base 2 with precision 24   (printed in </a:t>
            </a:r>
            <a:r>
              <a:rPr lang="en-US" dirty="0" err="1"/>
              <a:t>exadecimal</a:t>
            </a:r>
            <a:r>
              <a:rPr lang="en-US" dirty="0"/>
              <a:t>)</a:t>
            </a:r>
            <a:endParaRPr lang="en-US" baseline="30000" dirty="0"/>
          </a:p>
        </p:txBody>
      </p:sp>
    </p:spTree>
    <p:extLst>
      <p:ext uri="{BB962C8B-B14F-4D97-AF65-F5344CB8AC3E}">
        <p14:creationId xmlns:p14="http://schemas.microsoft.com/office/powerpoint/2010/main" val="36351513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30F8CC-3C21-4921-6714-6705D02DF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Trivial properties of FP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EFCA01-9C0D-C660-E004-78866BE1C2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Each FP has a previous and a next</a:t>
            </a:r>
          </a:p>
          <a:p>
            <a:pPr lvl="1"/>
            <a:r>
              <a:rPr lang="en-US" dirty="0"/>
              <a:t>Previous of 31ᐧ10</a:t>
            </a:r>
            <a:r>
              <a:rPr lang="en-US" baseline="30000" dirty="0"/>
              <a:t>-1 </a:t>
            </a:r>
            <a:r>
              <a:rPr lang="en-US" dirty="0"/>
              <a:t>is</a:t>
            </a:r>
            <a:r>
              <a:rPr lang="en-US" baseline="30000" dirty="0"/>
              <a:t> </a:t>
            </a:r>
            <a:r>
              <a:rPr lang="en-US" dirty="0"/>
              <a:t>30ᐧ10</a:t>
            </a:r>
            <a:r>
              <a:rPr lang="en-US" baseline="30000" dirty="0"/>
              <a:t>-1</a:t>
            </a:r>
            <a:r>
              <a:rPr lang="en-US" dirty="0"/>
              <a:t>, next is 32ᐧ10</a:t>
            </a:r>
            <a:r>
              <a:rPr lang="en-US" baseline="30000" dirty="0"/>
              <a:t>-1</a:t>
            </a:r>
          </a:p>
          <a:p>
            <a:pPr lvl="1"/>
            <a:r>
              <a:rPr lang="en-US" dirty="0"/>
              <a:t>Previous of </a:t>
            </a:r>
            <a:r>
              <a:rPr lang="cs-CZ" altLang="x-none" dirty="0"/>
              <a:t>1.921fb6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  </a:t>
            </a:r>
            <a:r>
              <a:rPr lang="cs-CZ" altLang="x-none" dirty="0" err="1"/>
              <a:t>is</a:t>
            </a:r>
            <a:r>
              <a:rPr lang="cs-CZ" altLang="x-none" dirty="0"/>
              <a:t> 1.921fb4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</a:t>
            </a:r>
            <a:r>
              <a:rPr lang="cs-CZ" altLang="x-none" dirty="0"/>
              <a:t>, </a:t>
            </a:r>
            <a:r>
              <a:rPr lang="cs-CZ" altLang="x-none" dirty="0" err="1"/>
              <a:t>next</a:t>
            </a:r>
            <a:r>
              <a:rPr lang="cs-CZ" altLang="x-none" dirty="0"/>
              <a:t> </a:t>
            </a:r>
            <a:r>
              <a:rPr lang="cs-CZ" altLang="x-none" dirty="0" err="1"/>
              <a:t>is</a:t>
            </a:r>
            <a:r>
              <a:rPr lang="cs-CZ" altLang="x-none" dirty="0"/>
              <a:t> 1.921fb8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</a:t>
            </a:r>
            <a:r>
              <a:rPr lang="cs-CZ" altLang="x-none" dirty="0"/>
              <a:t> </a:t>
            </a:r>
          </a:p>
          <a:p>
            <a:pPr lvl="1"/>
            <a:r>
              <a:rPr lang="cs-CZ" altLang="x-none" dirty="0" err="1"/>
              <a:t>The</a:t>
            </a:r>
            <a:r>
              <a:rPr lang="cs-CZ" altLang="x-none" dirty="0"/>
              <a:t> </a:t>
            </a:r>
            <a:r>
              <a:rPr lang="cs-CZ" altLang="x-none" dirty="0" err="1"/>
              <a:t>difference</a:t>
            </a:r>
            <a:r>
              <a:rPr lang="cs-CZ" altLang="x-none" dirty="0"/>
              <a:t> </a:t>
            </a:r>
            <a:r>
              <a:rPr lang="cs-CZ" altLang="x-none" dirty="0" err="1"/>
              <a:t>between</a:t>
            </a:r>
            <a:r>
              <a:rPr lang="cs-CZ" altLang="x-none" dirty="0"/>
              <a:t> </a:t>
            </a:r>
            <a:r>
              <a:rPr lang="cs-CZ" altLang="x-none" dirty="0" err="1"/>
              <a:t>two</a:t>
            </a:r>
            <a:r>
              <a:rPr lang="cs-CZ" altLang="x-none" dirty="0"/>
              <a:t> </a:t>
            </a:r>
            <a:r>
              <a:rPr lang="cs-CZ" altLang="x-none" dirty="0" err="1"/>
              <a:t>consecutive</a:t>
            </a:r>
            <a:r>
              <a:rPr lang="cs-CZ" altLang="x-none" dirty="0"/>
              <a:t> FP </a:t>
            </a:r>
            <a:r>
              <a:rPr lang="cs-CZ" altLang="x-none" dirty="0" err="1"/>
              <a:t>is</a:t>
            </a:r>
            <a:r>
              <a:rPr lang="cs-CZ" altLang="x-none" dirty="0"/>
              <a:t> </a:t>
            </a:r>
            <a:r>
              <a:rPr lang="cs-CZ" altLang="x-none" dirty="0" err="1"/>
              <a:t>called</a:t>
            </a:r>
            <a:r>
              <a:rPr lang="cs-CZ" altLang="x-none" dirty="0"/>
              <a:t> ULP (unit in last place)</a:t>
            </a:r>
          </a:p>
          <a:p>
            <a:r>
              <a:rPr lang="cs-CZ" altLang="x-none" dirty="0" err="1"/>
              <a:t>For</a:t>
            </a:r>
            <a:r>
              <a:rPr lang="cs-CZ" altLang="x-none" dirty="0"/>
              <a:t> </a:t>
            </a:r>
            <a:r>
              <a:rPr lang="cs-CZ" altLang="x-none" dirty="0" err="1"/>
              <a:t>each</a:t>
            </a:r>
            <a:r>
              <a:rPr lang="cs-CZ" altLang="x-none" dirty="0"/>
              <a:t> </a:t>
            </a:r>
            <a:r>
              <a:rPr lang="cs-CZ" altLang="x-none" dirty="0" err="1"/>
              <a:t>value</a:t>
            </a:r>
            <a:r>
              <a:rPr lang="cs-CZ" altLang="x-none" dirty="0"/>
              <a:t> </a:t>
            </a:r>
            <a:r>
              <a:rPr lang="cs-CZ" altLang="x-none" dirty="0" err="1"/>
              <a:t>of</a:t>
            </a:r>
            <a:r>
              <a:rPr lang="cs-CZ" altLang="x-none" dirty="0"/>
              <a:t> </a:t>
            </a:r>
            <a:r>
              <a:rPr lang="cs-CZ" altLang="x-none" dirty="0" err="1"/>
              <a:t>the</a:t>
            </a:r>
            <a:r>
              <a:rPr lang="cs-CZ" altLang="x-none" dirty="0"/>
              <a:t> exponent </a:t>
            </a:r>
            <a:r>
              <a:rPr lang="cs-CZ" altLang="x-none" dirty="0" err="1"/>
              <a:t>there</a:t>
            </a:r>
            <a:r>
              <a:rPr lang="cs-CZ" altLang="x-none" dirty="0"/>
              <a:t> </a:t>
            </a:r>
            <a:r>
              <a:rPr lang="cs-CZ" altLang="x-none" dirty="0" err="1"/>
              <a:t>is</a:t>
            </a:r>
            <a:r>
              <a:rPr lang="cs-CZ" altLang="x-none" dirty="0"/>
              <a:t> a </a:t>
            </a:r>
            <a:r>
              <a:rPr lang="cs-CZ" altLang="x-none" dirty="0" err="1"/>
              <a:t>finite</a:t>
            </a:r>
            <a:r>
              <a:rPr lang="cs-CZ" altLang="x-none" dirty="0"/>
              <a:t> </a:t>
            </a:r>
            <a:r>
              <a:rPr lang="cs-CZ" altLang="x-none" dirty="0" err="1"/>
              <a:t>number</a:t>
            </a:r>
            <a:r>
              <a:rPr lang="cs-CZ" altLang="x-none" dirty="0"/>
              <a:t> </a:t>
            </a:r>
            <a:r>
              <a:rPr lang="cs-CZ" altLang="x-none" dirty="0" err="1"/>
              <a:t>of</a:t>
            </a:r>
            <a:r>
              <a:rPr lang="cs-CZ" altLang="x-none" dirty="0"/>
              <a:t> FP</a:t>
            </a:r>
          </a:p>
          <a:p>
            <a:pPr lvl="1"/>
            <a:r>
              <a:rPr lang="cs-CZ" altLang="x-none" dirty="0"/>
              <a:t> 10</a:t>
            </a:r>
            <a:r>
              <a:rPr lang="cs-CZ" altLang="x-none" baseline="30000" dirty="0"/>
              <a:t> </a:t>
            </a:r>
            <a:r>
              <a:rPr lang="en-US" dirty="0"/>
              <a:t>ᐧ10</a:t>
            </a:r>
            <a:r>
              <a:rPr lang="en-US" baseline="30000" dirty="0"/>
              <a:t>e</a:t>
            </a:r>
            <a:r>
              <a:rPr lang="en-US" dirty="0"/>
              <a:t> - </a:t>
            </a:r>
            <a:r>
              <a:rPr lang="cs-CZ" dirty="0"/>
              <a:t>99</a:t>
            </a:r>
            <a:r>
              <a:rPr lang="cs-CZ" altLang="x-none" baseline="30000" dirty="0"/>
              <a:t> </a:t>
            </a:r>
            <a:r>
              <a:rPr lang="en-US" dirty="0"/>
              <a:t>ᐧ10</a:t>
            </a:r>
            <a:r>
              <a:rPr lang="en-US" baseline="30000" dirty="0"/>
              <a:t>e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1.000000ᐧ</a:t>
            </a:r>
            <a:r>
              <a:rPr lang="cs-CZ" altLang="x-none" dirty="0"/>
              <a:t>2</a:t>
            </a:r>
            <a:r>
              <a:rPr lang="en-US" baseline="30000" dirty="0"/>
              <a:t>e </a:t>
            </a:r>
            <a:r>
              <a:rPr lang="en-US" dirty="0"/>
              <a:t>- 1.ffffffᐧ</a:t>
            </a:r>
            <a:r>
              <a:rPr lang="cs-CZ" altLang="x-none" dirty="0"/>
              <a:t>2</a:t>
            </a:r>
            <a:r>
              <a:rPr lang="en-US" baseline="30000" dirty="0"/>
              <a:t>e 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(called “</a:t>
            </a:r>
            <a:r>
              <a:rPr lang="en-US" dirty="0" err="1"/>
              <a:t>binade</a:t>
            </a:r>
            <a:r>
              <a:rPr lang="en-US" dirty="0"/>
              <a:t>”)</a:t>
            </a:r>
          </a:p>
        </p:txBody>
      </p:sp>
    </p:spTree>
    <p:extLst>
      <p:ext uri="{BB962C8B-B14F-4D97-AF65-F5344CB8AC3E}">
        <p14:creationId xmlns:p14="http://schemas.microsoft.com/office/powerpoint/2010/main" val="40714793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5A3A9D8-867E-6417-96D4-7E682A5649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6968"/>
            <a:ext cx="10515600" cy="1304924"/>
          </a:xfrm>
        </p:spPr>
        <p:txBody>
          <a:bodyPr/>
          <a:lstStyle/>
          <a:p>
            <a:r>
              <a:rPr lang="en-US" dirty="0"/>
              <a:t>Precision and Rounding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A207A04-A816-749B-D772-9ADF868CFE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9804" y="1106109"/>
            <a:ext cx="11003996" cy="3840619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dirty="0" err="1"/>
              <a:t>Le’ts</a:t>
            </a:r>
            <a:r>
              <a:rPr lang="en-US" dirty="0"/>
              <a:t> be the result of a measurement  3.1415 and its accuracy, say, 0.1.</a:t>
            </a:r>
          </a:p>
          <a:p>
            <a:pPr marL="0" indent="0">
              <a:buNone/>
            </a:pPr>
            <a:r>
              <a:rPr lang="en-US" dirty="0"/>
              <a:t>This result needs to be rounded. Default is to round to “nearest”</a:t>
            </a:r>
          </a:p>
          <a:p>
            <a:pPr marL="0" indent="0">
              <a:buNone/>
            </a:pPr>
            <a:r>
              <a:rPr lang="en-US" dirty="0"/>
              <a:t>3.1415 -&gt; 3.1  (3.1515 -&gt; 3.2)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31ᐧ10</a:t>
            </a:r>
            <a:r>
              <a:rPr lang="en-US" baseline="30000" dirty="0"/>
              <a:t>-1</a:t>
            </a:r>
            <a:r>
              <a:rPr lang="en-US" dirty="0"/>
              <a:t> represents all numbers in the interval [30.5ᐧ10</a:t>
            </a:r>
            <a:r>
              <a:rPr lang="en-US" baseline="30000" dirty="0"/>
              <a:t>-1</a:t>
            </a:r>
            <a:r>
              <a:rPr lang="en-US" dirty="0"/>
              <a:t>, 31.5ᐧ10</a:t>
            </a:r>
            <a:r>
              <a:rPr lang="en-US" baseline="30000" dirty="0"/>
              <a:t>-1</a:t>
            </a:r>
            <a:r>
              <a:rPr lang="en-US" dirty="0"/>
              <a:t>]</a:t>
            </a:r>
          </a:p>
          <a:p>
            <a:pPr marL="0" indent="0">
              <a:buNone/>
            </a:pPr>
            <a:r>
              <a:rPr lang="cs-CZ" altLang="x-none" dirty="0"/>
              <a:t>1.921fb6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 </a:t>
            </a:r>
            <a:r>
              <a:rPr lang="en-US" dirty="0"/>
              <a:t>represents all numbers in the interval [</a:t>
            </a:r>
            <a:r>
              <a:rPr lang="cs-CZ" altLang="x-none" dirty="0"/>
              <a:t>1.921fb5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</a:t>
            </a:r>
            <a:r>
              <a:rPr lang="cs-CZ" altLang="x-none" dirty="0"/>
              <a:t>,1.921fb7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</a:t>
            </a:r>
            <a:r>
              <a:rPr lang="cs-CZ" altLang="x-none" dirty="0"/>
              <a:t>]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 </a:t>
            </a:r>
          </a:p>
        </p:txBody>
      </p:sp>
      <p:grpSp>
        <p:nvGrpSpPr>
          <p:cNvPr id="2" name="Group 29">
            <a:extLst>
              <a:ext uri="{FF2B5EF4-FFF2-40B4-BE49-F238E27FC236}">
                <a16:creationId xmlns:a16="http://schemas.microsoft.com/office/drawing/2014/main" id="{13824B21-6E52-B544-EBED-01ED8CAFB180}"/>
              </a:ext>
            </a:extLst>
          </p:cNvPr>
          <p:cNvGrpSpPr>
            <a:grpSpLocks/>
          </p:cNvGrpSpPr>
          <p:nvPr/>
        </p:nvGrpSpPr>
        <p:grpSpPr bwMode="auto">
          <a:xfrm>
            <a:off x="1875392" y="3542505"/>
            <a:ext cx="7632700" cy="3249617"/>
            <a:chOff x="899592" y="764704"/>
            <a:chExt cx="7632848" cy="3249656"/>
          </a:xfrm>
        </p:grpSpPr>
        <p:cxnSp>
          <p:nvCxnSpPr>
            <p:cNvPr id="3" name="Straight Arrow Connector 2">
              <a:extLst>
                <a:ext uri="{FF2B5EF4-FFF2-40B4-BE49-F238E27FC236}">
                  <a16:creationId xmlns:a16="http://schemas.microsoft.com/office/drawing/2014/main" id="{D0E227D9-2D4A-B22E-F248-369A9CF5EB0C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899592" y="2709415"/>
              <a:ext cx="7632848" cy="0"/>
            </a:xfrm>
            <a:prstGeom prst="straightConnector1">
              <a:avLst/>
            </a:prstGeom>
            <a:noFill/>
            <a:ln w="57150">
              <a:solidFill>
                <a:srgbClr val="FF0000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7BF4DE9F-4E1C-AFB4-1588-025BA0A49848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4355646" y="2060120"/>
              <a:ext cx="0" cy="576270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E00BA996-B837-CAE1-0EAE-928976C6F1D0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7237015" y="2060120"/>
              <a:ext cx="0" cy="576270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5E087550-CD3F-C920-D935-DFB4E4DF546C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1620331" y="1988682"/>
              <a:ext cx="0" cy="576269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9" name="TextBox 12">
              <a:extLst>
                <a:ext uri="{FF2B5EF4-FFF2-40B4-BE49-F238E27FC236}">
                  <a16:creationId xmlns:a16="http://schemas.microsoft.com/office/drawing/2014/main" id="{B2E9F211-B946-FFC4-BB41-DEB9D86792A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35896" y="1700808"/>
              <a:ext cx="1404201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en-US" altLang="x-none" sz="1800" b="1">
                  <a:solidFill>
                    <a:srgbClr val="3366FF"/>
                  </a:solidFill>
                </a:rPr>
                <a:t>3.14159274</a:t>
              </a:r>
            </a:p>
          </p:txBody>
        </p:sp>
        <p:sp>
          <p:nvSpPr>
            <p:cNvPr id="10" name="Curved Down Arrow 9">
              <a:extLst>
                <a:ext uri="{FF2B5EF4-FFF2-40B4-BE49-F238E27FC236}">
                  <a16:creationId xmlns:a16="http://schemas.microsoft.com/office/drawing/2014/main" id="{7947E535-3DC8-82A8-F99A-E0F78527E727}"/>
                </a:ext>
              </a:extLst>
            </p:cNvPr>
            <p:cNvSpPr>
              <a:spLocks noChangeArrowheads="1"/>
            </p:cNvSpPr>
            <p:nvPr/>
          </p:nvSpPr>
          <p:spPr bwMode="auto">
            <a:xfrm flipH="1">
              <a:off x="1404427" y="1052045"/>
              <a:ext cx="2879781" cy="649295"/>
            </a:xfrm>
            <a:prstGeom prst="curvedDownArrow">
              <a:avLst>
                <a:gd name="adj1" fmla="val 24989"/>
                <a:gd name="adj2" fmla="val 49999"/>
                <a:gd name="adj3" fmla="val 29394"/>
              </a:avLst>
            </a:prstGeom>
            <a:gradFill rotWithShape="1">
              <a:gsLst>
                <a:gs pos="0">
                  <a:srgbClr val="9DF3F3"/>
                </a:gs>
                <a:gs pos="100000">
                  <a:srgbClr val="00B0B0"/>
                </a:gs>
              </a:gsLst>
              <a:lin ang="5400000"/>
            </a:gradFill>
            <a:ln w="9525">
              <a:solidFill>
                <a:srgbClr val="009999"/>
              </a:solidFill>
              <a:miter lim="800000"/>
              <a:headEnd/>
              <a:tailEnd/>
            </a:ln>
            <a:effectLst>
              <a:outerShdw blurRad="40000" dist="23000" dir="5400000" rotWithShape="0">
                <a:srgbClr val="000000">
                  <a:alpha val="34999"/>
                </a:srgbClr>
              </a:outerShdw>
            </a:effectLst>
          </p:spPr>
          <p:txBody>
            <a:bodyPr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algn="ctr" eaLnBrk="1" hangingPunct="1"/>
              <a:endParaRPr lang="en-US" altLang="x-none" sz="1800"/>
            </a:p>
          </p:txBody>
        </p:sp>
        <p:sp>
          <p:nvSpPr>
            <p:cNvPr id="11" name="TextBox 14">
              <a:extLst>
                <a:ext uri="{FF2B5EF4-FFF2-40B4-BE49-F238E27FC236}">
                  <a16:creationId xmlns:a16="http://schemas.microsoft.com/office/drawing/2014/main" id="{5F4F21E6-F4C7-085F-C4FB-C28DEBF1C6A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292080" y="764704"/>
              <a:ext cx="1872208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en-US" altLang="x-none" sz="1800"/>
                <a:t>nextafter(pi,inf)</a:t>
              </a:r>
            </a:p>
          </p:txBody>
        </p:sp>
        <p:sp>
          <p:nvSpPr>
            <p:cNvPr id="12" name="Curved Down Arrow 11">
              <a:extLst>
                <a:ext uri="{FF2B5EF4-FFF2-40B4-BE49-F238E27FC236}">
                  <a16:creationId xmlns:a16="http://schemas.microsoft.com/office/drawing/2014/main" id="{2D42BAC7-78D8-F5C2-F179-F55CE533790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71550" y="1052045"/>
              <a:ext cx="2665465" cy="649295"/>
            </a:xfrm>
            <a:prstGeom prst="curvedDownArrow">
              <a:avLst>
                <a:gd name="adj1" fmla="val 24992"/>
                <a:gd name="adj2" fmla="val 50003"/>
                <a:gd name="adj3" fmla="val 29394"/>
              </a:avLst>
            </a:prstGeom>
            <a:gradFill rotWithShape="1">
              <a:gsLst>
                <a:gs pos="0">
                  <a:srgbClr val="9DF3F3"/>
                </a:gs>
                <a:gs pos="100000">
                  <a:srgbClr val="00B0B0"/>
                </a:gs>
              </a:gsLst>
              <a:lin ang="5400000"/>
            </a:gradFill>
            <a:ln w="9525">
              <a:solidFill>
                <a:srgbClr val="009999"/>
              </a:solidFill>
              <a:miter lim="800000"/>
              <a:headEnd/>
              <a:tailEnd/>
            </a:ln>
            <a:effectLst>
              <a:outerShdw blurRad="40000" dist="23000" dir="5400000" rotWithShape="0">
                <a:srgbClr val="000000">
                  <a:alpha val="34999"/>
                </a:srgbClr>
              </a:outerShdw>
            </a:effectLst>
          </p:spPr>
          <p:txBody>
            <a:bodyPr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algn="ctr" eaLnBrk="1" hangingPunct="1"/>
              <a:endParaRPr lang="en-US" altLang="x-none" sz="1800"/>
            </a:p>
          </p:txBody>
        </p:sp>
        <p:sp>
          <p:nvSpPr>
            <p:cNvPr id="13" name="TextBox 19">
              <a:extLst>
                <a:ext uri="{FF2B5EF4-FFF2-40B4-BE49-F238E27FC236}">
                  <a16:creationId xmlns:a16="http://schemas.microsoft.com/office/drawing/2014/main" id="{21D7C7E1-2617-4291-642B-25776DBCD71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763688" y="764704"/>
              <a:ext cx="1872208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en-US" altLang="x-none" sz="1800"/>
                <a:t>nextafter(pi,-inf)</a:t>
              </a:r>
            </a:p>
          </p:txBody>
        </p:sp>
        <p:sp>
          <p:nvSpPr>
            <p:cNvPr id="14" name="TextBox 20">
              <a:extLst>
                <a:ext uri="{FF2B5EF4-FFF2-40B4-BE49-F238E27FC236}">
                  <a16:creationId xmlns:a16="http://schemas.microsoft.com/office/drawing/2014/main" id="{6A59F1EF-62D0-1053-52F9-22FA24E7D23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588224" y="1772816"/>
              <a:ext cx="1433434" cy="3693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 dirty="0"/>
                <a:t>1.921fb8</a:t>
              </a:r>
              <a:r>
                <a:rPr lang="en-US" sz="1800" dirty="0" err="1"/>
                <a:t>ᐧ</a:t>
              </a:r>
              <a:r>
                <a:rPr lang="cs-CZ" altLang="x-none" sz="1800" dirty="0"/>
                <a:t>2</a:t>
              </a:r>
              <a:r>
                <a:rPr lang="cs-CZ" altLang="x-none" sz="1800" baseline="30000" dirty="0"/>
                <a:t>+1</a:t>
              </a:r>
              <a:endParaRPr lang="en-US" altLang="x-none" sz="1800" dirty="0"/>
            </a:p>
          </p:txBody>
        </p:sp>
        <p:sp>
          <p:nvSpPr>
            <p:cNvPr id="15" name="TextBox 21">
              <a:extLst>
                <a:ext uri="{FF2B5EF4-FFF2-40B4-BE49-F238E27FC236}">
                  <a16:creationId xmlns:a16="http://schemas.microsoft.com/office/drawing/2014/main" id="{89CA3602-C364-0B21-51F3-DFBBCFDCFB8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71600" y="1700808"/>
              <a:ext cx="1433434" cy="3693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 dirty="0"/>
                <a:t>1.921fb4</a:t>
              </a:r>
              <a:r>
                <a:rPr lang="en-US" sz="1800" dirty="0" err="1"/>
                <a:t>ᐧ</a:t>
              </a:r>
              <a:r>
                <a:rPr lang="cs-CZ" altLang="x-none" sz="1800" dirty="0"/>
                <a:t>2</a:t>
              </a:r>
              <a:r>
                <a:rPr lang="cs-CZ" altLang="x-none" sz="1800" baseline="30000" dirty="0"/>
                <a:t>+1</a:t>
              </a:r>
              <a:endParaRPr lang="en-US" altLang="x-none" sz="1800" dirty="0"/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55A41708-3507-93FE-41AC-24C6F319E7D6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2844317" y="2349048"/>
              <a:ext cx="0" cy="360367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1F99F614-BCCC-24BA-A1BC-5FA4B09093BF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5868563" y="2349048"/>
              <a:ext cx="0" cy="360367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18" name="TextBox 25">
              <a:extLst>
                <a:ext uri="{FF2B5EF4-FFF2-40B4-BE49-F238E27FC236}">
                  <a16:creationId xmlns:a16="http://schemas.microsoft.com/office/drawing/2014/main" id="{044DDC94-42F7-90DF-A4B0-9D41FA23C55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195736" y="1988840"/>
              <a:ext cx="1433434" cy="3693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 dirty="0"/>
                <a:t>1.921fb5</a:t>
              </a:r>
              <a:r>
                <a:rPr lang="en-US" sz="1800" dirty="0" err="1"/>
                <a:t>ᐧ</a:t>
              </a:r>
              <a:r>
                <a:rPr lang="cs-CZ" altLang="x-none" sz="1800" dirty="0"/>
                <a:t>2</a:t>
              </a:r>
              <a:r>
                <a:rPr lang="cs-CZ" altLang="x-none" sz="1800" baseline="30000" dirty="0"/>
                <a:t>+1</a:t>
              </a:r>
              <a:endParaRPr lang="en-US" altLang="x-none" sz="1800" dirty="0"/>
            </a:p>
          </p:txBody>
        </p:sp>
        <p:sp>
          <p:nvSpPr>
            <p:cNvPr id="19" name="TextBox 26">
              <a:extLst>
                <a:ext uri="{FF2B5EF4-FFF2-40B4-BE49-F238E27FC236}">
                  <a16:creationId xmlns:a16="http://schemas.microsoft.com/office/drawing/2014/main" id="{854015D3-9213-39E0-47F6-20ADF760D69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076056" y="1988840"/>
              <a:ext cx="1433434" cy="64633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 dirty="0"/>
                <a:t>1.921fb7</a:t>
              </a:r>
              <a:r>
                <a:rPr lang="en-US" sz="1800" dirty="0" err="1"/>
                <a:t>ᐧ</a:t>
              </a:r>
              <a:r>
                <a:rPr lang="cs-CZ" altLang="x-none" sz="1800" dirty="0"/>
                <a:t>2</a:t>
              </a:r>
              <a:r>
                <a:rPr lang="cs-CZ" altLang="x-none" sz="1800" baseline="30000" dirty="0"/>
                <a:t>+1</a:t>
              </a:r>
              <a:endParaRPr lang="en-US" altLang="x-none" sz="1800" dirty="0"/>
            </a:p>
            <a:p>
              <a:pPr eaLnBrk="1" hangingPunct="1"/>
              <a:endParaRPr lang="en-US" altLang="x-none" sz="1800" dirty="0"/>
            </a:p>
          </p:txBody>
        </p:sp>
        <p:sp>
          <p:nvSpPr>
            <p:cNvPr id="20" name="Right Brace 19">
              <a:extLst>
                <a:ext uri="{FF2B5EF4-FFF2-40B4-BE49-F238E27FC236}">
                  <a16:creationId xmlns:a16="http://schemas.microsoft.com/office/drawing/2014/main" id="{325B6550-875B-B4DB-809F-413D0C9C7493}"/>
                </a:ext>
              </a:extLst>
            </p:cNvPr>
            <p:cNvSpPr>
              <a:spLocks/>
            </p:cNvSpPr>
            <p:nvPr/>
          </p:nvSpPr>
          <p:spPr bwMode="auto">
            <a:xfrm rot="5400000" flipV="1">
              <a:off x="3959560" y="1664022"/>
              <a:ext cx="792172" cy="3168711"/>
            </a:xfrm>
            <a:prstGeom prst="rightBrace">
              <a:avLst>
                <a:gd name="adj1" fmla="val 8333"/>
                <a:gd name="adj2" fmla="val 50000"/>
              </a:avLst>
            </a:prstGeom>
            <a:noFill/>
            <a:ln w="25400">
              <a:solidFill>
                <a:schemeClr val="accent1"/>
              </a:solidFill>
              <a:round/>
              <a:headEnd/>
              <a:tailEnd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algn="ctr" eaLnBrk="1" hangingPunct="1"/>
              <a:endParaRPr lang="en-US" altLang="x-none" sz="1800"/>
            </a:p>
          </p:txBody>
        </p:sp>
        <p:sp>
          <p:nvSpPr>
            <p:cNvPr id="21" name="TextBox 28">
              <a:extLst>
                <a:ext uri="{FF2B5EF4-FFF2-40B4-BE49-F238E27FC236}">
                  <a16:creationId xmlns:a16="http://schemas.microsoft.com/office/drawing/2014/main" id="{68E838FC-A75C-B2F1-36C7-9C117998FF8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491879" y="3645024"/>
              <a:ext cx="3490189" cy="3693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 b="1" dirty="0">
                  <a:solidFill>
                    <a:srgbClr val="0070C0"/>
                  </a:solidFill>
                </a:rPr>
                <a:t>1.921fb6</a:t>
              </a:r>
              <a:r>
                <a:rPr lang="en-US" sz="1800" b="1" dirty="0" err="1">
                  <a:solidFill>
                    <a:srgbClr val="0070C0"/>
                  </a:solidFill>
                </a:rPr>
                <a:t>ᐧ</a:t>
              </a:r>
              <a:r>
                <a:rPr lang="cs-CZ" altLang="x-none" sz="1800" b="1" dirty="0">
                  <a:solidFill>
                    <a:srgbClr val="0070C0"/>
                  </a:solidFill>
                </a:rPr>
                <a:t>2</a:t>
              </a:r>
              <a:r>
                <a:rPr lang="cs-CZ" altLang="x-none" sz="1800" b="1" baseline="30000" dirty="0">
                  <a:solidFill>
                    <a:srgbClr val="0070C0"/>
                  </a:solidFill>
                </a:rPr>
                <a:t>+1  (</a:t>
              </a:r>
              <a:r>
                <a:rPr lang="en-US" altLang="x-none" sz="1800" b="1" dirty="0">
                  <a:solidFill>
                    <a:srgbClr val="3366FF"/>
                  </a:solidFill>
                </a:rPr>
                <a:t>0x1.921fb6p+1</a:t>
              </a:r>
              <a:r>
                <a:rPr lang="en-US" altLang="x-none" sz="1800" b="1" dirty="0">
                  <a:solidFill>
                    <a:srgbClr val="0070C0"/>
                  </a:solidFill>
                </a:rPr>
                <a:t>)</a:t>
              </a:r>
            </a:p>
          </p:txBody>
        </p:sp>
      </p:grp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83E1C98D-09CA-4D8C-DE4E-8F86C76056E6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4368558" y="4325674"/>
            <a:ext cx="431800" cy="0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7CA9C9EA-1988-CAF2-C977-231B3CF91DCB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2857258" y="4325674"/>
            <a:ext cx="431800" cy="0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41EE3197-2DFE-ECFA-751E-8054D5C4A238}"/>
              </a:ext>
            </a:extLst>
          </p:cNvPr>
          <p:cNvSpPr txBox="1"/>
          <p:nvPr/>
        </p:nvSpPr>
        <p:spPr>
          <a:xfrm>
            <a:off x="3504735" y="4109799"/>
            <a:ext cx="642160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b="1" dirty="0">
                <a:ln w="17780" cmpd="sng">
                  <a:solidFill>
                    <a:schemeClr val="accent1">
                      <a:tint val="3000"/>
                    </a:schemeClr>
                  </a:solidFill>
                  <a:prstDash val="solid"/>
                  <a:miter lim="800000"/>
                </a:ln>
                <a:gradFill>
                  <a:gsLst>
                    <a:gs pos="10000">
                      <a:schemeClr val="accent1">
                        <a:tint val="63000"/>
                        <a:sat val="105000"/>
                      </a:schemeClr>
                    </a:gs>
                    <a:gs pos="90000">
                      <a:schemeClr val="accent1">
                        <a:shade val="50000"/>
                        <a:satMod val="100000"/>
                      </a:schemeClr>
                    </a:gs>
                  </a:gsLst>
                  <a:lin ang="5400000"/>
                </a:gradFill>
                <a:effectLst>
                  <a:outerShdw blurRad="55000" dist="50800" dir="5400000" algn="tl">
                    <a:srgbClr val="000000">
                      <a:alpha val="33000"/>
                    </a:srgbClr>
                  </a:outerShdw>
                </a:effectLst>
                <a:ea typeface="ＭＳ Ｐゴシック" charset="0"/>
                <a:cs typeface="ＭＳ Ｐゴシック" charset="0"/>
              </a:rPr>
              <a:t>ULP</a:t>
            </a:r>
          </a:p>
        </p:txBody>
      </p:sp>
      <p:sp>
        <p:nvSpPr>
          <p:cNvPr id="25" name="TextBox 7">
            <a:extLst>
              <a:ext uri="{FF2B5EF4-FFF2-40B4-BE49-F238E27FC236}">
                <a16:creationId xmlns:a16="http://schemas.microsoft.com/office/drawing/2014/main" id="{EE49D4AA-A8CD-BC51-9761-7E2946100E5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237195" y="4154247"/>
            <a:ext cx="528637" cy="5222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2800" b="1" i="1">
                <a:solidFill>
                  <a:srgbClr val="FF0000"/>
                </a:solidFill>
              </a:rPr>
              <a:t>π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6046D4B4-6DE4-6554-459F-4BDCFB109E55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4453095" y="4657484"/>
            <a:ext cx="0" cy="792163"/>
          </a:xfrm>
          <a:prstGeom prst="straightConnector1">
            <a:avLst/>
          </a:prstGeom>
          <a:noFill/>
          <a:ln w="25400">
            <a:solidFill>
              <a:srgbClr val="FF0000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</p:spTree>
    <p:extLst>
      <p:ext uri="{BB962C8B-B14F-4D97-AF65-F5344CB8AC3E}">
        <p14:creationId xmlns:p14="http://schemas.microsoft.com/office/powerpoint/2010/main" val="6268929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E007A8-7189-021D-6B56-2AD6C8687A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58194"/>
          </a:xfrm>
        </p:spPr>
        <p:txBody>
          <a:bodyPr/>
          <a:lstStyle/>
          <a:p>
            <a:r>
              <a:rPr lang="en-US" dirty="0"/>
              <a:t>FP on a Computer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5F42EC-D4A4-BB1D-42E2-CC05E4E975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23320"/>
            <a:ext cx="10515600" cy="1523055"/>
          </a:xfrm>
        </p:spPr>
        <p:txBody>
          <a:bodyPr/>
          <a:lstStyle/>
          <a:p>
            <a:r>
              <a:rPr lang="en-US" dirty="0"/>
              <a:t>FP are well suited to perform arithmetic on a computer</a:t>
            </a:r>
          </a:p>
          <a:p>
            <a:pPr lvl="1"/>
            <a:r>
              <a:rPr lang="en-US" dirty="0"/>
              <a:t>Since 1985 FP representations and operations are standardized in IEEE754  (</a:t>
            </a:r>
            <a:r>
              <a:rPr lang="en-US" dirty="0">
                <a:hlinkClick r:id="rId2"/>
              </a:rPr>
              <a:t>https://en.wikipedia.org/wiki/IEEE_754</a:t>
            </a:r>
            <a:r>
              <a:rPr lang="en-US" dirty="0"/>
              <a:t>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DE99ED7-3831-8E78-7501-C819F3AA64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7209" y="2482846"/>
            <a:ext cx="7772400" cy="42268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84826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E54F6A7-30BA-FD40-3C85-7621FFDBA8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FP binary representations in IEEE754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894316B-6BD7-88F6-1EEA-1C3225F024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491" y="1353561"/>
            <a:ext cx="9213326" cy="3323214"/>
          </a:xfrm>
          <a:prstGeom prst="rect">
            <a:avLst/>
          </a:prstGeom>
        </p:spPr>
      </p:pic>
      <p:pic>
        <p:nvPicPr>
          <p:cNvPr id="9" name="Picture 6">
            <a:extLst>
              <a:ext uri="{FF2B5EF4-FFF2-40B4-BE49-F238E27FC236}">
                <a16:creationId xmlns:a16="http://schemas.microsoft.com/office/drawing/2014/main" id="{9920FC59-424C-4E9A-94E8-0D3C2A0830D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57183" y="5057775"/>
            <a:ext cx="7493000" cy="977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" name="Picture 7">
            <a:extLst>
              <a:ext uri="{FF2B5EF4-FFF2-40B4-BE49-F238E27FC236}">
                <a16:creationId xmlns:a16="http://schemas.microsoft.com/office/drawing/2014/main" id="{AE825F26-D7F3-F3C2-FCBA-6C6B27EB8F9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4383" y="6200775"/>
            <a:ext cx="3200400" cy="292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Bent-Up Arrow 10">
            <a:extLst>
              <a:ext uri="{FF2B5EF4-FFF2-40B4-BE49-F238E27FC236}">
                <a16:creationId xmlns:a16="http://schemas.microsoft.com/office/drawing/2014/main" id="{41FDC136-B6F7-971D-D527-578ED6F93762}"/>
              </a:ext>
            </a:extLst>
          </p:cNvPr>
          <p:cNvSpPr>
            <a:spLocks/>
          </p:cNvSpPr>
          <p:nvPr/>
        </p:nvSpPr>
        <p:spPr bwMode="auto">
          <a:xfrm flipH="1" flipV="1">
            <a:off x="3109783" y="4676775"/>
            <a:ext cx="4038600" cy="533400"/>
          </a:xfrm>
          <a:custGeom>
            <a:avLst/>
            <a:gdLst>
              <a:gd name="T0" fmla="*/ 0 w 4038600"/>
              <a:gd name="T1" fmla="*/ 400050 h 533400"/>
              <a:gd name="T2" fmla="*/ 3838575 w 4038600"/>
              <a:gd name="T3" fmla="*/ 400050 h 533400"/>
              <a:gd name="T4" fmla="*/ 3838575 w 4038600"/>
              <a:gd name="T5" fmla="*/ 133350 h 533400"/>
              <a:gd name="T6" fmla="*/ 3771900 w 4038600"/>
              <a:gd name="T7" fmla="*/ 133350 h 533400"/>
              <a:gd name="T8" fmla="*/ 3905250 w 4038600"/>
              <a:gd name="T9" fmla="*/ 0 h 533400"/>
              <a:gd name="T10" fmla="*/ 4038600 w 4038600"/>
              <a:gd name="T11" fmla="*/ 133350 h 533400"/>
              <a:gd name="T12" fmla="*/ 3971925 w 4038600"/>
              <a:gd name="T13" fmla="*/ 133350 h 533400"/>
              <a:gd name="T14" fmla="*/ 3971925 w 4038600"/>
              <a:gd name="T15" fmla="*/ 533400 h 533400"/>
              <a:gd name="T16" fmla="*/ 0 w 4038600"/>
              <a:gd name="T17" fmla="*/ 533400 h 533400"/>
              <a:gd name="T18" fmla="*/ 0 w 4038600"/>
              <a:gd name="T19" fmla="*/ 400050 h 533400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</a:gdLst>
            <a:ahLst/>
            <a:cxnLst>
              <a:cxn ang="T20">
                <a:pos x="T0" y="T1"/>
              </a:cxn>
              <a:cxn ang="T21">
                <a:pos x="T2" y="T3"/>
              </a:cxn>
              <a:cxn ang="T22">
                <a:pos x="T4" y="T5"/>
              </a:cxn>
              <a:cxn ang="T23">
                <a:pos x="T6" y="T7"/>
              </a:cxn>
              <a:cxn ang="T24">
                <a:pos x="T8" y="T9"/>
              </a:cxn>
              <a:cxn ang="T25">
                <a:pos x="T10" y="T11"/>
              </a:cxn>
              <a:cxn ang="T26">
                <a:pos x="T12" y="T13"/>
              </a:cxn>
              <a:cxn ang="T27">
                <a:pos x="T14" y="T15"/>
              </a:cxn>
              <a:cxn ang="T28">
                <a:pos x="T16" y="T17"/>
              </a:cxn>
              <a:cxn ang="T29">
                <a:pos x="T18" y="T19"/>
              </a:cxn>
            </a:cxnLst>
            <a:rect l="0" t="0" r="r" b="b"/>
            <a:pathLst>
              <a:path w="4038600" h="533400">
                <a:moveTo>
                  <a:pt x="0" y="400050"/>
                </a:moveTo>
                <a:lnTo>
                  <a:pt x="3838575" y="400050"/>
                </a:lnTo>
                <a:lnTo>
                  <a:pt x="3838575" y="133350"/>
                </a:lnTo>
                <a:lnTo>
                  <a:pt x="3771900" y="133350"/>
                </a:lnTo>
                <a:lnTo>
                  <a:pt x="3905250" y="0"/>
                </a:lnTo>
                <a:lnTo>
                  <a:pt x="4038600" y="133350"/>
                </a:lnTo>
                <a:lnTo>
                  <a:pt x="3971925" y="133350"/>
                </a:lnTo>
                <a:lnTo>
                  <a:pt x="3971925" y="533400"/>
                </a:lnTo>
                <a:lnTo>
                  <a:pt x="0" y="533400"/>
                </a:lnTo>
                <a:lnTo>
                  <a:pt x="0" y="400050"/>
                </a:lnTo>
                <a:close/>
              </a:path>
            </a:pathLst>
          </a:custGeom>
          <a:gradFill rotWithShape="1">
            <a:gsLst>
              <a:gs pos="0">
                <a:srgbClr val="9DF3F3"/>
              </a:gs>
              <a:gs pos="100000">
                <a:srgbClr val="00B0B0"/>
              </a:gs>
            </a:gsLst>
            <a:lin ang="5400000"/>
          </a:gradFill>
          <a:ln w="9525" cap="flat" cmpd="sng">
            <a:solidFill>
              <a:srgbClr val="009999"/>
            </a:solidFill>
            <a:prstDash val="solid"/>
            <a:round/>
            <a:headEnd/>
            <a:tailEnd/>
          </a:ln>
          <a:effectLst>
            <a:outerShdw blurRad="40000" dist="23000" dir="5400000" rotWithShape="0">
              <a:srgbClr val="000000">
                <a:alpha val="34999"/>
              </a:srgbClr>
            </a:outerShdw>
          </a:effectLst>
        </p:spPr>
        <p:txBody>
          <a:bodyPr anchor="ctr"/>
          <a:lstStyle/>
          <a:p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846F693-DF46-E92A-EF7C-AF3BDF4A238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148383" y="4524375"/>
            <a:ext cx="1095375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Implicit 1</a:t>
            </a:r>
          </a:p>
        </p:txBody>
      </p:sp>
    </p:spTree>
    <p:extLst>
      <p:ext uri="{BB962C8B-B14F-4D97-AF65-F5344CB8AC3E}">
        <p14:creationId xmlns:p14="http://schemas.microsoft.com/office/powerpoint/2010/main" val="8479419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49" name="Title 1"/>
          <p:cNvSpPr>
            <a:spLocks noGrp="1"/>
          </p:cNvSpPr>
          <p:nvPr>
            <p:ph type="title"/>
          </p:nvPr>
        </p:nvSpPr>
        <p:spPr>
          <a:xfrm>
            <a:off x="1847850" y="260351"/>
            <a:ext cx="8229600" cy="1139825"/>
          </a:xfrm>
        </p:spPr>
        <p:txBody>
          <a:bodyPr/>
          <a:lstStyle/>
          <a:p>
            <a:r>
              <a:rPr lang="en-US" altLang="x-none"/>
              <a:t>examples</a:t>
            </a:r>
          </a:p>
        </p:txBody>
      </p:sp>
      <p:sp>
        <p:nvSpPr>
          <p:cNvPr id="27650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7651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7652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2F5B2064-19F4-9B4B-9C86-075C784918A9}" type="slidenum">
              <a:rPr lang="it-IT" altLang="x-none" sz="1200">
                <a:latin typeface="Garamond" charset="0"/>
              </a:rPr>
              <a:pPr eaLnBrk="1" hangingPunct="1"/>
              <a:t>7</a:t>
            </a:fld>
            <a:endParaRPr lang="it-IT" altLang="x-none" sz="1200">
              <a:latin typeface="Garamond" charset="0"/>
            </a:endParaRPr>
          </a:p>
        </p:txBody>
      </p:sp>
      <p:sp>
        <p:nvSpPr>
          <p:cNvPr id="27653" name="TextBox 6"/>
          <p:cNvSpPr txBox="1">
            <a:spLocks noChangeArrowheads="1"/>
          </p:cNvSpPr>
          <p:nvPr/>
        </p:nvSpPr>
        <p:spPr bwMode="auto">
          <a:xfrm>
            <a:off x="1703388" y="1196975"/>
            <a:ext cx="8856662" cy="37856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is-IS" altLang="x-none" sz="1600" dirty="0">
                <a:latin typeface="Lucida Console" charset="0"/>
              </a:rPr>
              <a:t>0.00000000e+00 0x0p+0          00000000000000000000000000000000</a:t>
            </a:r>
          </a:p>
          <a:p>
            <a:pPr eaLnBrk="1" hangingPunct="1"/>
            <a:r>
              <a:rPr lang="cs-CZ" altLang="x-none" sz="1600" dirty="0">
                <a:latin typeface="Lucida Console" charset="0"/>
              </a:rPr>
              <a:t>5.00000000e-01 0x1p-1          00111111000000000000000000000000</a:t>
            </a:r>
          </a:p>
          <a:p>
            <a:pPr eaLnBrk="1" hangingPunct="1"/>
            <a:r>
              <a:rPr lang="cs-CZ" altLang="x-none" sz="1600" dirty="0">
                <a:latin typeface="Lucida Console" charset="0"/>
              </a:rPr>
              <a:t>1.00000000e+00 0x1p+0          00111111100000000000000000000000</a:t>
            </a:r>
          </a:p>
          <a:p>
            <a:pPr eaLnBrk="1" hangingPunct="1"/>
            <a:r>
              <a:rPr lang="cs-CZ" altLang="x-none" sz="1600" dirty="0">
                <a:latin typeface="Lucida Console" charset="0"/>
              </a:rPr>
              <a:t>1.50000000e+00 0x1.8p+0        00111111110000000000000000000000</a:t>
            </a:r>
          </a:p>
          <a:p>
            <a:pPr eaLnBrk="1" hangingPunct="1"/>
            <a:r>
              <a:rPr lang="is-IS" altLang="x-none" sz="1600" dirty="0">
                <a:latin typeface="Lucida Console" charset="0"/>
              </a:rPr>
              <a:t>2.00000000e+00 0x1p+1          01000000000000000000000000000000</a:t>
            </a:r>
          </a:p>
          <a:p>
            <a:pPr eaLnBrk="1" hangingPunct="1"/>
            <a:r>
              <a:rPr lang="is-IS" altLang="x-none" sz="1600" dirty="0">
                <a:latin typeface="Lucida Console" charset="0"/>
              </a:rPr>
              <a:t>2.50000000e+00 0x1.4p+1        01000000001000000000000000000000</a:t>
            </a:r>
          </a:p>
          <a:p>
            <a:pPr eaLnBrk="1" hangingPunct="1"/>
            <a:r>
              <a:rPr lang="is-IS" altLang="x-none" sz="1600" dirty="0">
                <a:latin typeface="Lucida Console" charset="0"/>
              </a:rPr>
              <a:t>3.00000000e+00 0x1.8p+1        01000000010000000000000000000000</a:t>
            </a:r>
          </a:p>
          <a:p>
            <a:pPr eaLnBrk="1" hangingPunct="1"/>
            <a:r>
              <a:rPr lang="is-IS" altLang="x-none" sz="1600" dirty="0">
                <a:latin typeface="Lucida Console" charset="0"/>
              </a:rPr>
              <a:t>8.00000000e+00 0x1p+3          01000001000000000000000000000000</a:t>
            </a:r>
          </a:p>
          <a:p>
            <a:pPr eaLnBrk="1" hangingPunct="1"/>
            <a:r>
              <a:rPr lang="cs-CZ" altLang="x-none" sz="1600" dirty="0">
                <a:latin typeface="Lucida Console" charset="0"/>
              </a:rPr>
              <a:t>3.14159274e+00 0x1.921fb6p+1   01000000010010010000111111011011</a:t>
            </a:r>
            <a:endParaRPr lang="is-IS" altLang="x-none" sz="1600" dirty="0">
              <a:latin typeface="Lucida Console" charset="0"/>
            </a:endParaRPr>
          </a:p>
          <a:p>
            <a:pPr eaLnBrk="1" hangingPunct="1"/>
            <a:r>
              <a:rPr lang="cs-CZ" altLang="x-none" sz="1600" dirty="0">
                <a:latin typeface="Lucida Console" charset="0"/>
              </a:rPr>
              <a:t>1.00000001e-01 0x1.99999ap-4   00111101110011001100110011001101</a:t>
            </a:r>
            <a:endParaRPr lang="is-IS" altLang="x-none" sz="1600" dirty="0">
              <a:latin typeface="Lucida Console" charset="0"/>
            </a:endParaRPr>
          </a:p>
          <a:p>
            <a:pPr eaLnBrk="1" hangingPunct="1"/>
            <a:r>
              <a:rPr lang="cs-CZ" altLang="x-none" sz="1600" dirty="0">
                <a:latin typeface="Lucida Console" charset="0"/>
              </a:rPr>
              <a:t>1.17549435e-38 0x1p-126        00000000100000000000000000000000</a:t>
            </a:r>
          </a:p>
          <a:p>
            <a:pPr eaLnBrk="1" hangingPunct="1"/>
            <a:r>
              <a:rPr lang="cs-CZ" altLang="x-none" sz="1600" dirty="0">
                <a:latin typeface="Lucida Console" charset="0"/>
              </a:rPr>
              <a:t>3.40282347e+38 0x1.fffffep+127 01111111011111111111111111111111</a:t>
            </a:r>
          </a:p>
          <a:p>
            <a:pPr eaLnBrk="1" hangingPunct="1"/>
            <a:r>
              <a:rPr lang="cs-CZ" altLang="x-none" sz="1600" dirty="0" err="1">
                <a:latin typeface="Lucida Console" charset="0"/>
              </a:rPr>
              <a:t>nan</a:t>
            </a:r>
            <a:r>
              <a:rPr lang="cs-CZ" altLang="x-none" sz="1600" dirty="0">
                <a:latin typeface="Lucida Console" charset="0"/>
              </a:rPr>
              <a:t>            </a:t>
            </a:r>
            <a:r>
              <a:rPr lang="cs-CZ" altLang="x-none" sz="1600" dirty="0" err="1">
                <a:latin typeface="Lucida Console" charset="0"/>
              </a:rPr>
              <a:t>nan</a:t>
            </a:r>
            <a:r>
              <a:rPr lang="cs-CZ" altLang="x-none" sz="1600" dirty="0">
                <a:latin typeface="Lucida Console" charset="0"/>
              </a:rPr>
              <a:t>             11111111110000000000000000000000</a:t>
            </a:r>
          </a:p>
          <a:p>
            <a:pPr eaLnBrk="1" hangingPunct="1"/>
            <a:r>
              <a:rPr lang="cs-CZ" altLang="x-none" sz="1600" dirty="0">
                <a:latin typeface="Lucida Console" charset="0"/>
              </a:rPr>
              <a:t>-</a:t>
            </a:r>
            <a:r>
              <a:rPr lang="cs-CZ" altLang="x-none" sz="1600" dirty="0" err="1">
                <a:latin typeface="Lucida Console" charset="0"/>
              </a:rPr>
              <a:t>inf</a:t>
            </a:r>
            <a:r>
              <a:rPr lang="cs-CZ" altLang="x-none" sz="1600" dirty="0">
                <a:latin typeface="Lucida Console" charset="0"/>
              </a:rPr>
              <a:t>           -</a:t>
            </a:r>
            <a:r>
              <a:rPr lang="cs-CZ" altLang="x-none" sz="1600" dirty="0" err="1">
                <a:latin typeface="Lucida Console" charset="0"/>
              </a:rPr>
              <a:t>inf</a:t>
            </a:r>
            <a:r>
              <a:rPr lang="cs-CZ" altLang="x-none" sz="1600" dirty="0">
                <a:latin typeface="Lucida Console" charset="0"/>
              </a:rPr>
              <a:t>            11111111100000000000000000000000</a:t>
            </a:r>
          </a:p>
          <a:p>
            <a:pPr eaLnBrk="1" hangingPunct="1"/>
            <a:r>
              <a:rPr lang="is-IS" altLang="x-none" sz="1600" dirty="0">
                <a:latin typeface="Lucida Console" charset="0"/>
              </a:rPr>
              <a:t>2.93873588e-39 0x1p-128        00000000001000000000000000000000</a:t>
            </a:r>
            <a:endParaRPr lang="en-US" altLang="x-none" sz="1600" dirty="0">
              <a:latin typeface="Lucida Console" charset="0"/>
            </a:endParaRPr>
          </a:p>
        </p:txBody>
      </p:sp>
      <p:cxnSp>
        <p:nvCxnSpPr>
          <p:cNvPr id="9" name="Straight Connector 8"/>
          <p:cNvCxnSpPr>
            <a:cxnSpLocks noChangeShapeType="1"/>
          </p:cNvCxnSpPr>
          <p:nvPr/>
        </p:nvCxnSpPr>
        <p:spPr bwMode="auto">
          <a:xfrm>
            <a:off x="5735638" y="990600"/>
            <a:ext cx="0" cy="4464050"/>
          </a:xfrm>
          <a:prstGeom prst="line">
            <a:avLst/>
          </a:prstGeom>
          <a:noFill/>
          <a:ln w="25400">
            <a:solidFill>
              <a:schemeClr val="accent1"/>
            </a:solidFill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1" name="Straight Connector 10"/>
          <p:cNvCxnSpPr>
            <a:cxnSpLocks noChangeShapeType="1"/>
          </p:cNvCxnSpPr>
          <p:nvPr/>
        </p:nvCxnSpPr>
        <p:spPr bwMode="auto">
          <a:xfrm>
            <a:off x="6672064" y="1053182"/>
            <a:ext cx="0" cy="4464050"/>
          </a:xfrm>
          <a:prstGeom prst="line">
            <a:avLst/>
          </a:prstGeom>
          <a:noFill/>
          <a:ln w="25400">
            <a:solidFill>
              <a:schemeClr val="accent1"/>
            </a:solidFill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7656" name="TextBox 20"/>
          <p:cNvSpPr txBox="1">
            <a:spLocks noChangeArrowheads="1"/>
          </p:cNvSpPr>
          <p:nvPr/>
        </p:nvSpPr>
        <p:spPr bwMode="auto">
          <a:xfrm>
            <a:off x="5447928" y="620714"/>
            <a:ext cx="3513510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sign  exponent        significant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1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70551"/>
          </a:xfrm>
        </p:spPr>
        <p:txBody>
          <a:bodyPr/>
          <a:lstStyle/>
          <a:p>
            <a:r>
              <a:rPr lang="en-US" altLang="x-none" dirty="0"/>
              <a:t>C++ interlude</a:t>
            </a:r>
          </a:p>
        </p:txBody>
      </p:sp>
      <p:sp>
        <p:nvSpPr>
          <p:cNvPr id="25602" name="Date Placeholder 2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5603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5604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502E4000-0355-7D4E-B01D-371C3A18747A}" type="slidenum">
              <a:rPr lang="it-IT" altLang="x-none" sz="1200">
                <a:latin typeface="Garamond" charset="0"/>
              </a:rPr>
              <a:pPr eaLnBrk="1" hangingPunct="1"/>
              <a:t>8</a:t>
            </a:fld>
            <a:endParaRPr lang="it-IT" altLang="x-none" sz="1200">
              <a:latin typeface="Garamond" charset="0"/>
            </a:endParaRPr>
          </a:p>
        </p:txBody>
      </p:sp>
      <p:sp>
        <p:nvSpPr>
          <p:cNvPr id="25605" name="TextBox 5"/>
          <p:cNvSpPr txBox="1">
            <a:spLocks noChangeArrowheads="1"/>
          </p:cNvSpPr>
          <p:nvPr/>
        </p:nvSpPr>
        <p:spPr bwMode="auto">
          <a:xfrm>
            <a:off x="1329982" y="1117000"/>
            <a:ext cx="8497888" cy="5078413"/>
          </a:xfrm>
          <a:prstGeom prst="rect">
            <a:avLst/>
          </a:prstGeom>
          <a:solidFill>
            <a:srgbClr val="FFFF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dirty="0"/>
              <a:t>#include&lt;iostream&gt;</a:t>
            </a:r>
          </a:p>
          <a:p>
            <a:pPr eaLnBrk="1" hangingPunct="1"/>
            <a:r>
              <a:rPr lang="en-US" altLang="x-none" sz="1800" dirty="0"/>
              <a:t>#include&lt;</a:t>
            </a:r>
            <a:r>
              <a:rPr lang="en-US" altLang="x-none" sz="1800" dirty="0" err="1"/>
              <a:t>iomanip</a:t>
            </a:r>
            <a:r>
              <a:rPr lang="en-US" altLang="x-none" sz="1800" dirty="0"/>
              <a:t>&gt;</a:t>
            </a:r>
          </a:p>
          <a:p>
            <a:pPr eaLnBrk="1" hangingPunct="1"/>
            <a:r>
              <a:rPr lang="en-US" altLang="x-none" sz="1800" dirty="0"/>
              <a:t>#include&lt;</a:t>
            </a:r>
            <a:r>
              <a:rPr lang="en-US" altLang="x-none" sz="1800" dirty="0" err="1"/>
              <a:t>cmath</a:t>
            </a:r>
            <a:r>
              <a:rPr lang="en-US" altLang="x-none" sz="1800" dirty="0"/>
              <a:t>&gt;</a:t>
            </a:r>
          </a:p>
          <a:p>
            <a:pPr eaLnBrk="1" hangingPunct="1"/>
            <a:r>
              <a:rPr lang="en-US" altLang="x-none" sz="1800" dirty="0"/>
              <a:t>#include&lt;limits&gt;</a:t>
            </a:r>
          </a:p>
          <a:p>
            <a:pPr eaLnBrk="1" hangingPunct="1"/>
            <a:r>
              <a:rPr lang="en-US" altLang="x-none" sz="1800" dirty="0"/>
              <a:t>//  std style</a:t>
            </a:r>
          </a:p>
          <a:p>
            <a:pPr eaLnBrk="1" hangingPunct="1"/>
            <a:r>
              <a:rPr lang="en-US" altLang="x-none" sz="1800" dirty="0"/>
              <a:t>template&lt;</a:t>
            </a:r>
            <a:r>
              <a:rPr lang="en-US" altLang="x-none" sz="1800" dirty="0" err="1"/>
              <a:t>typename</a:t>
            </a:r>
            <a:r>
              <a:rPr lang="en-US" altLang="x-none" sz="1800" dirty="0"/>
              <a:t> T&gt;</a:t>
            </a:r>
          </a:p>
          <a:p>
            <a:pPr eaLnBrk="1" hangingPunct="1"/>
            <a:r>
              <a:rPr lang="en-US" altLang="x-none" sz="1800" dirty="0"/>
              <a:t>void print(T x) {          </a:t>
            </a:r>
          </a:p>
          <a:p>
            <a:pPr eaLnBrk="1" hangingPunct="1"/>
            <a:r>
              <a:rPr lang="en-US" altLang="x-none" sz="1800" dirty="0"/>
              <a:t> std::</a:t>
            </a:r>
            <a:r>
              <a:rPr lang="en-US" altLang="x-none" sz="1800" dirty="0" err="1"/>
              <a:t>cout</a:t>
            </a:r>
            <a:r>
              <a:rPr lang="en-US" altLang="x-none" sz="1800" dirty="0"/>
              <a:t> &lt;&lt; std::</a:t>
            </a:r>
            <a:r>
              <a:rPr lang="en-US" altLang="x-none" sz="1800" dirty="0" err="1"/>
              <a:t>hexfloat</a:t>
            </a:r>
            <a:r>
              <a:rPr lang="en-US" altLang="x-none" sz="1800" dirty="0"/>
              <a:t> &lt;&lt; x &lt;&lt;' </a:t>
            </a:r>
            <a:r>
              <a:rPr lang="en-US" altLang="en-US" sz="1800" dirty="0"/>
              <a:t>’</a:t>
            </a:r>
            <a:r>
              <a:rPr lang="en-US" altLang="x-none" sz="1800" dirty="0"/>
              <a:t> </a:t>
            </a:r>
            <a:r>
              <a:rPr lang="en-US" altLang="x-none" sz="1800" dirty="0">
                <a:solidFill>
                  <a:srgbClr val="FF0000"/>
                </a:solidFill>
              </a:rPr>
              <a:t>// exact binary representation</a:t>
            </a:r>
          </a:p>
          <a:p>
            <a:pPr eaLnBrk="1" hangingPunct="1"/>
            <a:r>
              <a:rPr lang="en-US" altLang="x-none" sz="1800" dirty="0"/>
              <a:t>                &lt;&lt;  std::scientific &lt;&lt; std::</a:t>
            </a:r>
            <a:r>
              <a:rPr lang="en-US" altLang="x-none" sz="1800" dirty="0" err="1"/>
              <a:t>setprecision</a:t>
            </a:r>
            <a:r>
              <a:rPr lang="en-US" altLang="x-none" sz="1800" dirty="0"/>
              <a:t>(8) &lt;&lt; x &lt;&lt; ' </a:t>
            </a:r>
            <a:r>
              <a:rPr lang="en-US" altLang="en-US" sz="1800" dirty="0"/>
              <a:t>’</a:t>
            </a:r>
            <a:r>
              <a:rPr lang="en-US" altLang="x-none" sz="1800" dirty="0"/>
              <a:t> </a:t>
            </a:r>
            <a:r>
              <a:rPr lang="en-US" altLang="x-none" sz="1800" dirty="0">
                <a:solidFill>
                  <a:srgbClr val="FF0000"/>
                </a:solidFill>
              </a:rPr>
              <a:t>// 8 decimal digits</a:t>
            </a:r>
          </a:p>
          <a:p>
            <a:pPr eaLnBrk="1" hangingPunct="1"/>
            <a:r>
              <a:rPr lang="en-US" altLang="x-none" sz="1800" dirty="0"/>
              <a:t>                &lt;&lt;  std::</a:t>
            </a:r>
            <a:r>
              <a:rPr lang="en-US" altLang="x-none" sz="1800" dirty="0" err="1"/>
              <a:t>defaultfloat</a:t>
            </a:r>
            <a:r>
              <a:rPr lang="en-US" altLang="x-none" sz="1800" dirty="0"/>
              <a:t> &lt;&lt; x &lt;&lt; std::</a:t>
            </a:r>
            <a:r>
              <a:rPr lang="en-US" altLang="x-none" sz="1800" dirty="0" err="1"/>
              <a:t>endl</a:t>
            </a:r>
            <a:r>
              <a:rPr lang="en-US" altLang="x-none" sz="1800" dirty="0"/>
              <a:t>;    </a:t>
            </a:r>
            <a:r>
              <a:rPr lang="en-US" altLang="x-none" sz="1800" dirty="0">
                <a:solidFill>
                  <a:srgbClr val="FF0000"/>
                </a:solidFill>
              </a:rPr>
              <a:t>// 6 decimal digits for float </a:t>
            </a:r>
          </a:p>
          <a:p>
            <a:pPr eaLnBrk="1" hangingPunct="1"/>
            <a:r>
              <a:rPr lang="en-US" altLang="x-none" sz="1800" dirty="0"/>
              <a:t>}</a:t>
            </a:r>
          </a:p>
          <a:p>
            <a:pPr eaLnBrk="1" hangingPunct="1"/>
            <a:endParaRPr lang="en-US" altLang="x-none" sz="1800" dirty="0"/>
          </a:p>
          <a:p>
            <a:pPr eaLnBrk="1" hangingPunct="1"/>
            <a:r>
              <a:rPr lang="en-US" altLang="x-none" sz="1800" dirty="0"/>
              <a:t>// integer representation</a:t>
            </a:r>
          </a:p>
          <a:p>
            <a:pPr eaLnBrk="1" hangingPunct="1"/>
            <a:r>
              <a:rPr lang="en-US" altLang="x-none" sz="1800" dirty="0"/>
              <a:t>#include&lt;</a:t>
            </a:r>
            <a:r>
              <a:rPr lang="en-US" altLang="x-none" sz="1800" dirty="0" err="1"/>
              <a:t>cstring</a:t>
            </a:r>
            <a:r>
              <a:rPr lang="en-US" altLang="x-none" sz="1800" dirty="0"/>
              <a:t>&gt;</a:t>
            </a:r>
          </a:p>
          <a:p>
            <a:pPr eaLnBrk="1" hangingPunct="1"/>
            <a:r>
              <a:rPr lang="en-US" altLang="x-none" sz="1800" dirty="0"/>
              <a:t>#include&lt;</a:t>
            </a:r>
            <a:r>
              <a:rPr lang="en-US" altLang="x-none" sz="1800" dirty="0" err="1"/>
              <a:t>bitset</a:t>
            </a:r>
            <a:r>
              <a:rPr lang="en-US" altLang="x-none" sz="1800" dirty="0"/>
              <a:t>&gt;</a:t>
            </a:r>
          </a:p>
          <a:p>
            <a:pPr eaLnBrk="1" hangingPunct="1"/>
            <a:r>
              <a:rPr lang="en-US" altLang="x-none" sz="1800" dirty="0"/>
              <a:t>int f2i(float x) { int </a:t>
            </a:r>
            <a:r>
              <a:rPr lang="en-US" altLang="x-none" sz="1800" dirty="0" err="1"/>
              <a:t>i</a:t>
            </a:r>
            <a:r>
              <a:rPr lang="en-US" altLang="x-none" sz="1800" dirty="0"/>
              <a:t>; </a:t>
            </a:r>
            <a:r>
              <a:rPr lang="en-US" altLang="x-none" sz="1800" dirty="0" err="1"/>
              <a:t>memcpy</a:t>
            </a:r>
            <a:r>
              <a:rPr lang="en-US" altLang="x-none" sz="1800" dirty="0"/>
              <a:t>(&amp;</a:t>
            </a:r>
            <a:r>
              <a:rPr lang="en-US" altLang="x-none" sz="1800" dirty="0" err="1"/>
              <a:t>i</a:t>
            </a:r>
            <a:r>
              <a:rPr lang="en-US" altLang="x-none" sz="1800" dirty="0"/>
              <a:t>,&amp;</a:t>
            </a:r>
            <a:r>
              <a:rPr lang="en-US" altLang="x-none" sz="1800" dirty="0" err="1"/>
              <a:t>x,sizeof</a:t>
            </a:r>
            <a:r>
              <a:rPr lang="en-US" altLang="x-none" sz="1800" dirty="0"/>
              <a:t>(int)); return </a:t>
            </a:r>
            <a:r>
              <a:rPr lang="en-US" altLang="x-none" sz="1800" dirty="0" err="1"/>
              <a:t>i</a:t>
            </a:r>
            <a:r>
              <a:rPr lang="en-US" altLang="x-none" sz="1800" dirty="0"/>
              <a:t>;} </a:t>
            </a:r>
            <a:r>
              <a:rPr lang="en-US" altLang="x-none" sz="1800" dirty="0">
                <a:solidFill>
                  <a:srgbClr val="FF0000"/>
                </a:solidFill>
              </a:rPr>
              <a:t>// compiler will optimize</a:t>
            </a:r>
          </a:p>
          <a:p>
            <a:pPr eaLnBrk="1" hangingPunct="1"/>
            <a:r>
              <a:rPr lang="en-US" altLang="x-none" sz="1800" dirty="0"/>
              <a:t>//  use </a:t>
            </a:r>
            <a:r>
              <a:rPr lang="en-US" altLang="x-none" sz="1800" dirty="0" err="1"/>
              <a:t>bitset</a:t>
            </a:r>
            <a:r>
              <a:rPr lang="en-US" altLang="x-none" sz="1800" dirty="0"/>
              <a:t> to print in binary (bit by bit) </a:t>
            </a:r>
          </a:p>
          <a:p>
            <a:pPr eaLnBrk="1" hangingPunct="1"/>
            <a:r>
              <a:rPr lang="en-US" altLang="x-none" sz="1800" dirty="0"/>
              <a:t>std::</a:t>
            </a:r>
            <a:r>
              <a:rPr lang="en-US" altLang="x-none" sz="1800" dirty="0" err="1"/>
              <a:t>cout</a:t>
            </a:r>
            <a:r>
              <a:rPr lang="en-US" altLang="x-none" sz="1800" dirty="0"/>
              <a:t> &lt;&lt; std::</a:t>
            </a:r>
            <a:r>
              <a:rPr lang="en-US" altLang="x-none" sz="1800" dirty="0" err="1"/>
              <a:t>bitset</a:t>
            </a:r>
            <a:r>
              <a:rPr lang="en-US" altLang="x-none" sz="1800" dirty="0"/>
              <a:t>&lt;32&gt;(f2i(x)) &lt;&lt; std::</a:t>
            </a:r>
            <a:r>
              <a:rPr lang="en-US" altLang="x-none" sz="1800" dirty="0" err="1"/>
              <a:t>endl</a:t>
            </a:r>
            <a:r>
              <a:rPr lang="en-US" altLang="x-none" sz="1800" dirty="0"/>
              <a:t>; ;   </a:t>
            </a:r>
            <a:r>
              <a:rPr lang="en-US" altLang="x-none" sz="1800" dirty="0">
                <a:solidFill>
                  <a:srgbClr val="FF0000"/>
                </a:solidFill>
              </a:rPr>
              <a:t>// bit by bit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5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Limits</a:t>
            </a:r>
          </a:p>
        </p:txBody>
      </p:sp>
      <p:sp>
        <p:nvSpPr>
          <p:cNvPr id="26626" name="Content Placeholder 5"/>
          <p:cNvSpPr>
            <a:spLocks noGrp="1"/>
          </p:cNvSpPr>
          <p:nvPr>
            <p:ph idx="1"/>
          </p:nvPr>
        </p:nvSpPr>
        <p:spPr>
          <a:xfrm>
            <a:off x="714633" y="1367851"/>
            <a:ext cx="8229600" cy="1931404"/>
          </a:xfrm>
        </p:spPr>
        <p:txBody>
          <a:bodyPr/>
          <a:lstStyle/>
          <a:p>
            <a:r>
              <a:rPr lang="en-US" altLang="x-none" dirty="0"/>
              <a:t>Everything you want to know about an arithmetic type is in </a:t>
            </a:r>
          </a:p>
          <a:p>
            <a:pPr lvl="1"/>
            <a:r>
              <a:rPr lang="en-US" altLang="x-none" dirty="0" err="1"/>
              <a:t>std</a:t>
            </a:r>
            <a:r>
              <a:rPr lang="en-US" altLang="x-none" dirty="0"/>
              <a:t>::</a:t>
            </a:r>
            <a:r>
              <a:rPr lang="en-US" altLang="x-none" dirty="0" err="1"/>
              <a:t>numeric_limits</a:t>
            </a:r>
            <a:r>
              <a:rPr lang="en-US" altLang="x-none" dirty="0"/>
              <a:t>&lt;T&gt;  </a:t>
            </a:r>
          </a:p>
          <a:p>
            <a:pPr lvl="1"/>
            <a:r>
              <a:rPr lang="en-US" altLang="x-none" dirty="0"/>
              <a:t>see </a:t>
            </a:r>
            <a:r>
              <a:rPr lang="en-US" altLang="x-none" sz="2000" dirty="0"/>
              <a:t>http://</a:t>
            </a:r>
            <a:r>
              <a:rPr lang="en-US" altLang="x-none" sz="2000" dirty="0" err="1"/>
              <a:t>www.cplusplus.com</a:t>
            </a:r>
            <a:r>
              <a:rPr lang="en-US" altLang="x-none" sz="2000" dirty="0"/>
              <a:t>/reference/limits/</a:t>
            </a:r>
            <a:r>
              <a:rPr lang="en-US" altLang="x-none" sz="2000" dirty="0" err="1"/>
              <a:t>numeric_limits</a:t>
            </a:r>
            <a:r>
              <a:rPr lang="en-US" altLang="x-none" sz="2000" dirty="0"/>
              <a:t>/</a:t>
            </a:r>
          </a:p>
        </p:txBody>
      </p:sp>
      <p:sp>
        <p:nvSpPr>
          <p:cNvPr id="26627" name="Date Placeholder 2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6628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6629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7A44000F-1B7D-CC46-A072-D0868C9398B7}" type="slidenum">
              <a:rPr lang="it-IT" altLang="x-none" sz="1200">
                <a:latin typeface="Garamond" charset="0"/>
              </a:rPr>
              <a:pPr eaLnBrk="1" hangingPunct="1"/>
              <a:t>9</a:t>
            </a:fld>
            <a:endParaRPr lang="it-IT" altLang="x-none" sz="1200">
              <a:latin typeface="Garamond" charset="0"/>
            </a:endParaRPr>
          </a:p>
        </p:txBody>
      </p:sp>
      <p:sp>
        <p:nvSpPr>
          <p:cNvPr id="26630" name="TextBox 5"/>
          <p:cNvSpPr txBox="1">
            <a:spLocks noChangeArrowheads="1"/>
          </p:cNvSpPr>
          <p:nvPr/>
        </p:nvSpPr>
        <p:spPr bwMode="auto">
          <a:xfrm>
            <a:off x="951883" y="3224289"/>
            <a:ext cx="8713787" cy="3046988"/>
          </a:xfrm>
          <a:prstGeom prst="rect">
            <a:avLst/>
          </a:prstGeom>
          <a:solidFill>
            <a:srgbClr val="FFFF00">
              <a:alpha val="74117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r>
              <a:rPr lang="en-US" altLang="x-none" sz="1600" dirty="0"/>
              <a:t>#include &lt;</a:t>
            </a:r>
            <a:r>
              <a:rPr lang="en-US" altLang="x-none" sz="1600" dirty="0" err="1"/>
              <a:t>iostream</a:t>
            </a:r>
            <a:r>
              <a:rPr lang="en-US" altLang="x-none" sz="1600" dirty="0"/>
              <a:t>&gt;     // </a:t>
            </a:r>
            <a:r>
              <a:rPr lang="en-US" altLang="x-none" sz="1600" dirty="0" err="1"/>
              <a:t>std</a:t>
            </a:r>
            <a:r>
              <a:rPr lang="en-US" altLang="x-none" sz="1600" dirty="0"/>
              <a:t>::</a:t>
            </a:r>
            <a:r>
              <a:rPr lang="en-US" altLang="x-none" sz="1600" dirty="0" err="1"/>
              <a:t>cout</a:t>
            </a:r>
            <a:endParaRPr lang="en-US" altLang="x-none" sz="1600" dirty="0"/>
          </a:p>
          <a:p>
            <a:r>
              <a:rPr lang="en-US" altLang="x-none" sz="1600" dirty="0"/>
              <a:t>#include &lt;limits&gt;       // </a:t>
            </a:r>
            <a:r>
              <a:rPr lang="en-US" altLang="x-none" sz="1600" dirty="0" err="1"/>
              <a:t>std</a:t>
            </a:r>
            <a:r>
              <a:rPr lang="en-US" altLang="x-none" sz="1600" dirty="0"/>
              <a:t>::</a:t>
            </a:r>
            <a:r>
              <a:rPr lang="en-US" altLang="x-none" sz="1600" dirty="0" err="1"/>
              <a:t>numeric_limits</a:t>
            </a:r>
            <a:endParaRPr lang="en-US" altLang="x-none" sz="1600" dirty="0"/>
          </a:p>
          <a:p>
            <a:r>
              <a:rPr lang="fr-FR" altLang="x-none" sz="1600" dirty="0" err="1"/>
              <a:t>int</a:t>
            </a:r>
            <a:r>
              <a:rPr lang="fr-FR" altLang="x-none" sz="1600" dirty="0"/>
              <a:t> main () {</a:t>
            </a:r>
          </a:p>
          <a:p>
            <a:r>
              <a:rPr lang="fr-FR" altLang="x-none" sz="1600" dirty="0"/>
              <a:t>  </a:t>
            </a:r>
            <a:r>
              <a:rPr lang="fr-FR" altLang="x-none" sz="1600" dirty="0" err="1"/>
              <a:t>std</a:t>
            </a:r>
            <a:r>
              <a:rPr lang="fr-FR" altLang="x-none" sz="1600" dirty="0"/>
              <a:t>::cout &lt;&lt; </a:t>
            </a:r>
            <a:r>
              <a:rPr lang="fr-FR" altLang="x-none" sz="1600" dirty="0" err="1"/>
              <a:t>std</a:t>
            </a:r>
            <a:r>
              <a:rPr lang="fr-FR" altLang="x-none" sz="1600" dirty="0"/>
              <a:t>::</a:t>
            </a:r>
            <a:r>
              <a:rPr lang="fr-FR" altLang="x-none" sz="1600" dirty="0" err="1"/>
              <a:t>boolalpha</a:t>
            </a:r>
            <a:r>
              <a:rPr lang="fr-FR" altLang="x-none" sz="1600" dirty="0"/>
              <a:t>;</a:t>
            </a:r>
          </a:p>
          <a:p>
            <a:r>
              <a:rPr lang="fr-FR" altLang="x-none" sz="1600" dirty="0"/>
              <a:t>  </a:t>
            </a:r>
            <a:r>
              <a:rPr lang="fr-FR" altLang="x-none" sz="1600" dirty="0" err="1"/>
              <a:t>std</a:t>
            </a:r>
            <a:r>
              <a:rPr lang="fr-FR" altLang="x-none" sz="1600" dirty="0"/>
              <a:t>::cout &lt;&lt; "Minimum value: " &lt;&lt; </a:t>
            </a:r>
            <a:r>
              <a:rPr lang="fr-FR" altLang="x-none" sz="1600" dirty="0" err="1"/>
              <a:t>std</a:t>
            </a:r>
            <a:r>
              <a:rPr lang="fr-FR" altLang="x-none" sz="1600" dirty="0"/>
              <a:t>::</a:t>
            </a:r>
            <a:r>
              <a:rPr lang="fr-FR" altLang="x-none" sz="1600" dirty="0" err="1"/>
              <a:t>numeric_limits</a:t>
            </a:r>
            <a:r>
              <a:rPr lang="fr-FR" altLang="x-none" sz="1600" dirty="0"/>
              <a:t>&lt;</a:t>
            </a:r>
            <a:r>
              <a:rPr lang="fr-FR" altLang="x-none" sz="1600" dirty="0" err="1"/>
              <a:t>float</a:t>
            </a:r>
            <a:r>
              <a:rPr lang="fr-FR" altLang="x-none" sz="1600" dirty="0"/>
              <a:t>&gt;::min() &lt;&lt; '\n';</a:t>
            </a:r>
          </a:p>
          <a:p>
            <a:r>
              <a:rPr lang="fr-FR" altLang="x-none" sz="1600" dirty="0"/>
              <a:t>  </a:t>
            </a:r>
            <a:r>
              <a:rPr lang="fr-FR" altLang="x-none" sz="1600" dirty="0" err="1"/>
              <a:t>std</a:t>
            </a:r>
            <a:r>
              <a:rPr lang="fr-FR" altLang="x-none" sz="1600" dirty="0"/>
              <a:t>::cout &lt;&lt; "Maximum value: " &lt;&lt; </a:t>
            </a:r>
            <a:r>
              <a:rPr lang="fr-FR" altLang="x-none" sz="1600" dirty="0" err="1"/>
              <a:t>std</a:t>
            </a:r>
            <a:r>
              <a:rPr lang="fr-FR" altLang="x-none" sz="1600" dirty="0"/>
              <a:t>::</a:t>
            </a:r>
            <a:r>
              <a:rPr lang="fr-FR" altLang="x-none" sz="1600" dirty="0" err="1"/>
              <a:t>numeric_limits</a:t>
            </a:r>
            <a:r>
              <a:rPr lang="fr-FR" altLang="x-none" sz="1600" dirty="0"/>
              <a:t>&lt;</a:t>
            </a:r>
            <a:r>
              <a:rPr lang="fr-FR" altLang="x-none" sz="1600" dirty="0" err="1"/>
              <a:t>float</a:t>
            </a:r>
            <a:r>
              <a:rPr lang="fr-FR" altLang="x-none" sz="1600" dirty="0"/>
              <a:t>&gt;::max() &lt;&lt; '\n';</a:t>
            </a:r>
          </a:p>
          <a:p>
            <a:r>
              <a:rPr lang="fr-FR" altLang="x-none" sz="1600" dirty="0"/>
              <a:t>  </a:t>
            </a:r>
            <a:r>
              <a:rPr lang="fr-FR" altLang="x-none" sz="1600" dirty="0" err="1"/>
              <a:t>std</a:t>
            </a:r>
            <a:r>
              <a:rPr lang="fr-FR" altLang="x-none" sz="1600" dirty="0"/>
              <a:t>::cout &lt;&lt; "Is </a:t>
            </a:r>
            <a:r>
              <a:rPr lang="fr-FR" altLang="x-none" sz="1600" dirty="0" err="1"/>
              <a:t>signed</a:t>
            </a:r>
            <a:r>
              <a:rPr lang="fr-FR" altLang="x-none" sz="1600" dirty="0"/>
              <a:t>: " &lt;&lt; </a:t>
            </a:r>
            <a:r>
              <a:rPr lang="fr-FR" altLang="x-none" sz="1600" dirty="0" err="1"/>
              <a:t>std</a:t>
            </a:r>
            <a:r>
              <a:rPr lang="fr-FR" altLang="x-none" sz="1600" dirty="0"/>
              <a:t>::</a:t>
            </a:r>
            <a:r>
              <a:rPr lang="fr-FR" altLang="x-none" sz="1600" dirty="0" err="1"/>
              <a:t>numeric_limits</a:t>
            </a:r>
            <a:r>
              <a:rPr lang="fr-FR" altLang="x-none" sz="1600" dirty="0"/>
              <a:t>&lt;</a:t>
            </a:r>
            <a:r>
              <a:rPr lang="fr-FR" altLang="x-none" sz="1600" dirty="0" err="1"/>
              <a:t>float</a:t>
            </a:r>
            <a:r>
              <a:rPr lang="fr-FR" altLang="x-none" sz="1600" dirty="0"/>
              <a:t>&gt;::</a:t>
            </a:r>
            <a:r>
              <a:rPr lang="fr-FR" altLang="x-none" sz="1600" dirty="0" err="1"/>
              <a:t>is_signed</a:t>
            </a:r>
            <a:r>
              <a:rPr lang="fr-FR" altLang="x-none" sz="1600" dirty="0"/>
              <a:t> &lt;&lt; '\n';</a:t>
            </a:r>
          </a:p>
          <a:p>
            <a:r>
              <a:rPr lang="fr-FR" altLang="x-none" sz="1600" dirty="0"/>
              <a:t>  </a:t>
            </a:r>
            <a:r>
              <a:rPr lang="fr-FR" altLang="x-none" sz="1600" dirty="0" err="1"/>
              <a:t>std</a:t>
            </a:r>
            <a:r>
              <a:rPr lang="fr-FR" altLang="x-none" sz="1600" dirty="0"/>
              <a:t>::cout &lt;&lt; "</a:t>
            </a:r>
            <a:r>
              <a:rPr lang="fr-FR" altLang="x-none" sz="1600" dirty="0" err="1"/>
              <a:t>significand</a:t>
            </a:r>
            <a:r>
              <a:rPr lang="fr-FR" altLang="x-none" sz="1600" dirty="0"/>
              <a:t> bits: " &lt;&lt; </a:t>
            </a:r>
            <a:r>
              <a:rPr lang="fr-FR" altLang="x-none" sz="1600" dirty="0" err="1"/>
              <a:t>std</a:t>
            </a:r>
            <a:r>
              <a:rPr lang="fr-FR" altLang="x-none" sz="1600" dirty="0"/>
              <a:t>::</a:t>
            </a:r>
            <a:r>
              <a:rPr lang="fr-FR" altLang="x-none" sz="1600" dirty="0" err="1"/>
              <a:t>numeric_limits</a:t>
            </a:r>
            <a:r>
              <a:rPr lang="fr-FR" altLang="x-none" sz="1600" dirty="0"/>
              <a:t>&lt;</a:t>
            </a:r>
            <a:r>
              <a:rPr lang="fr-FR" altLang="x-none" sz="1600" dirty="0" err="1"/>
              <a:t>float</a:t>
            </a:r>
            <a:r>
              <a:rPr lang="fr-FR" altLang="x-none" sz="1600" dirty="0"/>
              <a:t>&gt;::digits &lt;&lt; '\n';</a:t>
            </a:r>
          </a:p>
          <a:p>
            <a:r>
              <a:rPr lang="fr-FR" altLang="x-none" sz="1600" dirty="0"/>
              <a:t>  </a:t>
            </a:r>
            <a:r>
              <a:rPr lang="fr-FR" altLang="x-none" sz="1600" dirty="0" err="1"/>
              <a:t>std</a:t>
            </a:r>
            <a:r>
              <a:rPr lang="fr-FR" altLang="x-none" sz="1600" dirty="0"/>
              <a:t>::cout &lt;&lt; "</a:t>
            </a:r>
            <a:r>
              <a:rPr lang="fr-FR" altLang="x-none" sz="1600" dirty="0" err="1"/>
              <a:t>precision</a:t>
            </a:r>
            <a:r>
              <a:rPr lang="fr-FR" altLang="x-none" sz="1600" dirty="0"/>
              <a:t>: " &lt;&lt; </a:t>
            </a:r>
            <a:r>
              <a:rPr lang="fr-FR" altLang="x-none" sz="1600" dirty="0" err="1"/>
              <a:t>std</a:t>
            </a:r>
            <a:r>
              <a:rPr lang="fr-FR" altLang="x-none" sz="1600" dirty="0"/>
              <a:t>::</a:t>
            </a:r>
            <a:r>
              <a:rPr lang="fr-FR" altLang="x-none" sz="1600" dirty="0" err="1"/>
              <a:t>numeric_limits</a:t>
            </a:r>
            <a:r>
              <a:rPr lang="fr-FR" altLang="x-none" sz="1600" dirty="0"/>
              <a:t>&lt;</a:t>
            </a:r>
            <a:r>
              <a:rPr lang="fr-FR" altLang="x-none" sz="1600" dirty="0" err="1"/>
              <a:t>float</a:t>
            </a:r>
            <a:r>
              <a:rPr lang="fr-FR" altLang="x-none" sz="1600" dirty="0"/>
              <a:t>&gt;::epsilon() &lt;&lt; '\n';</a:t>
            </a:r>
          </a:p>
          <a:p>
            <a:r>
              <a:rPr lang="fr-FR" altLang="x-none" sz="1600" dirty="0"/>
              <a:t>  </a:t>
            </a:r>
            <a:r>
              <a:rPr lang="fr-FR" altLang="x-none" sz="1600" dirty="0" err="1"/>
              <a:t>std</a:t>
            </a:r>
            <a:r>
              <a:rPr lang="fr-FR" altLang="x-none" sz="1600" dirty="0"/>
              <a:t>::cout &lt;&lt; "has </a:t>
            </a:r>
            <a:r>
              <a:rPr lang="fr-FR" altLang="x-none" sz="1600" dirty="0" err="1"/>
              <a:t>infinity</a:t>
            </a:r>
            <a:r>
              <a:rPr lang="fr-FR" altLang="x-none" sz="1600" dirty="0"/>
              <a:t>: " &lt;&lt; </a:t>
            </a:r>
            <a:r>
              <a:rPr lang="fr-FR" altLang="x-none" sz="1600" dirty="0" err="1"/>
              <a:t>std</a:t>
            </a:r>
            <a:r>
              <a:rPr lang="fr-FR" altLang="x-none" sz="1600" dirty="0"/>
              <a:t>::</a:t>
            </a:r>
            <a:r>
              <a:rPr lang="fr-FR" altLang="x-none" sz="1600" dirty="0" err="1"/>
              <a:t>numeric_limits</a:t>
            </a:r>
            <a:r>
              <a:rPr lang="fr-FR" altLang="x-none" sz="1600" dirty="0"/>
              <a:t>&lt;</a:t>
            </a:r>
            <a:r>
              <a:rPr lang="fr-FR" altLang="x-none" sz="1600" dirty="0" err="1"/>
              <a:t>float</a:t>
            </a:r>
            <a:r>
              <a:rPr lang="fr-FR" altLang="x-none" sz="1600" dirty="0"/>
              <a:t>&gt;::</a:t>
            </a:r>
            <a:r>
              <a:rPr lang="fr-FR" altLang="x-none" sz="1600" dirty="0" err="1"/>
              <a:t>has_infinity</a:t>
            </a:r>
            <a:r>
              <a:rPr lang="fr-FR" altLang="x-none" sz="1600" dirty="0"/>
              <a:t> &lt;&lt; '\n';</a:t>
            </a:r>
          </a:p>
          <a:p>
            <a:r>
              <a:rPr lang="is-IS" altLang="x-none" sz="1600" dirty="0"/>
              <a:t>  return 0;</a:t>
            </a:r>
          </a:p>
          <a:p>
            <a:r>
              <a:rPr lang="is-IS" altLang="x-none" sz="1600" dirty="0"/>
              <a:t>}</a:t>
            </a:r>
            <a:endParaRPr lang="es-ES_tradnl" altLang="x-none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3E6E17-2320-B4E8-C34D-A4003CB03E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Fixed width floating-point types (since C++23)</a:t>
            </a:r>
            <a:br>
              <a:rPr lang="en-US" dirty="0"/>
            </a:br>
            <a:r>
              <a:rPr lang="en-US" sz="2800" dirty="0">
                <a:hlinkClick r:id="rId2"/>
              </a:rPr>
              <a:t>https://en.cppreference.com/w/cpp/types/floating-point.html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578096F-C156-5E7E-33C3-8A1ECDE365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69" y="1824630"/>
            <a:ext cx="12094461" cy="29121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41751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DB25DD-862D-7A79-453B-2A77FA25C2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interlude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B6797E-987F-A023-3746-9B0EAF6BF4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Python intrinsic “float” is actually double precision</a:t>
            </a:r>
          </a:p>
          <a:p>
            <a:pPr lvl="1"/>
            <a:r>
              <a:rPr lang="en-US" dirty="0" err="1"/>
              <a:t>float.hex</a:t>
            </a:r>
            <a:r>
              <a:rPr lang="en-US" dirty="0"/>
              <a:t>() and </a:t>
            </a:r>
            <a:r>
              <a:rPr lang="en-US" dirty="0" err="1"/>
              <a:t>float.fromhex</a:t>
            </a:r>
            <a:r>
              <a:rPr lang="en-US" dirty="0"/>
              <a:t>() allows </a:t>
            </a:r>
            <a:r>
              <a:rPr lang="en-US"/>
              <a:t>to convert </a:t>
            </a:r>
            <a:r>
              <a:rPr lang="en-US" dirty="0"/>
              <a:t>to/from </a:t>
            </a:r>
            <a:r>
              <a:rPr lang="en-US" dirty="0" err="1"/>
              <a:t>exadecimal</a:t>
            </a:r>
            <a:r>
              <a:rPr lang="en-US" dirty="0"/>
              <a:t> string</a:t>
            </a:r>
          </a:p>
          <a:p>
            <a:r>
              <a:rPr lang="en-US" b="1" dirty="0" err="1"/>
              <a:t>numpy</a:t>
            </a:r>
            <a:r>
              <a:rPr lang="en-US" dirty="0"/>
              <a:t> defines float16, float32, float64 (and float128 on x86_64)</a:t>
            </a:r>
          </a:p>
          <a:p>
            <a:pPr lvl="1"/>
            <a:r>
              <a:rPr lang="en-US" dirty="0">
                <a:hlinkClick r:id="rId2"/>
              </a:rPr>
              <a:t>https://numpy.org/doc/2.3/reference/arrays.scalars.html - floating-point-types</a:t>
            </a:r>
            <a:endParaRPr lang="en-US" dirty="0"/>
          </a:p>
          <a:p>
            <a:r>
              <a:rPr lang="en-US" b="1" dirty="0"/>
              <a:t>decimal</a:t>
            </a:r>
            <a:r>
              <a:rPr lang="en-US" dirty="0"/>
              <a:t> is a module providing FP in base 10</a:t>
            </a:r>
          </a:p>
          <a:p>
            <a:pPr lvl="1"/>
            <a:r>
              <a:rPr lang="en-US" dirty="0">
                <a:hlinkClick r:id="rId3"/>
              </a:rPr>
              <a:t>https://docs.python.org/3/library/decimal.html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643298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1" id="{37A6DAB0-E1CD-E449-B6EE-57B7DC127C1F}" vid="{2E9FF5FA-A0F4-BB4E-AFDB-74A19D908E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2604</TotalTime>
  <Words>970</Words>
  <Application>Microsoft Macintosh PowerPoint</Application>
  <PresentationFormat>Widescreen</PresentationFormat>
  <Paragraphs>117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9" baseType="lpstr">
      <vt:lpstr>ＭＳ Ｐゴシック</vt:lpstr>
      <vt:lpstr>Arial</vt:lpstr>
      <vt:lpstr>Calibri</vt:lpstr>
      <vt:lpstr>Calibri Light</vt:lpstr>
      <vt:lpstr>Corbel</vt:lpstr>
      <vt:lpstr>Garamond</vt:lpstr>
      <vt:lpstr>Lucida Console</vt:lpstr>
      <vt:lpstr>Office Theme</vt:lpstr>
      <vt:lpstr>FloatingPoint Arithmetic for Scientist: Precision, Accuracy, Efficiency </vt:lpstr>
      <vt:lpstr>What’s a Floating Point? https://en.wikipedia.org/wiki/Floating-point_arithmetic</vt:lpstr>
      <vt:lpstr>Some Trivial properties of FP</vt:lpstr>
      <vt:lpstr>Precision and Rounding</vt:lpstr>
      <vt:lpstr>FP on a Computer</vt:lpstr>
      <vt:lpstr>FP binary representations in IEEE754</vt:lpstr>
      <vt:lpstr>examples</vt:lpstr>
      <vt:lpstr>C++ interlude</vt:lpstr>
      <vt:lpstr>Limits</vt:lpstr>
      <vt:lpstr>Fixed width floating-point types (since C++23) https://en.cppreference.com/w/cpp/types/floating-point.html</vt:lpstr>
      <vt:lpstr>Python interlude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Vincenzo Innocente</dc:creator>
  <cp:lastModifiedBy>Vincenzo Innocente</cp:lastModifiedBy>
  <cp:revision>33</cp:revision>
  <dcterms:created xsi:type="dcterms:W3CDTF">2026-04-12T14:58:51Z</dcterms:created>
  <dcterms:modified xsi:type="dcterms:W3CDTF">2026-04-14T11:31:07Z</dcterms:modified>
</cp:coreProperties>
</file>