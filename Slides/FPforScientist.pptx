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56" r:id="rId5"/>
    <p:sldId id="372" r:id="rId6"/>
    <p:sldId id="260" r:id="rId7"/>
    <p:sldId id="261" r:id="rId8"/>
    <p:sldId id="461" r:id="rId9"/>
    <p:sldId id="455" r:id="rId10"/>
    <p:sldId id="439" r:id="rId11"/>
    <p:sldId id="394" r:id="rId12"/>
    <p:sldId id="262" r:id="rId13"/>
    <p:sldId id="456" r:id="rId14"/>
    <p:sldId id="457" r:id="rId15"/>
    <p:sldId id="458" r:id="rId16"/>
    <p:sldId id="459" r:id="rId17"/>
    <p:sldId id="441" r:id="rId18"/>
    <p:sldId id="460" r:id="rId19"/>
    <p:sldId id="462" r:id="rId20"/>
    <p:sldId id="463" r:id="rId21"/>
    <p:sldId id="464" r:id="rId22"/>
    <p:sldId id="465" r:id="rId23"/>
    <p:sldId id="468" r:id="rId24"/>
    <p:sldId id="466" r:id="rId25"/>
    <p:sldId id="467" r:id="rId26"/>
    <p:sldId id="469" r:id="rId27"/>
    <p:sldId id="482" r:id="rId28"/>
    <p:sldId id="276" r:id="rId29"/>
    <p:sldId id="470" r:id="rId30"/>
    <p:sldId id="480" r:id="rId31"/>
    <p:sldId id="471" r:id="rId32"/>
    <p:sldId id="474" r:id="rId33"/>
    <p:sldId id="473" r:id="rId34"/>
    <p:sldId id="475" r:id="rId35"/>
    <p:sldId id="472" r:id="rId36"/>
    <p:sldId id="476" r:id="rId37"/>
    <p:sldId id="477" r:id="rId38"/>
    <p:sldId id="478" r:id="rId39"/>
    <p:sldId id="479" r:id="rId40"/>
    <p:sldId id="381" r:id="rId41"/>
    <p:sldId id="396" r:id="rId42"/>
    <p:sldId id="341" r:id="rId43"/>
    <p:sldId id="413" r:id="rId44"/>
    <p:sldId id="481" r:id="rId45"/>
    <p:sldId id="444" r:id="rId46"/>
    <p:sldId id="397" r:id="rId47"/>
    <p:sldId id="265" r:id="rId48"/>
    <p:sldId id="365" r:id="rId49"/>
    <p:sldId id="393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09"/>
    <p:restoredTop sz="96327"/>
  </p:normalViewPr>
  <p:slideViewPr>
    <p:cSldViewPr snapToGrid="0" snapToObjects="1">
      <p:cViewPr>
        <p:scale>
          <a:sx n="120" d="100"/>
          <a:sy n="120" d="100"/>
        </p:scale>
        <p:origin x="14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9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  (printed in decimal)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  (printed in </a:t>
            </a:r>
            <a:r>
              <a:rPr lang="en-US" dirty="0" err="1"/>
              <a:t>exadecimal</a:t>
            </a:r>
            <a:r>
              <a:rPr lang="en-US" dirty="0"/>
              <a:t>)</a:t>
            </a: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7071" y="68481"/>
            <a:ext cx="3376067" cy="3037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err="1"/>
              <a:t>Le’ts</a:t>
            </a:r>
            <a:r>
              <a:rPr lang="en-US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4"/>
            <a:ext cx="8229600" cy="1139825"/>
          </a:xfrm>
        </p:spPr>
        <p:txBody>
          <a:bodyPr/>
          <a:lstStyle/>
          <a:p>
            <a:r>
              <a:rPr lang="en-US" altLang="x-none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1774825" y="908051"/>
            <a:ext cx="8713788" cy="5184775"/>
          </a:xfrm>
        </p:spPr>
        <p:txBody>
          <a:bodyPr/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endParaRPr lang="en-US" altLang="x-none" sz="2000" dirty="0"/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5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1752600" y="3352800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8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they are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849" y="1467279"/>
            <a:ext cx="11232292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There are two basic operations: </a:t>
            </a:r>
          </a:p>
          <a:p>
            <a:r>
              <a:rPr lang="en-US" dirty="0"/>
              <a:t>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17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49524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Improved algorithms exist, differently handling various magnitude ranges (“big”, “medium” and “tiny”) or by (partial) sorting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1F68500B-495C-0FA3-7CB7-25F805161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30492" y="541337"/>
            <a:ext cx="10515600" cy="28876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</a:t>
            </a:r>
            <a:endParaRPr lang="en-US" baseline="30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Uniform vs canonical</a:t>
            </a:r>
            <a:br>
              <a:rPr lang="en-US" dirty="0"/>
            </a:br>
            <a:r>
              <a:rPr lang="en-US" sz="2200" dirty="0"/>
              <a:t>(for a detailed discussion see among others</a:t>
            </a:r>
            <a:br>
              <a:rPr lang="en-US" sz="2200" dirty="0"/>
            </a:br>
            <a:r>
              <a:rPr lang="en-US" sz="2200" dirty="0">
                <a:hlinkClick r:id="rId2"/>
              </a:rPr>
              <a:t>https://github.com/DiscreteLogarithm/canonical-random-float/tree/master</a:t>
            </a:r>
            <a:r>
              <a:rPr lang="en-US" sz="2200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 dirty="0"/>
              <a:t>Uniform in range [</a:t>
            </a:r>
            <a:r>
              <a:rPr lang="en-US" u="sng" dirty="0" err="1"/>
              <a:t>a,b</a:t>
            </a:r>
            <a:r>
              <a:rPr lang="en-US" u="sng" dirty="0"/>
              <a:t>)</a:t>
            </a:r>
          </a:p>
          <a:p>
            <a:r>
              <a:rPr lang="en-US" dirty="0"/>
              <a:t>Throw 32 coins: interpret as a positive integer N</a:t>
            </a:r>
          </a:p>
          <a:p>
            <a:r>
              <a:rPr lang="en-US" dirty="0"/>
              <a:t>Compute r = float(N)/float(2</a:t>
            </a:r>
            <a:r>
              <a:rPr lang="en-US" baseline="30000" dirty="0"/>
              <a:t>32</a:t>
            </a:r>
            <a:r>
              <a:rPr lang="en-US" dirty="0"/>
              <a:t>)*(b-a) –a</a:t>
            </a:r>
          </a:p>
          <a:p>
            <a:pPr marL="0" indent="0">
              <a:buNone/>
            </a:pPr>
            <a:endParaRPr lang="en-US" baseline="30000" dirty="0"/>
          </a:p>
          <a:p>
            <a:pPr marL="0" indent="0">
              <a:buNone/>
            </a:pPr>
            <a:r>
              <a:rPr lang="en-US" u="sng" dirty="0"/>
              <a:t>Canonical</a:t>
            </a:r>
          </a:p>
          <a:p>
            <a:r>
              <a:rPr lang="en-US" dirty="0"/>
              <a:t>Throw 23 coins: set significand of r to them</a:t>
            </a:r>
          </a:p>
          <a:p>
            <a:r>
              <a:rPr lang="en-US" dirty="0"/>
              <a:t>Throw one more coin: if 1 set exponent of r to -1: uniform in [0.5,1)</a:t>
            </a:r>
          </a:p>
          <a:p>
            <a:pPr lvl="1"/>
            <a:r>
              <a:rPr lang="en-US" dirty="0"/>
              <a:t>If 0 :Throw one more coin: if 1 set exponent of r to -2: uniform in [0.25,0.5)</a:t>
            </a:r>
          </a:p>
          <a:p>
            <a:pPr lvl="2"/>
            <a:r>
              <a:rPr lang="en-US" dirty="0"/>
              <a:t>If 0:  Throw one more coin: if 1 set exponent of r to -3: uniform in [0.125,0.25)</a:t>
            </a:r>
          </a:p>
          <a:p>
            <a:pPr lvl="3"/>
            <a:r>
              <a:rPr lang="en-US" dirty="0"/>
              <a:t>If 0:  Throw one more coin: if 1 set exponent of r to -4: uniform in [0.0625,0.125)</a:t>
            </a:r>
          </a:p>
          <a:p>
            <a:pPr lvl="4"/>
            <a:r>
              <a:rPr lang="en-US" dirty="0"/>
              <a:t>If 0: ….	</a:t>
            </a:r>
          </a:p>
          <a:p>
            <a:r>
              <a:rPr lang="en-US" dirty="0"/>
              <a:t>If symmetric interval around 0 use last coin to choose sign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 dirty="0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Generated 256*10</a:t>
            </a:r>
            <a:r>
              <a:rPr lang="en-US" baseline="30000" dirty="0"/>
              <a:t>9 </a:t>
            </a:r>
            <a:r>
              <a:rPr lang="en-US" dirty="0"/>
              <a:t>Normal distributed using Box-Muller</a:t>
            </a:r>
            <a:endParaRPr lang="en-US" baseline="30000" dirty="0"/>
          </a:p>
          <a:p>
            <a:pPr marL="0" indent="0">
              <a:buNone/>
            </a:pPr>
            <a:endParaRPr lang="en-US" baseline="30000" dirty="0"/>
          </a:p>
          <a:p>
            <a:r>
              <a:rPr lang="en-US" baseline="30000" dirty="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 dirty="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sqrt(-2log(2</a:t>
            </a:r>
            <a:r>
              <a:rPr lang="en-US" baseline="30000" dirty="0">
                <a:solidFill>
                  <a:srgbClr val="00B050"/>
                </a:solidFill>
              </a:rPr>
              <a:t>-32</a:t>
            </a:r>
            <a:r>
              <a:rPr lang="en-US" dirty="0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sqrt(-2log(2</a:t>
            </a:r>
            <a:r>
              <a:rPr lang="en-US" baseline="30000" dirty="0">
                <a:solidFill>
                  <a:srgbClr val="FFC000"/>
                </a:solidFill>
              </a:rPr>
              <a:t>-23</a:t>
            </a:r>
            <a:r>
              <a:rPr lang="en-US" dirty="0">
                <a:solidFill>
                  <a:srgbClr val="FFC000"/>
                </a:solidFill>
              </a:rPr>
              <a:t>)) ~ 5.6 </a:t>
            </a:r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endParaRPr lang="en-US" dirty="0"/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1A2FC-DB09-8144-92F1-5D21AB9A5879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 HPC in HEP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30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1189"/>
          </a:xfrm>
        </p:spPr>
        <p:txBody>
          <a:bodyPr/>
          <a:lstStyle/>
          <a:p>
            <a:r>
              <a:rPr lang="en-US" dirty="0"/>
              <a:t>Evaluating a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3873" y="1105615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</a:t>
            </a:r>
            <a:endParaRPr lang="en-US" dirty="0"/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asin,acos,atan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SE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690688"/>
            <a:ext cx="6109133" cy="46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</a:t>
            </a:r>
            <a:r>
              <a:rPr lang="en-US" dirty="0" err="1"/>
              <a:t>polynomomials</a:t>
            </a:r>
            <a:r>
              <a:rPr lang="en-US" dirty="0"/>
              <a:t>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rsqrt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 using “augmented arithmetic”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40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2"/>
            <a:r>
              <a:rPr lang="en-US" altLang="x-none" dirty="0"/>
              <a:t>Comes from specs</a:t>
            </a:r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with a “refence” or a different algorithm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41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r>
              <a:rPr lang="en-US" altLang="x-none" sz="3100" dirty="0"/>
              <a:t>  (</a:t>
            </a:r>
            <a:r>
              <a:rPr lang="en-US" altLang="x-none" sz="3100" dirty="0" err="1"/>
              <a:t>icelake</a:t>
            </a:r>
            <a:r>
              <a:rPr lang="en-US" altLang="x-none" sz="3100" dirty="0"/>
              <a:t> &amp; zen5)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42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1242870"/>
              </p:ext>
            </p:extLst>
          </p:nvPr>
        </p:nvGraphicFramePr>
        <p:xfrm>
          <a:off x="831757" y="1158949"/>
          <a:ext cx="8755475" cy="5375977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9463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&lt;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  d=f ,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AND,OR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9441703" y="6032500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</a:t>
            </a:r>
            <a:r>
              <a:rPr lang="en-US" altLang="x-none" sz="1800" b="1" dirty="0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 dirty="0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41703" y="5067353"/>
            <a:ext cx="248560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(does not vectorize on intel?)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GPU landscape: </a:t>
            </a:r>
            <a:br>
              <a:rPr lang="en-US" dirty="0"/>
            </a:br>
            <a:r>
              <a:rPr lang="en-US" sz="3200" dirty="0"/>
              <a:t>FP64 is 32 times slower than FP32 on affordable GPU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0C4FC-48AF-8D42-8503-343767FBAC60}" type="datetime4">
              <a:rPr lang="en-US" smtClean="0"/>
              <a:t>April 22,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VI: Math in Particle Physics Experiments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43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 throughput (in cycles)</a:t>
            </a:r>
            <a:br>
              <a:rPr lang="en-US" dirty="0"/>
            </a:br>
            <a:r>
              <a:rPr lang="en-US" sz="2400" dirty="0"/>
              <a:t>(origin </a:t>
            </a:r>
            <a:r>
              <a:rPr lang="en-US" sz="2400" dirty="0">
                <a:hlinkClick r:id="rId2"/>
              </a:rPr>
              <a:t>https://core-math.gitlabpages.inria.fr/</a:t>
            </a:r>
            <a:r>
              <a:rPr lang="en-US" sz="2400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in </a:t>
            </a:r>
            <a:r>
              <a:rPr lang="en-US" altLang="en-US"/>
              <a:t>“</a:t>
            </a:r>
            <a:r>
              <a:rPr lang="en-US" altLang="ja-JP"/>
              <a:t>libm</a:t>
            </a:r>
            <a:r>
              <a:rPr lang="en-US" altLang="en-US"/>
              <a:t>”</a:t>
            </a:r>
            <a:endParaRPr lang="en-US" altLang="x-none"/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063" y="3429001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46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ms(double radLen, double m2, double p2) { </a:t>
            </a:r>
          </a:p>
          <a:p>
            <a:pPr eaLnBrk="1" hangingPunct="1"/>
            <a:r>
              <a:rPr lang="en-US" altLang="x-none" sz="1800"/>
              <a:t>  constexpr double amscon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 dirty="0"/>
              <a:t>Cash-Karp </a:t>
            </a:r>
            <a:r>
              <a:rPr lang="en-US" dirty="0" err="1"/>
              <a:t>Runge-Kutta</a:t>
            </a:r>
            <a:r>
              <a:rPr lang="en-US" dirty="0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70A33-35F0-9B4A-A7F6-FA35E34CE217}" type="datetime1">
              <a:rPr lang="Zyyy" smtClean="0"/>
              <a:t>4/23/26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V.I.  Accuracy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47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0.9*step/</a:t>
            </a:r>
            <a:r>
              <a:rPr lang="en-US" sz="2000" b="1" dirty="0" err="1">
                <a:solidFill>
                  <a:srgbClr val="FF0000"/>
                </a:solidFill>
              </a:rPr>
              <a:t>pow</a:t>
            </a:r>
            <a:r>
              <a:rPr lang="en-US" sz="2000" b="1" dirty="0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277814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>
                <a:ea typeface="ＭＳ Ｐゴシック" panose="020B0600070205080204" pitchFamily="34" charset="-128"/>
              </a:rPr>
            </a:br>
            <a:r>
              <a:rPr lang="en-US" altLang="en-US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48</a:t>
            </a:fld>
            <a:endParaRPr lang="en-US" altLang="en-US" sz="120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1676401"/>
            <a:ext cx="8153400" cy="2092325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double p = mom.mag();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normalisedPath = fabs(p/mom.z())*radLen;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z = exp(-normalisedPath);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varz = (exp(-normalisedPath*log(3.)/log(2.))- exp(-2*normalisedPath));</a:t>
            </a: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pt = mom.perp();</a:t>
            </a:r>
            <a:r>
              <a:rPr lang="en-US" altLang="en-US" sz="1600">
                <a:solidFill>
                  <a:srgbClr val="000000"/>
                </a:solidFill>
              </a:rPr>
              <a:t> 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j = a_i*(d_x * mom.x() + d_y * mom.y())/(pt*pt);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r_x = d_x - 2* mom.x()*(d_x*mom.x()+d_y*mom.y())/(pt*pt);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r_y = d_y - 2* mom.y()*(d_x*mom.x()+d_y*mom.y())/(pt*pt);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s = 1/(pt*pt*sqrt(1 - j*j));</a:t>
            </a:r>
            <a:endParaRPr lang="en-US" altLang="en-US" sz="1600">
              <a:solidFill>
                <a:srgbClr val="000000"/>
              </a:solidFill>
            </a:endParaRP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25 October 2011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9" name="TextBox 1">
            <a:extLst>
              <a:ext uri="{FF2B5EF4-FFF2-40B4-BE49-F238E27FC236}">
                <a16:creationId xmlns:a16="http://schemas.microsoft.com/office/drawing/2014/main" id="{B3718853-E251-143A-73D6-4FD78F34C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9651" y="5805488"/>
            <a:ext cx="7827963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Exercise: edit </a:t>
            </a:r>
            <a:r>
              <a:rPr lang="en-US" altLang="en-US" sz="1800" dirty="0" err="1"/>
              <a:t>OptimizeIt.cc</a:t>
            </a:r>
            <a:r>
              <a:rPr lang="en-US" altLang="en-US" sz="1800" dirty="0"/>
              <a:t> to make it “optimal”</a:t>
            </a:r>
          </a:p>
          <a:p>
            <a:pPr eaLnBrk="1" hangingPunct="1"/>
            <a:r>
              <a:rPr lang="en-US" altLang="en-US" sz="1800" dirty="0"/>
              <a:t>check the generated assembly, modify </a:t>
            </a:r>
            <a:r>
              <a:rPr lang="en-US" altLang="en-US" sz="1800" dirty="0" err="1"/>
              <a:t>Benchmark.cpp</a:t>
            </a:r>
            <a:r>
              <a:rPr lang="en-US" altLang="en-US" sz="1800" dirty="0"/>
              <a:t> to verify speed gain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49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797051" y="1196975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inline float pt2(float x, float y) {return x*x+y*y;}</a:t>
            </a:r>
          </a:p>
          <a:p>
            <a:pPr eaLnBrk="1" hangingPunct="1"/>
            <a:r>
              <a:rPr lang="en-US" altLang="x-none" sz="1800"/>
              <a:t>inline float pt(float x, float y) {return std::sqrt(pt2(x,y));}</a:t>
            </a:r>
          </a:p>
          <a:p>
            <a:pPr eaLnBrk="1" hangingPunct="1"/>
            <a:r>
              <a:rPr lang="en-US" altLang="x-none" sz="1800"/>
              <a:t>inline float phi(float x, float y) {return std::atan2(y,x);}</a:t>
            </a:r>
          </a:p>
          <a:p>
            <a:pPr eaLnBrk="1" hangingPunct="1"/>
            <a:r>
              <a:rPr lang="en-US" altLang="x-none" sz="1800"/>
              <a:t>inline eta(float x, float y, float z) { float t(z/pt(x,y)); return ::asinhf(t);} </a:t>
            </a:r>
          </a:p>
          <a:p>
            <a:pPr eaLnBrk="1" hangingPunct="1"/>
            <a:r>
              <a:rPr lang="en-US" altLang="x-none" sz="180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/>
              <a:t>Inline float dphi(float p1,float p2) {</a:t>
            </a:r>
          </a:p>
          <a:p>
            <a:pPr eaLnBrk="1" hangingPunct="1"/>
            <a:r>
              <a:rPr lang="en-US" altLang="x-none" sz="1800"/>
              <a:t>    auto dp=std::abs(p1-p2); if (dp&gt;float(M_PI)) dp-=float(2*M_PI);</a:t>
            </a:r>
          </a:p>
          <a:p>
            <a:pPr eaLnBrk="1" hangingPunct="1"/>
            <a:r>
              <a:rPr lang="en-US" altLang="x-none" sz="1800"/>
              <a:t>    return std::abs(dp);</a:t>
            </a:r>
          </a:p>
          <a:p>
            <a:pPr eaLnBrk="1" hangingPunct="1"/>
            <a:r>
              <a:rPr lang="en-US" altLang="x-none" sz="180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992314" y="3933826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17138</TotalTime>
  <Words>5240</Words>
  <Application>Microsoft Macintosh PowerPoint</Application>
  <PresentationFormat>Widescreen</PresentationFormat>
  <Paragraphs>582</Paragraphs>
  <Slides>49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60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Garamond</vt:lpstr>
      <vt:lpstr>Lucida Console</vt:lpstr>
      <vt:lpstr>Wingdings</vt:lpstr>
      <vt:lpstr>Office Theme</vt:lpstr>
      <vt:lpstr>FloatingPoint Arithmetic for Scientist: Precision, Accuracy, Efficiency 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Library functions</vt:lpstr>
      <vt:lpstr>Evaluating a function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TMD in decimal</vt:lpstr>
      <vt:lpstr>rsqrt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Elementary functions throughput (in cycles) (origin https://core-math.gitlabpages.inria.fr/)</vt:lpstr>
      <vt:lpstr>Precision vs Speed in “libm”</vt:lpstr>
      <vt:lpstr>Example: multiple scattering formula</vt:lpstr>
      <vt:lpstr>Cash-Karp Runge-Kutta Step</vt:lpstr>
      <vt:lpstr>Formula Translation:  what was the author’s intention?</vt:lpstr>
      <vt:lpstr>Example: cut in pt, phi, eta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169</cp:revision>
  <dcterms:created xsi:type="dcterms:W3CDTF">2026-04-12T14:58:51Z</dcterms:created>
  <dcterms:modified xsi:type="dcterms:W3CDTF">2026-04-24T13:44:57Z</dcterms:modified>
</cp:coreProperties>
</file>