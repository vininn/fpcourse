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56" r:id="rId5"/>
    <p:sldId id="372" r:id="rId6"/>
    <p:sldId id="260" r:id="rId7"/>
    <p:sldId id="261" r:id="rId8"/>
    <p:sldId id="461" r:id="rId9"/>
    <p:sldId id="455" r:id="rId10"/>
    <p:sldId id="439" r:id="rId11"/>
    <p:sldId id="394" r:id="rId12"/>
    <p:sldId id="262" r:id="rId13"/>
    <p:sldId id="456" r:id="rId14"/>
    <p:sldId id="457" r:id="rId15"/>
    <p:sldId id="458" r:id="rId16"/>
    <p:sldId id="459" r:id="rId17"/>
    <p:sldId id="460" r:id="rId18"/>
    <p:sldId id="462" r:id="rId19"/>
    <p:sldId id="463" r:id="rId20"/>
    <p:sldId id="464" r:id="rId21"/>
    <p:sldId id="465" r:id="rId22"/>
    <p:sldId id="466" r:id="rId23"/>
    <p:sldId id="467" r:id="rId24"/>
    <p:sldId id="468" r:id="rId25"/>
    <p:sldId id="441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258"/>
    <p:restoredTop sz="96327"/>
  </p:normalViewPr>
  <p:slideViewPr>
    <p:cSldViewPr snapToGrid="0" snapToObjects="1">
      <p:cViewPr varScale="1">
        <p:scale>
          <a:sx n="104" d="100"/>
          <a:sy n="104" d="100"/>
        </p:scale>
        <p:origin x="232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What’s a Floating Point?</a:t>
            </a:r>
            <a:br>
              <a:rPr lang="en-US"/>
            </a:br>
            <a:r>
              <a:rPr lang="en-US" sz="1600">
                <a:hlinkClick r:id="rId2"/>
              </a:rPr>
              <a:t>https://en.wikipedia.org/wiki/Floating-point_arithmetic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Science is based on Measurements</a:t>
            </a:r>
          </a:p>
          <a:p>
            <a:r>
              <a:rPr lang="en-US"/>
              <a:t>The result of a Measurement is a Rational Number</a:t>
            </a:r>
          </a:p>
          <a:p>
            <a:r>
              <a:rPr lang="en-US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/>
              <a:t>A form of “Scientific Notation”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31ᐧ10</a:t>
            </a:r>
            <a:r>
              <a:rPr lang="en-US" baseline="30000"/>
              <a:t>-1</a:t>
            </a:r>
            <a:r>
              <a:rPr lang="en-US"/>
              <a:t> is a FP in base 10 with “precision” 2   (printed in decimal)</a:t>
            </a:r>
          </a:p>
          <a:p>
            <a:pPr marL="0" indent="0">
              <a:buNone/>
            </a:pP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</a:t>
            </a:r>
            <a:r>
              <a:rPr lang="en-US"/>
              <a:t>is a FP in base 2 with precision 24   (printed in </a:t>
            </a:r>
            <a:r>
              <a:rPr lang="en-US" err="1"/>
              <a:t>exadecimal</a:t>
            </a:r>
            <a:r>
              <a:rPr lang="en-US"/>
              <a:t>)</a:t>
            </a:r>
            <a:endParaRPr lang="en-US" baseline="30000"/>
          </a:p>
        </p:txBody>
      </p:sp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Each FP has a previous and a next</a:t>
            </a:r>
          </a:p>
          <a:p>
            <a:pPr lvl="1"/>
            <a:r>
              <a:rPr lang="en-US"/>
              <a:t>Previous of 31ᐧ10</a:t>
            </a:r>
            <a:r>
              <a:rPr lang="en-US" baseline="30000"/>
              <a:t>-1 </a:t>
            </a:r>
            <a:r>
              <a:rPr lang="en-US"/>
              <a:t>is</a:t>
            </a:r>
            <a:r>
              <a:rPr lang="en-US" baseline="30000"/>
              <a:t> </a:t>
            </a:r>
            <a:r>
              <a:rPr lang="en-US"/>
              <a:t>30ᐧ10</a:t>
            </a:r>
            <a:r>
              <a:rPr lang="en-US" baseline="30000"/>
              <a:t>-1</a:t>
            </a:r>
            <a:r>
              <a:rPr lang="en-US"/>
              <a:t>, next is 32ᐧ10</a:t>
            </a:r>
            <a:r>
              <a:rPr lang="en-US" baseline="30000"/>
              <a:t>-1</a:t>
            </a:r>
          </a:p>
          <a:p>
            <a:pPr lvl="1"/>
            <a:r>
              <a:rPr lang="en-US"/>
              <a:t>Previous of </a:t>
            </a: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 </a:t>
            </a:r>
            <a:r>
              <a:rPr lang="cs-CZ" altLang="x-none" err="1"/>
              <a:t>is</a:t>
            </a:r>
            <a:r>
              <a:rPr lang="cs-CZ" altLang="x-none"/>
              <a:t> 1.921fb4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 </a:t>
            </a:r>
            <a:r>
              <a:rPr lang="cs-CZ" altLang="x-none" err="1"/>
              <a:t>next</a:t>
            </a:r>
            <a:r>
              <a:rPr lang="cs-CZ" altLang="x-none"/>
              <a:t> </a:t>
            </a:r>
            <a:r>
              <a:rPr lang="cs-CZ" altLang="x-none" err="1"/>
              <a:t>is</a:t>
            </a:r>
            <a:r>
              <a:rPr lang="cs-CZ" altLang="x-none"/>
              <a:t> 1.921fb8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 </a:t>
            </a:r>
          </a:p>
          <a:p>
            <a:pPr lvl="1"/>
            <a:r>
              <a:rPr lang="cs-CZ" altLang="x-none" err="1"/>
              <a:t>The</a:t>
            </a:r>
            <a:r>
              <a:rPr lang="cs-CZ" altLang="x-none"/>
              <a:t> </a:t>
            </a:r>
            <a:r>
              <a:rPr lang="cs-CZ" altLang="x-none" err="1"/>
              <a:t>difference</a:t>
            </a:r>
            <a:r>
              <a:rPr lang="cs-CZ" altLang="x-none"/>
              <a:t> </a:t>
            </a:r>
            <a:r>
              <a:rPr lang="cs-CZ" altLang="x-none" err="1"/>
              <a:t>between</a:t>
            </a:r>
            <a:r>
              <a:rPr lang="cs-CZ" altLang="x-none"/>
              <a:t> </a:t>
            </a:r>
            <a:r>
              <a:rPr lang="cs-CZ" altLang="x-none" err="1"/>
              <a:t>two</a:t>
            </a:r>
            <a:r>
              <a:rPr lang="cs-CZ" altLang="x-none"/>
              <a:t> </a:t>
            </a:r>
            <a:r>
              <a:rPr lang="cs-CZ" altLang="x-none" err="1"/>
              <a:t>consecutive</a:t>
            </a:r>
            <a:r>
              <a:rPr lang="cs-CZ" altLang="x-none"/>
              <a:t> FP </a:t>
            </a:r>
            <a:r>
              <a:rPr lang="cs-CZ" altLang="x-none" err="1"/>
              <a:t>is</a:t>
            </a:r>
            <a:r>
              <a:rPr lang="cs-CZ" altLang="x-none"/>
              <a:t> </a:t>
            </a:r>
            <a:r>
              <a:rPr lang="cs-CZ" altLang="x-none" err="1"/>
              <a:t>called</a:t>
            </a:r>
            <a:r>
              <a:rPr lang="cs-CZ" altLang="x-none"/>
              <a:t> ULP (unit in last place)</a:t>
            </a:r>
          </a:p>
          <a:p>
            <a:r>
              <a:rPr lang="cs-CZ" altLang="x-none" err="1"/>
              <a:t>For</a:t>
            </a:r>
            <a:r>
              <a:rPr lang="cs-CZ" altLang="x-none"/>
              <a:t> </a:t>
            </a:r>
            <a:r>
              <a:rPr lang="cs-CZ" altLang="x-none" err="1"/>
              <a:t>each</a:t>
            </a:r>
            <a:r>
              <a:rPr lang="cs-CZ" altLang="x-none"/>
              <a:t> </a:t>
            </a:r>
            <a:r>
              <a:rPr lang="cs-CZ" altLang="x-none" err="1"/>
              <a:t>value</a:t>
            </a:r>
            <a:r>
              <a:rPr lang="cs-CZ" altLang="x-none"/>
              <a:t> </a:t>
            </a:r>
            <a:r>
              <a:rPr lang="cs-CZ" altLang="x-none" err="1"/>
              <a:t>of</a:t>
            </a:r>
            <a:r>
              <a:rPr lang="cs-CZ" altLang="x-none"/>
              <a:t> </a:t>
            </a:r>
            <a:r>
              <a:rPr lang="cs-CZ" altLang="x-none" err="1"/>
              <a:t>the</a:t>
            </a:r>
            <a:r>
              <a:rPr lang="cs-CZ" altLang="x-none"/>
              <a:t> exponent </a:t>
            </a:r>
            <a:r>
              <a:rPr lang="cs-CZ" altLang="x-none" err="1"/>
              <a:t>there</a:t>
            </a:r>
            <a:r>
              <a:rPr lang="cs-CZ" altLang="x-none"/>
              <a:t> </a:t>
            </a:r>
            <a:r>
              <a:rPr lang="cs-CZ" altLang="x-none" err="1"/>
              <a:t>is</a:t>
            </a:r>
            <a:r>
              <a:rPr lang="cs-CZ" altLang="x-none"/>
              <a:t> a </a:t>
            </a:r>
            <a:r>
              <a:rPr lang="cs-CZ" altLang="x-none" err="1"/>
              <a:t>finite</a:t>
            </a:r>
            <a:r>
              <a:rPr lang="cs-CZ" altLang="x-none"/>
              <a:t> </a:t>
            </a:r>
            <a:r>
              <a:rPr lang="cs-CZ" altLang="x-none" err="1"/>
              <a:t>number</a:t>
            </a:r>
            <a:r>
              <a:rPr lang="cs-CZ" altLang="x-none"/>
              <a:t> </a:t>
            </a:r>
            <a:r>
              <a:rPr lang="cs-CZ" altLang="x-none" err="1"/>
              <a:t>of</a:t>
            </a:r>
            <a:r>
              <a:rPr lang="cs-CZ" altLang="x-none"/>
              <a:t> FP</a:t>
            </a:r>
          </a:p>
          <a:p>
            <a:pPr lvl="1"/>
            <a:r>
              <a:rPr lang="cs-CZ" altLang="x-none"/>
              <a:t> 10</a:t>
            </a:r>
            <a:r>
              <a:rPr lang="cs-CZ" altLang="x-none" baseline="30000"/>
              <a:t> </a:t>
            </a:r>
            <a:r>
              <a:rPr lang="en-US"/>
              <a:t>ᐧ10</a:t>
            </a:r>
            <a:r>
              <a:rPr lang="en-US" baseline="30000"/>
              <a:t>e</a:t>
            </a:r>
            <a:r>
              <a:rPr lang="en-US"/>
              <a:t> - </a:t>
            </a:r>
            <a:r>
              <a:rPr lang="cs-CZ"/>
              <a:t>99</a:t>
            </a:r>
            <a:r>
              <a:rPr lang="cs-CZ" altLang="x-none" baseline="30000"/>
              <a:t> </a:t>
            </a:r>
            <a:r>
              <a:rPr lang="en-US"/>
              <a:t>ᐧ10</a:t>
            </a:r>
            <a:r>
              <a:rPr lang="en-US" baseline="30000"/>
              <a:t>e</a:t>
            </a:r>
            <a:r>
              <a:rPr lang="en-US"/>
              <a:t> </a:t>
            </a:r>
          </a:p>
          <a:p>
            <a:pPr lvl="1"/>
            <a:r>
              <a:rPr lang="en-US"/>
              <a:t>1.000000ᐧ</a:t>
            </a:r>
            <a:r>
              <a:rPr lang="cs-CZ" altLang="x-none"/>
              <a:t>2</a:t>
            </a:r>
            <a:r>
              <a:rPr lang="en-US" baseline="30000"/>
              <a:t>e </a:t>
            </a:r>
            <a:r>
              <a:rPr lang="en-US"/>
              <a:t>- 1.ffffffᐧ</a:t>
            </a:r>
            <a:r>
              <a:rPr lang="cs-CZ" altLang="x-none"/>
              <a:t>2</a:t>
            </a:r>
            <a:r>
              <a:rPr lang="en-US" baseline="30000"/>
              <a:t>e </a:t>
            </a:r>
            <a:r>
              <a:rPr lang="en-US"/>
              <a:t> </a:t>
            </a:r>
          </a:p>
          <a:p>
            <a:pPr lvl="1"/>
            <a:r>
              <a:rPr lang="en-US"/>
              <a:t>(called “</a:t>
            </a:r>
            <a:r>
              <a:rPr lang="en-US" err="1"/>
              <a:t>binade</a:t>
            </a:r>
            <a:r>
              <a:rPr lang="en-US"/>
              <a:t>”)</a:t>
            </a:r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err="1"/>
              <a:t>Le’ts</a:t>
            </a:r>
            <a:r>
              <a:rPr lang="en-US"/>
              <a:t> be the result of a measurement  3.1415 and its accuracy, say, 0.1.</a:t>
            </a:r>
          </a:p>
          <a:p>
            <a:pPr marL="0" indent="0">
              <a:buNone/>
            </a:pPr>
            <a:r>
              <a:rPr lang="en-US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/>
              <a:t>3.1415 -&gt; 3.1  (3.1515 -&gt; 3.2)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31ᐧ10</a:t>
            </a:r>
            <a:r>
              <a:rPr lang="en-US" baseline="30000"/>
              <a:t>-1</a:t>
            </a:r>
            <a:r>
              <a:rPr lang="en-US"/>
              <a:t> represents all numbers in the interval [30.5ᐧ10</a:t>
            </a:r>
            <a:r>
              <a:rPr lang="en-US" baseline="30000"/>
              <a:t>-1</a:t>
            </a:r>
            <a:r>
              <a:rPr lang="en-US"/>
              <a:t>, 31.5ᐧ10</a:t>
            </a:r>
            <a:r>
              <a:rPr lang="en-US" baseline="30000"/>
              <a:t>-1</a:t>
            </a:r>
            <a:r>
              <a:rPr lang="en-US"/>
              <a:t>]</a:t>
            </a:r>
          </a:p>
          <a:p>
            <a:pPr marL="0" indent="0">
              <a:buNone/>
            </a:pP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</a:t>
            </a:r>
            <a:r>
              <a:rPr lang="en-US"/>
              <a:t>represents all numbers in the interval [</a:t>
            </a:r>
            <a:r>
              <a:rPr lang="cs-CZ" altLang="x-none"/>
              <a:t>1.921fb5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,1.921fb7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]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5736" y="1988840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4"/>
            <a:ext cx="8229600" cy="1139825"/>
          </a:xfrm>
        </p:spPr>
        <p:txBody>
          <a:bodyPr/>
          <a:lstStyle/>
          <a:p>
            <a:r>
              <a:rPr lang="en-US" altLang="x-none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1774825" y="908051"/>
            <a:ext cx="8713788" cy="5184775"/>
          </a:xfrm>
        </p:spPr>
        <p:txBody>
          <a:bodyPr/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endParaRPr lang="en-US" altLang="x-none" sz="2000" dirty="0"/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5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</p:nvPr>
        </p:nvGraphicFramePr>
        <p:xfrm>
          <a:off x="1752600" y="3352800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8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3.14159274e+00 0x1.921fb6p+1   01000000010010010000111111011011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1.00000001e-01 0x1.99999ap-4   00111101110011001100110011001101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</a:t>
            </a:r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2.93873588e-39 0x1p-128        00000000001000000000000000000000</a:t>
            </a:r>
            <a:endParaRPr lang="en-US" altLang="x-none" sz="160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5605" name="TextBox 5"/>
          <p:cNvSpPr txBox="1">
            <a:spLocks noChangeArrowheads="1"/>
          </p:cNvSpPr>
          <p:nvPr/>
        </p:nvSpPr>
        <p:spPr bwMode="auto">
          <a:xfrm>
            <a:off x="1329982" y="1117000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#include&lt;iostream&gt;</a:t>
            </a:r>
          </a:p>
          <a:p>
            <a:pPr eaLnBrk="1" hangingPunct="1"/>
            <a:r>
              <a:rPr lang="en-US" altLang="x-none" sz="1800"/>
              <a:t>#include&lt;</a:t>
            </a:r>
            <a:r>
              <a:rPr lang="en-US" altLang="x-none" sz="1800" err="1"/>
              <a:t>iomanip</a:t>
            </a:r>
            <a:r>
              <a:rPr lang="en-US" altLang="x-none" sz="1800"/>
              <a:t>&gt;</a:t>
            </a:r>
          </a:p>
          <a:p>
            <a:pPr eaLnBrk="1" hangingPunct="1"/>
            <a:r>
              <a:rPr lang="en-US" altLang="x-none" sz="1800"/>
              <a:t>#include&lt;</a:t>
            </a:r>
            <a:r>
              <a:rPr lang="en-US" altLang="x-none" sz="1800" err="1"/>
              <a:t>cmath</a:t>
            </a:r>
            <a:r>
              <a:rPr lang="en-US" altLang="x-none" sz="1800"/>
              <a:t>&gt;</a:t>
            </a:r>
          </a:p>
          <a:p>
            <a:pPr eaLnBrk="1" hangingPunct="1"/>
            <a:r>
              <a:rPr lang="en-US" altLang="x-none" sz="1800"/>
              <a:t>#include&lt;limits&gt;</a:t>
            </a:r>
          </a:p>
          <a:p>
            <a:pPr eaLnBrk="1" hangingPunct="1"/>
            <a:r>
              <a:rPr lang="en-US" altLang="x-none" sz="1800"/>
              <a:t>//  std style</a:t>
            </a:r>
          </a:p>
          <a:p>
            <a:pPr eaLnBrk="1" hangingPunct="1"/>
            <a:r>
              <a:rPr lang="en-US" altLang="x-none" sz="1800"/>
              <a:t>template&lt;</a:t>
            </a:r>
            <a:r>
              <a:rPr lang="en-US" altLang="x-none" sz="1800" err="1"/>
              <a:t>typename</a:t>
            </a:r>
            <a:r>
              <a:rPr lang="en-US" altLang="x-none" sz="1800"/>
              <a:t> T&gt;</a:t>
            </a:r>
          </a:p>
          <a:p>
            <a:pPr eaLnBrk="1" hangingPunct="1"/>
            <a:r>
              <a:rPr lang="en-US" altLang="x-none" sz="1800"/>
              <a:t>void print(T x) {          </a:t>
            </a:r>
          </a:p>
          <a:p>
            <a:pPr eaLnBrk="1" hangingPunct="1"/>
            <a:r>
              <a:rPr lang="en-US" altLang="x-none" sz="1800"/>
              <a:t> std::</a:t>
            </a:r>
            <a:r>
              <a:rPr lang="en-US" altLang="x-none" sz="1800" err="1"/>
              <a:t>cout</a:t>
            </a:r>
            <a:r>
              <a:rPr lang="en-US" altLang="x-none" sz="1800"/>
              <a:t> &lt;&lt; std::</a:t>
            </a:r>
            <a:r>
              <a:rPr lang="en-US" altLang="x-none" sz="1800" err="1"/>
              <a:t>hexfloat</a:t>
            </a:r>
            <a:r>
              <a:rPr lang="en-US" altLang="x-none" sz="1800"/>
              <a:t> &lt;&lt; x &lt;&lt;' </a:t>
            </a:r>
            <a:r>
              <a:rPr lang="en-US" altLang="en-US" sz="1800"/>
              <a:t>’</a:t>
            </a:r>
            <a:r>
              <a:rPr lang="en-US" altLang="x-none" sz="1800"/>
              <a:t> </a:t>
            </a:r>
            <a:r>
              <a:rPr lang="en-US" altLang="x-none" sz="180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/>
              <a:t>                &lt;&lt;  std::scientific &lt;&lt; std::</a:t>
            </a:r>
            <a:r>
              <a:rPr lang="en-US" altLang="x-none" sz="1800" err="1"/>
              <a:t>setprecision</a:t>
            </a:r>
            <a:r>
              <a:rPr lang="en-US" altLang="x-none" sz="1800"/>
              <a:t>(8) &lt;&lt; x &lt;&lt; ' </a:t>
            </a:r>
            <a:r>
              <a:rPr lang="en-US" altLang="en-US" sz="1800"/>
              <a:t>’</a:t>
            </a:r>
            <a:r>
              <a:rPr lang="en-US" altLang="x-none" sz="1800"/>
              <a:t> </a:t>
            </a:r>
            <a:r>
              <a:rPr lang="en-US" altLang="x-none" sz="180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/>
              <a:t>                &lt;&lt;  std::</a:t>
            </a:r>
            <a:r>
              <a:rPr lang="en-US" altLang="x-none" sz="1800" err="1"/>
              <a:t>defaultfloat</a:t>
            </a:r>
            <a:r>
              <a:rPr lang="en-US" altLang="x-none" sz="1800"/>
              <a:t> &lt;&lt; x &lt;&lt; std::</a:t>
            </a:r>
            <a:r>
              <a:rPr lang="en-US" altLang="x-none" sz="1800" err="1"/>
              <a:t>endl</a:t>
            </a:r>
            <a:r>
              <a:rPr lang="en-US" altLang="x-none" sz="1800"/>
              <a:t>;    </a:t>
            </a:r>
            <a:r>
              <a:rPr lang="en-US" altLang="x-none" sz="180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/>
              <a:t>}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// integer representation</a:t>
            </a:r>
          </a:p>
          <a:p>
            <a:pPr eaLnBrk="1" hangingPunct="1"/>
            <a:r>
              <a:rPr lang="en-US" altLang="x-none" sz="1800"/>
              <a:t>#include&lt;</a:t>
            </a:r>
            <a:r>
              <a:rPr lang="en-US" altLang="x-none" sz="1800" err="1"/>
              <a:t>cstring</a:t>
            </a:r>
            <a:r>
              <a:rPr lang="en-US" altLang="x-none" sz="1800"/>
              <a:t>&gt;</a:t>
            </a:r>
          </a:p>
          <a:p>
            <a:pPr eaLnBrk="1" hangingPunct="1"/>
            <a:r>
              <a:rPr lang="en-US" altLang="x-none" sz="1800"/>
              <a:t>#include&lt;</a:t>
            </a:r>
            <a:r>
              <a:rPr lang="en-US" altLang="x-none" sz="1800" err="1"/>
              <a:t>bitset</a:t>
            </a:r>
            <a:r>
              <a:rPr lang="en-US" altLang="x-none" sz="1800"/>
              <a:t>&gt;</a:t>
            </a:r>
          </a:p>
          <a:p>
            <a:pPr eaLnBrk="1" hangingPunct="1"/>
            <a:r>
              <a:rPr lang="en-US" altLang="x-none" sz="1800"/>
              <a:t>int f2i(float x) { int </a:t>
            </a:r>
            <a:r>
              <a:rPr lang="en-US" altLang="x-none" sz="1800" err="1"/>
              <a:t>i</a:t>
            </a:r>
            <a:r>
              <a:rPr lang="en-US" altLang="x-none" sz="1800"/>
              <a:t>; </a:t>
            </a:r>
            <a:r>
              <a:rPr lang="en-US" altLang="x-none" sz="1800" err="1"/>
              <a:t>memcpy</a:t>
            </a:r>
            <a:r>
              <a:rPr lang="en-US" altLang="x-none" sz="1800"/>
              <a:t>(&amp;</a:t>
            </a:r>
            <a:r>
              <a:rPr lang="en-US" altLang="x-none" sz="1800" err="1"/>
              <a:t>i</a:t>
            </a:r>
            <a:r>
              <a:rPr lang="en-US" altLang="x-none" sz="1800"/>
              <a:t>,&amp;</a:t>
            </a:r>
            <a:r>
              <a:rPr lang="en-US" altLang="x-none" sz="1800" err="1"/>
              <a:t>x,sizeof</a:t>
            </a:r>
            <a:r>
              <a:rPr lang="en-US" altLang="x-none" sz="1800"/>
              <a:t>(int)); return </a:t>
            </a:r>
            <a:r>
              <a:rPr lang="en-US" altLang="x-none" sz="1800" err="1"/>
              <a:t>i</a:t>
            </a:r>
            <a:r>
              <a:rPr lang="en-US" altLang="x-none" sz="1800"/>
              <a:t>;} </a:t>
            </a:r>
            <a:r>
              <a:rPr lang="en-US" altLang="x-none" sz="180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/>
              <a:t>//  use </a:t>
            </a:r>
            <a:r>
              <a:rPr lang="en-US" altLang="x-none" sz="1800" err="1"/>
              <a:t>bitset</a:t>
            </a:r>
            <a:r>
              <a:rPr lang="en-US" altLang="x-none" sz="1800"/>
              <a:t> to print in binary (bit by bit) </a:t>
            </a:r>
          </a:p>
          <a:p>
            <a:pPr eaLnBrk="1" hangingPunct="1"/>
            <a:r>
              <a:rPr lang="en-US" altLang="x-none" sz="1800"/>
              <a:t>std::</a:t>
            </a:r>
            <a:r>
              <a:rPr lang="en-US" altLang="x-none" sz="1800" err="1"/>
              <a:t>cout</a:t>
            </a:r>
            <a:r>
              <a:rPr lang="en-US" altLang="x-none" sz="1800"/>
              <a:t> &lt;&lt; std::</a:t>
            </a:r>
            <a:r>
              <a:rPr lang="en-US" altLang="x-none" sz="1800" err="1"/>
              <a:t>bitset</a:t>
            </a:r>
            <a:r>
              <a:rPr lang="en-US" altLang="x-none" sz="1800"/>
              <a:t>&lt;32&gt;(f2i(x)) &lt;&lt; std::</a:t>
            </a:r>
            <a:r>
              <a:rPr lang="en-US" altLang="x-none" sz="1800" err="1"/>
              <a:t>endl</a:t>
            </a:r>
            <a:r>
              <a:rPr lang="en-US" altLang="x-none" sz="1800"/>
              <a:t>; ;   </a:t>
            </a:r>
            <a:r>
              <a:rPr lang="en-US" altLang="x-none" sz="180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Python intrinsic “float” is actually double precision</a:t>
            </a:r>
          </a:p>
          <a:p>
            <a:pPr lvl="1"/>
            <a:r>
              <a:rPr lang="en-US" err="1"/>
              <a:t>float.hex</a:t>
            </a:r>
            <a:r>
              <a:rPr lang="en-US"/>
              <a:t>() and </a:t>
            </a:r>
            <a:r>
              <a:rPr lang="en-US" err="1"/>
              <a:t>float.fromhex</a:t>
            </a:r>
            <a:r>
              <a:rPr lang="en-US"/>
              <a:t>() allows to convert to/from </a:t>
            </a:r>
            <a:r>
              <a:rPr lang="en-US" err="1"/>
              <a:t>exadecimal</a:t>
            </a:r>
            <a:r>
              <a:rPr lang="en-US"/>
              <a:t> string</a:t>
            </a:r>
          </a:p>
          <a:p>
            <a:r>
              <a:rPr lang="en-US" b="1" err="1"/>
              <a:t>numpy</a:t>
            </a:r>
            <a:r>
              <a:rPr lang="en-US"/>
              <a:t> defines float16, float32, float64 (and float128 on x86_64)</a:t>
            </a:r>
          </a:p>
          <a:p>
            <a:pPr lvl="1"/>
            <a:r>
              <a:rPr lang="en-US">
                <a:hlinkClick r:id="rId2"/>
              </a:rPr>
              <a:t>https://numpy.org/doc/2.3/reference/arrays.scalars.html - floating-point-types</a:t>
            </a:r>
            <a:endParaRPr lang="en-US"/>
          </a:p>
          <a:p>
            <a:r>
              <a:rPr lang="en-US" b="1"/>
              <a:t>decimal</a:t>
            </a:r>
            <a:r>
              <a:rPr lang="en-US"/>
              <a:t> is a module providing FP in base 10</a:t>
            </a:r>
          </a:p>
          <a:p>
            <a:pPr lvl="1"/>
            <a:r>
              <a:rPr lang="en-US">
                <a:hlinkClick r:id="rId3"/>
              </a:rPr>
              <a:t>https://docs.python.org/3/library/decimal.html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Count the number of FP in a </a:t>
            </a:r>
            <a:r>
              <a:rPr lang="en-US" err="1"/>
              <a:t>binade</a:t>
            </a:r>
            <a:endParaRPr lang="en-US"/>
          </a:p>
          <a:p>
            <a:pPr lvl="1"/>
            <a:r>
              <a:rPr lang="en-US"/>
              <a:t>Verify that they are the same for two different </a:t>
            </a:r>
            <a:r>
              <a:rPr lang="en-US" err="1"/>
              <a:t>binades</a:t>
            </a:r>
            <a:endParaRPr lang="en-US"/>
          </a:p>
          <a:p>
            <a:r>
              <a:rPr lang="en-US"/>
              <a:t>Compute the ULP for some FPs</a:t>
            </a:r>
          </a:p>
          <a:p>
            <a:pPr lvl="1"/>
            <a:r>
              <a:rPr lang="en-US"/>
              <a:t>How it depends on the </a:t>
            </a:r>
            <a:r>
              <a:rPr lang="en-US" err="1"/>
              <a:t>binade</a:t>
            </a:r>
            <a:r>
              <a:rPr lang="en-US"/>
              <a:t>?</a:t>
            </a:r>
          </a:p>
          <a:p>
            <a:r>
              <a:rPr lang="en-US"/>
              <a:t>Convert some number (0.1, pi, 31.5,  …) between various representations (including decimal)</a:t>
            </a:r>
          </a:p>
          <a:p>
            <a:pPr lvl="1"/>
            <a:r>
              <a:rPr lang="en-US"/>
              <a:t>See what happens and explain it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849" y="1467279"/>
            <a:ext cx="11232292" cy="4351338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There are two basic operations: </a:t>
            </a:r>
          </a:p>
          <a:p>
            <a:r>
              <a:rPr lang="en-US"/>
              <a:t>sum and multiplication</a:t>
            </a:r>
          </a:p>
          <a:p>
            <a:pPr lvl="1"/>
            <a:r>
              <a:rPr lang="en-US" err="1"/>
              <a:t>a+b</a:t>
            </a:r>
            <a:r>
              <a:rPr lang="en-US"/>
              <a:t> and </a:t>
            </a:r>
            <a:r>
              <a:rPr lang="en-US" err="1"/>
              <a:t>a×b</a:t>
            </a:r>
            <a:r>
              <a:rPr lang="en-US"/>
              <a:t>  symbolize the exact sum and multiplication between a and b</a:t>
            </a:r>
          </a:p>
          <a:p>
            <a:pPr lvl="1"/>
            <a:r>
              <a:rPr lang="en-US" err="1"/>
              <a:t>a⊕b</a:t>
            </a:r>
            <a:r>
              <a:rPr lang="en-US"/>
              <a:t> and </a:t>
            </a:r>
            <a:r>
              <a:rPr lang="en-US" err="1"/>
              <a:t>a⊗b</a:t>
            </a:r>
            <a:r>
              <a:rPr lang="en-US"/>
              <a:t>  symbolize the rounded sum and multiplication between FPs a and b</a:t>
            </a:r>
          </a:p>
          <a:p>
            <a:pPr lvl="2"/>
            <a:r>
              <a:rPr lang="en-US" err="1"/>
              <a:t>a+b</a:t>
            </a:r>
            <a:r>
              <a:rPr lang="en-US"/>
              <a:t> and a*b  are the corresponding operations in code</a:t>
            </a:r>
          </a:p>
          <a:p>
            <a:r>
              <a:rPr lang="en-US"/>
              <a:t>We will use decimal precision 2 for all examples to allow mental arithmetic in a finite time</a:t>
            </a:r>
          </a:p>
          <a:p>
            <a:pPr lvl="1"/>
            <a:r>
              <a:rPr lang="en-US"/>
              <a:t>42+3.7 = …</a:t>
            </a:r>
          </a:p>
          <a:p>
            <a:pPr lvl="1"/>
            <a:r>
              <a:rPr lang="en-US"/>
              <a:t>42⊕3.7 = …</a:t>
            </a:r>
          </a:p>
          <a:p>
            <a:pPr lvl="1"/>
            <a:r>
              <a:rPr lang="en-US"/>
              <a:t>42⊕3.3 = … , 42⊕3.5 = … , 43⊕3.5 = …</a:t>
            </a:r>
            <a:br>
              <a:rPr lang="en-US"/>
            </a:br>
            <a:r>
              <a:rPr lang="en-US"/>
              <a:t>42⊕3.3⊕3.4 = … , 3.4⊕3.3⊕42 = … </a:t>
            </a:r>
          </a:p>
          <a:p>
            <a:pPr marL="457200" lvl="1" indent="0">
              <a:buNone/>
            </a:pPr>
            <a:r>
              <a:rPr lang="en-US"/>
              <a:t>(use python decimal to verify results)</a:t>
            </a:r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difference of two number of the same </a:t>
            </a:r>
            <a:r>
              <a:rPr lang="en-US" err="1"/>
              <a:t>binade</a:t>
            </a:r>
            <a:r>
              <a:rPr lang="en-US"/>
              <a:t> is precise</a:t>
            </a:r>
          </a:p>
          <a:p>
            <a:pPr lvl="1"/>
            <a:r>
              <a:rPr lang="en-US"/>
              <a:t>99-11 = 88, 42-37 = 5</a:t>
            </a:r>
          </a:p>
          <a:p>
            <a:pPr lvl="1"/>
            <a:r>
              <a:rPr lang="en-US"/>
              <a:t>0x1.921fb6p+1 - 0x1.001e72p+1 = 0x1.240288p+0</a:t>
            </a:r>
          </a:p>
          <a:p>
            <a:endParaRPr lang="en-US"/>
          </a:p>
          <a:p>
            <a:r>
              <a:rPr lang="en-US"/>
              <a:t>If 2b&gt;a&gt;b/2&gt;0 then </a:t>
            </a:r>
            <a:r>
              <a:rPr lang="en-US" err="1"/>
              <a:t>a⊖b</a:t>
            </a:r>
            <a:r>
              <a:rPr lang="en-US"/>
              <a:t> = a-b (is precise)</a:t>
            </a:r>
            <a:br>
              <a:rPr lang="en-US"/>
            </a:br>
            <a:r>
              <a:rPr lang="en-US"/>
              <a:t>(</a:t>
            </a:r>
            <a:r>
              <a:rPr lang="en-US">
                <a:hlinkClick r:id="rId2"/>
              </a:rPr>
              <a:t>https://en.wikipedia.org/wiki/Sterbenz_lemma</a:t>
            </a:r>
            <a:r>
              <a:rPr lang="en-US"/>
              <a:t>)</a:t>
            </a:r>
          </a:p>
          <a:p>
            <a:pPr lvl="1"/>
            <a:r>
              <a:rPr lang="en-US"/>
              <a:t>12-7.4 = 4.6, 18-7.4= 10.6 =&gt; 18⊖7.4 = 11</a:t>
            </a:r>
          </a:p>
          <a:p>
            <a:pPr lvl="1"/>
            <a:r>
              <a:rPr lang="en-US"/>
              <a:t>0x1.333334p-2 ⊖ 0x1.99999ap-3 = 0x1.99999ap-4 (precise)</a:t>
            </a:r>
          </a:p>
          <a:p>
            <a:pPr lvl="1"/>
            <a:r>
              <a:rPr lang="en-US"/>
              <a:t>0x1.333334p-2 ⊖ 0x1.99999ap-4 = 0x1.99999cp-3 (not precise)</a:t>
            </a:r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If a&gt;b&gt;0 : </a:t>
            </a:r>
            <a:r>
              <a:rPr lang="en-US" err="1"/>
              <a:t>a+b</a:t>
            </a:r>
            <a:r>
              <a:rPr lang="en-US"/>
              <a:t> &lt; 2a</a:t>
            </a:r>
          </a:p>
          <a:p>
            <a:endParaRPr lang="en-US"/>
          </a:p>
          <a:p>
            <a:r>
              <a:rPr lang="en-US"/>
              <a:t>c = </a:t>
            </a:r>
            <a:r>
              <a:rPr lang="en-US" err="1"/>
              <a:t>a⊕b</a:t>
            </a:r>
            <a:endParaRPr lang="en-US"/>
          </a:p>
          <a:p>
            <a:r>
              <a:rPr lang="en-US"/>
              <a:t>t = </a:t>
            </a:r>
            <a:r>
              <a:rPr lang="en-US" err="1"/>
              <a:t>c⊖a</a:t>
            </a:r>
            <a:r>
              <a:rPr lang="en-US"/>
              <a:t>  is exact</a:t>
            </a:r>
          </a:p>
          <a:p>
            <a:r>
              <a:rPr lang="en-US"/>
              <a:t>e = </a:t>
            </a:r>
            <a:r>
              <a:rPr lang="en-US" err="1"/>
              <a:t>b⊖t</a:t>
            </a:r>
            <a:r>
              <a:rPr lang="en-US"/>
              <a:t>  is exact</a:t>
            </a:r>
          </a:p>
          <a:p>
            <a:r>
              <a:rPr lang="en-US" err="1"/>
              <a:t>a+b</a:t>
            </a:r>
            <a:r>
              <a:rPr lang="en-US"/>
              <a:t> = </a:t>
            </a:r>
            <a:r>
              <a:rPr lang="en-US" err="1"/>
              <a:t>c+e</a:t>
            </a:r>
            <a:r>
              <a:rPr lang="en-US"/>
              <a:t> </a:t>
            </a:r>
          </a:p>
          <a:p>
            <a:pPr lvl="1"/>
            <a:r>
              <a:rPr lang="en-US"/>
              <a:t>e is the error of </a:t>
            </a:r>
            <a:r>
              <a:rPr lang="en-US" err="1"/>
              <a:t>a⊕b</a:t>
            </a:r>
            <a:endParaRPr lang="en-US"/>
          </a:p>
          <a:p>
            <a:endParaRPr lang="en-US"/>
          </a:p>
          <a:p>
            <a:r>
              <a:rPr lang="en-US"/>
              <a:t>This algorithm is known as “</a:t>
            </a:r>
            <a:r>
              <a:rPr lang="en-US" err="1"/>
              <a:t>fastTwoSum</a:t>
            </a:r>
            <a:r>
              <a:rPr lang="en-US"/>
              <a:t>” and (with small modifications) proposed as </a:t>
            </a:r>
            <a:r>
              <a:rPr lang="en-US" err="1"/>
              <a:t>AugmentedSum</a:t>
            </a:r>
            <a:r>
              <a:rPr lang="en-US"/>
              <a:t> in next IEEE754 revision </a:t>
            </a:r>
          </a:p>
          <a:p>
            <a:r>
              <a:rPr lang="en-US"/>
              <a:t>A similar algorithm exists for multiplication as well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augmented 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/>
              <a:t>42⊕3.7 = 46</a:t>
            </a:r>
          </a:p>
          <a:p>
            <a:r>
              <a:rPr lang="en-US"/>
              <a:t>46⊖42 = 4</a:t>
            </a:r>
          </a:p>
          <a:p>
            <a:r>
              <a:rPr lang="en-US"/>
              <a:t>3.7⊖4 = -0.3</a:t>
            </a:r>
          </a:p>
          <a:p>
            <a:r>
              <a:rPr lang="en-US"/>
              <a:t>46-0.3 = 42+3.7</a:t>
            </a:r>
          </a:p>
          <a:p>
            <a:r>
              <a:rPr lang="en-US"/>
              <a:t>In short: </a:t>
            </a:r>
            <a:r>
              <a:rPr lang="en-US" err="1"/>
              <a:t>asum</a:t>
            </a:r>
            <a:r>
              <a:rPr lang="en-US"/>
              <a:t>(42,3.7) = 46,-0.3</a:t>
            </a:r>
          </a:p>
          <a:p>
            <a:endParaRPr lang="en-US"/>
          </a:p>
          <a:p>
            <a:r>
              <a:rPr lang="en-US"/>
              <a:t>42⊕3.3⊕3.4 = 48 while 42+3.3+3.4 = 48.7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,3.4) = 48,0.4</a:t>
            </a:r>
          </a:p>
          <a:p>
            <a:r>
              <a:rPr lang="en-US" err="1"/>
              <a:t>asum</a:t>
            </a:r>
            <a:r>
              <a:rPr lang="en-US"/>
              <a:t>(48,0.3+0.4) = 49, -0.3 </a:t>
            </a:r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Catastrophic cancellation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42⊕3.3⊕ -45 = 0 while 42+3.3-45 = 0.3</a:t>
            </a:r>
          </a:p>
          <a:p>
            <a:pPr lvl="1"/>
            <a:r>
              <a:rPr lang="en-US" dirty="0"/>
              <a:t>Catastrophic cancellation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,-45) = 0.0,0.0</a:t>
            </a:r>
          </a:p>
          <a:p>
            <a:r>
              <a:rPr lang="en-US" dirty="0" err="1"/>
              <a:t>asum</a:t>
            </a:r>
            <a:r>
              <a:rPr lang="en-US" dirty="0"/>
              <a:t>(0.0,0.3+0.0) = 0.3, 0.0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 dirty="0"/>
              <a:t>Kahan summation</a:t>
            </a:r>
          </a:p>
          <a:p>
            <a:pPr lvl="1"/>
            <a:r>
              <a:rPr lang="en-US" dirty="0">
                <a:hlinkClick r:id="rId2"/>
              </a:rPr>
              <a:t>https://en.wikipedia.org/wiki/Kahan_summation_algorithm</a:t>
            </a:r>
            <a:endParaRPr lang="en-US" dirty="0"/>
          </a:p>
          <a:p>
            <a:pPr lvl="1"/>
            <a:r>
              <a:rPr lang="en-US" dirty="0"/>
              <a:t>with excruciating details </a:t>
            </a:r>
            <a:r>
              <a:rPr lang="en-US" dirty="0">
                <a:hlinkClick r:id="rId3"/>
              </a:rPr>
              <a:t>https://arxiv.org/html/2602.19452v1 - LST2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 dirty="0"/>
              <a:t>T </a:t>
            </a:r>
            <a:r>
              <a:rPr lang="en-US" altLang="en-US" sz="1600" b="1" dirty="0" err="1"/>
              <a:t>kahanSum</a:t>
            </a:r>
            <a:r>
              <a:rPr lang="en-US" altLang="en-US" sz="1600" b="1" dirty="0"/>
              <a:t>(T const * input, 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n) { </a:t>
            </a:r>
          </a:p>
          <a:p>
            <a:pPr eaLnBrk="1" hangingPunct="1"/>
            <a:r>
              <a:rPr lang="en-US" altLang="en-US" sz="1600" b="1" dirty="0"/>
              <a:t>T sum = input[0];</a:t>
            </a:r>
          </a:p>
          <a:p>
            <a:pPr eaLnBrk="1" hangingPunct="1"/>
            <a:r>
              <a:rPr lang="en-US" altLang="en-US" sz="1600" b="1" dirty="0"/>
              <a:t>T t = 0.0;          </a:t>
            </a:r>
          </a:p>
          <a:p>
            <a:pPr eaLnBrk="1" hangingPunct="1"/>
            <a:r>
              <a:rPr lang="en-US" altLang="en-US" sz="1600" b="1" dirty="0"/>
              <a:t>for (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 = 1; </a:t>
            </a:r>
            <a:r>
              <a:rPr lang="en-US" altLang="en-US" sz="1600" b="1" dirty="0" err="1"/>
              <a:t>i</a:t>
            </a:r>
            <a:r>
              <a:rPr lang="en-US" altLang="en-US" sz="1600" b="1"/>
              <a:t>&lt;n</a:t>
            </a:r>
            <a:r>
              <a:rPr lang="en-US" altLang="en-US" sz="1600" b="1" dirty="0"/>
              <a:t>; ++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)  {  </a:t>
            </a:r>
          </a:p>
          <a:p>
            <a:pPr eaLnBrk="1" hangingPunct="1"/>
            <a:r>
              <a:rPr lang="en-US" altLang="en-US" sz="1600" b="1" dirty="0"/>
              <a:t>  y = input[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] – t; </a:t>
            </a:r>
          </a:p>
          <a:p>
            <a:pPr eaLnBrk="1" hangingPunct="1"/>
            <a:r>
              <a:rPr lang="en-US" altLang="en-US" sz="1600" b="1" i="1" dirty="0"/>
              <a:t>  auto s = sum + y</a:t>
            </a:r>
          </a:p>
          <a:p>
            <a:pPr eaLnBrk="1" hangingPunct="1"/>
            <a:r>
              <a:rPr lang="en-US" altLang="en-US" sz="1600" b="1" i="1" dirty="0"/>
              <a:t>  t = (s - sum) – y;   </a:t>
            </a:r>
          </a:p>
          <a:p>
            <a:pPr eaLnBrk="1" hangingPunct="1"/>
            <a:r>
              <a:rPr lang="en-US" altLang="en-US" sz="1600" b="1" i="1" dirty="0"/>
              <a:t>  sum = s;                                    </a:t>
            </a:r>
          </a:p>
          <a:p>
            <a:pPr eaLnBrk="1" hangingPunct="1"/>
            <a:r>
              <a:rPr lang="en-US" altLang="en-US" sz="1600" b="1" i="1" dirty="0"/>
              <a:t>} </a:t>
            </a:r>
          </a:p>
          <a:p>
            <a:pPr eaLnBrk="1" hangingPunct="1"/>
            <a:r>
              <a:rPr lang="en-US" altLang="en-US" sz="1600" b="1" i="1" dirty="0"/>
              <a:t>return sum;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49524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Improved algorithms exist, mostly handling differently various magnitude ranges (“big”, “medium” and “tiny”) or by (partial) sorting</a:t>
            </a:r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30492" y="541337"/>
            <a:ext cx="10515600" cy="28876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Sum T(0.1) 10000 times in binary32, binary64, decimal2, decimal5</a:t>
            </a:r>
          </a:p>
          <a:p>
            <a:pPr lvl="1"/>
            <a:r>
              <a:rPr lang="en-US" dirty="0"/>
              <a:t>Google for “patriot failure”</a:t>
            </a:r>
          </a:p>
          <a:p>
            <a:r>
              <a:rPr lang="en-US" dirty="0"/>
              <a:t>Sum 10</a:t>
            </a:r>
            <a:r>
              <a:rPr lang="en-US" baseline="30000" dirty="0"/>
              <a:t>9</a:t>
            </a:r>
            <a:r>
              <a:rPr lang="en-US" dirty="0"/>
              <a:t> positive random numbers (in range   10</a:t>
            </a:r>
            <a:r>
              <a:rPr lang="en-US" baseline="30000" dirty="0"/>
              <a:t>-n</a:t>
            </a:r>
            <a:r>
              <a:rPr lang="en-US" dirty="0"/>
              <a:t>, 10</a:t>
            </a:r>
            <a:r>
              <a:rPr lang="en-US" baseline="30000" dirty="0"/>
              <a:t>+n</a:t>
            </a:r>
            <a:r>
              <a:rPr lang="en-US" dirty="0"/>
              <a:t> )</a:t>
            </a:r>
          </a:p>
          <a:p>
            <a:pPr lvl="1"/>
            <a:r>
              <a:rPr lang="en-US" dirty="0"/>
              <a:t>Typical in </a:t>
            </a:r>
            <a:r>
              <a:rPr lang="en-US" dirty="0" err="1"/>
              <a:t>unbinned</a:t>
            </a:r>
            <a:r>
              <a:rPr lang="en-US" dirty="0"/>
              <a:t> log-</a:t>
            </a:r>
            <a:r>
              <a:rPr lang="en-US" dirty="0" err="1"/>
              <a:t>likehood</a:t>
            </a:r>
            <a:endParaRPr lang="en-US" dirty="0"/>
          </a:p>
          <a:p>
            <a:r>
              <a:rPr lang="en-US" dirty="0"/>
              <a:t>Compute the average age of all humans on earth</a:t>
            </a:r>
          </a:p>
          <a:p>
            <a:endParaRPr lang="en-US" dirty="0"/>
          </a:p>
          <a:p>
            <a:r>
              <a:rPr lang="en-US" dirty="0"/>
              <a:t>Compute π as the integral of 4/(1+x</a:t>
            </a:r>
            <a:r>
              <a:rPr lang="en-US" baseline="30000" dirty="0"/>
              <a:t>2</a:t>
            </a:r>
            <a:r>
              <a:rPr lang="en-US" dirty="0"/>
              <a:t>) between 0 and 1</a:t>
            </a:r>
            <a:endParaRPr lang="en-US" baseline="30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Also known as MAC (multiply accumulate) instruction on AMD</a:t>
            </a:r>
          </a:p>
          <a:p>
            <a:r>
              <a:rPr lang="en-US" dirty="0" err="1"/>
              <a:t>fma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computes the correctly rounded result of a*</a:t>
            </a:r>
            <a:r>
              <a:rPr lang="en-US" dirty="0" err="1"/>
              <a:t>b+c</a:t>
            </a:r>
            <a:endParaRPr lang="en-US" dirty="0"/>
          </a:p>
          <a:p>
            <a:pPr lvl="1"/>
            <a:r>
              <a:rPr lang="en-US" dirty="0"/>
              <a:t>It improves speed and precision in many computation such as linear algebra</a:t>
            </a:r>
          </a:p>
          <a:p>
            <a:pPr lvl="1"/>
            <a:r>
              <a:rPr lang="en-US" dirty="0"/>
              <a:t>No standard on how to “contract” expression (depends on compiler)</a:t>
            </a:r>
          </a:p>
          <a:p>
            <a:pPr lvl="2"/>
            <a:r>
              <a:rPr lang="en-US" dirty="0"/>
              <a:t>a*</a:t>
            </a:r>
            <a:r>
              <a:rPr lang="en-US" dirty="0" err="1"/>
              <a:t>b+c</a:t>
            </a:r>
            <a:r>
              <a:rPr lang="en-US" dirty="0"/>
              <a:t>*d ,  </a:t>
            </a:r>
            <a:r>
              <a:rPr lang="en-US" dirty="0" err="1"/>
              <a:t>a+b</a:t>
            </a:r>
            <a:r>
              <a:rPr lang="en-US" dirty="0"/>
              <a:t>*</a:t>
            </a:r>
            <a:r>
              <a:rPr lang="en-US" dirty="0" err="1"/>
              <a:t>c+d</a:t>
            </a:r>
            <a:r>
              <a:rPr lang="en-US" dirty="0"/>
              <a:t> , x*=</a:t>
            </a:r>
            <a:r>
              <a:rPr lang="en-US" dirty="0" err="1"/>
              <a:t>a;x</a:t>
            </a:r>
            <a:r>
              <a:rPr lang="en-US" dirty="0"/>
              <a:t>+=b , 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It clearly introduces asymmetries </a:t>
            </a:r>
          </a:p>
          <a:p>
            <a:pPr lvl="2"/>
            <a:r>
              <a:rPr lang="en-US" dirty="0"/>
              <a:t>for instance  a*</a:t>
            </a:r>
            <a:r>
              <a:rPr lang="en-US" dirty="0" err="1"/>
              <a:t>b+c</a:t>
            </a:r>
            <a:r>
              <a:rPr lang="en-US" dirty="0"/>
              <a:t>*d ≠ c*</a:t>
            </a:r>
            <a:r>
              <a:rPr lang="en-US" dirty="0" err="1"/>
              <a:t>d+a</a:t>
            </a:r>
            <a:r>
              <a:rPr lang="en-US" dirty="0"/>
              <a:t>*b</a:t>
            </a:r>
          </a:p>
          <a:p>
            <a:r>
              <a:rPr lang="en-US" dirty="0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 (w,-e)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 dirty="0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25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74530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5729</TotalTime>
  <Words>2228</Words>
  <Application>Microsoft Macintosh PowerPoint</Application>
  <PresentationFormat>Widescreen</PresentationFormat>
  <Paragraphs>260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5" baseType="lpstr">
      <vt:lpstr>Arial Unicode MS</vt:lpstr>
      <vt:lpstr>ＭＳ Ｐゴシック</vt:lpstr>
      <vt:lpstr>Arial</vt:lpstr>
      <vt:lpstr>Arial Narrow</vt:lpstr>
      <vt:lpstr>Calibri</vt:lpstr>
      <vt:lpstr>Calibri Light</vt:lpstr>
      <vt:lpstr>Corbel</vt:lpstr>
      <vt:lpstr>Garamond</vt:lpstr>
      <vt:lpstr>Lucida Console</vt:lpstr>
      <vt:lpstr>Office Theme</vt:lpstr>
      <vt:lpstr>FloatingPoint Arithmetic for Scientist: Precision, Accuracy, Efficiency </vt:lpstr>
      <vt:lpstr>What’s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FP Arithmetic</vt:lpstr>
      <vt:lpstr>A first theorem</vt:lpstr>
      <vt:lpstr>Augmented Arithmetic</vt:lpstr>
      <vt:lpstr>Example of augmented sum</vt:lpstr>
      <vt:lpstr>Catastrophic cancellation</vt:lpstr>
      <vt:lpstr>Compensating algorithms</vt:lpstr>
      <vt:lpstr>EXERCISES</vt:lpstr>
      <vt:lpstr>PowerPoint Presentation</vt:lpstr>
      <vt:lpstr>FMA: Fused Multiple Add</vt:lpstr>
      <vt:lpstr>Classical example of loss of precision due to cancellation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88</cp:revision>
  <dcterms:created xsi:type="dcterms:W3CDTF">2026-04-12T14:58:51Z</dcterms:created>
  <dcterms:modified xsi:type="dcterms:W3CDTF">2026-04-16T15:36:34Z</dcterms:modified>
</cp:coreProperties>
</file>