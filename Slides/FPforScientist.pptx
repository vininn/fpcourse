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434" r:id="rId68"/>
    <p:sldId id="435" r:id="rId69"/>
    <p:sldId id="485" r:id="rId70"/>
    <p:sldId id="486" r:id="rId71"/>
    <p:sldId id="487" r:id="rId72"/>
    <p:sldId id="39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418"/>
    <p:restoredTop sz="96327"/>
  </p:normalViewPr>
  <p:slideViewPr>
    <p:cSldViewPr snapToGrid="0" snapToObjects="1">
      <p:cViewPr varScale="1">
        <p:scale>
          <a:sx n="136" d="100"/>
          <a:sy n="136" d="100"/>
        </p:scale>
        <p:origin x="-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96778d4GW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>
                <a:latin typeface="Lucida Console" charset="0"/>
              </a:rPr>
              <a:t>1.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dirty="0">
                <a:latin typeface="Lucida Console" charset="0"/>
              </a:rPr>
              <a:t>0010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dirty="0">
                <a:latin typeface="Lucida Console" charset="0"/>
              </a:rPr>
              <a:t>1111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dirty="0">
                <a:latin typeface="Lucida Console" charset="0"/>
              </a:rPr>
              <a:t>011 </a:t>
            </a:r>
            <a:r>
              <a:rPr lang="en-US" dirty="0"/>
              <a:t>is 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:</a:t>
            </a:r>
            <a:r>
              <a:rPr lang="en-US" sz="2200" baseline="30000" dirty="0"/>
              <a:t> </a:t>
            </a:r>
            <a:r>
              <a:rPr lang="en-US" sz="2200" dirty="0"/>
              <a:t>in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77419" y="319088"/>
            <a:ext cx="10515600" cy="585851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216" y="283985"/>
            <a:ext cx="8497888" cy="6186309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 </a:t>
            </a:r>
            <a:r>
              <a:rPr lang="en-US" altLang="x-none" sz="1800" dirty="0">
                <a:solidFill>
                  <a:srgbClr val="FF0000"/>
                </a:solidFill>
              </a:rPr>
              <a:t>// </a:t>
            </a:r>
            <a:r>
              <a:rPr lang="en-US" altLang="x-none" sz="18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https://godbolt.org/z/96778d4GW</a:t>
            </a:r>
            <a:endParaRPr lang="en-US" altLang="x-none" sz="1800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int ix = f2i(x);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&lt;32&gt;(ix))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int e = ((ix &gt;&gt; 23) &amp; 255) - 127;  //exponent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ix &amp;= 0x7FFFFF;                       //mantissa (aka significand)  (w/o leading “1”)</a:t>
            </a:r>
          </a:p>
          <a:p>
            <a:pPr eaLnBrk="1" hangingPunct="1"/>
            <a:endParaRPr lang="en-US" altLang="x-none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/>
              <a:t>Few fast converging Newton-Raphson iterations</a:t>
            </a:r>
          </a:p>
          <a:p>
            <a:pPr lvl="1"/>
            <a:r>
              <a:rPr lang="en-US"/>
              <a:t>Starting point is an approximation of  </a:t>
            </a:r>
            <a:r>
              <a:rPr lang="en-US" i="1"/>
              <a:t>f</a:t>
            </a:r>
            <a:r>
              <a:rPr lang="en-US"/>
              <a:t>(1.m)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-math-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ffinite</a:t>
            </a:r>
            <a:r>
              <a:rPr lang="en-US" dirty="0">
                <a:solidFill>
                  <a:srgbClr val="FFC000"/>
                </a:solidFill>
              </a:rPr>
              <a:t>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</a:t>
            </a:r>
            <a:r>
              <a:rPr lang="en-US">
                <a:hlinkClick r:id="rId9"/>
              </a:rPr>
              <a:t>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</a:t>
            </a:r>
            <a:r>
              <a:rPr lang="en-US" dirty="0" err="1"/>
              <a:t>ffinite</a:t>
            </a:r>
            <a:r>
              <a:rPr lang="en-US" dirty="0"/>
              <a:t>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63433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Ultimate single hit 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  <a:p>
            <a:endParaRPr lang="en-US" dirty="0"/>
          </a:p>
          <a:p>
            <a:r>
              <a:rPr lang="en-US" dirty="0"/>
              <a:t>In both cases 19 bits (absolute: </a:t>
            </a:r>
            <a:r>
              <a:rPr lang="en-US" dirty="0" err="1"/>
              <a:t>ie</a:t>
            </a:r>
            <a:r>
              <a:rPr lang="en-US" dirty="0"/>
              <a:t> integer) are enough as precision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Ultimate 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1AE08-7C68-EFCB-2A3A-22C5ED3CCDAE}"/>
              </a:ext>
            </a:extLst>
          </p:cNvPr>
          <p:cNvSpPr txBox="1"/>
          <p:nvPr/>
        </p:nvSpPr>
        <p:spPr>
          <a:xfrm>
            <a:off x="650449" y="5288437"/>
            <a:ext cx="11456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bits (relative)                                                      18 bits absolute                                       14 bits absolute  (inside beam pipe)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7AC14-9179-9B9B-3036-049C5497D8C1}"/>
              </a:ext>
            </a:extLst>
          </p:cNvPr>
          <p:cNvSpPr txBox="1"/>
          <p:nvPr/>
        </p:nvSpPr>
        <p:spPr>
          <a:xfrm>
            <a:off x="1593130" y="5307291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bits relative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E2A77-C2C7-4A9A-218F-CCE193FB535E}"/>
              </a:ext>
            </a:extLst>
          </p:cNvPr>
          <p:cNvSpPr txBox="1"/>
          <p:nvPr/>
        </p:nvSpPr>
        <p:spPr>
          <a:xfrm>
            <a:off x="6202837" y="5203596"/>
            <a:ext cx="1673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 bits absolute</a:t>
            </a:r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72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88398</TotalTime>
  <Words>7306</Words>
  <Application>Microsoft Macintosh PowerPoint</Application>
  <PresentationFormat>Widescreen</PresentationFormat>
  <Paragraphs>982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Ultimate track resolution </vt:lpstr>
      <vt:lpstr>Example: CMS Electromagnetic Calorimiter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352</cp:revision>
  <dcterms:created xsi:type="dcterms:W3CDTF">2026-04-12T14:58:51Z</dcterms:created>
  <dcterms:modified xsi:type="dcterms:W3CDTF">2026-06-21T09:39:56Z</dcterms:modified>
</cp:coreProperties>
</file>