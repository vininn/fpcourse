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9" r:id="rId43"/>
    <p:sldId id="478" r:id="rId44"/>
    <p:sldId id="381" r:id="rId45"/>
    <p:sldId id="396" r:id="rId46"/>
    <p:sldId id="341" r:id="rId47"/>
    <p:sldId id="413" r:id="rId48"/>
    <p:sldId id="421" r:id="rId49"/>
    <p:sldId id="481" r:id="rId50"/>
    <p:sldId id="496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393" r:id="rId68"/>
    <p:sldId id="434" r:id="rId69"/>
    <p:sldId id="435" r:id="rId70"/>
    <p:sldId id="485" r:id="rId71"/>
    <p:sldId id="486" r:id="rId72"/>
    <p:sldId id="487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39"/>
    <p:restoredTop sz="96327"/>
  </p:normalViewPr>
  <p:slideViewPr>
    <p:cSldViewPr snapToGrid="0" snapToObjects="1">
      <p:cViewPr varScale="1">
        <p:scale>
          <a:sx n="121" d="100"/>
          <a:sy n="121" d="100"/>
        </p:scale>
        <p:origin x="3288" y="18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319-76526-6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 dirty="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2200" dirty="0"/>
              <a:t>(printed in binary is a 1 followed by a string of 23bits</a:t>
            </a:r>
            <a:r>
              <a:rPr lang="en-US" sz="2200" baseline="30000" dirty="0"/>
              <a:t>, </a:t>
            </a:r>
            <a:r>
              <a:rPr lang="cs-CZ" altLang="x-none" sz="2200" dirty="0">
                <a:latin typeface="Lucida Console" charset="0"/>
              </a:rPr>
              <a:t>1.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2200" dirty="0">
                <a:latin typeface="Lucida Console" charset="0"/>
              </a:rPr>
              <a:t>0010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2200" dirty="0">
                <a:latin typeface="Lucida Console" charset="0"/>
              </a:rPr>
              <a:t>1111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2200" dirty="0">
                <a:latin typeface="Lucida Console" charset="0"/>
              </a:rPr>
              <a:t>011</a:t>
            </a:r>
            <a:r>
              <a:rPr lang="is-IS" altLang="x-none" sz="2200" dirty="0">
                <a:latin typeface="Lucida Console" charset="0"/>
              </a:rPr>
              <a:t> </a:t>
            </a:r>
            <a:r>
              <a:rPr lang="en-US" sz="22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marL="457200" lvl="1" indent="0">
              <a:buNone/>
            </a:pPr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9841" y="199840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1.921fb5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(float));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 of arbitrary precision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it is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507" y="120649"/>
            <a:ext cx="2686493" cy="327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difference of two number of the same </a:t>
            </a:r>
            <a:r>
              <a:rPr lang="en-US" dirty="0" err="1"/>
              <a:t>binade</a:t>
            </a:r>
            <a:r>
              <a:rPr lang="en-US" dirty="0"/>
              <a:t> is precise</a:t>
            </a:r>
          </a:p>
          <a:p>
            <a:pPr lvl="1"/>
            <a:r>
              <a:rPr lang="en-US" dirty="0"/>
              <a:t>99-11 = 88, 42-37 = 5</a:t>
            </a:r>
          </a:p>
          <a:p>
            <a:pPr lvl="1"/>
            <a:r>
              <a:rPr lang="en-US" dirty="0"/>
              <a:t>0x1.921fb6p+1 - 0x1.001e72p+1 = 0x1.240288p+0</a:t>
            </a:r>
          </a:p>
          <a:p>
            <a:endParaRPr lang="en-US" dirty="0"/>
          </a:p>
          <a:p>
            <a:r>
              <a:rPr lang="en-US" dirty="0"/>
              <a:t>If 2b&gt;a&gt;b/2&gt;0 then </a:t>
            </a:r>
            <a:r>
              <a:rPr lang="en-US" dirty="0" err="1"/>
              <a:t>a⊖b</a:t>
            </a:r>
            <a:r>
              <a:rPr lang="en-US" dirty="0"/>
              <a:t> = a-b (is precise)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hlinkClick r:id="rId2"/>
              </a:rPr>
              <a:t>https://en.wikipedia.org/wiki/Sterbenz_lemma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12-7.4 = 4.6 (precise)</a:t>
            </a:r>
          </a:p>
          <a:p>
            <a:pPr lvl="1"/>
            <a:r>
              <a:rPr lang="en-US" dirty="0"/>
              <a:t>18-7.4= 10.6 =&gt; 18⊖7.4 = 11   (not precise)</a:t>
            </a:r>
          </a:p>
          <a:p>
            <a:pPr lvl="1"/>
            <a:r>
              <a:rPr lang="en-US" dirty="0"/>
              <a:t>0x1.333334p-2 ⊖ 0x1.99999ap-3 = 0x1.99999ap-4 (precise)</a:t>
            </a:r>
          </a:p>
          <a:p>
            <a:pPr lvl="1"/>
            <a:r>
              <a:rPr lang="en-US" dirty="0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a&gt;b&gt;0  =&gt;  </a:t>
            </a:r>
            <a:r>
              <a:rPr lang="en-US" dirty="0" err="1"/>
              <a:t>a+b</a:t>
            </a:r>
            <a:r>
              <a:rPr lang="en-US" dirty="0"/>
              <a:t> &lt; 2a</a:t>
            </a:r>
          </a:p>
          <a:p>
            <a:endParaRPr lang="en-US" dirty="0"/>
          </a:p>
          <a:p>
            <a:r>
              <a:rPr lang="en-US" dirty="0">
                <a:solidFill>
                  <a:srgbClr val="00B050"/>
                </a:solidFill>
              </a:rPr>
              <a:t>c = </a:t>
            </a:r>
            <a:r>
              <a:rPr lang="en-US" dirty="0" err="1">
                <a:solidFill>
                  <a:srgbClr val="00B050"/>
                </a:solidFill>
              </a:rPr>
              <a:t>a⊕b</a:t>
            </a:r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t = </a:t>
            </a:r>
            <a:r>
              <a:rPr lang="en-US" dirty="0" err="1">
                <a:solidFill>
                  <a:srgbClr val="00B050"/>
                </a:solidFill>
              </a:rPr>
              <a:t>c⊖a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>
                <a:solidFill>
                  <a:srgbClr val="00B050"/>
                </a:solidFill>
              </a:rPr>
              <a:t>e = </a:t>
            </a:r>
            <a:r>
              <a:rPr lang="en-US" dirty="0" err="1">
                <a:solidFill>
                  <a:srgbClr val="00B050"/>
                </a:solidFill>
              </a:rPr>
              <a:t>b⊖t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 err="1"/>
              <a:t>a+b</a:t>
            </a:r>
            <a:r>
              <a:rPr lang="en-US" dirty="0"/>
              <a:t> = </a:t>
            </a:r>
            <a:r>
              <a:rPr lang="en-US" dirty="0" err="1"/>
              <a:t>c+e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 is the error of </a:t>
            </a:r>
            <a:r>
              <a:rPr lang="en-US" dirty="0" err="1"/>
              <a:t>a⊕b</a:t>
            </a:r>
            <a:endParaRPr lang="en-US" dirty="0"/>
          </a:p>
          <a:p>
            <a:endParaRPr lang="en-US" dirty="0"/>
          </a:p>
          <a:p>
            <a:r>
              <a:rPr lang="en-US" dirty="0"/>
              <a:t>This algorithm is known as “</a:t>
            </a:r>
            <a:r>
              <a:rPr lang="en-US" dirty="0" err="1"/>
              <a:t>fastTwoSum</a:t>
            </a:r>
            <a:r>
              <a:rPr lang="en-US" dirty="0"/>
              <a:t>” and (with small modifications) proposed as </a:t>
            </a:r>
            <a:r>
              <a:rPr lang="en-US" dirty="0" err="1"/>
              <a:t>AugmentedSum</a:t>
            </a:r>
            <a:r>
              <a:rPr lang="en-US" dirty="0"/>
              <a:t> in next IEEE754 revision </a:t>
            </a:r>
          </a:p>
          <a:p>
            <a:r>
              <a:rPr lang="en-US" dirty="0"/>
              <a:t>A similar algorithm exists for multiplication as well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42⊕3.7 = 46</a:t>
            </a:r>
          </a:p>
          <a:p>
            <a:r>
              <a:rPr lang="en-US" dirty="0">
                <a:solidFill>
                  <a:srgbClr val="00B050"/>
                </a:solidFill>
              </a:rPr>
              <a:t>46⊖42 = 4</a:t>
            </a:r>
          </a:p>
          <a:p>
            <a:r>
              <a:rPr lang="en-US" dirty="0">
                <a:solidFill>
                  <a:srgbClr val="00B050"/>
                </a:solidFill>
              </a:rPr>
              <a:t>3.7⊖4 = -0.3</a:t>
            </a:r>
          </a:p>
          <a:p>
            <a:r>
              <a:rPr lang="en-US" i="1" dirty="0"/>
              <a:t>46-0.3 = 42+3.7  (</a:t>
            </a:r>
            <a:r>
              <a:rPr lang="en-US" i="1" dirty="0" err="1"/>
              <a:t>q.e.d.</a:t>
            </a:r>
            <a:r>
              <a:rPr lang="en-US" i="1" dirty="0"/>
              <a:t>)</a:t>
            </a:r>
          </a:p>
          <a:p>
            <a:r>
              <a:rPr lang="en-US" dirty="0"/>
              <a:t>In short: </a:t>
            </a:r>
            <a:r>
              <a:rPr lang="en-US" dirty="0" err="1">
                <a:solidFill>
                  <a:srgbClr val="00B050"/>
                </a:solidFill>
              </a:rPr>
              <a:t>asum</a:t>
            </a:r>
            <a:r>
              <a:rPr lang="en-US" dirty="0">
                <a:solidFill>
                  <a:srgbClr val="00B050"/>
                </a:solidFill>
              </a:rPr>
              <a:t>(42,3.7) = 46,-0.3</a:t>
            </a:r>
          </a:p>
          <a:p>
            <a:endParaRPr lang="en-US" dirty="0"/>
          </a:p>
          <a:p>
            <a:r>
              <a:rPr lang="en-US" dirty="0"/>
              <a:t>42⊕3.3⊕3.4 = 48 while 42+3.3+3.4 = 48.7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,3.4) = 48,0.4</a:t>
            </a:r>
          </a:p>
          <a:p>
            <a:r>
              <a:rPr lang="en-US" dirty="0" err="1"/>
              <a:t>asum</a:t>
            </a:r>
            <a:r>
              <a:rPr lang="en-US" dirty="0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auto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pairwise recursion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optimization for parallelism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w: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515600" cy="288766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 </a:t>
            </a:r>
          </a:p>
          <a:p>
            <a:pPr lvl="1"/>
            <a:r>
              <a:rPr lang="en-US" sz="2100" dirty="0"/>
              <a:t>(credit Tim Mattson)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the equation </a:t>
            </a:r>
            <a:r>
              <a:rPr lang="en-US" i="1" dirty="0"/>
              <a:t>x</a:t>
            </a:r>
            <a:r>
              <a:rPr lang="en-US" i="1" baseline="30000" dirty="0"/>
              <a:t>2</a:t>
            </a:r>
            <a:r>
              <a:rPr lang="en-US" i="1" dirty="0"/>
              <a:t> – 2bx +1 = 0 </a:t>
            </a:r>
            <a:r>
              <a:rPr lang="en-US" dirty="0"/>
              <a:t>using the “high-school” formula</a:t>
            </a:r>
          </a:p>
          <a:p>
            <a:pPr lvl="1"/>
            <a:r>
              <a:rPr lang="en-US" dirty="0"/>
              <a:t>What is the smallest value of b (single precision) for which one of the solution becomes 0?</a:t>
            </a:r>
          </a:p>
          <a:p>
            <a:pPr lvl="1"/>
            <a:r>
              <a:rPr lang="en-US" dirty="0"/>
              <a:t>What is instead the correct result? (use only single precision computations)</a:t>
            </a:r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</a:t>
            </a:r>
            <a:r>
              <a:rPr lang="en-US"/>
              <a:t>) prob. </a:t>
            </a:r>
            <a:r>
              <a:rPr lang="en-US" dirty="0"/>
              <a:t>1/2</a:t>
            </a:r>
          </a:p>
          <a:p>
            <a:pPr lvl="1"/>
            <a:r>
              <a:rPr lang="en-US" dirty="0"/>
              <a:t>If 0 :Throw one more coin: if 1 set exponent of r to -2: uniform in [0.25,0.5) prob. 1/4</a:t>
            </a:r>
          </a:p>
          <a:p>
            <a:pPr lvl="2"/>
            <a:r>
              <a:rPr lang="en-US" dirty="0"/>
              <a:t>If 0:  Throw one more coin: if 1 set exponent of r to -3: uniform in [0.125,0.25) prob. 1/8</a:t>
            </a:r>
          </a:p>
          <a:p>
            <a:pPr lvl="3"/>
            <a:r>
              <a:rPr lang="en-US" dirty="0"/>
              <a:t>If 0:  Throw one more coin: if 1 set exponent of r to -4: uniform in [0.0625,0.125) prob. 1/16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r>
              <a:rPr lang="en-US" dirty="0"/>
              <a:t> et al.</a:t>
            </a:r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5/23/26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sin,cos,tan,atan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</a:t>
            </a:r>
            <a:r>
              <a:rPr lang="en-US"/>
              <a:t>of 0’s or 1’s </a:t>
            </a:r>
            <a:r>
              <a:rPr lang="en-US" dirty="0"/>
              <a:t>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3331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8402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Examples :</a:t>
            </a:r>
          </a:p>
          <a:p>
            <a:r>
              <a:rPr lang="en-US" dirty="0"/>
              <a:t>sin(0.40225342) = 0x1.</a:t>
            </a:r>
            <a:r>
              <a:rPr lang="en-US" dirty="0">
                <a:solidFill>
                  <a:srgbClr val="FF0000"/>
                </a:solidFill>
              </a:rPr>
              <a:t>90e382</a:t>
            </a:r>
            <a:r>
              <a:rPr lang="en-US" dirty="0"/>
              <a:t>fffff7bp-2         sin(0.47485355) = 0x1.</a:t>
            </a:r>
            <a:r>
              <a:rPr lang="en-US" dirty="0">
                <a:solidFill>
                  <a:srgbClr val="FF0000"/>
                </a:solidFill>
              </a:rPr>
              <a:t>d42e63</a:t>
            </a:r>
            <a:r>
              <a:rPr lang="en-US" dirty="0"/>
              <a:t>000000bp-2 </a:t>
            </a:r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r>
              <a:rPr lang="en-US" dirty="0"/>
              <a:t>Compute sin(0x1.e64002p-2) using Taylor expansion:</a:t>
            </a:r>
          </a:p>
          <a:p>
            <a:pPr lvl="1"/>
            <a:r>
              <a:rPr lang="en-US" dirty="0"/>
              <a:t>How many terms are needed to reach faithful rounding in single precision?</a:t>
            </a:r>
          </a:p>
          <a:p>
            <a:pPr lvl="1"/>
            <a:r>
              <a:rPr lang="en-US" dirty="0"/>
              <a:t>How many more terms to reach correct rounding (in single precision)?</a:t>
            </a:r>
          </a:p>
          <a:p>
            <a:pPr lvl="1"/>
            <a:r>
              <a:rPr lang="en-US" dirty="0"/>
              <a:t>Use double precision to compute, then round to single  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May 23,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1/throughput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old days: X87</a:t>
            </a:r>
          </a:p>
          <a:p>
            <a:pPr lvl="1"/>
            <a:r>
              <a:rPr lang="en-US" dirty="0"/>
              <a:t>Double faster than float!</a:t>
            </a:r>
          </a:p>
          <a:p>
            <a:r>
              <a:rPr lang="en-US" dirty="0"/>
              <a:t>X86_64 (and ARM, PPC, RISC)</a:t>
            </a:r>
          </a:p>
          <a:p>
            <a:pPr lvl="1"/>
            <a:r>
              <a:rPr lang="en-US" dirty="0"/>
              <a:t>Scalar: float and double same speed (but div, sqrt, memory bandwidth)</a:t>
            </a:r>
          </a:p>
          <a:p>
            <a:pPr lvl="1"/>
            <a:r>
              <a:rPr lang="en-US" dirty="0"/>
              <a:t>Vector: float twice faster than double</a:t>
            </a:r>
          </a:p>
          <a:p>
            <a:r>
              <a:rPr lang="en-US" dirty="0"/>
              <a:t>GPU: gaming and “Data Center”</a:t>
            </a:r>
          </a:p>
          <a:p>
            <a:pPr lvl="1"/>
            <a:r>
              <a:rPr lang="en-US" dirty="0"/>
              <a:t>Float 64 times faster than double</a:t>
            </a:r>
          </a:p>
          <a:p>
            <a:r>
              <a:rPr lang="en-US" dirty="0"/>
              <a:t>GPU: HPC</a:t>
            </a:r>
          </a:p>
          <a:p>
            <a:pPr lvl="1"/>
            <a:r>
              <a:rPr lang="en-US" dirty="0"/>
              <a:t>Float twice faster than double</a:t>
            </a:r>
          </a:p>
          <a:p>
            <a:r>
              <a:rPr lang="en-US" dirty="0"/>
              <a:t>GPU: AI</a:t>
            </a:r>
          </a:p>
          <a:p>
            <a:pPr lvl="1"/>
            <a:r>
              <a:rPr lang="en-US" dirty="0"/>
              <a:t>Optimized for low-precision tensor operations (GEMM can profit )  </a:t>
            </a:r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5/23/26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FP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whole expression will be evaluated in double</a:t>
            </a:r>
          </a:p>
          <a:p>
            <a:pPr lvl="2"/>
            <a:r>
              <a:rPr lang="en-US" dirty="0"/>
              <a:t>Promotion to double can be turn in a warning using “</a:t>
            </a:r>
            <a:r>
              <a:rPr lang="en-US" i="1" dirty="0"/>
              <a:t>-</a:t>
            </a:r>
            <a:r>
              <a:rPr lang="en-US" i="1" dirty="0" err="1"/>
              <a:t>Wdouble</a:t>
            </a:r>
            <a:r>
              <a:rPr lang="en-US" i="1" dirty="0"/>
              <a:t>-promotion”</a:t>
            </a:r>
            <a:endParaRPr lang="en-US" dirty="0"/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endParaRPr lang="en-US" dirty="0">
              <a:solidFill>
                <a:srgbClr val="FFC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 itself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  <a:p>
            <a:pPr lvl="1"/>
            <a:r>
              <a:rPr lang="en-US" dirty="0">
                <a:hlinkClick r:id="rId6"/>
              </a:rPr>
              <a:t>https://pavpanchekha.com/blog/casio-mathjs.html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513108"/>
            <a:ext cx="10937111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</a:t>
            </a:r>
            <a:r>
              <a:rPr lang="en-US"/>
              <a:t>bits does have </a:t>
            </a:r>
            <a:r>
              <a:rPr lang="en-US" dirty="0"/>
              <a:t>a single precision </a:t>
            </a:r>
            <a:r>
              <a:rPr lang="en-US"/>
              <a:t>FP number?</a:t>
            </a:r>
            <a:endParaRPr lang="en-US" dirty="0"/>
          </a:p>
          <a:p>
            <a:r>
              <a:rPr lang="en-US" dirty="0"/>
              <a:t>How many single precision binary FP numbers exist between 2 and 3?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–finite-math-only?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”sin”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= r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Compute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x</a:t>
            </a:r>
            <a:r>
              <a:rPr lang="en-US" altLang="x-none" sz="1800" baseline="30000" dirty="0"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= 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latin typeface="Lucida Calligraphy" charset="0"/>
              </a:rPr>
              <a:t>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    ~ 0 (zero)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dirty="0"/>
              <a:t>Alternative formulation equivalent to change of </a:t>
            </a:r>
          </a:p>
          <a:p>
            <a:pPr eaLnBrk="1" hangingPunct="1"/>
            <a:r>
              <a:rPr lang="en-US" altLang="x-none" sz="1800" dirty="0"/>
              <a:t>coordinate centered at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-2ar(x-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 dirty="0"/>
              <a:t>In our simplified case </a:t>
            </a:r>
            <a:r>
              <a:rPr lang="en-US" altLang="x-none" sz="1800" dirty="0">
                <a:latin typeface="Lucida Calligraphy" charset="0"/>
              </a:rPr>
              <a:t>a=1, b=0,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- 2(x-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 </a:t>
            </a:r>
            <a:r>
              <a:rPr lang="en-US" altLang="x-none" sz="1800" baseline="30000" dirty="0"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   </a:t>
            </a:r>
            <a:r>
              <a:rPr lang="en-US" altLang="x-none" sz="1800" dirty="0">
                <a:latin typeface="Lucida Calligraphy" charset="0"/>
              </a:rPr>
              <a:t>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latin typeface="Lucida Calligraphy" charset="0"/>
              </a:rPr>
              <a:t>              </a:t>
            </a:r>
            <a:r>
              <a:rPr lang="en-US" altLang="x-none" sz="1800" dirty="0">
                <a:latin typeface="+mn-lt"/>
              </a:rPr>
              <a:t>(naïve: cancellation!!)</a:t>
            </a:r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(r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)   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2r   </a:t>
            </a:r>
            <a:r>
              <a:rPr lang="en-US" altLang="x-none" sz="1800" dirty="0"/>
              <a:t>(optimal)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endParaRPr lang="en-US" altLang="x-none" sz="1800" dirty="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51180</TotalTime>
  <Words>6874</Words>
  <Application>Microsoft Macintosh PowerPoint</Application>
  <PresentationFormat>Widescreen</PresentationFormat>
  <Paragraphs>805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5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PowerPoint Presentation</vt:lpstr>
      <vt:lpstr>TMD in decimal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1/throughput (in cycles) (origin https://core-math.gitlabpages.inria.fr/)</vt:lpstr>
      <vt:lpstr>float vs double: summary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325</cp:revision>
  <dcterms:created xsi:type="dcterms:W3CDTF">2026-04-12T14:58:51Z</dcterms:created>
  <dcterms:modified xsi:type="dcterms:W3CDTF">2026-05-25T15:45:44Z</dcterms:modified>
</cp:coreProperties>
</file>