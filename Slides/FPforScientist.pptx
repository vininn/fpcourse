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96" r:id="rId50"/>
    <p:sldId id="481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434" r:id="rId68"/>
    <p:sldId id="435" r:id="rId69"/>
    <p:sldId id="485" r:id="rId70"/>
    <p:sldId id="486" r:id="rId71"/>
    <p:sldId id="487" r:id="rId72"/>
    <p:sldId id="393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162"/>
    <p:restoredTop sz="96289"/>
  </p:normalViewPr>
  <p:slideViewPr>
    <p:cSldViewPr snapToGrid="0" snapToObjects="1">
      <p:cViewPr varScale="1">
        <p:scale>
          <a:sx n="165" d="100"/>
          <a:sy n="165" d="100"/>
        </p:scale>
        <p:origin x="19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9x1hxMhhP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15GTzW17a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nq5Po1Gdz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odbolt.org/z/h6bEa8GY1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hyperlink" Target="https://fptalks.org/" TargetMode="External"/><Relationship Id="rId3" Type="http://schemas.openxmlformats.org/officeDocument/2006/relationships/hyperlink" Target="https://link.springer.com/book/10.1007/978-3-319-76526-6" TargetMode="External"/><Relationship Id="rId7" Type="http://schemas.openxmlformats.org/officeDocument/2006/relationships/hyperlink" Target="https://arith2026.org/archive.html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Relationship Id="rId9" Type="http://schemas.openxmlformats.org/officeDocument/2006/relationships/hyperlink" Target="https://indico.cern.ch/event/1538409/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is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>
                <a:latin typeface="Lucida Console" charset="0"/>
              </a:rPr>
              <a:t>1.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dirty="0">
                <a:latin typeface="Lucida Console" charset="0"/>
              </a:rPr>
              <a:t>0010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dirty="0">
                <a:latin typeface="Lucida Console" charset="0"/>
              </a:rPr>
              <a:t>1111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dirty="0">
                <a:latin typeface="Lucida Console" charset="0"/>
              </a:rPr>
              <a:t>011 </a:t>
            </a:r>
            <a:r>
              <a:rPr lang="en-US" dirty="0"/>
              <a:t>is a FP in base 2 with precision 24 printed in binary </a:t>
            </a:r>
            <a:endParaRPr lang="cs-CZ" altLang="x-none" dirty="0">
              <a:latin typeface="Lucida Console" charset="0"/>
            </a:endParaRPr>
          </a:p>
          <a:p>
            <a:pPr marL="0" indent="0">
              <a:buNone/>
            </a:pPr>
            <a:r>
              <a:rPr lang="en-US" sz="2200" dirty="0"/>
              <a:t>normalized is a 1 followed by a string of 23bits. Easier to read if printed in hexadecimal: </a:t>
            </a:r>
            <a:r>
              <a:rPr lang="cs-CZ" altLang="x-none" sz="2400" dirty="0"/>
              <a:t>1.921fb6</a:t>
            </a:r>
            <a:r>
              <a:rPr lang="en-US" sz="2400" dirty="0" err="1"/>
              <a:t>ᐧ</a:t>
            </a:r>
            <a:r>
              <a:rPr lang="cs-CZ" altLang="x-none" sz="2400" dirty="0"/>
              <a:t>2</a:t>
            </a:r>
            <a:r>
              <a:rPr lang="cs-CZ" altLang="x-none" sz="2400" baseline="30000" dirty="0"/>
              <a:t>+1 </a:t>
            </a:r>
            <a:r>
              <a:rPr lang="cs-CZ" altLang="x-none" sz="2400" dirty="0"/>
              <a:t>. NB i</a:t>
            </a:r>
            <a:r>
              <a:rPr lang="en-US" sz="2200" dirty="0"/>
              <a:t>n hex last digit is always even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/>
              <a:t>e </a:t>
            </a:r>
            <a:r>
              <a:rPr lang="en-US"/>
              <a:t>- 1.fffffeᐧ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marL="457200" lvl="1" indent="0">
              <a:buNone/>
            </a:pPr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 dirty="0">
                <a:solidFill>
                  <a:srgbClr val="FF0000"/>
                </a:solidFill>
                <a:latin typeface="+mn-lt"/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332067" y="111093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0C29DC-E47F-FBBA-1B3D-9535501BA0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83" r="6759"/>
          <a:stretch>
            <a:fillRect/>
          </a:stretch>
        </p:blipFill>
        <p:spPr>
          <a:xfrm>
            <a:off x="10403058" y="39318"/>
            <a:ext cx="1725637" cy="2143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77419" y="319088"/>
            <a:ext cx="10515600" cy="585851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216" y="283985"/>
            <a:ext cx="8497888" cy="6463308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  (prior to C++20)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 </a:t>
            </a:r>
            <a:r>
              <a:rPr lang="en-US" altLang="x-none" sz="1800" dirty="0">
                <a:solidFill>
                  <a:srgbClr val="FF0000"/>
                </a:solidFill>
              </a:rPr>
              <a:t>// </a:t>
            </a:r>
            <a:r>
              <a:rPr lang="en-US" altLang="x-none" sz="1800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https://godbolt.org/z/9x1hxMhhP</a:t>
            </a:r>
            <a:endParaRPr lang="en-US" altLang="x-none" sz="1800" dirty="0">
              <a:solidFill>
                <a:srgbClr val="FF0000"/>
              </a:solidFill>
            </a:endParaRP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(float));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int ix = f2i(x);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&lt;32&gt;(ix))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int e = ((ix &gt;&gt; 23) &amp; 255) - 127;  //exponent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ix &amp;= 0x7FFFFF;                       //mantissa (aka significand)  (w/o leading “1”)</a:t>
            </a:r>
          </a:p>
          <a:p>
            <a:pPr eaLnBrk="1" hangingPunct="1"/>
            <a:endParaRPr lang="en-US" altLang="x-none" sz="1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 dirty="0"/>
              <a:t>#include &lt;iostream&gt;     // std::</a:t>
            </a:r>
            <a:r>
              <a:rPr lang="en-US" altLang="x-none" sz="1600" dirty="0" err="1"/>
              <a:t>cout</a:t>
            </a:r>
            <a:endParaRPr lang="en-US" altLang="x-none" sz="1600" dirty="0"/>
          </a:p>
          <a:p>
            <a:r>
              <a:rPr lang="en-US" altLang="x-none" sz="1600" dirty="0"/>
              <a:t>#include &lt;limits&gt;       // std::</a:t>
            </a:r>
            <a:r>
              <a:rPr lang="en-US" altLang="x-none" sz="1600" dirty="0" err="1"/>
              <a:t>numeric_limits</a:t>
            </a:r>
            <a:endParaRPr lang="en-US" altLang="x-none" sz="1600" dirty="0"/>
          </a:p>
          <a:p>
            <a:r>
              <a:rPr lang="fr-FR" altLang="x-none" sz="1600" dirty="0" err="1"/>
              <a:t>int</a:t>
            </a:r>
            <a:r>
              <a:rPr lang="fr-FR" altLang="x-none" sz="1600" dirty="0"/>
              <a:t> main () {</a:t>
            </a:r>
          </a:p>
          <a:p>
            <a:r>
              <a:rPr lang="fr-FR" altLang="x-none" sz="1600" dirty="0"/>
              <a:t>  std::cout &lt;&lt; std::</a:t>
            </a:r>
            <a:r>
              <a:rPr lang="fr-FR" altLang="x-none" sz="1600" dirty="0" err="1"/>
              <a:t>boolalpha</a:t>
            </a:r>
            <a:r>
              <a:rPr lang="fr-FR" altLang="x-none" sz="1600" dirty="0"/>
              <a:t>; // &lt;&lt; std::</a:t>
            </a:r>
            <a:r>
              <a:rPr lang="fr-FR" altLang="x-none" sz="1600" dirty="0" err="1"/>
              <a:t>hexfloat</a:t>
            </a:r>
            <a:r>
              <a:rPr lang="fr-FR" altLang="x-none" sz="1600" dirty="0"/>
              <a:t>;</a:t>
            </a:r>
          </a:p>
          <a:p>
            <a:r>
              <a:rPr lang="fr-FR" altLang="x-none" sz="1600" dirty="0"/>
              <a:t>  std::cout &lt;&lt; "Minimum value: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&gt;::min() &lt;&lt; '\n';</a:t>
            </a:r>
          </a:p>
          <a:p>
            <a:r>
              <a:rPr lang="fr-FR" altLang="x-none" sz="1600" dirty="0"/>
              <a:t>  std::cout &lt;&lt; "Maximum value: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&gt;::max() &lt;&lt; '\n';</a:t>
            </a:r>
          </a:p>
          <a:p>
            <a:r>
              <a:rPr lang="fr-FR" altLang="x-none" sz="1600" dirty="0"/>
              <a:t>  std::cout &lt;&lt; "Is </a:t>
            </a:r>
            <a:r>
              <a:rPr lang="fr-FR" altLang="x-none" sz="1600" dirty="0" err="1"/>
              <a:t>signed</a:t>
            </a:r>
            <a:r>
              <a:rPr lang="fr-FR" altLang="x-none" sz="1600" dirty="0"/>
              <a:t>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is_signed</a:t>
            </a:r>
            <a:r>
              <a:rPr lang="fr-FR" altLang="x-none" sz="1600" dirty="0"/>
              <a:t> &lt;&lt; '\n';</a:t>
            </a:r>
          </a:p>
          <a:p>
            <a:r>
              <a:rPr lang="fr-FR" altLang="x-none" sz="1600" dirty="0"/>
              <a:t>  std::cout &lt;&lt; "</a:t>
            </a:r>
            <a:r>
              <a:rPr lang="fr-FR" altLang="x-none" sz="1600" dirty="0" err="1"/>
              <a:t>significand</a:t>
            </a:r>
            <a:r>
              <a:rPr lang="fr-FR" altLang="x-none" sz="1600" dirty="0"/>
              <a:t> bits: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&gt;::digits &lt;&lt; '\n';</a:t>
            </a:r>
          </a:p>
          <a:p>
            <a:r>
              <a:rPr lang="fr-FR" altLang="x-none" sz="1600" dirty="0"/>
              <a:t>  std::cout &lt;&lt; "</a:t>
            </a:r>
            <a:r>
              <a:rPr lang="fr-FR" altLang="x-none" sz="1600" dirty="0" err="1"/>
              <a:t>precision</a:t>
            </a:r>
            <a:r>
              <a:rPr lang="fr-FR" altLang="x-none" sz="1600" dirty="0"/>
              <a:t>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&gt;::epsilon() &lt;&lt; '\n';</a:t>
            </a:r>
          </a:p>
          <a:p>
            <a:r>
              <a:rPr lang="fr-FR" altLang="x-none" sz="1600" dirty="0"/>
              <a:t>  std::cout &lt;&lt; "has </a:t>
            </a:r>
            <a:r>
              <a:rPr lang="fr-FR" altLang="x-none" sz="1600" dirty="0" err="1"/>
              <a:t>infinity</a:t>
            </a:r>
            <a:r>
              <a:rPr lang="fr-FR" altLang="x-none" sz="1600" dirty="0"/>
              <a:t>: " &lt;&lt; std::</a:t>
            </a:r>
            <a:r>
              <a:rPr lang="fr-FR" altLang="x-none" sz="1600" dirty="0" err="1"/>
              <a:t>numeric_limits</a:t>
            </a:r>
            <a:r>
              <a:rPr lang="fr-FR" altLang="x-none" sz="1600" dirty="0"/>
              <a:t>&lt;</a:t>
            </a:r>
            <a:r>
              <a:rPr lang="fr-FR" altLang="x-none" sz="1600" dirty="0" err="1"/>
              <a:t>float</a:t>
            </a:r>
            <a:r>
              <a:rPr lang="fr-FR" altLang="x-none" sz="1600" dirty="0"/>
              <a:t>&gt;::</a:t>
            </a:r>
            <a:r>
              <a:rPr lang="fr-FR" altLang="x-none" sz="1600" dirty="0" err="1"/>
              <a:t>has_infinity</a:t>
            </a:r>
            <a:r>
              <a:rPr lang="fr-FR" altLang="x-none" sz="1600" dirty="0"/>
              <a:t> &lt;&lt; '\n';</a:t>
            </a:r>
          </a:p>
          <a:p>
            <a:r>
              <a:rPr lang="is-IS" altLang="x-none" sz="1600" dirty="0"/>
              <a:t>  return 0;</a:t>
            </a:r>
          </a:p>
          <a:p>
            <a:r>
              <a:rPr lang="is-IS" altLang="x-none" sz="1600" dirty="0"/>
              <a:t>}</a:t>
            </a:r>
            <a:endParaRPr lang="es-ES_tradnl" altLang="x-none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 of arbitrary precision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https://godbolt.org/z/15GTzW17a</a:t>
            </a:r>
            <a:r>
              <a:rPr lang="en-US" dirty="0"/>
              <a:t>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575" y="120649"/>
            <a:ext cx="2928425" cy="357179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8094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difference of two number of the same </a:t>
            </a:r>
            <a:r>
              <a:rPr lang="en-US" dirty="0" err="1"/>
              <a:t>binade</a:t>
            </a:r>
            <a:r>
              <a:rPr lang="en-US" dirty="0"/>
              <a:t> is precise</a:t>
            </a:r>
          </a:p>
          <a:p>
            <a:pPr lvl="1"/>
            <a:r>
              <a:rPr lang="en-US" dirty="0"/>
              <a:t>99-11 = 88, 42-37 = 5, 3.1-2.7=0.4</a:t>
            </a:r>
          </a:p>
          <a:p>
            <a:pPr lvl="1"/>
            <a:r>
              <a:rPr lang="en-US" dirty="0"/>
              <a:t>0x1.921fb6p+1 - 0x1.001e72p+1 = 0x1.240288p+0</a:t>
            </a:r>
          </a:p>
          <a:p>
            <a:pPr lvl="1"/>
            <a:r>
              <a:rPr lang="en-US" dirty="0"/>
              <a:t>0x1.921fb6p+1 - 0x1.5bf0a8p+1 =  0x1.b17870p-2</a:t>
            </a:r>
          </a:p>
          <a:p>
            <a:pPr lvl="2"/>
            <a:r>
              <a:rPr lang="en-US" altLang="x-none" b="1" i="1" dirty="0"/>
              <a:t>π – e = 0x1.b17864p-2</a:t>
            </a:r>
            <a:endParaRPr lang="en-US" dirty="0"/>
          </a:p>
          <a:p>
            <a:endParaRPr lang="en-US" dirty="0"/>
          </a:p>
          <a:p>
            <a:r>
              <a:rPr lang="en-US" dirty="0"/>
              <a:t>If 2b&gt;a&gt;b/2&gt;0 then </a:t>
            </a:r>
            <a:r>
              <a:rPr lang="en-US" dirty="0" err="1"/>
              <a:t>a⊖b</a:t>
            </a:r>
            <a:r>
              <a:rPr lang="en-US" dirty="0"/>
              <a:t> = a-b (is precise)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hlinkClick r:id="rId2"/>
              </a:rPr>
              <a:t>https://en.wikipedia.org/wiki/Sterbenz_lemma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12-7.4 = 4.6 (precise)</a:t>
            </a:r>
          </a:p>
          <a:p>
            <a:pPr lvl="1"/>
            <a:r>
              <a:rPr lang="en-US" dirty="0"/>
              <a:t>18-7.4= 10.6 =&gt; 18⊖7.4 = 11   (not precise)</a:t>
            </a:r>
          </a:p>
          <a:p>
            <a:pPr lvl="1"/>
            <a:r>
              <a:rPr lang="en-US" dirty="0"/>
              <a:t>0x1.333334p-2 ⊖ 0x1.99999ap-3 = 0x1.99999ap-4 (precise)</a:t>
            </a:r>
          </a:p>
          <a:p>
            <a:pPr lvl="1"/>
            <a:r>
              <a:rPr lang="en-US" dirty="0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  <a:br>
              <a:rPr lang="en-US" dirty="0"/>
            </a:br>
            <a:r>
              <a:rPr lang="en-US" sz="2400" dirty="0">
                <a:hlinkClick r:id="rId2"/>
              </a:rPr>
              <a:t>https://godbolt.org/z/nq5Po1Gdz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42⊕3.3⊕ -45 = 0 while 42+3.3-45 = 0.3</a:t>
            </a:r>
          </a:p>
          <a:p>
            <a:pPr lvl="1"/>
            <a:r>
              <a:rPr lang="en-US"/>
              <a:t>Catastrophic cancellation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,-45) = 0.0,0.0</a:t>
            </a:r>
          </a:p>
          <a:p>
            <a:r>
              <a:rPr lang="en-US" err="1"/>
              <a:t>asum</a:t>
            </a:r>
            <a:r>
              <a:rPr lang="en-US"/>
              <a:t>(0.0,0.3+0.0) = 0.3, 0.0 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/>
              <a:t>T </a:t>
            </a:r>
            <a:r>
              <a:rPr lang="en-US" altLang="en-US" sz="1600" b="1" err="1"/>
              <a:t>kahanSum</a:t>
            </a:r>
            <a:r>
              <a:rPr lang="en-US" altLang="en-US" sz="1600" b="1"/>
              <a:t>(T const * input, </a:t>
            </a:r>
            <a:r>
              <a:rPr lang="en-US" altLang="en-US" sz="1600" b="1" err="1"/>
              <a:t>size_t</a:t>
            </a:r>
            <a:r>
              <a:rPr lang="en-US" altLang="en-US" sz="1600" b="1"/>
              <a:t> n) { </a:t>
            </a:r>
          </a:p>
          <a:p>
            <a:pPr eaLnBrk="1" hangingPunct="1"/>
            <a:r>
              <a:rPr lang="en-US" altLang="en-US" sz="1600" b="1"/>
              <a:t>T sum = input[0];</a:t>
            </a:r>
          </a:p>
          <a:p>
            <a:pPr eaLnBrk="1" hangingPunct="1"/>
            <a:r>
              <a:rPr lang="en-US" altLang="en-US" sz="1600" b="1"/>
              <a:t>T t = 0.0;          </a:t>
            </a:r>
          </a:p>
          <a:p>
            <a:pPr eaLnBrk="1" hangingPunct="1"/>
            <a:r>
              <a:rPr lang="en-US" altLang="en-US" sz="1600" b="1"/>
              <a:t>for (</a:t>
            </a:r>
            <a:r>
              <a:rPr lang="en-US" altLang="en-US" sz="1600" b="1" err="1"/>
              <a:t>size_t</a:t>
            </a:r>
            <a:r>
              <a:rPr lang="en-US" altLang="en-US" sz="1600" b="1"/>
              <a:t> </a:t>
            </a:r>
            <a:r>
              <a:rPr lang="en-US" altLang="en-US" sz="1600" b="1" err="1"/>
              <a:t>i</a:t>
            </a:r>
            <a:r>
              <a:rPr lang="en-US" altLang="en-US" sz="1600" b="1"/>
              <a:t> = 1; </a:t>
            </a:r>
            <a:r>
              <a:rPr lang="en-US" altLang="en-US" sz="1600" b="1" err="1"/>
              <a:t>i</a:t>
            </a:r>
            <a:r>
              <a:rPr lang="en-US" altLang="en-US" sz="1600" b="1"/>
              <a:t>&lt;n; ++</a:t>
            </a:r>
            <a:r>
              <a:rPr lang="en-US" altLang="en-US" sz="1600" b="1" err="1"/>
              <a:t>i</a:t>
            </a:r>
            <a:r>
              <a:rPr lang="en-US" altLang="en-US" sz="1600" b="1"/>
              <a:t>)  {  </a:t>
            </a:r>
          </a:p>
          <a:p>
            <a:pPr eaLnBrk="1" hangingPunct="1"/>
            <a:r>
              <a:rPr lang="en-US" altLang="en-US" sz="1600" b="1"/>
              <a:t>  auto y = input[</a:t>
            </a:r>
            <a:r>
              <a:rPr lang="en-US" altLang="en-US" sz="1600" b="1" err="1"/>
              <a:t>i</a:t>
            </a:r>
            <a:r>
              <a:rPr lang="en-US" altLang="en-US" sz="1600" b="1"/>
              <a:t>] – t; </a:t>
            </a:r>
          </a:p>
          <a:p>
            <a:pPr eaLnBrk="1" hangingPunct="1"/>
            <a:r>
              <a:rPr lang="en-US" altLang="en-US" sz="1600" b="1" i="1"/>
              <a:t>  auto s = sum + y</a:t>
            </a:r>
          </a:p>
          <a:p>
            <a:pPr eaLnBrk="1" hangingPunct="1"/>
            <a:r>
              <a:rPr lang="en-US" altLang="en-US" sz="1600" b="1" i="1"/>
              <a:t>  t = (s - sum) – y;   </a:t>
            </a:r>
          </a:p>
          <a:p>
            <a:pPr eaLnBrk="1" hangingPunct="1"/>
            <a:r>
              <a:rPr lang="en-US" altLang="en-US" sz="1600" b="1" i="1"/>
              <a:t>  sum = s;                                    </a:t>
            </a:r>
          </a:p>
          <a:p>
            <a:pPr eaLnBrk="1" hangingPunct="1"/>
            <a:r>
              <a:rPr lang="en-US" altLang="en-US" sz="1600" b="1" i="1"/>
              <a:t>} </a:t>
            </a:r>
          </a:p>
          <a:p>
            <a:pPr eaLnBrk="1" hangingPunct="1"/>
            <a:r>
              <a:rPr lang="en-US" altLang="en-US" sz="1600" b="1" i="1"/>
              <a:t>return sum;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/>
              <a:t>Also known as MAC (multiply accumulate) instruction on AMD</a:t>
            </a:r>
          </a:p>
          <a:p>
            <a:r>
              <a:rPr lang="en-US" err="1"/>
              <a:t>fma</a:t>
            </a:r>
            <a:r>
              <a:rPr lang="en-US"/>
              <a:t>(</a:t>
            </a:r>
            <a:r>
              <a:rPr lang="en-US" err="1"/>
              <a:t>a,b,c</a:t>
            </a:r>
            <a:r>
              <a:rPr lang="en-US"/>
              <a:t>) computes the correctly rounded result of a*</a:t>
            </a:r>
            <a:r>
              <a:rPr lang="en-US" err="1"/>
              <a:t>b+c</a:t>
            </a:r>
            <a:endParaRPr lang="en-US"/>
          </a:p>
          <a:p>
            <a:pPr lvl="1"/>
            <a:r>
              <a:rPr lang="en-US"/>
              <a:t>It improves speed and precision in many computation such as linear algebra</a:t>
            </a:r>
          </a:p>
          <a:p>
            <a:pPr lvl="1"/>
            <a:r>
              <a:rPr lang="en-US"/>
              <a:t>No standard on how to “contract” expression (depends on compiler)</a:t>
            </a:r>
          </a:p>
          <a:p>
            <a:pPr lvl="2"/>
            <a:r>
              <a:rPr lang="en-US"/>
              <a:t>a*</a:t>
            </a:r>
            <a:r>
              <a:rPr lang="en-US" err="1"/>
              <a:t>b+c</a:t>
            </a:r>
            <a:r>
              <a:rPr lang="en-US"/>
              <a:t>*d ,  </a:t>
            </a:r>
            <a:r>
              <a:rPr lang="en-US" err="1"/>
              <a:t>a+b</a:t>
            </a:r>
            <a:r>
              <a:rPr lang="en-US"/>
              <a:t>*</a:t>
            </a:r>
            <a:r>
              <a:rPr lang="en-US" err="1"/>
              <a:t>c+d</a:t>
            </a:r>
            <a:r>
              <a:rPr lang="en-US"/>
              <a:t> , x*=</a:t>
            </a:r>
            <a:r>
              <a:rPr lang="en-US" err="1"/>
              <a:t>a;x</a:t>
            </a:r>
            <a:r>
              <a:rPr lang="en-US"/>
              <a:t>+=b ,  </a:t>
            </a:r>
            <a:r>
              <a:rPr lang="en-US" err="1"/>
              <a:t>etc</a:t>
            </a:r>
            <a:endParaRPr lang="en-US"/>
          </a:p>
          <a:p>
            <a:pPr lvl="1"/>
            <a:r>
              <a:rPr lang="en-US"/>
              <a:t>It clearly introduces asymmetries </a:t>
            </a:r>
          </a:p>
          <a:p>
            <a:pPr lvl="2"/>
            <a:r>
              <a:rPr lang="en-US"/>
              <a:t>for instance  a*</a:t>
            </a:r>
            <a:r>
              <a:rPr lang="en-US" err="1"/>
              <a:t>b+c</a:t>
            </a:r>
            <a:r>
              <a:rPr lang="en-US"/>
              <a:t>*d ≠ c*</a:t>
            </a:r>
            <a:r>
              <a:rPr lang="en-US" err="1"/>
              <a:t>d+a</a:t>
            </a:r>
            <a:r>
              <a:rPr lang="en-US"/>
              <a:t>*b</a:t>
            </a:r>
          </a:p>
          <a:p>
            <a:r>
              <a:rPr lang="en-US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741324" cy="28876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 (use </a:t>
            </a:r>
            <a:r>
              <a:rPr lang="en-US" i="1" dirty="0"/>
              <a:t>float, double, </a:t>
            </a:r>
            <a:r>
              <a:rPr lang="en-US" i="1" dirty="0" err="1"/>
              <a:t>simd</a:t>
            </a:r>
            <a:r>
              <a:rPr lang="en-US" i="1" dirty="0"/>
              <a:t>, int, mixed</a:t>
            </a:r>
            <a:r>
              <a:rPr lang="en-US" dirty="0"/>
              <a:t>)</a:t>
            </a:r>
          </a:p>
          <a:p>
            <a:pPr lvl="1"/>
            <a:r>
              <a:rPr lang="en-US" sz="2100" dirty="0"/>
              <a:t>(credit: Tim Mattson)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2C436-3B48-9416-3CF4-B6A30F15431F}"/>
              </a:ext>
            </a:extLst>
          </p:cNvPr>
          <p:cNvSpPr txBox="1"/>
          <p:nvPr/>
        </p:nvSpPr>
        <p:spPr>
          <a:xfrm>
            <a:off x="6266627" y="3169724"/>
            <a:ext cx="334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https://godbolt.org/z/h6bEa8GY1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the equation </a:t>
            </a:r>
            <a:r>
              <a:rPr lang="en-US" i="1" dirty="0"/>
              <a:t>x</a:t>
            </a:r>
            <a:r>
              <a:rPr lang="en-US" i="1" baseline="30000" dirty="0"/>
              <a:t>2</a:t>
            </a:r>
            <a:r>
              <a:rPr lang="en-US" i="1" dirty="0"/>
              <a:t> – 2bx +1 = 0 </a:t>
            </a:r>
            <a:r>
              <a:rPr lang="en-US" dirty="0"/>
              <a:t>using the “high-school” formula</a:t>
            </a:r>
          </a:p>
          <a:p>
            <a:pPr lvl="1"/>
            <a:r>
              <a:rPr lang="en-US" dirty="0"/>
              <a:t>What is the smallest value of b (single precision) for which one of the solution becomes 0?</a:t>
            </a:r>
          </a:p>
          <a:p>
            <a:pPr lvl="1"/>
            <a:r>
              <a:rPr lang="en-US" dirty="0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#include &lt;iostream&gt;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iomanip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#include &lt;random&gt;</a:t>
            </a:r>
          </a:p>
          <a:p>
            <a:pPr eaLnBrk="1" hangingPunct="1"/>
            <a:r>
              <a:rPr lang="en-US" altLang="x-none" sz="1400"/>
              <a:t>#include &lt;algorithm&gt;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cmath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int main()</a:t>
            </a:r>
          </a:p>
          <a:p>
            <a:pPr eaLnBrk="1" hangingPunct="1"/>
            <a:r>
              <a:rPr lang="en-US" altLang="x-none" sz="1400"/>
              <a:t>{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random_device</a:t>
            </a:r>
            <a:r>
              <a:rPr lang="en-US" altLang="x-none" sz="1400"/>
              <a:t> </a:t>
            </a:r>
            <a:r>
              <a:rPr lang="en-US" altLang="x-none" sz="1400" err="1"/>
              <a:t>rd</a:t>
            </a:r>
            <a:r>
              <a:rPr lang="en-US" altLang="x-none" sz="1400"/>
              <a:t>;  // to obtain a seed for the random number engine</a:t>
            </a:r>
          </a:p>
          <a:p>
            <a:pPr eaLnBrk="1" hangingPunct="1"/>
            <a:r>
              <a:rPr lang="en-US" altLang="x-none" sz="1400"/>
              <a:t>    std::mt19937 gen(</a:t>
            </a:r>
            <a:r>
              <a:rPr lang="en-US" altLang="x-none" sz="1400" err="1"/>
              <a:t>rd</a:t>
            </a:r>
            <a:r>
              <a:rPr lang="en-US" altLang="x-none" sz="1400"/>
              <a:t>()); // Standard </a:t>
            </a:r>
            <a:r>
              <a:rPr lang="en-US" altLang="x-none" sz="1400" err="1"/>
              <a:t>mersenne_twister_engine</a:t>
            </a:r>
            <a:r>
              <a:rPr lang="en-US" altLang="x-none" sz="1400"/>
              <a:t> seeded with </a:t>
            </a:r>
            <a:r>
              <a:rPr lang="en-US" altLang="x-none" sz="1400" err="1"/>
              <a:t>rd</a:t>
            </a:r>
            <a:r>
              <a:rPr lang="en-US" altLang="x-none" sz="1400"/>
              <a:t>()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uniform_real_distribution</a:t>
            </a:r>
            <a:r>
              <a:rPr lang="en-US" altLang="x-none" sz="1400"/>
              <a:t>&lt;float&gt; dis(-1.0, 1.0); </a:t>
            </a:r>
          </a:p>
          <a:p>
            <a:pPr eaLnBrk="1" hangingPunct="1"/>
            <a:r>
              <a:rPr lang="en-US" altLang="x-none" sz="1400"/>
              <a:t>    </a:t>
            </a:r>
            <a:r>
              <a:rPr lang="en-US" altLang="x-none" sz="1400" err="1"/>
              <a:t>size_t</a:t>
            </a:r>
            <a:r>
              <a:rPr lang="en-US" altLang="x-none" sz="1400"/>
              <a:t> N = 40*1000*1000;</a:t>
            </a:r>
          </a:p>
          <a:p>
            <a:pPr eaLnBrk="1" hangingPunct="1"/>
            <a:r>
              <a:rPr lang="en-US" altLang="x-none" sz="1400"/>
              <a:t>    float * x = new float[N];</a:t>
            </a:r>
          </a:p>
          <a:p>
            <a:pPr eaLnBrk="1" hangingPunct="1"/>
            <a:r>
              <a:rPr lang="en-US" altLang="x-none" sz="1400"/>
              <a:t>    for (int n = 0; n &lt; N; ++n) {</a:t>
            </a:r>
          </a:p>
          <a:p>
            <a:pPr eaLnBrk="1" hangingPunct="1"/>
            <a:r>
              <a:rPr lang="en-US" altLang="x-none" sz="140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/>
              <a:t>        x[n] = dis(gen);</a:t>
            </a:r>
          </a:p>
          <a:p>
            <a:pPr eaLnBrk="1" hangingPunct="1"/>
            <a:r>
              <a:rPr lang="en-US" altLang="x-none" sz="1400"/>
              <a:t>    }</a:t>
            </a:r>
          </a:p>
          <a:p>
            <a:pPr eaLnBrk="1" hangingPunct="1"/>
            <a:r>
              <a:rPr lang="en-US" altLang="x-none" sz="1400"/>
              <a:t>    // sort in absolute value</a:t>
            </a:r>
          </a:p>
          <a:p>
            <a:pPr eaLnBrk="1" hangingPunct="1"/>
            <a:r>
              <a:rPr lang="en-US" altLang="x-none" sz="1400"/>
              <a:t>    std::sort(</a:t>
            </a:r>
            <a:r>
              <a:rPr lang="en-US" altLang="x-none" sz="1400" err="1"/>
              <a:t>x,x+N</a:t>
            </a:r>
            <a:r>
              <a:rPr lang="en-US" altLang="x-none" sz="1400"/>
              <a:t>,[](float a, float b) { return std::abs(a) &lt; std::abs(b);});</a:t>
            </a:r>
          </a:p>
          <a:p>
            <a:pPr eaLnBrk="1" hangingPunct="1"/>
            <a:r>
              <a:rPr lang="en-US" altLang="x-none" sz="1400"/>
              <a:t>    // print first and last 40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std::</a:t>
            </a:r>
            <a:r>
              <a:rPr lang="en-US" altLang="x-none" sz="1400" err="1"/>
              <a:t>hexfloat</a:t>
            </a:r>
            <a:r>
              <a:rPr lang="en-US" altLang="x-none" sz="1400"/>
              <a:t>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    delete [] x;</a:t>
            </a:r>
          </a:p>
          <a:p>
            <a:pPr eaLnBrk="1" hangingPunct="1"/>
            <a:r>
              <a:rPr lang="en-US" altLang="x-none" sz="1400"/>
              <a:t>    return 0;</a:t>
            </a:r>
          </a:p>
          <a:p>
            <a:pPr eaLnBrk="1" hangingPunct="1"/>
            <a:r>
              <a:rPr lang="en-US" altLang="x-none" sz="140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Uniform vs canonical</a:t>
            </a:r>
            <a:br>
              <a:rPr lang="en-US"/>
            </a:br>
            <a:r>
              <a:rPr lang="en-US" sz="2200"/>
              <a:t>(for a detailed discussion see among others</a:t>
            </a:r>
            <a:br>
              <a:rPr lang="en-US" sz="2200"/>
            </a:br>
            <a:r>
              <a:rPr lang="en-US" sz="2200">
                <a:hlinkClick r:id="rId2"/>
              </a:rPr>
              <a:t>https://github.com/DiscreteLogarithm/canonical-random-float/tree/master</a:t>
            </a:r>
            <a:r>
              <a:rPr lang="en-US" sz="2200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/>
              <a:t>Uniform in range [</a:t>
            </a:r>
            <a:r>
              <a:rPr lang="en-US" u="sng" err="1"/>
              <a:t>a,b</a:t>
            </a:r>
            <a:r>
              <a:rPr lang="en-US" u="sng"/>
              <a:t>)</a:t>
            </a:r>
          </a:p>
          <a:p>
            <a:r>
              <a:rPr lang="en-US"/>
              <a:t>Throw 32 coins: interpret as a positive integer N</a:t>
            </a:r>
          </a:p>
          <a:p>
            <a:r>
              <a:rPr lang="en-US"/>
              <a:t>Compute r = float(N)/float(2</a:t>
            </a:r>
            <a:r>
              <a:rPr lang="en-US" baseline="30000"/>
              <a:t>32</a:t>
            </a:r>
            <a:r>
              <a:rPr lang="en-US"/>
              <a:t>)*(b-a) –a</a:t>
            </a:r>
          </a:p>
          <a:p>
            <a:pPr marL="0" indent="0">
              <a:buNone/>
            </a:pPr>
            <a:endParaRPr lang="en-US" baseline="30000"/>
          </a:p>
          <a:p>
            <a:pPr marL="0" indent="0">
              <a:buNone/>
            </a:pPr>
            <a:r>
              <a:rPr lang="en-US" u="sng"/>
              <a:t>Canonical</a:t>
            </a:r>
          </a:p>
          <a:p>
            <a:r>
              <a:rPr lang="en-US"/>
              <a:t>Throw 23 coins: set significand of r to them</a:t>
            </a:r>
          </a:p>
          <a:p>
            <a:r>
              <a:rPr lang="en-US"/>
              <a:t>Throw one more coin: if 1 set exponent of r to -1: </a:t>
            </a:r>
            <a:r>
              <a:rPr lang="en-US" i="1"/>
              <a:t>uniform in [0.5,1) prob. 1/2</a:t>
            </a:r>
          </a:p>
          <a:p>
            <a:pPr lvl="1"/>
            <a:r>
              <a:rPr lang="en-US"/>
              <a:t>If 0 :Throw one more coin: if 1 set exponent of r to -2: </a:t>
            </a:r>
            <a:r>
              <a:rPr lang="en-US" i="1"/>
              <a:t>uniform in [0.25,0.5) prob. 1/4</a:t>
            </a:r>
          </a:p>
          <a:p>
            <a:pPr lvl="2"/>
            <a:r>
              <a:rPr lang="en-US"/>
              <a:t>If 0:  Throw one more coin: if 1 set exponent of r to -3: </a:t>
            </a:r>
            <a:r>
              <a:rPr lang="en-US" i="1"/>
              <a:t>uniform in [0.125,0.25) prob. 1/8</a:t>
            </a:r>
          </a:p>
          <a:p>
            <a:pPr lvl="3"/>
            <a:r>
              <a:rPr lang="en-US"/>
              <a:t>If 0:  Throw one more coin: if 1 set exponent of r to -4: </a:t>
            </a:r>
            <a:r>
              <a:rPr lang="en-US" i="1"/>
              <a:t>uniform in [0.0625,0.125) prob. 1/16</a:t>
            </a:r>
          </a:p>
          <a:p>
            <a:pPr lvl="4"/>
            <a:r>
              <a:rPr lang="en-US"/>
              <a:t>If 0: ….	</a:t>
            </a:r>
          </a:p>
          <a:p>
            <a:r>
              <a:rPr lang="en-US"/>
              <a:t>If symmetric interval around 0 needed : use last coin to choose sign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Generated 256*10</a:t>
            </a:r>
            <a:r>
              <a:rPr lang="en-US" baseline="30000"/>
              <a:t>9 </a:t>
            </a:r>
            <a:r>
              <a:rPr lang="en-US"/>
              <a:t>Normal distributed using Box-Muller</a:t>
            </a:r>
            <a:endParaRPr lang="en-US" baseline="30000"/>
          </a:p>
          <a:p>
            <a:pPr marL="0" indent="0">
              <a:buNone/>
            </a:pPr>
            <a:endParaRPr lang="en-US" baseline="30000"/>
          </a:p>
          <a:p>
            <a:r>
              <a:rPr lang="en-US" baseline="3000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sqrt(-2log(2</a:t>
            </a:r>
            <a:r>
              <a:rPr lang="en-US" baseline="30000">
                <a:solidFill>
                  <a:srgbClr val="00B050"/>
                </a:solidFill>
              </a:rPr>
              <a:t>-32</a:t>
            </a:r>
            <a:r>
              <a:rPr lang="en-US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sqrt(-2log(2</a:t>
            </a:r>
            <a:r>
              <a:rPr lang="en-US" baseline="30000">
                <a:solidFill>
                  <a:srgbClr val="FFC000"/>
                </a:solidFill>
              </a:rPr>
              <a:t>-23</a:t>
            </a:r>
            <a:r>
              <a:rPr lang="en-US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r>
              <a:rPr lang="en-US" dirty="0"/>
              <a:t> et al.</a:t>
            </a:r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>
                <a:hlinkClick r:id="rId2"/>
              </a:rPr>
              <a:t>https://members.loria.fr/PZimmermann/papers/accuracy.pdf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/>
              <a:t>exp, log, pow</a:t>
            </a:r>
          </a:p>
          <a:p>
            <a:pPr lvl="1"/>
            <a:r>
              <a:rPr lang="en-US"/>
              <a:t>exploit </a:t>
            </a:r>
            <a:r>
              <a:rPr lang="en-US" err="1"/>
              <a:t>fp</a:t>
            </a:r>
            <a:r>
              <a:rPr lang="en-US"/>
              <a:t> representation: x = 1.mᐧ</a:t>
            </a:r>
            <a:r>
              <a:rPr lang="cs-CZ" altLang="x-none"/>
              <a:t>2</a:t>
            </a:r>
            <a:r>
              <a:rPr lang="en-US" altLang="x-none" baseline="30000"/>
              <a:t>n</a:t>
            </a:r>
            <a:endParaRPr lang="en-US" baseline="30000"/>
          </a:p>
          <a:p>
            <a:pPr lvl="1"/>
            <a:r>
              <a:rPr lang="en-US"/>
              <a:t>For log(x):  x =  yᐧ2</a:t>
            </a:r>
            <a:r>
              <a:rPr lang="en-US" baseline="30000"/>
              <a:t>z</a:t>
            </a:r>
            <a:r>
              <a:rPr lang="en-US"/>
              <a:t>, with  y in [0.75,1.5)</a:t>
            </a:r>
            <a:r>
              <a:rPr lang="en-US" baseline="30000"/>
              <a:t> </a:t>
            </a:r>
            <a:r>
              <a:rPr lang="en-US"/>
              <a:t>. log(x) = </a:t>
            </a:r>
            <a:r>
              <a:rPr lang="en-US" err="1"/>
              <a:t>zᐧlog</a:t>
            </a:r>
            <a:r>
              <a:rPr lang="en-US"/>
              <a:t>(2)+log(y) </a:t>
            </a:r>
          </a:p>
          <a:p>
            <a:pPr lvl="1"/>
            <a:r>
              <a:rPr lang="en-US"/>
              <a:t>For exp(x):  x = </a:t>
            </a:r>
            <a:r>
              <a:rPr lang="en-US" err="1"/>
              <a:t>kᐧlog</a:t>
            </a:r>
            <a:r>
              <a:rPr lang="en-US"/>
              <a:t>(2)+y, with y in [-log(2)/2;log(2)/2). exp(x) = 2</a:t>
            </a:r>
            <a:r>
              <a:rPr lang="en-US" baseline="30000"/>
              <a:t>k </a:t>
            </a:r>
            <a:r>
              <a:rPr lang="en-US" err="1"/>
              <a:t>ᐧexp</a:t>
            </a:r>
            <a:r>
              <a:rPr lang="en-US"/>
              <a:t>(y)</a:t>
            </a:r>
            <a:endParaRPr lang="en-US" baseline="30000"/>
          </a:p>
          <a:p>
            <a:pPr lvl="1"/>
            <a:r>
              <a:rPr lang="en-US" err="1"/>
              <a:t>x</a:t>
            </a:r>
            <a:r>
              <a:rPr lang="en-US" baseline="30000" err="1"/>
              <a:t>y</a:t>
            </a:r>
            <a:r>
              <a:rPr lang="en-US" baseline="30000"/>
              <a:t> </a:t>
            </a:r>
            <a:r>
              <a:rPr lang="en-US"/>
              <a:t>= </a:t>
            </a:r>
            <a:r>
              <a:rPr lang="en-US" err="1"/>
              <a:t>e</a:t>
            </a:r>
            <a:r>
              <a:rPr lang="en-US" baseline="30000" err="1"/>
              <a:t>yᐧlog</a:t>
            </a:r>
            <a:r>
              <a:rPr lang="en-US" baseline="30000"/>
              <a:t>(x)</a:t>
            </a:r>
            <a:endParaRPr lang="en-US"/>
          </a:p>
          <a:p>
            <a:r>
              <a:rPr lang="en-US" err="1"/>
              <a:t>sin,cos,tan,atan</a:t>
            </a:r>
            <a:r>
              <a:rPr lang="en-US"/>
              <a:t>(2)</a:t>
            </a:r>
          </a:p>
          <a:p>
            <a:pPr lvl="1"/>
            <a:r>
              <a:rPr lang="en-US"/>
              <a:t>Reduce to [0, π/4) (trivial for f(π</a:t>
            </a:r>
            <a:r>
              <a:rPr lang="en-US" err="1"/>
              <a:t>ᐧx</a:t>
            </a:r>
            <a:r>
              <a:rPr lang="en-US"/>
              <a:t>) known as </a:t>
            </a:r>
            <a:r>
              <a:rPr lang="en-US" err="1"/>
              <a:t>sinpi,cospi</a:t>
            </a:r>
            <a:r>
              <a:rPr lang="en-US"/>
              <a:t> </a:t>
            </a:r>
            <a:r>
              <a:rPr lang="en-US" err="1"/>
              <a:t>etc</a:t>
            </a:r>
            <a:r>
              <a:rPr lang="en-US"/>
              <a:t>, tricky for sin(x)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pPr lvl="1"/>
            <a:r>
              <a:rPr lang="en-US"/>
              <a:t>use trig identities to go back</a:t>
            </a:r>
          </a:p>
          <a:p>
            <a:r>
              <a:rPr lang="en-US" err="1"/>
              <a:t>asin,acos</a:t>
            </a:r>
            <a:r>
              <a:rPr lang="en-US"/>
              <a:t>, hyperbolic</a:t>
            </a:r>
          </a:p>
          <a:p>
            <a:pPr lvl="1"/>
            <a:r>
              <a:rPr lang="en-US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fast-converging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</a:t>
            </a:r>
            <a:r>
              <a:rPr lang="en-US" altLang="en-US" sz="1800" dirty="0">
                <a:solidFill>
                  <a:srgbClr val="FF0000"/>
                </a:solidFill>
              </a:rPr>
              <a:t>0x5f3759df</a:t>
            </a:r>
            <a:r>
              <a:rPr lang="en-US" altLang="en-US" sz="1800" dirty="0"/>
              <a:t>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https://en.wikipedia.org/wiki/Fast_inverse_square_root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/>
              <a:t>Real x86_64 code for 1/√x</a:t>
            </a:r>
          </a:p>
          <a:p>
            <a:pPr eaLnBrk="1" hangingPunct="1">
              <a:defRPr/>
            </a:pPr>
            <a:r>
              <a:rPr lang="en-US" sz="1800"/>
              <a:t> _</a:t>
            </a:r>
            <a:r>
              <a:rPr lang="en-US" sz="1800" err="1"/>
              <a:t>mm_store_ss</a:t>
            </a:r>
            <a:r>
              <a:rPr lang="en-US" sz="1800"/>
              <a:t>( &amp;y</a:t>
            </a:r>
            <a:r>
              <a:rPr lang="en-US" sz="1800" b="1"/>
              <a:t>, _</a:t>
            </a:r>
            <a:r>
              <a:rPr lang="en-US" sz="1800" b="1" err="1"/>
              <a:t>mm_rsqrt_ss</a:t>
            </a:r>
            <a:r>
              <a:rPr lang="en-US" sz="1800"/>
              <a:t>( _</a:t>
            </a:r>
            <a:r>
              <a:rPr lang="en-US" sz="1800" err="1"/>
              <a:t>mm_load_ss</a:t>
            </a:r>
            <a:r>
              <a:rPr lang="en-US" sz="1800"/>
              <a:t>( &amp;x ) ) ); </a:t>
            </a:r>
          </a:p>
          <a:p>
            <a:pPr eaLnBrk="1" hangingPunct="1">
              <a:defRPr/>
            </a:pPr>
            <a:r>
              <a:rPr lang="en-US" sz="180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Real x86_64 code for 1/x</a:t>
            </a:r>
          </a:p>
          <a:p>
            <a:pPr eaLnBrk="1" hangingPunct="1"/>
            <a:r>
              <a:rPr lang="en-US" altLang="en-US" sz="1800" dirty="0"/>
              <a:t>_</a:t>
            </a:r>
            <a:r>
              <a:rPr lang="en-US" altLang="en-US" sz="1800" dirty="0" err="1"/>
              <a:t>mm_store_ss</a:t>
            </a:r>
            <a:r>
              <a:rPr lang="en-US" altLang="en-US" sz="1800" dirty="0"/>
              <a:t>( &amp;y,</a:t>
            </a:r>
            <a:r>
              <a:rPr lang="en-US" altLang="en-US" sz="1800" b="1" dirty="0"/>
              <a:t>_</a:t>
            </a:r>
            <a:r>
              <a:rPr lang="en-US" altLang="en-US" sz="1800" b="1" dirty="0" err="1"/>
              <a:t>mm_rcp_ss</a:t>
            </a:r>
            <a:r>
              <a:rPr lang="en-US" altLang="en-US" sz="1800" dirty="0"/>
              <a:t>( _</a:t>
            </a:r>
            <a:r>
              <a:rPr lang="en-US" altLang="en-US" sz="1800" dirty="0" err="1"/>
              <a:t>mm_load_ss</a:t>
            </a:r>
            <a:r>
              <a:rPr lang="en-US" altLang="en-US" sz="1800" dirty="0"/>
              <a:t>( &amp;x ) ) );</a:t>
            </a:r>
          </a:p>
          <a:p>
            <a:pPr eaLnBrk="1" hangingPunct="1"/>
            <a:r>
              <a:rPr lang="en-US" altLang="en-US" sz="1800" dirty="0"/>
              <a:t> return (</a:t>
            </a:r>
            <a:r>
              <a:rPr lang="en-US" altLang="en-US" sz="1800" dirty="0" err="1"/>
              <a:t>y+y</a:t>
            </a:r>
            <a:r>
              <a:rPr lang="en-US" altLang="en-US" sz="1800" dirty="0"/>
              <a:t>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to guarantee a given precision one needs to evaluate the  error of the approximation “y = f(x)”</a:t>
            </a:r>
          </a:p>
          <a:p>
            <a:pPr lvl="1"/>
            <a:r>
              <a:rPr lang="en-US"/>
              <a:t>From first principle</a:t>
            </a:r>
          </a:p>
          <a:p>
            <a:pPr lvl="1"/>
            <a:r>
              <a:rPr lang="en-US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 Round2Near: if the error interval includes the middle point an even more precise evaluation is required</a:t>
            </a:r>
          </a:p>
          <a:p>
            <a:pPr lvl="1"/>
            <a:r>
              <a:rPr lang="en-US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Examples :</a:t>
            </a:r>
          </a:p>
          <a:p>
            <a:r>
              <a:rPr lang="en-US"/>
              <a:t>sin(0.40225342) = 0x1.</a:t>
            </a:r>
            <a:r>
              <a:rPr lang="en-US">
                <a:solidFill>
                  <a:srgbClr val="FF0000"/>
                </a:solidFill>
              </a:rPr>
              <a:t>90e382</a:t>
            </a:r>
            <a:r>
              <a:rPr lang="en-US"/>
              <a:t>fffff7bp-2         sin(0.47485355) = 0x1.</a:t>
            </a:r>
            <a:r>
              <a:rPr lang="en-US">
                <a:solidFill>
                  <a:srgbClr val="FF0000"/>
                </a:solidFill>
              </a:rPr>
              <a:t>d42e63</a:t>
            </a:r>
            <a:r>
              <a:rPr lang="en-US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r>
              <a:rPr lang="en-US" dirty="0"/>
              <a:t>Compute sin(0x1.e64002p-2) using Taylor expansion:</a:t>
            </a:r>
          </a:p>
          <a:p>
            <a:pPr lvl="1"/>
            <a:r>
              <a:rPr lang="en-US" dirty="0"/>
              <a:t>How many terms are needed to reach faithful rounding in single precision?</a:t>
            </a:r>
          </a:p>
          <a:p>
            <a:pPr lvl="1"/>
            <a:r>
              <a:rPr lang="en-US" dirty="0"/>
              <a:t>How many more terms to reach correct rounding (in single precision)?</a:t>
            </a:r>
          </a:p>
          <a:p>
            <a:pPr lvl="1"/>
            <a:r>
              <a:rPr lang="en-US" dirty="0"/>
              <a:t>Use double precision to compute, then round to single  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Use cos(x) approximation in decimal (</a:t>
            </a:r>
            <a:r>
              <a:rPr lang="en-US" err="1"/>
              <a:t>taylor</a:t>
            </a:r>
            <a:r>
              <a:rPr lang="en-US"/>
              <a:t>)</a:t>
            </a:r>
            <a:br>
              <a:rPr lang="en-US"/>
            </a:br>
            <a:r>
              <a:rPr lang="en-US"/>
              <a:t>see </a:t>
            </a:r>
            <a:r>
              <a:rPr lang="en-US">
                <a:hlinkClick r:id="rId2"/>
              </a:rPr>
              <a:t>https://docs.python.org/3/library/decimal.html - recipes</a:t>
            </a:r>
            <a:endParaRPr lang="en-US"/>
          </a:p>
          <a:p>
            <a:pPr marL="0" indent="0">
              <a:buNone/>
            </a:pPr>
            <a:r>
              <a:rPr lang="en-US"/>
              <a:t>to “solve” TMD above  (mind: direct rounding!) 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Precision, </a:t>
            </a:r>
            <a:r>
              <a:rPr lang="en-US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>
                <a:ea typeface="ＭＳ Ｐゴシック" charset="0"/>
                <a:cs typeface="ＭＳ Ｐゴシック" charset="0"/>
              </a:rPr>
              <a:t> </a:t>
            </a:r>
            <a:r>
              <a:rPr lang="en-US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/>
              <a:t>Precision</a:t>
            </a:r>
          </a:p>
          <a:p>
            <a:pPr lvl="1"/>
            <a:r>
              <a:rPr lang="en-US" altLang="x-none"/>
              <a:t>Numerical precision (in bits)</a:t>
            </a:r>
          </a:p>
          <a:p>
            <a:pPr lvl="2"/>
            <a:r>
              <a:rPr lang="en-US" altLang="x-none"/>
              <a:t>For an instrument (ruler!) typically “half a tick” </a:t>
            </a:r>
          </a:p>
          <a:p>
            <a:pPr lvl="2"/>
            <a:r>
              <a:rPr lang="en-US" altLang="x-none"/>
              <a:t>Comes from specs</a:t>
            </a:r>
          </a:p>
          <a:p>
            <a:r>
              <a:rPr lang="en-US" altLang="x-none"/>
              <a:t>Accuracy</a:t>
            </a:r>
          </a:p>
          <a:p>
            <a:pPr lvl="1"/>
            <a:r>
              <a:rPr lang="en-US" altLang="x-none"/>
              <a:t>The error w/r/t the truth</a:t>
            </a:r>
          </a:p>
          <a:p>
            <a:pPr lvl="1"/>
            <a:r>
              <a:rPr lang="en-US" altLang="x-none"/>
              <a:t>Can be evaluated comparing with a “refence” or a different algorithm</a:t>
            </a:r>
          </a:p>
          <a:p>
            <a:pPr lvl="2"/>
            <a:r>
              <a:rPr lang="en-US" altLang="x-none"/>
              <a:t>In science “comparing different experiments”</a:t>
            </a:r>
          </a:p>
          <a:p>
            <a:r>
              <a:rPr lang="en-US" altLang="x-none"/>
              <a:t>Target Accuracy</a:t>
            </a:r>
          </a:p>
          <a:p>
            <a:pPr lvl="1"/>
            <a:r>
              <a:rPr lang="en-US" altLang="x-none"/>
              <a:t>The acceptable tolerance w/r/t the above</a:t>
            </a:r>
          </a:p>
          <a:p>
            <a:pPr lvl="1"/>
            <a:r>
              <a:rPr lang="en-US" altLang="x-none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0429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</a:t>
            </a:r>
            <a:r>
              <a:rPr lang="en-US" altLang="x-none" sz="1800" b="1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</a:t>
            </a:r>
            <a:r>
              <a:rPr lang="en-US" altLang="x-none" sz="1800" b="1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GPU landscape: </a:t>
            </a:r>
            <a:br>
              <a:rPr lang="en-US"/>
            </a:br>
            <a:r>
              <a:rPr lang="en-US" sz="3200"/>
              <a:t>FP64 is 32 times slower than FP32 on affordable GPU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/>
              <a:t>GPU (T4) performance</a:t>
            </a:r>
            <a:br>
              <a:rPr lang="en-US"/>
            </a:br>
            <a:r>
              <a:rPr lang="en-US" sz="2700"/>
              <a:t>Brute-force inversion of 5x5 Pos-Def Matrix using Cholesky decomposition</a:t>
            </a:r>
            <a:br>
              <a:rPr lang="en-US" sz="2700"/>
            </a:br>
            <a:r>
              <a:rPr lang="en-US" sz="2200"/>
              <a:t>33 + , 29 - , 126 * , 5 / , no sqrt    (compiler optimization and </a:t>
            </a:r>
            <a:r>
              <a:rPr lang="en-US" sz="2200" err="1"/>
              <a:t>fma</a:t>
            </a:r>
            <a:r>
              <a:rPr lang="en-US" sz="2200"/>
              <a:t> will contract some)</a:t>
            </a:r>
            <a:br>
              <a:rPr lang="en-US"/>
            </a:br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/>
              <a:t>In the old days: X87</a:t>
            </a:r>
          </a:p>
          <a:p>
            <a:pPr lvl="1"/>
            <a:r>
              <a:rPr lang="en-US"/>
              <a:t>Double faster than float!</a:t>
            </a:r>
          </a:p>
          <a:p>
            <a:r>
              <a:rPr lang="en-US"/>
              <a:t>X86_64 (and ARM, PPC, RISC)</a:t>
            </a:r>
          </a:p>
          <a:p>
            <a:pPr lvl="1"/>
            <a:r>
              <a:rPr lang="en-US"/>
              <a:t>Scalar: float and double same speed (but div, sqrt, memory bandwidth)</a:t>
            </a:r>
          </a:p>
          <a:p>
            <a:pPr lvl="1"/>
            <a:r>
              <a:rPr lang="en-US"/>
              <a:t>Vector: float twice faster than double</a:t>
            </a:r>
          </a:p>
          <a:p>
            <a:r>
              <a:rPr lang="en-US"/>
              <a:t>GPU: gaming and “Data Center”</a:t>
            </a:r>
          </a:p>
          <a:p>
            <a:pPr lvl="1"/>
            <a:r>
              <a:rPr lang="en-US"/>
              <a:t>Float 64 times faster than double</a:t>
            </a:r>
          </a:p>
          <a:p>
            <a:r>
              <a:rPr lang="en-US"/>
              <a:t>GPU: HPC</a:t>
            </a:r>
          </a:p>
          <a:p>
            <a:pPr lvl="1"/>
            <a:r>
              <a:rPr lang="en-US"/>
              <a:t>Float twice faster than double</a:t>
            </a:r>
          </a:p>
          <a:p>
            <a:r>
              <a:rPr lang="en-US"/>
              <a:t>GPU: AI</a:t>
            </a:r>
          </a:p>
          <a:p>
            <a:pPr lvl="1"/>
            <a:r>
              <a:rPr lang="en-US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 1/throughput (in cycles)</a:t>
            </a:r>
            <a:br>
              <a:rPr lang="en-US"/>
            </a:br>
            <a:r>
              <a:rPr lang="en-US" sz="2400"/>
              <a:t>(origin </a:t>
            </a:r>
            <a:r>
              <a:rPr lang="en-US" sz="2400">
                <a:hlinkClick r:id="rId2"/>
              </a:rPr>
              <a:t>https://core-math.gitlabpages.inria.fr/</a:t>
            </a:r>
            <a:r>
              <a:rPr lang="en-US" sz="2400"/>
              <a:t>)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</a:t>
            </a:r>
            <a:r>
              <a:rPr lang="en-US" altLang="x-none" sz="1800" err="1"/>
              <a:t>ms</a:t>
            </a:r>
            <a:r>
              <a:rPr lang="en-US" altLang="x-none" sz="1800"/>
              <a:t>(double </a:t>
            </a:r>
            <a:r>
              <a:rPr lang="en-US" altLang="x-none" sz="1800" err="1"/>
              <a:t>radLen</a:t>
            </a:r>
            <a:r>
              <a:rPr lang="en-US" altLang="x-none" sz="1800"/>
              <a:t>, double m2, double p2) { </a:t>
            </a:r>
          </a:p>
          <a:p>
            <a:pPr eaLnBrk="1" hangingPunct="1"/>
            <a:r>
              <a:rPr lang="en-US" altLang="x-none" sz="1800"/>
              <a:t>  </a:t>
            </a:r>
            <a:r>
              <a:rPr lang="en-US" altLang="x-none" sz="1800" err="1"/>
              <a:t>constexpr</a:t>
            </a:r>
            <a:r>
              <a:rPr lang="en-US" altLang="x-none" sz="1800"/>
              <a:t> double </a:t>
            </a:r>
            <a:r>
              <a:rPr lang="en-US" altLang="x-none" sz="1800" err="1"/>
              <a:t>amscon</a:t>
            </a:r>
            <a:r>
              <a:rPr lang="en-US" altLang="x-none" sz="1800"/>
              <a:t>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 err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</a:t>
            </a:r>
            <a:r>
              <a:rPr lang="en-US" altLang="x-none" sz="1800" err="1"/>
              <a:t>amscon</a:t>
            </a:r>
            <a:r>
              <a:rPr lang="en-US" altLang="x-none" sz="1800"/>
              <a:t>*</a:t>
            </a:r>
            <a:r>
              <a:rPr lang="en-US" altLang="x-none" sz="1800" err="1"/>
              <a:t>radLen</a:t>
            </a:r>
            <a:r>
              <a:rPr lang="en-US" altLang="x-none" sz="1800"/>
              <a:t>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/>
              <a:t>Cash-Karp </a:t>
            </a:r>
            <a:r>
              <a:rPr lang="en-US" err="1"/>
              <a:t>Runge-Kutta</a:t>
            </a:r>
            <a:r>
              <a:rPr lang="en-US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0.9*step/</a:t>
            </a:r>
            <a:r>
              <a:rPr lang="en-US" sz="2000" b="1" err="1">
                <a:solidFill>
                  <a:srgbClr val="FF0000"/>
                </a:solidFill>
              </a:rPr>
              <a:t>pow</a:t>
            </a:r>
            <a:r>
              <a:rPr lang="en-US" sz="2000" b="1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 essentially any language default FP </a:t>
            </a:r>
            <a:r>
              <a:rPr lang="en-US" err="1"/>
              <a:t>arith</a:t>
            </a:r>
            <a:r>
              <a:rPr lang="en-US"/>
              <a:t> is in double</a:t>
            </a:r>
          </a:p>
          <a:p>
            <a:pPr lvl="1"/>
            <a:r>
              <a:rPr lang="en-US"/>
              <a:t>Any other precision needs to be explicitly stated</a:t>
            </a:r>
          </a:p>
          <a:p>
            <a:pPr lvl="1"/>
            <a:r>
              <a:rPr lang="en-US"/>
              <a:t>One element in double and the whole expression will be evaluated in double</a:t>
            </a:r>
          </a:p>
          <a:p>
            <a:pPr lvl="2"/>
            <a:r>
              <a:rPr lang="en-US"/>
              <a:t>Promotion to double can be turn in a warning using “</a:t>
            </a:r>
            <a:r>
              <a:rPr lang="en-US" i="1"/>
              <a:t>-</a:t>
            </a:r>
            <a:r>
              <a:rPr lang="en-US" i="1" err="1"/>
              <a:t>Wdouble</a:t>
            </a:r>
            <a:r>
              <a:rPr lang="en-US" i="1"/>
              <a:t>-promotion”</a:t>
            </a:r>
            <a:endParaRPr lang="en-US"/>
          </a:p>
          <a:p>
            <a:r>
              <a:rPr lang="en-US"/>
              <a:t>C and C++ compilers (</a:t>
            </a:r>
            <a:r>
              <a:rPr lang="en-US" err="1"/>
              <a:t>gcc</a:t>
            </a:r>
            <a:r>
              <a:rPr lang="en-US"/>
              <a:t>, clang) by default will never reorder or transform expressions if the result may change</a:t>
            </a:r>
          </a:p>
          <a:p>
            <a:pPr lvl="1"/>
            <a:r>
              <a:rPr lang="en-US"/>
              <a:t>FMA is (currently) an exception</a:t>
            </a:r>
          </a:p>
          <a:p>
            <a:r>
              <a:rPr lang="en-US"/>
              <a:t>C is a language born in the late `70</a:t>
            </a:r>
          </a:p>
          <a:p>
            <a:pPr lvl="1"/>
            <a:r>
              <a:rPr lang="en-US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Compiler option affecting FP Arith</a:t>
            </a:r>
            <a:br>
              <a:rPr lang="en-US"/>
            </a:br>
            <a:r>
              <a:rPr lang="en-US" sz="2700">
                <a:hlinkClick r:id="rId2"/>
              </a:rPr>
              <a:t>https://gcc.gnu.org/wiki/FloatingPointMath</a:t>
            </a:r>
            <a:br>
              <a:rPr lang="en-US" sz="3600"/>
            </a:br>
            <a:r>
              <a:rPr lang="en-US" sz="2700">
                <a:hlinkClick r:id="rId3"/>
              </a:rPr>
              <a:t>https://clang.llvm.org/docs/UsersManual.html - controlling-floating-point-behavior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-math-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endParaRPr lang="en-US" dirty="0">
              <a:solidFill>
                <a:srgbClr val="00B050"/>
              </a:solidFill>
            </a:endParaRP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ffinite</a:t>
            </a:r>
            <a:r>
              <a:rPr lang="en-US" dirty="0">
                <a:solidFill>
                  <a:srgbClr val="FFC000"/>
                </a:solidFill>
              </a:rPr>
              <a:t>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endParaRPr lang="en-US" dirty="0">
              <a:solidFill>
                <a:srgbClr val="FFC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Controlling </a:t>
            </a:r>
            <a:r>
              <a:rPr lang="en-US" err="1"/>
              <a:t>fma</a:t>
            </a:r>
            <a:r>
              <a:rPr lang="en-US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gcc</a:t>
            </a:r>
            <a:r>
              <a:rPr lang="en-US"/>
              <a:t>  (and clang)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ffp</a:t>
            </a:r>
            <a:r>
              <a:rPr lang="en-US">
                <a:latin typeface="Courier" pitchFamily="2" charset="0"/>
              </a:rPr>
              <a:t>-contract=off 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fast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2"/>
              </a:rPr>
              <a:t>https://stackoverflow.com/questions/43352510/difference-in-gcc-ffp-contract-options</a:t>
            </a:r>
            <a:endParaRPr lang="en-US" sz="2000"/>
          </a:p>
          <a:p>
            <a:endParaRPr lang="en-US"/>
          </a:p>
          <a:p>
            <a:r>
              <a:rPr lang="en-US" err="1"/>
              <a:t>cuda</a:t>
            </a:r>
            <a:r>
              <a:rPr lang="en-US"/>
              <a:t> (</a:t>
            </a:r>
            <a:r>
              <a:rPr lang="en-US" err="1"/>
              <a:t>nvcc</a:t>
            </a:r>
            <a:r>
              <a:rPr lang="en-US"/>
              <a:t>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fmad</a:t>
            </a:r>
            <a:r>
              <a:rPr lang="en-US">
                <a:latin typeface="Courier" pitchFamily="2" charset="0"/>
              </a:rPr>
              <a:t>=false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true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3"/>
              </a:rPr>
              <a:t>https://docs.nvidia.com/cuda/floating-point/index.html</a:t>
            </a:r>
            <a:r>
              <a:rPr lang="en-US" sz="2000"/>
              <a:t> </a:t>
            </a:r>
          </a:p>
          <a:p>
            <a:pPr lvl="1"/>
            <a:endParaRPr lang="en-US" sz="2000"/>
          </a:p>
          <a:p>
            <a:r>
              <a:rPr lang="en-US" sz="2400" err="1"/>
              <a:t>fma</a:t>
            </a:r>
            <a:r>
              <a:rPr lang="en-US" sz="240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</a:t>
            </a:r>
            <a:r>
              <a:rPr lang="en-US" altLang="en-US" sz="1600" b="1" err="1">
                <a:solidFill>
                  <a:srgbClr val="000000"/>
                </a:solidFill>
              </a:rPr>
              <a:t>mom.perp</a:t>
            </a:r>
            <a:r>
              <a:rPr lang="en-US" altLang="en-US" sz="1600" b="1">
                <a:solidFill>
                  <a:srgbClr val="000000"/>
                </a:solidFill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</a:t>
            </a:r>
            <a:r>
              <a:rPr lang="en-US" altLang="en-US" sz="1600" b="1" err="1">
                <a:solidFill>
                  <a:srgbClr val="000000"/>
                </a:solidFill>
              </a:rPr>
              <a:t>a_i</a:t>
            </a:r>
            <a:r>
              <a:rPr lang="en-US" altLang="en-US" sz="1600" b="1">
                <a:solidFill>
                  <a:srgbClr val="000000"/>
                </a:solidFill>
              </a:rPr>
              <a:t>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 +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r_x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r_y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944" y="94576"/>
            <a:ext cx="5195056" cy="233913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  <a:p>
            <a:pPr lvl="1"/>
            <a:r>
              <a:rPr lang="en-US" dirty="0">
                <a:hlinkClick r:id="rId6"/>
              </a:rPr>
              <a:t>https://pavpanchekha.com/blog/casio-mathjs.html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572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  (2025) </a:t>
            </a:r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r>
              <a:rPr lang="en-US" dirty="0"/>
              <a:t>Bleeding edge</a:t>
            </a:r>
          </a:p>
          <a:p>
            <a:pPr lvl="1"/>
            <a:r>
              <a:rPr lang="en-US" dirty="0"/>
              <a:t>IEEE Arith Conference: </a:t>
            </a:r>
            <a:r>
              <a:rPr lang="en-US" dirty="0">
                <a:hlinkClick r:id="rId7"/>
              </a:rPr>
              <a:t>https://arith2026.org/archive.html</a:t>
            </a:r>
            <a:endParaRPr lang="en-US" dirty="0"/>
          </a:p>
          <a:p>
            <a:pPr lvl="1"/>
            <a:r>
              <a:rPr lang="en-US" dirty="0" err="1"/>
              <a:t>FPTalks</a:t>
            </a:r>
            <a:r>
              <a:rPr lang="en-US" dirty="0"/>
              <a:t>: </a:t>
            </a:r>
            <a:r>
              <a:rPr lang="en-US" dirty="0">
                <a:hlinkClick r:id="rId8"/>
              </a:rPr>
              <a:t>https://fptalks.org/</a:t>
            </a:r>
            <a:endParaRPr lang="en-US" dirty="0"/>
          </a:p>
          <a:p>
            <a:pPr lvl="1"/>
            <a:r>
              <a:rPr lang="en-US" dirty="0"/>
              <a:t>NGT Workshop: </a:t>
            </a:r>
            <a:r>
              <a:rPr lang="en-US" dirty="0">
                <a:hlinkClick r:id="rId9"/>
              </a:rPr>
              <a:t>https://indico.cern.ch/event/1538409/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does have a single precision FP number?</a:t>
            </a:r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</a:t>
            </a:r>
            <a:r>
              <a:rPr lang="en-US" dirty="0" err="1"/>
              <a:t>ffinite</a:t>
            </a:r>
            <a:r>
              <a:rPr lang="en-US" dirty="0"/>
              <a:t>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”exp”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1.2E-7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1.1E-16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= r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>
              <a:latin typeface="Lucida Calligraphy" charset="0"/>
            </a:endParaRPr>
          </a:p>
          <a:p>
            <a:pPr eaLnBrk="1" hangingPunct="1"/>
            <a:r>
              <a:rPr lang="en-US" altLang="x-none" sz="1800">
                <a:latin typeface="Lucida Calligraphy" charset="0"/>
              </a:rPr>
              <a:t>Compute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x</a:t>
            </a:r>
            <a:r>
              <a:rPr lang="en-US" altLang="x-none" sz="1800" baseline="30000"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latin typeface="Lucida Calligraphy" charset="0"/>
              </a:rPr>
              <a:t>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    ~ 0 (zero)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/>
              <a:t>Alternative formulation equivalent to change of </a:t>
            </a:r>
          </a:p>
          <a:p>
            <a:pPr eaLnBrk="1" hangingPunct="1"/>
            <a:r>
              <a:rPr lang="en-US" altLang="x-none" sz="1800"/>
              <a:t>coordinate centered at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-2ar(x-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/>
              <a:t>In our simplified case </a:t>
            </a:r>
            <a:r>
              <a:rPr lang="en-US" altLang="x-none" sz="1800">
                <a:latin typeface="Lucida Calligraphy" charset="0"/>
              </a:rPr>
              <a:t>a=1, b=0,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- 2(x-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 </a:t>
            </a:r>
            <a:r>
              <a:rPr lang="en-US" altLang="x-none" sz="1800" baseline="30000"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   </a:t>
            </a:r>
            <a:r>
              <a:rPr lang="en-US" altLang="x-none" sz="1800">
                <a:latin typeface="Lucida Calligraphy" charset="0"/>
              </a:rPr>
              <a:t>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latin typeface="Lucida Calligraphy" charset="0"/>
              </a:rPr>
              <a:t>              </a:t>
            </a:r>
            <a:r>
              <a:rPr lang="en-US" altLang="x-none" sz="1800">
                <a:latin typeface="+mn-lt"/>
              </a:rPr>
              <a:t>(naïve: cancellation!!)</a:t>
            </a:r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(r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)   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2r   </a:t>
            </a:r>
            <a:r>
              <a:rPr lang="en-US" altLang="x-none" sz="1800"/>
              <a:t>(optimal)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63433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Ultimate single hit 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  <a:p>
            <a:endParaRPr lang="en-US" dirty="0"/>
          </a:p>
          <a:p>
            <a:r>
              <a:rPr lang="en-US" dirty="0"/>
              <a:t>In both cases 19 bits (absolute: </a:t>
            </a:r>
            <a:r>
              <a:rPr lang="en-US" dirty="0" err="1"/>
              <a:t>ie</a:t>
            </a:r>
            <a:r>
              <a:rPr lang="en-US" dirty="0"/>
              <a:t> integer) are enough as precision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Ultimate 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1Gev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11AE08-7C68-EFCB-2A3A-22C5ED3CCDAE}"/>
              </a:ext>
            </a:extLst>
          </p:cNvPr>
          <p:cNvSpPr txBox="1"/>
          <p:nvPr/>
        </p:nvSpPr>
        <p:spPr>
          <a:xfrm>
            <a:off x="650449" y="5288437"/>
            <a:ext cx="11456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bits (relative)                                                      18 bits absolute                                       14 bits absolute  (inside beam pipe)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CMS Electromagnetic </a:t>
            </a:r>
            <a:r>
              <a:rPr lang="en-US" err="1"/>
              <a:t>Calorimiter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27AC14-9179-9B9B-3036-049C5497D8C1}"/>
              </a:ext>
            </a:extLst>
          </p:cNvPr>
          <p:cNvSpPr txBox="1"/>
          <p:nvPr/>
        </p:nvSpPr>
        <p:spPr>
          <a:xfrm>
            <a:off x="1593130" y="5307291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bits relative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0E2A77-C2C7-4A9A-218F-CCE193FB535E}"/>
              </a:ext>
            </a:extLst>
          </p:cNvPr>
          <p:cNvSpPr txBox="1"/>
          <p:nvPr/>
        </p:nvSpPr>
        <p:spPr>
          <a:xfrm>
            <a:off x="6202837" y="5203596"/>
            <a:ext cx="1673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 bits absolute</a:t>
            </a:r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72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</a:t>
            </a:r>
            <a:r>
              <a:rPr lang="en-US" altLang="x-none" sz="1800" err="1"/>
              <a:t>x+y</a:t>
            </a:r>
            <a:r>
              <a:rPr lang="en-US" altLang="x-none" sz="1800"/>
              <a:t>*y;}</a:t>
            </a:r>
          </a:p>
          <a:p>
            <a:pPr eaLnBrk="1" hangingPunct="1"/>
            <a:r>
              <a:rPr lang="en-US" altLang="x-none" sz="1800"/>
              <a:t>inline float pt(float x, float y) {return std::sqrt(pt2(</a:t>
            </a:r>
            <a:r>
              <a:rPr lang="en-US" altLang="x-none" sz="1800" err="1"/>
              <a:t>x,y</a:t>
            </a:r>
            <a:r>
              <a:rPr lang="en-US" altLang="x-none" sz="1800"/>
              <a:t>));}</a:t>
            </a:r>
          </a:p>
          <a:p>
            <a:pPr eaLnBrk="1" hangingPunct="1"/>
            <a:r>
              <a:rPr lang="en-US" altLang="x-none" sz="1800"/>
              <a:t>inline float phi(float x, float y) {return std::atan2(</a:t>
            </a:r>
            <a:r>
              <a:rPr lang="en-US" altLang="x-none" sz="1800" err="1"/>
              <a:t>y,x</a:t>
            </a:r>
            <a:r>
              <a:rPr lang="en-US" altLang="x-none" sz="1800"/>
              <a:t>);}</a:t>
            </a:r>
          </a:p>
          <a:p>
            <a:pPr eaLnBrk="1" hangingPunct="1"/>
            <a:r>
              <a:rPr lang="en-US" altLang="x-none" sz="1800"/>
              <a:t>inline eta(float x, float y, float z) { float t(z/pt(</a:t>
            </a:r>
            <a:r>
              <a:rPr lang="en-US" altLang="x-none" sz="1800" err="1"/>
              <a:t>x,y</a:t>
            </a:r>
            <a:r>
              <a:rPr lang="en-US" altLang="x-none" sz="1800"/>
              <a:t>)); return ::</a:t>
            </a:r>
            <a:r>
              <a:rPr lang="en-US" altLang="x-none" sz="1800" err="1"/>
              <a:t>asinhf</a:t>
            </a:r>
            <a:r>
              <a:rPr lang="en-US" altLang="x-none" sz="1800"/>
              <a:t>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</a:t>
            </a:r>
            <a:r>
              <a:rPr lang="en-US" altLang="x-none" sz="1800" err="1"/>
              <a:t>dphi</a:t>
            </a:r>
            <a:r>
              <a:rPr lang="en-US" altLang="x-none" sz="1800"/>
              <a:t>(float p1,float p2) {</a:t>
            </a:r>
          </a:p>
          <a:p>
            <a:pPr eaLnBrk="1" hangingPunct="1"/>
            <a:r>
              <a:rPr lang="en-US" altLang="x-none" sz="1800"/>
              <a:t>    auto </a:t>
            </a:r>
            <a:r>
              <a:rPr lang="en-US" altLang="x-none" sz="1800" err="1"/>
              <a:t>dp</a:t>
            </a:r>
            <a:r>
              <a:rPr lang="en-US" altLang="x-none" sz="1800"/>
              <a:t>=std::abs(p1-p2); if (</a:t>
            </a:r>
            <a:r>
              <a:rPr lang="en-US" altLang="x-none" sz="1800" err="1"/>
              <a:t>dp</a:t>
            </a:r>
            <a:r>
              <a:rPr lang="en-US" altLang="x-none" sz="1800"/>
              <a:t>&gt;float(M_PI)) </a:t>
            </a:r>
            <a:r>
              <a:rPr lang="en-US" altLang="x-none" sz="1800" err="1"/>
              <a:t>dp</a:t>
            </a:r>
            <a:r>
              <a:rPr lang="en-US" altLang="x-none" sz="1800"/>
              <a:t>-=float(2*M_PI);</a:t>
            </a:r>
          </a:p>
          <a:p>
            <a:pPr eaLnBrk="1" hangingPunct="1"/>
            <a:r>
              <a:rPr lang="en-US" altLang="x-none" sz="1800"/>
              <a:t>    return std::abs(</a:t>
            </a:r>
            <a:r>
              <a:rPr lang="en-US" altLang="x-none" sz="1800" err="1"/>
              <a:t>dp</a:t>
            </a:r>
            <a:r>
              <a:rPr lang="en-US" altLang="x-none" sz="1800"/>
              <a:t>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97505</TotalTime>
  <Words>7349</Words>
  <Application>Microsoft Macintosh PowerPoint</Application>
  <PresentationFormat>Widescreen</PresentationFormat>
  <Paragraphs>986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 https://godbolt.org/z/nq5Po1Gdz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float vs double: summary</vt:lpstr>
      <vt:lpstr>Elementary functions 1/throughput (in cycles) (origin https://core-math.gitlabpages.inria.fr/)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Ultimate track resolution </vt:lpstr>
      <vt:lpstr>Example: CMS Electromagnetic Calorimiter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368</cp:revision>
  <dcterms:created xsi:type="dcterms:W3CDTF">2026-04-12T14:58:51Z</dcterms:created>
  <dcterms:modified xsi:type="dcterms:W3CDTF">2026-06-29T09:04:10Z</dcterms:modified>
</cp:coreProperties>
</file>