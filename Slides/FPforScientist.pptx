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469" r:id="rId29"/>
    <p:sldId id="482" r:id="rId30"/>
    <p:sldId id="276" r:id="rId31"/>
    <p:sldId id="493" r:id="rId32"/>
    <p:sldId id="470" r:id="rId33"/>
    <p:sldId id="480" r:id="rId34"/>
    <p:sldId id="471" r:id="rId35"/>
    <p:sldId id="474" r:id="rId36"/>
    <p:sldId id="473" r:id="rId37"/>
    <p:sldId id="475" r:id="rId38"/>
    <p:sldId id="472" r:id="rId39"/>
    <p:sldId id="476" r:id="rId40"/>
    <p:sldId id="477" r:id="rId41"/>
    <p:sldId id="478" r:id="rId42"/>
    <p:sldId id="479" r:id="rId43"/>
    <p:sldId id="381" r:id="rId44"/>
    <p:sldId id="396" r:id="rId45"/>
    <p:sldId id="341" r:id="rId46"/>
    <p:sldId id="413" r:id="rId47"/>
    <p:sldId id="421" r:id="rId48"/>
    <p:sldId id="481" r:id="rId49"/>
    <p:sldId id="444" r:id="rId50"/>
    <p:sldId id="397" r:id="rId51"/>
    <p:sldId id="265" r:id="rId52"/>
    <p:sldId id="484" r:id="rId53"/>
    <p:sldId id="488" r:id="rId54"/>
    <p:sldId id="489" r:id="rId55"/>
    <p:sldId id="490" r:id="rId56"/>
    <p:sldId id="363" r:id="rId57"/>
    <p:sldId id="365" r:id="rId58"/>
    <p:sldId id="494" r:id="rId59"/>
    <p:sldId id="495" r:id="rId60"/>
    <p:sldId id="483" r:id="rId61"/>
    <p:sldId id="393" r:id="rId62"/>
    <p:sldId id="485" r:id="rId63"/>
    <p:sldId id="487" r:id="rId64"/>
    <p:sldId id="486" r:id="rId6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837"/>
    <p:restoredTop sz="96327"/>
  </p:normalViewPr>
  <p:slideViewPr>
    <p:cSldViewPr snapToGrid="0" snapToObjects="1">
      <p:cViewPr>
        <p:scale>
          <a:sx n="120" d="100"/>
          <a:sy n="120" d="100"/>
        </p:scale>
        <p:origin x="14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printed in </a:t>
            </a:r>
            <a:r>
              <a:rPr lang="en-US" dirty="0" err="1"/>
              <a:t>exadecimal</a:t>
            </a:r>
            <a:endParaRPr lang="en-US" dirty="0"/>
          </a:p>
          <a:p>
            <a:pPr marL="0" indent="0">
              <a:buNone/>
            </a:pPr>
            <a:r>
              <a:rPr lang="en-US" sz="1900" dirty="0"/>
              <a:t>(printed in binary is a 1 followed by a string of 23bits</a:t>
            </a:r>
            <a:r>
              <a:rPr lang="en-US" sz="1900" baseline="30000" dirty="0"/>
              <a:t>, </a:t>
            </a:r>
            <a:r>
              <a:rPr lang="cs-CZ" altLang="x-none" sz="1900" dirty="0">
                <a:latin typeface="Lucida Console" charset="0"/>
              </a:rPr>
              <a:t>1.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sz="1900" dirty="0">
                <a:latin typeface="Lucida Console" charset="0"/>
              </a:rPr>
              <a:t>0010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sz="1900" dirty="0">
                <a:latin typeface="Lucida Console" charset="0"/>
              </a:rPr>
              <a:t>1111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sz="1900" dirty="0">
                <a:latin typeface="Lucida Console" charset="0"/>
              </a:rPr>
              <a:t>011</a:t>
            </a:r>
            <a:r>
              <a:rPr lang="is-IS" altLang="x-none" sz="1900" dirty="0">
                <a:latin typeface="Lucida Console" charset="0"/>
              </a:rPr>
              <a:t> </a:t>
            </a:r>
            <a:r>
              <a:rPr lang="en-US" sz="1900" dirty="0"/>
              <a:t>in hex last digit is therefore always even)</a:t>
            </a:r>
          </a:p>
          <a:p>
            <a:pPr marL="0" indent="0">
              <a:buNone/>
            </a:pP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 dirty="0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754098" y="83661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 dirty="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3.14159274e+00 0x1.921fb6p+1   01000000010010010000111111011011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1.00000001e-01 0x1.99999ap-4   00111101110011001100110011001101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</a:t>
            </a:r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2.93873588e-39 0x1p-128        00000000001000000000000000000000</a:t>
            </a:r>
            <a:endParaRPr lang="en-US" altLang="x-none" sz="1600" dirty="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they are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507" y="120649"/>
            <a:ext cx="2686493" cy="3276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 dirty="0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4952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Improved algorithms exist, differently handling various magnitude ranges (“big”, “medium” and “tiny”) or by (partial) sorting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 dirty="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uniform in [0.5,1)</a:t>
            </a:r>
          </a:p>
          <a:p>
            <a:pPr lvl="1"/>
            <a:r>
              <a:rPr lang="en-US" dirty="0"/>
              <a:t>If 0 :Throw one more coin: if 1 set exponent of r to -2: uniform in [0.25,0.5)</a:t>
            </a:r>
          </a:p>
          <a:p>
            <a:pPr lvl="2"/>
            <a:r>
              <a:rPr lang="en-US" dirty="0"/>
              <a:t>If 0:  Throw one more coin: if 1 set exponent of r to -3: uniform in [0.125,0.25)</a:t>
            </a:r>
          </a:p>
          <a:p>
            <a:pPr lvl="3"/>
            <a:r>
              <a:rPr lang="en-US" dirty="0"/>
              <a:t>If 0:  Throw one more coin: if 1 set exponent of r to -4: uniform in [0.0625,0.125)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needed : use last coin to choose sign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33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a function</a:t>
            </a:r>
            <a:br>
              <a:rPr lang="en-US" dirty="0"/>
            </a:br>
            <a:r>
              <a:rPr lang="en-US" sz="2700" dirty="0"/>
              <a:t>for a recent review see </a:t>
            </a:r>
            <a:r>
              <a:rPr lang="en-US" sz="2700" dirty="0">
                <a:hlinkClick r:id="rId2"/>
              </a:rPr>
              <a:t>https://dl.acm.org/doi/pdf/10.1145/3747840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r>
              <a:rPr lang="en-US" dirty="0"/>
              <a:t> ,</a:t>
            </a:r>
            <a:r>
              <a:rPr lang="en-US" dirty="0" err="1"/>
              <a:t>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</a:t>
            </a:r>
            <a:r>
              <a:rPr lang="en-US" dirty="0"/>
              <a:t>, hyperbolic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polynomials)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polynomials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rsqrt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43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 dirty="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167563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</a:t>
            </a:r>
            <a:r>
              <a:rPr lang="en-US" altLang="x-none" sz="1800" b="1" dirty="0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 dirty="0">
                <a:solidFill>
                  <a:srgbClr val="FF0000"/>
                </a:solidFill>
              </a:rPr>
              <a:t> branches)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April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46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99042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GPU (T4) performance</a:t>
            </a:r>
            <a:br>
              <a:rPr lang="en-US" dirty="0"/>
            </a:br>
            <a:r>
              <a:rPr lang="en-US" sz="2700" dirty="0"/>
              <a:t>Brute-force inversion of 5x5 Pos-Def Matrix using Cholesky decomposition</a:t>
            </a:r>
            <a:br>
              <a:rPr lang="en-US" sz="2700" dirty="0"/>
            </a:br>
            <a:r>
              <a:rPr lang="en-US" sz="2200" dirty="0"/>
              <a:t>33 + , 29 - , 126 * , 5 / , no sqrt    (compiler optimization and </a:t>
            </a:r>
            <a:r>
              <a:rPr lang="en-US" sz="2200" dirty="0" err="1"/>
              <a:t>fma</a:t>
            </a:r>
            <a:r>
              <a:rPr lang="en-US" sz="2200" dirty="0"/>
              <a:t> will contract some)</a:t>
            </a:r>
            <a:br>
              <a:rPr lang="en-US" dirty="0"/>
            </a:br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in </a:t>
            </a:r>
            <a:r>
              <a:rPr lang="en-US" altLang="en-US"/>
              <a:t>“</a:t>
            </a:r>
            <a:r>
              <a:rPr lang="en-US" altLang="ja-JP"/>
              <a:t>libm</a:t>
            </a:r>
            <a:r>
              <a:rPr lang="en-US" altLang="en-US"/>
              <a:t>”</a:t>
            </a:r>
            <a:endParaRPr lang="en-US" altLang="x-none"/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49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063" y="3429001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50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70A33-35F0-9B4A-A7F6-FA35E34CE217}" type="datetime1">
              <a:rPr lang="Zyyy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V.I.  Accuracy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51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pitfalls</a:t>
            </a:r>
            <a:br>
              <a:rPr lang="en-US" dirty="0"/>
            </a:br>
            <a:r>
              <a:rPr lang="en-US" dirty="0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essentially any language default float </a:t>
            </a:r>
            <a:r>
              <a:rPr lang="en-US" dirty="0" err="1"/>
              <a:t>arith</a:t>
            </a:r>
            <a:r>
              <a:rPr lang="en-US" dirty="0"/>
              <a:t> is in double</a:t>
            </a:r>
          </a:p>
          <a:p>
            <a:pPr lvl="1"/>
            <a:r>
              <a:rPr lang="en-US" dirty="0"/>
              <a:t>Any other precision needs to be explicitly stated</a:t>
            </a:r>
          </a:p>
          <a:p>
            <a:pPr lvl="1"/>
            <a:r>
              <a:rPr lang="en-US" dirty="0"/>
              <a:t>One element in double and the expression will be evaluated in double</a:t>
            </a:r>
          </a:p>
          <a:p>
            <a:r>
              <a:rPr lang="en-US" dirty="0"/>
              <a:t>C and C++ compilers (</a:t>
            </a:r>
            <a:r>
              <a:rPr lang="en-US" dirty="0" err="1"/>
              <a:t>gcc</a:t>
            </a:r>
            <a:r>
              <a:rPr lang="en-US" dirty="0"/>
              <a:t>, clang) by default will never reorder or transform expressions if the result may change</a:t>
            </a:r>
          </a:p>
          <a:p>
            <a:pPr lvl="1"/>
            <a:r>
              <a:rPr lang="en-US" dirty="0"/>
              <a:t>FMA is (currently) an exception</a:t>
            </a:r>
          </a:p>
          <a:p>
            <a:r>
              <a:rPr lang="en-US" dirty="0"/>
              <a:t>C is a language born in the late `70</a:t>
            </a:r>
          </a:p>
          <a:p>
            <a:pPr lvl="1"/>
            <a:r>
              <a:rPr lang="en-US" dirty="0"/>
              <a:t>even C++ does not (potentially) break old code    </a:t>
            </a:r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Compiler option affecting FP Arith</a:t>
            </a:r>
            <a:br>
              <a:rPr lang="en-US" dirty="0"/>
            </a:br>
            <a:r>
              <a:rPr lang="en-US" sz="2700" dirty="0">
                <a:hlinkClick r:id="rId2"/>
              </a:rPr>
              <a:t>https://gcc.gnu.org/wiki/FloatingPointMath</a:t>
            </a:r>
            <a:br>
              <a:rPr lang="en-US" sz="3600" dirty="0"/>
            </a:br>
            <a:r>
              <a:rPr lang="en-US" sz="2700" dirty="0">
                <a:hlinkClick r:id="rId3"/>
              </a:rPr>
              <a:t>https://clang.llvm.org/docs/UsersManual.html - controlling-floating-point-behavior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r>
              <a:rPr lang="en-US" dirty="0">
                <a:solidFill>
                  <a:srgbClr val="00B05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-finite-math-only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r>
              <a:rPr lang="en-US" dirty="0">
                <a:solidFill>
                  <a:srgbClr val="FFC000"/>
                </a:solidFill>
              </a:rPr>
              <a:t>   (</a:t>
            </a:r>
            <a:r>
              <a:rPr lang="en-US" dirty="0" err="1">
                <a:solidFill>
                  <a:srgbClr val="FFC000"/>
                </a:solidFill>
              </a:rPr>
              <a:t>NaN</a:t>
            </a:r>
            <a:r>
              <a:rPr lang="en-US" dirty="0">
                <a:solidFill>
                  <a:srgbClr val="FFC000"/>
                </a:solidFill>
              </a:rPr>
              <a:t>&gt;Inf&gt;any-finite-float)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</a:t>
            </a:r>
            <a:r>
              <a:rPr lang="en-US" dirty="0" err="1"/>
              <a:t>fma</a:t>
            </a:r>
            <a:r>
              <a:rPr lang="en-US" dirty="0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gcc</a:t>
            </a:r>
            <a:r>
              <a:rPr lang="en-US" dirty="0"/>
              <a:t>  (and clang)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ffp</a:t>
            </a:r>
            <a:r>
              <a:rPr lang="en-US" dirty="0">
                <a:latin typeface="Courier" pitchFamily="2" charset="0"/>
              </a:rPr>
              <a:t>-contract=off 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fast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2"/>
              </a:rPr>
              <a:t>https://stackoverflow.com/questions/43352510/difference-in-gcc-ffp-contract-options</a:t>
            </a:r>
            <a:endParaRPr lang="en-US" sz="2000" dirty="0"/>
          </a:p>
          <a:p>
            <a:endParaRPr lang="en-US" dirty="0"/>
          </a:p>
          <a:p>
            <a:r>
              <a:rPr lang="en-US" dirty="0" err="1"/>
              <a:t>cuda</a:t>
            </a:r>
            <a:r>
              <a:rPr lang="en-US" dirty="0"/>
              <a:t> (</a:t>
            </a:r>
            <a:r>
              <a:rPr lang="en-US" dirty="0" err="1"/>
              <a:t>nvcc</a:t>
            </a:r>
            <a:r>
              <a:rPr lang="en-US" dirty="0"/>
              <a:t>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fmad</a:t>
            </a:r>
            <a:r>
              <a:rPr lang="en-US" dirty="0">
                <a:latin typeface="Courier" pitchFamily="2" charset="0"/>
              </a:rPr>
              <a:t>=false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true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3"/>
              </a:rPr>
              <a:t>https://docs.nvidia.com/cuda/floating-point/index.html</a:t>
            </a:r>
            <a:r>
              <a:rPr lang="en-US" sz="2000" dirty="0"/>
              <a:t> </a:t>
            </a:r>
          </a:p>
          <a:p>
            <a:pPr lvl="1"/>
            <a:endParaRPr lang="en-US" sz="2000" dirty="0"/>
          </a:p>
          <a:p>
            <a:r>
              <a:rPr lang="en-US" sz="2400" dirty="0" err="1"/>
              <a:t>fma</a:t>
            </a:r>
            <a:r>
              <a:rPr lang="en-US" sz="2400" dirty="0"/>
              <a:t> functions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55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 dirty="0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56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 dirty="0">
                <a:ea typeface="ＭＳ Ｐゴシック" panose="020B0600070205080204" pitchFamily="34" charset="-128"/>
              </a:rPr>
            </a:br>
            <a:r>
              <a:rPr lang="en-US" altLang="en-US" dirty="0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57</a:t>
            </a:fld>
            <a:endParaRPr lang="en-US" altLang="en-US" sz="1200" dirty="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1233" y="1676401"/>
            <a:ext cx="8153400" cy="2092325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pt =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mom.perp</a:t>
            </a:r>
            <a:r>
              <a:rPr lang="en-US" altLang="en-US" sz="1600" b="1" dirty="0">
                <a:solidFill>
                  <a:srgbClr val="000000"/>
                </a:solidFill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j = </a:t>
            </a:r>
            <a:r>
              <a:rPr lang="en-US" altLang="en-US" sz="1600" b="1" dirty="0" err="1">
                <a:solidFill>
                  <a:srgbClr val="000000"/>
                </a:solidFill>
              </a:rPr>
              <a:t>a_i</a:t>
            </a:r>
            <a:r>
              <a:rPr lang="en-US" altLang="en-US" sz="1600" b="1" dirty="0">
                <a:solidFill>
                  <a:srgbClr val="000000"/>
                </a:solidFill>
              </a:rPr>
              <a:t>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 +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r_x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r_y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s = 1/(pt*pt*sqrt(1 - j*j));</a:t>
            </a:r>
            <a:endParaRPr lang="en-US" altLang="en-US" sz="1600" dirty="0">
              <a:solidFill>
                <a:srgbClr val="000000"/>
              </a:solidFill>
            </a:endParaRP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604" y="195383"/>
            <a:ext cx="5129396" cy="2309571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1.2E-7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1.1E-16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61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inline float pt2(float x, float y) {return x*</a:t>
            </a:r>
            <a:r>
              <a:rPr lang="en-US" altLang="x-none" sz="1800" dirty="0" err="1"/>
              <a:t>x+y</a:t>
            </a:r>
            <a:r>
              <a:rPr lang="en-US" altLang="x-none" sz="1800" dirty="0"/>
              <a:t>*y;}</a:t>
            </a:r>
          </a:p>
          <a:p>
            <a:pPr eaLnBrk="1" hangingPunct="1"/>
            <a:r>
              <a:rPr lang="en-US" altLang="x-none" sz="1800" dirty="0"/>
              <a:t>inline float pt(float x, float y) {return std::sqrt(pt2(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));}</a:t>
            </a:r>
          </a:p>
          <a:p>
            <a:pPr eaLnBrk="1" hangingPunct="1"/>
            <a:r>
              <a:rPr lang="en-US" altLang="x-none" sz="1800" dirty="0"/>
              <a:t>inline float phi(float x, float y) {return std::atan2(</a:t>
            </a:r>
            <a:r>
              <a:rPr lang="en-US" altLang="x-none" sz="1800" dirty="0" err="1"/>
              <a:t>y,x</a:t>
            </a:r>
            <a:r>
              <a:rPr lang="en-US" altLang="x-none" sz="1800" dirty="0"/>
              <a:t>);}</a:t>
            </a:r>
          </a:p>
          <a:p>
            <a:pPr eaLnBrk="1" hangingPunct="1"/>
            <a:r>
              <a:rPr lang="en-US" altLang="x-none" sz="1800" dirty="0"/>
              <a:t>inline eta(float x, float y, float z) { float t(z/pt(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 return ::</a:t>
            </a:r>
            <a:r>
              <a:rPr lang="en-US" altLang="x-none" sz="1800" dirty="0" err="1"/>
              <a:t>asinhf</a:t>
            </a:r>
            <a:r>
              <a:rPr lang="en-US" altLang="x-none" sz="1800" dirty="0"/>
              <a:t>(t);} </a:t>
            </a:r>
          </a:p>
          <a:p>
            <a:pPr eaLnBrk="1" hangingPunct="1"/>
            <a:r>
              <a:rPr lang="en-US" altLang="x-none" sz="1800" dirty="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 dirty="0"/>
              <a:t>Inline float </a:t>
            </a:r>
            <a:r>
              <a:rPr lang="en-US" altLang="x-none" sz="1800" dirty="0" err="1"/>
              <a:t>dphi</a:t>
            </a:r>
            <a:r>
              <a:rPr lang="en-US" altLang="x-none" sz="1800" dirty="0"/>
              <a:t>(float p1,float p2) {</a:t>
            </a:r>
          </a:p>
          <a:p>
            <a:pPr eaLnBrk="1" hangingPunct="1"/>
            <a:r>
              <a:rPr lang="en-US" altLang="x-none" sz="1800" dirty="0"/>
              <a:t>    auto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=std::abs(p1-p2); if 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&gt;float(M_PI))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-=float(2*M_PI);</a:t>
            </a:r>
          </a:p>
          <a:p>
            <a:pPr eaLnBrk="1" hangingPunct="1"/>
            <a:r>
              <a:rPr lang="en-US" altLang="x-none" sz="1800" dirty="0"/>
              <a:t>    return std::abs(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);</a:t>
            </a:r>
          </a:p>
          <a:p>
            <a:pPr eaLnBrk="1" hangingPunct="1"/>
            <a:r>
              <a:rPr lang="en-US" altLang="x-none" sz="1800" dirty="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CMS Electromagnetic </a:t>
            </a:r>
            <a:r>
              <a:rPr lang="en-US" dirty="0" err="1"/>
              <a:t>Calorimiter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1Gev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FF0000"/>
                </a:solidFill>
              </a:rPr>
              <a:t>100GeV</a:t>
            </a:r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27106</TotalTime>
  <Words>6025</Words>
  <Application>Microsoft Macintosh PowerPoint</Application>
  <PresentationFormat>Widescreen</PresentationFormat>
  <Paragraphs>705</Paragraphs>
  <Slides>64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6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Console</vt:lpstr>
      <vt:lpstr>Wingdings</vt:lpstr>
      <vt:lpstr>Office Theme</vt:lpstr>
      <vt:lpstr>FloatingPoint Arithmetic for Scientist: Precision, Accuracy, Efficiency </vt:lpstr>
      <vt:lpstr>Definitions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TMD in decimal</vt:lpstr>
      <vt:lpstr>rsqrt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Elementary functions throughput (in cycles) (origin https://core-math.gitlabpages.inria.fr/)</vt:lpstr>
      <vt:lpstr>Precision vs Speed in “libm”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“additional” material</vt:lpstr>
      <vt:lpstr>What precision is good enough?</vt:lpstr>
      <vt:lpstr>Example: cut in pt, phi, eta</vt:lpstr>
      <vt:lpstr>Example: CMS tracker https://cms-tklayout.web.cern.ch/cmssw/OT806_IT742/info.html</vt:lpstr>
      <vt:lpstr>Example: CMS Electromagnetic Calorimiter</vt:lpstr>
      <vt:lpstr>Track resolution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243</cp:revision>
  <dcterms:created xsi:type="dcterms:W3CDTF">2026-04-12T14:58:51Z</dcterms:created>
  <dcterms:modified xsi:type="dcterms:W3CDTF">2026-05-01T11:53:07Z</dcterms:modified>
</cp:coreProperties>
</file>