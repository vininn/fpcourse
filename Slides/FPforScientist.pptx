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4"/>
  </p:notesMasterIdLst>
  <p:sldIdLst>
    <p:sldId id="257" r:id="rId2"/>
    <p:sldId id="491" r:id="rId3"/>
    <p:sldId id="258" r:id="rId4"/>
    <p:sldId id="259" r:id="rId5"/>
    <p:sldId id="256" r:id="rId6"/>
    <p:sldId id="372" r:id="rId7"/>
    <p:sldId id="260" r:id="rId8"/>
    <p:sldId id="261" r:id="rId9"/>
    <p:sldId id="461" r:id="rId10"/>
    <p:sldId id="455" r:id="rId11"/>
    <p:sldId id="439" r:id="rId12"/>
    <p:sldId id="394" r:id="rId13"/>
    <p:sldId id="262" r:id="rId14"/>
    <p:sldId id="456" r:id="rId15"/>
    <p:sldId id="457" r:id="rId16"/>
    <p:sldId id="458" r:id="rId17"/>
    <p:sldId id="492" r:id="rId18"/>
    <p:sldId id="459" r:id="rId19"/>
    <p:sldId id="441" r:id="rId20"/>
    <p:sldId id="460" r:id="rId21"/>
    <p:sldId id="462" r:id="rId22"/>
    <p:sldId id="463" r:id="rId23"/>
    <p:sldId id="464" r:id="rId24"/>
    <p:sldId id="465" r:id="rId25"/>
    <p:sldId id="468" r:id="rId26"/>
    <p:sldId id="466" r:id="rId27"/>
    <p:sldId id="467" r:id="rId28"/>
    <p:sldId id="500" r:id="rId29"/>
    <p:sldId id="469" r:id="rId30"/>
    <p:sldId id="482" r:id="rId31"/>
    <p:sldId id="276" r:id="rId32"/>
    <p:sldId id="493" r:id="rId33"/>
    <p:sldId id="470" r:id="rId34"/>
    <p:sldId id="480" r:id="rId35"/>
    <p:sldId id="471" r:id="rId36"/>
    <p:sldId id="474" r:id="rId37"/>
    <p:sldId id="473" r:id="rId38"/>
    <p:sldId id="475" r:id="rId39"/>
    <p:sldId id="472" r:id="rId40"/>
    <p:sldId id="476" r:id="rId41"/>
    <p:sldId id="477" r:id="rId42"/>
    <p:sldId id="479" r:id="rId43"/>
    <p:sldId id="478" r:id="rId44"/>
    <p:sldId id="381" r:id="rId45"/>
    <p:sldId id="396" r:id="rId46"/>
    <p:sldId id="341" r:id="rId47"/>
    <p:sldId id="413" r:id="rId48"/>
    <p:sldId id="421" r:id="rId49"/>
    <p:sldId id="481" r:id="rId50"/>
    <p:sldId id="496" r:id="rId51"/>
    <p:sldId id="444" r:id="rId52"/>
    <p:sldId id="397" r:id="rId53"/>
    <p:sldId id="265" r:id="rId54"/>
    <p:sldId id="484" r:id="rId55"/>
    <p:sldId id="488" r:id="rId56"/>
    <p:sldId id="489" r:id="rId57"/>
    <p:sldId id="490" r:id="rId58"/>
    <p:sldId id="363" r:id="rId59"/>
    <p:sldId id="365" r:id="rId60"/>
    <p:sldId id="494" r:id="rId61"/>
    <p:sldId id="501" r:id="rId62"/>
    <p:sldId id="498" r:id="rId63"/>
    <p:sldId id="497" r:id="rId64"/>
    <p:sldId id="499" r:id="rId65"/>
    <p:sldId id="495" r:id="rId66"/>
    <p:sldId id="483" r:id="rId67"/>
    <p:sldId id="393" r:id="rId68"/>
    <p:sldId id="434" r:id="rId69"/>
    <p:sldId id="435" r:id="rId70"/>
    <p:sldId id="485" r:id="rId71"/>
    <p:sldId id="486" r:id="rId72"/>
    <p:sldId id="487" r:id="rId7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39"/>
    <p:restoredTop sz="96327"/>
  </p:normalViewPr>
  <p:slideViewPr>
    <p:cSldViewPr snapToGrid="0" snapToObjects="1">
      <p:cViewPr>
        <p:scale>
          <a:sx n="181" d="100"/>
          <a:sy n="181" d="100"/>
        </p:scale>
        <p:origin x="1000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BC77A6-2771-B843-8720-9957316CF216}" type="datetimeFigureOut">
              <a:rPr lang="en-US" smtClean="0"/>
              <a:t>6/3/26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2B2F99-B26F-FC4D-9F02-AACA882572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0207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dl.acm.org/doi/pdf/10.1145/3747840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6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clang.llvm.org/docs/UsersManual.html#controlling-floating-point-behavior" TargetMode="External"/><Relationship Id="rId2" Type="http://schemas.openxmlformats.org/officeDocument/2006/relationships/hyperlink" Target="https://gcc.gnu.org/wiki/FloatingPointMath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vidia.com/cuda/floating-point/index.html" TargetMode="External"/><Relationship Id="rId2" Type="http://schemas.openxmlformats.org/officeDocument/2006/relationships/hyperlink" Target="https://stackoverflow.com/questions/43352510/difference-in-gcc-ffp-contract-options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godbolt.org/z/5TWjsKqha" TargetMode="Externa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ro.umontreal.ca/~mignotte/IFT2425/Disasters.html" TargetMode="External"/><Relationship Id="rId7" Type="http://schemas.openxmlformats.org/officeDocument/2006/relationships/image" Target="../media/image7.png"/><Relationship Id="rId2" Type="http://schemas.openxmlformats.org/officeDocument/2006/relationships/hyperlink" Target="http://ta.twi.tudelft.nl/users/vuik/wi211/disasters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avpanchekha.com/blog/casio-mathjs.html" TargetMode="External"/><Relationship Id="rId5" Type="http://schemas.openxmlformats.org/officeDocument/2006/relationships/hyperlink" Target="https://medium.com/@sohail_saifii/the-floating-point-standard-thats-silently-breaking-financial-software-7f7e93430dbb" TargetMode="External"/><Relationship Id="rId4" Type="http://schemas.openxmlformats.org/officeDocument/2006/relationships/hyperlink" Target="https://slate.com/technology/2019/10/round-floor-software-errors-stock-market-battlefield.html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book/10.1007/978-3-319-76526-6" TargetMode="External"/><Relationship Id="rId2" Type="http://schemas.openxmlformats.org/officeDocument/2006/relationships/hyperlink" Target="https://dl.acm.org/doi/pdf/10.1145/103162.103163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siam.org/publications/siam-news/articles/mixed-precision-computing-high-accuracy-with-low-precision/" TargetMode="External"/><Relationship Id="rId5" Type="http://schemas.openxmlformats.org/officeDocument/2006/relationships/hyperlink" Target="https://www.cambridge.org/core/journals/acta-numerica/article/floatingpoint-arithmetic/287C4D5F6D4A43FBEEB1ABED2A405AAF" TargetMode="External"/><Relationship Id="rId4" Type="http://schemas.openxmlformats.org/officeDocument/2006/relationships/hyperlink" Target="https://link.springer.com/book/10.1007/978-1-4899-7983-4" TargetMode="Externa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cms-tklayout.web.cern.ch/cmssw/OT806_IT742/info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2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3370019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538" y="-14930"/>
            <a:ext cx="11641461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 dirty="0">
                <a:latin typeface="Corbel" panose="020B0503020204020204" pitchFamily="34" charset="0"/>
              </a:rPr>
              <a:t> Arithmetic for Scientists: Precision, Accuracy, Efficiency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3749B7-FEF1-5F34-25FA-E74A86EEA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317881E-7C19-66CC-6248-D975C69E9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346A8E4-D839-60EB-B680-251D7AED0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7CA273-1CC2-C1BA-A822-8DE49B0B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31635A-7149-86F9-0BD6-6CC2B2D84A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AE765C-B0A4-268A-E33B-75074B01B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225958-4C16-E1FF-8752-D9D564733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5C8DA-F874-2FB6-81B7-7E5545D2F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67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922" y="2055813"/>
            <a:ext cx="11444934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(# significant digits)  printed in decimal</a:t>
            </a:r>
          </a:p>
          <a:p>
            <a:pPr marL="0" indent="0">
              <a:buNone/>
            </a:pPr>
            <a:r>
              <a:rPr lang="en-US" sz="2200" dirty="0"/>
              <a:t>FP are usually “normalized” : the first digit is always not zero 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printed in </a:t>
            </a:r>
            <a:r>
              <a:rPr lang="en-US" dirty="0" err="1"/>
              <a:t>exadecimal</a:t>
            </a:r>
            <a:endParaRPr lang="en-US" dirty="0"/>
          </a:p>
          <a:p>
            <a:pPr marL="0" indent="0">
              <a:buNone/>
            </a:pPr>
            <a:r>
              <a:rPr lang="en-US" sz="2200" dirty="0"/>
              <a:t>(printed in binary is a 1 followed by a string of 23bits</a:t>
            </a:r>
            <a:r>
              <a:rPr lang="en-US" sz="2200" baseline="30000" dirty="0"/>
              <a:t>, </a:t>
            </a:r>
            <a:r>
              <a:rPr lang="cs-CZ" altLang="x-none" sz="2200" dirty="0">
                <a:latin typeface="Lucida Console" charset="0"/>
              </a:rPr>
              <a:t>1.</a:t>
            </a:r>
            <a:r>
              <a:rPr lang="cs-CZ" altLang="x-none" sz="2200" dirty="0">
                <a:solidFill>
                  <a:srgbClr val="0070C0"/>
                </a:solidFill>
                <a:latin typeface="Lucida Console" charset="0"/>
              </a:rPr>
              <a:t>1001</a:t>
            </a:r>
            <a:r>
              <a:rPr lang="cs-CZ" altLang="x-none" sz="2200" dirty="0">
                <a:latin typeface="Lucida Console" charset="0"/>
              </a:rPr>
              <a:t>0010</a:t>
            </a:r>
            <a:r>
              <a:rPr lang="cs-CZ" altLang="x-none" sz="2200" dirty="0">
                <a:solidFill>
                  <a:srgbClr val="0070C0"/>
                </a:solidFill>
                <a:latin typeface="Lucida Console" charset="0"/>
              </a:rPr>
              <a:t>0001</a:t>
            </a:r>
            <a:r>
              <a:rPr lang="cs-CZ" altLang="x-none" sz="2200" dirty="0">
                <a:latin typeface="Lucida Console" charset="0"/>
              </a:rPr>
              <a:t>1111</a:t>
            </a:r>
            <a:r>
              <a:rPr lang="cs-CZ" altLang="x-none" sz="2200" dirty="0">
                <a:solidFill>
                  <a:srgbClr val="0070C0"/>
                </a:solidFill>
                <a:latin typeface="Lucida Console" charset="0"/>
              </a:rPr>
              <a:t>1011</a:t>
            </a:r>
            <a:r>
              <a:rPr lang="cs-CZ" altLang="x-none" sz="2200" dirty="0">
                <a:latin typeface="Lucida Console" charset="0"/>
              </a:rPr>
              <a:t>011</a:t>
            </a:r>
            <a:r>
              <a:rPr lang="is-IS" altLang="x-none" sz="2200" dirty="0">
                <a:latin typeface="Lucida Console" charset="0"/>
              </a:rPr>
              <a:t> </a:t>
            </a:r>
            <a:r>
              <a:rPr lang="en-US" sz="2200" dirty="0"/>
              <a:t>in hex last digit is therefore always even)</a:t>
            </a:r>
          </a:p>
          <a:p>
            <a:pPr marL="0" indent="0">
              <a:buNone/>
            </a:pP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6ABD1D-8FBB-A7AD-CC1C-F9F333738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1398E5-4589-442A-BE19-FB442E73A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A6CE6-25B2-3A9C-94E3-5CD25B62B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marL="457200" lvl="1" indent="0">
              <a:buNone/>
            </a:pPr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FD7F65-CBC4-78E5-8CC5-1C92B8AA1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26519-0D04-76EE-55C9-93FCFDCDA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F954FF-EA56-AC9C-327E-ADECBCE28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The result of a measurement is 3.1415 and its accuracy, say, 0.1.</a:t>
            </a:r>
          </a:p>
          <a:p>
            <a:pPr marL="0" indent="0">
              <a:buNone/>
            </a:pPr>
            <a:r>
              <a:rPr lang="en-US" dirty="0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 dirty="0"/>
              <a:t>3.1415 -&gt; 3.1  (3.1515 -&gt; 3.2)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represents all numbers in the interval [30.5ᐧ10</a:t>
            </a:r>
            <a:r>
              <a:rPr lang="en-US" baseline="30000" dirty="0"/>
              <a:t>-1</a:t>
            </a:r>
            <a:r>
              <a:rPr lang="en-US" dirty="0"/>
              <a:t>, 31.5ᐧ10</a:t>
            </a:r>
            <a:r>
              <a:rPr lang="en-US" baseline="30000" dirty="0"/>
              <a:t>-1</a:t>
            </a:r>
            <a:r>
              <a:rPr lang="en-US" dirty="0"/>
              <a:t>]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represents all numbers in the interval [</a:t>
            </a:r>
            <a:r>
              <a:rPr lang="cs-CZ" altLang="x-none" dirty="0"/>
              <a:t>1.921fb5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,1.921fb7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]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19841" y="199840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dirty="0"/>
                <a:t>1.921fb5</a:t>
              </a:r>
              <a:r>
                <a:rPr lang="en-US" sz="1800" dirty="0" err="1"/>
                <a:t>ᐧ</a:t>
              </a:r>
              <a:r>
                <a:rPr lang="cs-CZ" altLang="x-none" sz="1800" dirty="0"/>
                <a:t>2</a:t>
              </a:r>
              <a:r>
                <a:rPr lang="cs-CZ" altLang="x-none" sz="1800" baseline="30000" dirty="0"/>
                <a:t>+1</a:t>
              </a:r>
              <a:endParaRPr lang="en-US" altLang="x-none" sz="1800" dirty="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15362" name="Picture 2" descr="Pi Equals">
            <a:extLst>
              <a:ext uri="{FF2B5EF4-FFF2-40B4-BE49-F238E27FC236}">
                <a16:creationId xmlns:a16="http://schemas.microsoft.com/office/drawing/2014/main" id="{083F5442-B7FC-9AA9-B37F-416157F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591" y="0"/>
            <a:ext cx="2952504" cy="1554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Date Placeholder 26">
            <a:extLst>
              <a:ext uri="{FF2B5EF4-FFF2-40B4-BE49-F238E27FC236}">
                <a16:creationId xmlns:a16="http://schemas.microsoft.com/office/drawing/2014/main" id="{85065ABA-F17B-A248-C376-A23297579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8C470FC2-3364-F680-BEE6-91827A1F2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D06B0926-48A0-21D3-BA64-AF216BD1B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5"/>
            <a:ext cx="8229600" cy="842444"/>
          </a:xfrm>
        </p:spPr>
        <p:txBody>
          <a:bodyPr/>
          <a:lstStyle/>
          <a:p>
            <a:r>
              <a:rPr lang="en-US" altLang="x-none" dirty="0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754098" y="836612"/>
            <a:ext cx="10599701" cy="5160151"/>
          </a:xfrm>
        </p:spPr>
        <p:txBody>
          <a:bodyPr>
            <a:normAutofit/>
          </a:bodyPr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r>
              <a:rPr lang="en-US" altLang="x-none" sz="2200" dirty="0"/>
              <a:t>A ”function”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correctly rounded </a:t>
            </a:r>
            <a:r>
              <a:rPr lang="en-US" altLang="x-none" sz="2200" dirty="0"/>
              <a:t>if the result corresponds to the rounded true value</a:t>
            </a:r>
          </a:p>
          <a:p>
            <a:r>
              <a:rPr lang="en-US" altLang="x-none" sz="2200" dirty="0"/>
              <a:t>A “function”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faithfully rounded </a:t>
            </a:r>
            <a:r>
              <a:rPr lang="en-US" altLang="x-none" sz="2200" dirty="0"/>
              <a:t>if the result corresponds to one of the two FP closest to the true value</a:t>
            </a:r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6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BF1BA0-51D9-E0B1-3846-09EFE93EA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3F1064-DE09-CBDE-3F52-D78027EE8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AB5CA1-B512-2197-E03F-1BB7C0F3B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25D09B-2090-EC16-F790-B0161A733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4330A9-C81F-630E-71CE-6E03A0916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EF979-6DBB-9B20-55A7-600F548AC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2135305"/>
              </p:ext>
            </p:extLst>
          </p:nvPr>
        </p:nvGraphicFramePr>
        <p:xfrm>
          <a:off x="1790700" y="3267739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 dirty="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3.14159274e+00 0x1.921fb6p+1   01000000010010010000111111011011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1.00000001e-01 0x1.99999ap-4   00111101110011001100110011001101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</a:t>
            </a:r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2.93873588e-39 0x1p-128        00000000001000000000000000000000</a:t>
            </a:r>
            <a:endParaRPr lang="en-US" altLang="x-none" sz="1600" dirty="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(float));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D009C7-E708-6065-E4FC-356A623E9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40CCE1-DD16-A042-6C05-AF992992B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5887B-831D-F932-AD21-ABE727AFF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intrinsic “float” is actually double precision</a:t>
            </a:r>
          </a:p>
          <a:p>
            <a:pPr lvl="1"/>
            <a:r>
              <a:rPr lang="en-US" dirty="0" err="1"/>
              <a:t>float.hex</a:t>
            </a:r>
            <a:r>
              <a:rPr lang="en-US" dirty="0"/>
              <a:t>() and </a:t>
            </a:r>
            <a:r>
              <a:rPr lang="en-US" dirty="0" err="1"/>
              <a:t>float.fromhex</a:t>
            </a:r>
            <a:r>
              <a:rPr lang="en-US" dirty="0"/>
              <a:t>() allows to convert to/from </a:t>
            </a:r>
            <a:r>
              <a:rPr lang="en-US" dirty="0" err="1"/>
              <a:t>exadecimal</a:t>
            </a:r>
            <a:r>
              <a:rPr lang="en-US" dirty="0"/>
              <a:t> string</a:t>
            </a:r>
          </a:p>
          <a:p>
            <a:r>
              <a:rPr lang="en-US" b="1" dirty="0" err="1"/>
              <a:t>numpy</a:t>
            </a:r>
            <a:r>
              <a:rPr lang="en-US" dirty="0"/>
              <a:t> defines float16, float32, float64 (and float128 on x86_64)</a:t>
            </a:r>
          </a:p>
          <a:p>
            <a:pPr lvl="1"/>
            <a:r>
              <a:rPr lang="en-US" dirty="0">
                <a:hlinkClick r:id="rId2"/>
              </a:rPr>
              <a:t>https://numpy.org/doc/2.3/reference/arrays.scalars.html - floating-point-types</a:t>
            </a:r>
            <a:endParaRPr lang="en-US" dirty="0"/>
          </a:p>
          <a:p>
            <a:r>
              <a:rPr lang="en-US" b="1" dirty="0"/>
              <a:t>decimal</a:t>
            </a:r>
            <a:r>
              <a:rPr lang="en-US" dirty="0"/>
              <a:t> is a module providing FP in base 10 of arbitrary precision</a:t>
            </a:r>
          </a:p>
          <a:p>
            <a:pPr lvl="1"/>
            <a:r>
              <a:rPr lang="en-US" dirty="0">
                <a:hlinkClick r:id="rId3"/>
              </a:rPr>
              <a:t>https://docs.python.org/3/library/decimal.html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0BED4D-3DAA-A00A-58CE-3ADC2598E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0D82EE-92B3-ABCE-7711-85A19D292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52ABA-91A4-0A2D-9FA6-36416DD40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https://godbolt.org/z/d1e18j3jK</a:t>
            </a:r>
            <a:r>
              <a:rPr lang="en-US" dirty="0"/>
              <a:t>  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B31B29-45A8-0AD0-1ADF-99E824B3B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716F60-1EF1-3994-2130-3688A17F5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BBF44B-5E97-E0D7-FD62-21201A9C0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it is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e,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32694B-AEEB-1E1F-B63A-2144C7224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5507" y="120649"/>
            <a:ext cx="2686493" cy="327670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1DB26D-6F62-ADF8-3189-779F51F98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279BB7-AE88-7AA2-A907-41324997F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F97063-4E44-B159-04BF-253366266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1FB2D1-E638-8436-6181-3DD3F5D6C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C5FF7A-0C3D-FF58-DA20-F0FF12133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AA0DD5-6E6E-B116-6F88-54DC2F0B1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1079" y="252819"/>
            <a:ext cx="2760921" cy="351761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9D8B0B-B424-4268-9711-C54997863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340AE5-07CF-CDE1-4BD5-38F4B2765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21792-DAD4-2020-1E9C-3477F6B13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488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722"/>
          </a:xfrm>
        </p:spPr>
        <p:txBody>
          <a:bodyPr/>
          <a:lstStyle/>
          <a:p>
            <a:r>
              <a:rPr lang="en-US" dirty="0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951" y="1190848"/>
            <a:ext cx="11232292" cy="502559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There are two basic operations: 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FP Arithmetic is not associative and can lead to  loss of precision up to catastrophic cancellations</a:t>
            </a:r>
          </a:p>
          <a:p>
            <a:pPr lvl="1"/>
            <a:r>
              <a:rPr lang="en-US" altLang="x-none" dirty="0"/>
              <a:t>x + </a:t>
            </a:r>
            <a:r>
              <a:rPr lang="en-US" altLang="x-none" dirty="0" err="1"/>
              <a:t>ε</a:t>
            </a:r>
            <a:r>
              <a:rPr lang="en-US" altLang="x-none" dirty="0"/>
              <a:t> – x </a:t>
            </a:r>
            <a:r>
              <a:rPr lang="en-US" altLang="x-none" sz="2800" dirty="0"/>
              <a:t>≠ </a:t>
            </a:r>
            <a:r>
              <a:rPr lang="en-US" altLang="x-none" dirty="0" err="1"/>
              <a:t>ε</a:t>
            </a:r>
            <a:r>
              <a:rPr lang="en-US" altLang="x-none" dirty="0"/>
              <a:t> </a:t>
            </a:r>
            <a:r>
              <a:rPr lang="en-US" altLang="x-none" dirty="0">
                <a:latin typeface="Wingdings" charset="2"/>
              </a:rPr>
              <a:t> </a:t>
            </a:r>
            <a:r>
              <a:rPr lang="en-US" altLang="x-none" dirty="0"/>
              <a:t>(can easily be 0 or </a:t>
            </a:r>
            <a:r>
              <a:rPr lang="en-US" altLang="x-none" sz="2800" dirty="0"/>
              <a:t>∞</a:t>
            </a:r>
            <a:r>
              <a:rPr lang="en-US" altLang="x-none" dirty="0"/>
              <a:t> ) 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2A652B-1729-6DA8-C128-1749DA194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A2A531-E17B-3A7F-8D25-120EDFFC4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688C99-BC35-5DE0-E738-8120470DC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difference of two number of the same </a:t>
            </a:r>
            <a:r>
              <a:rPr lang="en-US" dirty="0" err="1"/>
              <a:t>binade</a:t>
            </a:r>
            <a:r>
              <a:rPr lang="en-US" dirty="0"/>
              <a:t> is precise</a:t>
            </a:r>
          </a:p>
          <a:p>
            <a:pPr lvl="1"/>
            <a:r>
              <a:rPr lang="en-US" dirty="0"/>
              <a:t>99-11 = 88, 42-37 = 5</a:t>
            </a:r>
          </a:p>
          <a:p>
            <a:pPr lvl="1"/>
            <a:r>
              <a:rPr lang="en-US" dirty="0"/>
              <a:t>0x1.921fb6p+1 - 0x1.001e72p+1 = 0x1.240288p+0</a:t>
            </a:r>
          </a:p>
          <a:p>
            <a:endParaRPr lang="en-US" dirty="0"/>
          </a:p>
          <a:p>
            <a:r>
              <a:rPr lang="en-US" dirty="0"/>
              <a:t>If 2b&gt;a&gt;b/2&gt;0 then </a:t>
            </a:r>
            <a:r>
              <a:rPr lang="en-US" dirty="0" err="1"/>
              <a:t>a⊖b</a:t>
            </a:r>
            <a:r>
              <a:rPr lang="en-US" dirty="0"/>
              <a:t> = a-b (is precise)</a:t>
            </a:r>
            <a:br>
              <a:rPr lang="en-US" dirty="0"/>
            </a:br>
            <a:r>
              <a:rPr lang="en-US" dirty="0"/>
              <a:t>(</a:t>
            </a:r>
            <a:r>
              <a:rPr lang="en-US" dirty="0">
                <a:hlinkClick r:id="rId2"/>
              </a:rPr>
              <a:t>https://en.wikipedia.org/wiki/Sterbenz_lemma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12-7.4 = 4.6 (precise)</a:t>
            </a:r>
          </a:p>
          <a:p>
            <a:pPr lvl="1"/>
            <a:r>
              <a:rPr lang="en-US" dirty="0"/>
              <a:t>18-7.4= 10.6 =&gt; 18⊖7.4 = 11   (not precise)</a:t>
            </a:r>
          </a:p>
          <a:p>
            <a:pPr lvl="1"/>
            <a:r>
              <a:rPr lang="en-US" dirty="0"/>
              <a:t>0x1.333334p-2 ⊖ 0x1.99999ap-3 = 0x1.99999ap-4 (precise)</a:t>
            </a:r>
          </a:p>
          <a:p>
            <a:pPr lvl="1"/>
            <a:r>
              <a:rPr lang="en-US" dirty="0"/>
              <a:t>0x1.333334p-2 ⊖ 0x1.99999ap-4 = 0x1.99999cp-3 (not precise)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E18210-85B9-6D74-1F5A-D53B03DDF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95801-0B59-9A3F-8B23-53E41C930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FFF55-09D2-F9E9-2BF6-473892FC5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If a&gt;b&gt;0  =&gt;  </a:t>
            </a:r>
            <a:r>
              <a:rPr lang="en-US" dirty="0" err="1"/>
              <a:t>a+b</a:t>
            </a:r>
            <a:r>
              <a:rPr lang="en-US" dirty="0"/>
              <a:t> &lt; 2a</a:t>
            </a:r>
          </a:p>
          <a:p>
            <a:endParaRPr lang="en-US" dirty="0"/>
          </a:p>
          <a:p>
            <a:r>
              <a:rPr lang="en-US" dirty="0">
                <a:solidFill>
                  <a:srgbClr val="00B050"/>
                </a:solidFill>
              </a:rPr>
              <a:t>c = </a:t>
            </a:r>
            <a:r>
              <a:rPr lang="en-US" dirty="0" err="1">
                <a:solidFill>
                  <a:srgbClr val="00B050"/>
                </a:solidFill>
              </a:rPr>
              <a:t>a⊕b</a:t>
            </a:r>
            <a:endParaRPr lang="en-US" dirty="0">
              <a:solidFill>
                <a:srgbClr val="00B050"/>
              </a:solidFill>
            </a:endParaRPr>
          </a:p>
          <a:p>
            <a:r>
              <a:rPr lang="en-US" dirty="0">
                <a:solidFill>
                  <a:srgbClr val="00B050"/>
                </a:solidFill>
              </a:rPr>
              <a:t>t = </a:t>
            </a:r>
            <a:r>
              <a:rPr lang="en-US" dirty="0" err="1">
                <a:solidFill>
                  <a:srgbClr val="00B050"/>
                </a:solidFill>
              </a:rPr>
              <a:t>c⊖a</a:t>
            </a:r>
            <a:r>
              <a:rPr lang="en-US" dirty="0">
                <a:solidFill>
                  <a:srgbClr val="00B050"/>
                </a:solidFill>
              </a:rPr>
              <a:t>  is exact</a:t>
            </a:r>
          </a:p>
          <a:p>
            <a:r>
              <a:rPr lang="en-US" dirty="0">
                <a:solidFill>
                  <a:srgbClr val="00B050"/>
                </a:solidFill>
              </a:rPr>
              <a:t>e = </a:t>
            </a:r>
            <a:r>
              <a:rPr lang="en-US" dirty="0" err="1">
                <a:solidFill>
                  <a:srgbClr val="00B050"/>
                </a:solidFill>
              </a:rPr>
              <a:t>b⊖t</a:t>
            </a:r>
            <a:r>
              <a:rPr lang="en-US" dirty="0">
                <a:solidFill>
                  <a:srgbClr val="00B050"/>
                </a:solidFill>
              </a:rPr>
              <a:t>  is exact</a:t>
            </a:r>
          </a:p>
          <a:p>
            <a:r>
              <a:rPr lang="en-US" dirty="0" err="1"/>
              <a:t>a+b</a:t>
            </a:r>
            <a:r>
              <a:rPr lang="en-US" dirty="0"/>
              <a:t> = </a:t>
            </a:r>
            <a:r>
              <a:rPr lang="en-US" dirty="0" err="1"/>
              <a:t>c+e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e is the error of </a:t>
            </a:r>
            <a:r>
              <a:rPr lang="en-US" dirty="0" err="1"/>
              <a:t>a⊕b</a:t>
            </a:r>
            <a:endParaRPr lang="en-US" dirty="0"/>
          </a:p>
          <a:p>
            <a:endParaRPr lang="en-US" dirty="0"/>
          </a:p>
          <a:p>
            <a:r>
              <a:rPr lang="en-US" dirty="0"/>
              <a:t>This algorithm is known as “</a:t>
            </a:r>
            <a:r>
              <a:rPr lang="en-US" dirty="0" err="1"/>
              <a:t>fastTwoSum</a:t>
            </a:r>
            <a:r>
              <a:rPr lang="en-US" dirty="0"/>
              <a:t>” and (with small modifications) proposed as </a:t>
            </a:r>
            <a:r>
              <a:rPr lang="en-US" dirty="0" err="1"/>
              <a:t>AugmentedSum</a:t>
            </a:r>
            <a:r>
              <a:rPr lang="en-US" dirty="0"/>
              <a:t> in next IEEE754 revision </a:t>
            </a:r>
          </a:p>
          <a:p>
            <a:r>
              <a:rPr lang="en-US" dirty="0"/>
              <a:t>A similar algorithm exists for multiplication as well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C6E5FB-8775-E443-17AC-3D7A63E7F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F2BA9B-2D27-2400-C1EC-50DD63735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E50EC1-B4F3-F679-34F4-6784C48C1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42⊕3.7 = 46</a:t>
            </a:r>
          </a:p>
          <a:p>
            <a:r>
              <a:rPr lang="en-US" dirty="0">
                <a:solidFill>
                  <a:srgbClr val="00B050"/>
                </a:solidFill>
              </a:rPr>
              <a:t>46⊖42 = 4</a:t>
            </a:r>
          </a:p>
          <a:p>
            <a:r>
              <a:rPr lang="en-US" dirty="0">
                <a:solidFill>
                  <a:srgbClr val="00B050"/>
                </a:solidFill>
              </a:rPr>
              <a:t>3.7⊖4 = -0.3</a:t>
            </a:r>
          </a:p>
          <a:p>
            <a:r>
              <a:rPr lang="en-US" i="1" dirty="0"/>
              <a:t>46-0.3 = 42+3.7  (</a:t>
            </a:r>
            <a:r>
              <a:rPr lang="en-US" i="1" dirty="0" err="1"/>
              <a:t>q.e.d.</a:t>
            </a:r>
            <a:r>
              <a:rPr lang="en-US" i="1" dirty="0"/>
              <a:t>)</a:t>
            </a:r>
          </a:p>
          <a:p>
            <a:r>
              <a:rPr lang="en-US" dirty="0"/>
              <a:t>In short: </a:t>
            </a:r>
            <a:r>
              <a:rPr lang="en-US" dirty="0" err="1">
                <a:solidFill>
                  <a:srgbClr val="00B050"/>
                </a:solidFill>
              </a:rPr>
              <a:t>asum</a:t>
            </a:r>
            <a:r>
              <a:rPr lang="en-US" dirty="0">
                <a:solidFill>
                  <a:srgbClr val="00B050"/>
                </a:solidFill>
              </a:rPr>
              <a:t>(42,3.7) = 46,-0.3</a:t>
            </a:r>
          </a:p>
          <a:p>
            <a:endParaRPr lang="en-US" dirty="0"/>
          </a:p>
          <a:p>
            <a:r>
              <a:rPr lang="en-US" dirty="0"/>
              <a:t>42⊕3.3⊕3.4 = 48 while 42+3.3+3.4 = 48.7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,3.4) = 48,0.4</a:t>
            </a:r>
          </a:p>
          <a:p>
            <a:r>
              <a:rPr lang="en-US" dirty="0" err="1"/>
              <a:t>asum</a:t>
            </a:r>
            <a:r>
              <a:rPr lang="en-US" dirty="0"/>
              <a:t>(48,0.3+0.4) = 49, -0.3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A0AA64-266F-9A3E-CBCC-A535EC680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514C84-DEBA-FE5E-D615-4AF55ED69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638C0-8A0E-A896-7CFC-C08E15B8C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Does it help for catastrophic cancellation?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A97AB1-BA83-20D7-3123-0DDFE92FF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143B86-CD61-F84E-DA4A-4741E9F91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EC5A63-E55F-020B-6C8E-26ABB9241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auto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610094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Improved algorithms exist: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differently handling of various magnitude ranges (“big”, “medium”, “tiny”)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 (partial) sorting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pairwise recursion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optimization for parallelism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A026C23-E632-131E-0AAC-CCA89D4A1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FF7411B-CF3A-8304-E47A-C8F691378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536A8-028D-C576-9C1A-BE4CAC3F2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w: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4697F7-EEF3-94D9-714F-2F27C2252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CD021-A54C-407A-748A-A78F7081F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66453-4C51-0285-BE87-5C0544D1B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877" y="2443893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 dirty="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641AD1-6BCC-8312-7490-CF01BD728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591" y="11052"/>
            <a:ext cx="5070696" cy="2432841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BAF075-987B-9474-1F4A-6FBA7614A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948CFB-3E08-5063-6000-46EE3A139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69AF79-0694-DF3A-DDD6-63E0B9FFD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67574" y="819129"/>
            <a:ext cx="10515600" cy="288766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 (use </a:t>
            </a:r>
            <a:r>
              <a:rPr lang="en-US" i="1" dirty="0"/>
              <a:t>float, double, </a:t>
            </a:r>
            <a:r>
              <a:rPr lang="en-US" i="1" dirty="0" err="1"/>
              <a:t>simd</a:t>
            </a:r>
            <a:r>
              <a:rPr lang="en-US" dirty="0"/>
              <a:t>)</a:t>
            </a:r>
          </a:p>
          <a:p>
            <a:pPr lvl="1"/>
            <a:r>
              <a:rPr lang="en-US" sz="2100" dirty="0"/>
              <a:t>(credit: Tim Mattson)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7E1852-4690-E1E0-C027-3CFB48A5D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ACDDF0-B51E-87CD-77E1-90591FAC0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C0FFE3-8783-E55E-9CA7-A846A94EE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DA643-93BC-3983-D41A-F0D417A45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A2EBE-91A8-7259-E824-37E3C23E09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the equation </a:t>
            </a:r>
            <a:r>
              <a:rPr lang="en-US" i="1" dirty="0"/>
              <a:t>x</a:t>
            </a:r>
            <a:r>
              <a:rPr lang="en-US" i="1" baseline="30000" dirty="0"/>
              <a:t>2</a:t>
            </a:r>
            <a:r>
              <a:rPr lang="en-US" i="1" dirty="0"/>
              <a:t> – 2bx +1 = 0 </a:t>
            </a:r>
            <a:r>
              <a:rPr lang="en-US" dirty="0"/>
              <a:t>using the “high-school” formula</a:t>
            </a:r>
          </a:p>
          <a:p>
            <a:pPr lvl="1"/>
            <a:r>
              <a:rPr lang="en-US" dirty="0"/>
              <a:t>What is the smallest value of b (single precision) for which one of the solution becomes 0?</a:t>
            </a:r>
          </a:p>
          <a:p>
            <a:pPr lvl="1"/>
            <a:r>
              <a:rPr lang="en-US" dirty="0"/>
              <a:t>What is instead the correct result? (use only single precision computations)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1BB61-0A7C-2ABA-FDC6-A025F215E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0F551E-08F6-00DE-9B25-A8BD5801B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46934-CDD9-03DB-801C-50FD5DF28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0380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136137-EDD4-AB78-D5E5-8D3FE9332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A5923A-0928-4412-321D-2E8D7A5DE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F350BE-F637-E4FC-358C-92DEFE98A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Uniform vs canonical</a:t>
            </a:r>
            <a:br>
              <a:rPr lang="en-US" dirty="0"/>
            </a:br>
            <a:r>
              <a:rPr lang="en-US" sz="2200" dirty="0"/>
              <a:t>(for a detailed discussion see among others</a:t>
            </a:r>
            <a:br>
              <a:rPr lang="en-US" sz="2200" dirty="0"/>
            </a:br>
            <a:r>
              <a:rPr lang="en-US" sz="2200" dirty="0">
                <a:hlinkClick r:id="rId2"/>
              </a:rPr>
              <a:t>https://github.com/DiscreteLogarithm/canonical-random-float/tree/master</a:t>
            </a:r>
            <a:r>
              <a:rPr lang="en-US" sz="2200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 dirty="0"/>
              <a:t>Uniform in range [</a:t>
            </a:r>
            <a:r>
              <a:rPr lang="en-US" u="sng" dirty="0" err="1"/>
              <a:t>a,b</a:t>
            </a:r>
            <a:r>
              <a:rPr lang="en-US" u="sng" dirty="0"/>
              <a:t>)</a:t>
            </a:r>
          </a:p>
          <a:p>
            <a:r>
              <a:rPr lang="en-US" dirty="0"/>
              <a:t>Throw 32 coins: interpret as a positive integer N</a:t>
            </a:r>
          </a:p>
          <a:p>
            <a:r>
              <a:rPr lang="en-US" dirty="0"/>
              <a:t>Compute r = float(N)/float(2</a:t>
            </a:r>
            <a:r>
              <a:rPr lang="en-US" baseline="30000" dirty="0"/>
              <a:t>32</a:t>
            </a:r>
            <a:r>
              <a:rPr lang="en-US" dirty="0"/>
              <a:t>)*(b-a) –a</a:t>
            </a:r>
          </a:p>
          <a:p>
            <a:pPr marL="0" indent="0">
              <a:buNone/>
            </a:pPr>
            <a:endParaRPr lang="en-US" baseline="30000" dirty="0"/>
          </a:p>
          <a:p>
            <a:pPr marL="0" indent="0">
              <a:buNone/>
            </a:pPr>
            <a:r>
              <a:rPr lang="en-US" u="sng" dirty="0"/>
              <a:t>Canonical</a:t>
            </a:r>
          </a:p>
          <a:p>
            <a:r>
              <a:rPr lang="en-US" dirty="0"/>
              <a:t>Throw 23 coins: set significand of r to them</a:t>
            </a:r>
          </a:p>
          <a:p>
            <a:r>
              <a:rPr lang="en-US" dirty="0"/>
              <a:t>Throw one more coin: if 1 set exponent of r to -1: </a:t>
            </a:r>
            <a:r>
              <a:rPr lang="en-US" i="1" dirty="0"/>
              <a:t>uniform in [0.5,1) prob. 1/2</a:t>
            </a:r>
          </a:p>
          <a:p>
            <a:pPr lvl="1"/>
            <a:r>
              <a:rPr lang="en-US" dirty="0"/>
              <a:t>If 0 :Throw one more coin: if 1 set exponent of r to -2: </a:t>
            </a:r>
            <a:r>
              <a:rPr lang="en-US" i="1" dirty="0"/>
              <a:t>uniform in [0.25,0.5) prob. 1/4</a:t>
            </a:r>
          </a:p>
          <a:p>
            <a:pPr lvl="2"/>
            <a:r>
              <a:rPr lang="en-US" dirty="0"/>
              <a:t>If 0:  Throw one more coin: if 1 set exponent of r to -3: </a:t>
            </a:r>
            <a:r>
              <a:rPr lang="en-US" i="1" dirty="0"/>
              <a:t>uniform in [0.125,0.25) prob. 1/8</a:t>
            </a:r>
          </a:p>
          <a:p>
            <a:pPr lvl="3"/>
            <a:r>
              <a:rPr lang="en-US" dirty="0"/>
              <a:t>If 0:  Throw one more coin: if 1 set exponent of r to -4: </a:t>
            </a:r>
            <a:r>
              <a:rPr lang="en-US" i="1" dirty="0"/>
              <a:t>uniform in [0.0625,0.125) prob. 1/16</a:t>
            </a:r>
          </a:p>
          <a:p>
            <a:pPr lvl="4"/>
            <a:r>
              <a:rPr lang="en-US" dirty="0"/>
              <a:t>If 0: ….	</a:t>
            </a:r>
          </a:p>
          <a:p>
            <a:r>
              <a:rPr lang="en-US" dirty="0"/>
              <a:t>If symmetric interval around 0 needed : use last coin to choose sign</a:t>
            </a:r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498E9A-EF3C-D633-ED36-F60057FF0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401904-6135-3F8D-A713-2FEBDF176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3C31B9-6622-755D-6A20-8F8327E37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 dirty="0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Generated 256*10</a:t>
            </a:r>
            <a:r>
              <a:rPr lang="en-US" baseline="30000" dirty="0"/>
              <a:t>9 </a:t>
            </a:r>
            <a:r>
              <a:rPr lang="en-US" dirty="0"/>
              <a:t>Normal distributed using Box-Muller</a:t>
            </a:r>
            <a:endParaRPr lang="en-US" baseline="30000" dirty="0"/>
          </a:p>
          <a:p>
            <a:pPr marL="0" indent="0">
              <a:buNone/>
            </a:pPr>
            <a:endParaRPr lang="en-US" baseline="30000" dirty="0"/>
          </a:p>
          <a:p>
            <a:r>
              <a:rPr lang="en-US" baseline="30000" dirty="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 dirty="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sqrt(-2log(2</a:t>
            </a:r>
            <a:r>
              <a:rPr lang="en-US" baseline="30000" dirty="0">
                <a:solidFill>
                  <a:srgbClr val="00B050"/>
                </a:solidFill>
              </a:rPr>
              <a:t>-32</a:t>
            </a:r>
            <a:r>
              <a:rPr lang="en-US" dirty="0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sqrt(-2log(2</a:t>
            </a:r>
            <a:r>
              <a:rPr lang="en-US" baseline="30000" dirty="0">
                <a:solidFill>
                  <a:srgbClr val="FFC000"/>
                </a:solidFill>
              </a:rPr>
              <a:t>-23</a:t>
            </a:r>
            <a:r>
              <a:rPr lang="en-US" dirty="0">
                <a:solidFill>
                  <a:srgbClr val="FFC000"/>
                </a:solidFill>
              </a:rPr>
              <a:t>)) ~ 5.6 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9CB7FFD-54D9-306B-0DE7-3543DE82F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FFB7C8-B82E-10B7-B680-E4500A017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5ECB13-71A3-BBCF-FC48-EA2A7C6BD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019E70-22B4-DF02-AE05-678200F03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C798C-9A31-71FC-75F9-46194DA10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637063-32CF-D21A-8887-F8935016F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66EC71-0A89-3E6D-4C4A-428734B08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20048-DB70-23FB-B855-D76E6847F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431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</a:t>
            </a:r>
          </a:p>
          <a:p>
            <a:pPr lvl="1"/>
            <a:r>
              <a:rPr lang="en-US" dirty="0"/>
              <a:t>exp, log, power of various forms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vendor/compiler provides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r>
              <a:rPr lang="en-US" dirty="0"/>
              <a:t> et al.</a:t>
            </a:r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8DE3E-D67D-A1A4-E232-4A7BB01C7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7C795-0250-EBB7-783E-0BC4F3D70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3E0BA2-9719-AFDB-22F6-16C0EB526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https://members.loria.fr/PZimmermann/papers/accuracy.pdf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34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219" y="389767"/>
            <a:ext cx="10515600" cy="1031189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a function</a:t>
            </a:r>
            <a:br>
              <a:rPr lang="en-US" dirty="0"/>
            </a:br>
            <a:r>
              <a:rPr lang="en-US" sz="2700" dirty="0"/>
              <a:t>for a recent review see </a:t>
            </a:r>
            <a:r>
              <a:rPr lang="en-US" sz="2700" dirty="0">
                <a:hlinkClick r:id="rId2"/>
              </a:rPr>
              <a:t>https://dl.acm.org/doi/pdf/10.1145/3747840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0956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to full range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2CEB2-C6E2-2E81-9AEE-00103BC4E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806CA-A6E6-62BE-EE91-5141AE21D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1EC1F9-B412-F318-431E-0D1DD5316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 dirty="0"/>
              <a:t>exp, log, pow</a:t>
            </a:r>
          </a:p>
          <a:p>
            <a:pPr lvl="1"/>
            <a:r>
              <a:rPr lang="en-US" dirty="0"/>
              <a:t>exploit </a:t>
            </a:r>
            <a:r>
              <a:rPr lang="en-US" dirty="0" err="1"/>
              <a:t>fp</a:t>
            </a:r>
            <a:r>
              <a:rPr lang="en-US" dirty="0"/>
              <a:t> representation: x = 1.mᐧ</a:t>
            </a:r>
            <a:r>
              <a:rPr lang="cs-CZ" altLang="x-none" dirty="0"/>
              <a:t>2</a:t>
            </a:r>
            <a:r>
              <a:rPr lang="en-US" altLang="x-none" baseline="30000" dirty="0"/>
              <a:t>n</a:t>
            </a:r>
            <a:endParaRPr lang="en-US" baseline="30000" dirty="0"/>
          </a:p>
          <a:p>
            <a:pPr lvl="1"/>
            <a:r>
              <a:rPr lang="en-US" dirty="0"/>
              <a:t>For exp(x):  x = </a:t>
            </a:r>
            <a:r>
              <a:rPr lang="en-US" dirty="0" err="1"/>
              <a:t>kᐧlog</a:t>
            </a:r>
            <a:r>
              <a:rPr lang="en-US" dirty="0"/>
              <a:t>(2)+y, with y in [-log(2)/2;log(2)/2). exp(x) = 2</a:t>
            </a:r>
            <a:r>
              <a:rPr lang="en-US" baseline="30000" dirty="0"/>
              <a:t>k </a:t>
            </a:r>
            <a:r>
              <a:rPr lang="en-US" dirty="0" err="1"/>
              <a:t>ᐧexp</a:t>
            </a:r>
            <a:r>
              <a:rPr lang="en-US" dirty="0"/>
              <a:t>(y)</a:t>
            </a:r>
            <a:endParaRPr lang="en-US" baseline="30000" dirty="0"/>
          </a:p>
          <a:p>
            <a:pPr lvl="1"/>
            <a:r>
              <a:rPr lang="en-US" dirty="0"/>
              <a:t>For log(x):  x =  yᐧ2</a:t>
            </a:r>
            <a:r>
              <a:rPr lang="en-US" baseline="30000" dirty="0"/>
              <a:t>z</a:t>
            </a:r>
            <a:r>
              <a:rPr lang="en-US" dirty="0"/>
              <a:t>, with  y in [0.75,1.5)</a:t>
            </a:r>
            <a:r>
              <a:rPr lang="en-US" baseline="30000" dirty="0"/>
              <a:t> </a:t>
            </a:r>
            <a:r>
              <a:rPr lang="en-US" dirty="0"/>
              <a:t>. log(x) = </a:t>
            </a:r>
            <a:r>
              <a:rPr lang="en-US" dirty="0" err="1"/>
              <a:t>zᐧlog</a:t>
            </a:r>
            <a:r>
              <a:rPr lang="en-US" dirty="0"/>
              <a:t>(2)+log(y) </a:t>
            </a:r>
          </a:p>
          <a:p>
            <a:pPr lvl="1"/>
            <a:r>
              <a:rPr lang="en-US" dirty="0" err="1"/>
              <a:t>x</a:t>
            </a:r>
            <a:r>
              <a:rPr lang="en-US" baseline="30000" dirty="0" err="1"/>
              <a:t>y</a:t>
            </a:r>
            <a:r>
              <a:rPr lang="en-US" baseline="30000" dirty="0"/>
              <a:t> </a:t>
            </a:r>
            <a:r>
              <a:rPr lang="en-US" dirty="0"/>
              <a:t>= </a:t>
            </a:r>
            <a:r>
              <a:rPr lang="en-US" dirty="0" err="1"/>
              <a:t>e</a:t>
            </a:r>
            <a:r>
              <a:rPr lang="en-US" baseline="30000" dirty="0" err="1"/>
              <a:t>yᐧlog</a:t>
            </a:r>
            <a:r>
              <a:rPr lang="en-US" baseline="30000" dirty="0"/>
              <a:t>(x)</a:t>
            </a:r>
            <a:endParaRPr lang="en-US" dirty="0"/>
          </a:p>
          <a:p>
            <a:r>
              <a:rPr lang="en-US" dirty="0" err="1"/>
              <a:t>sin,cos,tan,atan</a:t>
            </a:r>
            <a:r>
              <a:rPr lang="en-US" dirty="0"/>
              <a:t>(2)</a:t>
            </a:r>
          </a:p>
          <a:p>
            <a:pPr lvl="1"/>
            <a:r>
              <a:rPr lang="en-US" dirty="0"/>
              <a:t>Reduce to [0, π/4) (trivial for f(π</a:t>
            </a:r>
            <a:r>
              <a:rPr lang="en-US" dirty="0" err="1"/>
              <a:t>ᐧx</a:t>
            </a:r>
            <a:r>
              <a:rPr lang="en-US" dirty="0"/>
              <a:t>) known as </a:t>
            </a:r>
            <a:r>
              <a:rPr lang="en-US" dirty="0" err="1"/>
              <a:t>sinpi,cospi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, tricky for sin(x)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 trig identities to go back</a:t>
            </a:r>
          </a:p>
          <a:p>
            <a:r>
              <a:rPr lang="en-US" dirty="0" err="1"/>
              <a:t>asin,acos</a:t>
            </a:r>
            <a:r>
              <a:rPr lang="en-US" dirty="0"/>
              <a:t>, hyperbolic</a:t>
            </a:r>
          </a:p>
          <a:p>
            <a:pPr lvl="1"/>
            <a:r>
              <a:rPr lang="en-US" dirty="0"/>
              <a:t>approximate it in “ad-hoc” intervals (make sure continuity at edges)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EF9D0A-87C3-F1A2-0EC5-7BF02A7A0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0CB5DA-C398-9FDD-B68E-D9C5A4CE7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823B9F-A74F-686A-6167-3694D75E9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shift-and-add algorithms (CORDIC </a:t>
            </a:r>
            <a:r>
              <a:rPr lang="en-US" dirty="0">
                <a:hlinkClick r:id="rId3"/>
              </a:rPr>
              <a:t>https://en.wikipedia.org/wiki/CORDIC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Today limited to FPGA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two polynomials)</a:t>
            </a:r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  <a:p>
            <a:pPr marL="0" indent="0">
              <a:buNone/>
            </a:pPr>
            <a:r>
              <a:rPr lang="en-US" sz="1800" dirty="0"/>
              <a:t>See also the short paper by </a:t>
            </a:r>
            <a:r>
              <a:rPr lang="en-US" sz="1800" dirty="0" err="1"/>
              <a:t>J.M.Muller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https://hal.science/hal-02517784v1/file/approxfunctions.pdf</a:t>
            </a:r>
            <a:endParaRPr lang="en-US" sz="1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AF1AD8-F3C3-229C-4BF7-7AF1474D0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5CA141-B1AE-30D1-6087-93D46E1E1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9B7AC6-3D25-81E3-595A-461F2E63A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 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The major contribution of game industry to CS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0x5f3759df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https://en.wikipedia.org/wiki/Fast_inverse_square_root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 dirty="0"/>
              <a:t>Real x86_64 code for 1/√x</a:t>
            </a:r>
          </a:p>
          <a:p>
            <a:pPr eaLnBrk="1" hangingPunct="1">
              <a:defRPr/>
            </a:pPr>
            <a:r>
              <a:rPr lang="en-US" sz="1800" dirty="0"/>
              <a:t> _</a:t>
            </a:r>
            <a:r>
              <a:rPr lang="en-US" sz="1800" dirty="0" err="1"/>
              <a:t>mm_store_ss</a:t>
            </a:r>
            <a:r>
              <a:rPr lang="en-US" sz="1800" dirty="0"/>
              <a:t>( &amp;y</a:t>
            </a:r>
            <a:r>
              <a:rPr lang="en-US" sz="1800" b="1" dirty="0"/>
              <a:t>, _</a:t>
            </a:r>
            <a:r>
              <a:rPr lang="en-US" sz="1800" b="1" dirty="0" err="1"/>
              <a:t>mm_rsqrt_ss</a:t>
            </a:r>
            <a:r>
              <a:rPr lang="en-US" sz="1800" dirty="0"/>
              <a:t>( _</a:t>
            </a:r>
            <a:r>
              <a:rPr lang="en-US" sz="1800" dirty="0" err="1"/>
              <a:t>mm_load_ss</a:t>
            </a:r>
            <a:r>
              <a:rPr lang="en-US" sz="1800" dirty="0"/>
              <a:t>( &amp;x ) ) ); </a:t>
            </a:r>
          </a:p>
          <a:p>
            <a:pPr eaLnBrk="1" hangingPunct="1">
              <a:defRPr/>
            </a:pPr>
            <a:r>
              <a:rPr lang="en-US" sz="1800" dirty="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3E3B31-B08C-9964-AD22-81E873C10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A9274F-1970-BE8F-D8DA-ED4BE39D8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0D1F65-9041-7B96-D189-3FDF877B6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to guarantee a given precision one needs to evaluate the  error of the approximation “y = f(x)”</a:t>
            </a:r>
          </a:p>
          <a:p>
            <a:pPr lvl="1"/>
            <a:r>
              <a:rPr lang="en-US" dirty="0"/>
              <a:t>From first principle</a:t>
            </a:r>
          </a:p>
          <a:p>
            <a:pPr lvl="1"/>
            <a:r>
              <a:rPr lang="en-US" dirty="0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Round2Near: if the error interval includes the middle point an even more precise evaluation is required</a:t>
            </a:r>
          </a:p>
          <a:p>
            <a:pPr lvl="1"/>
            <a:r>
              <a:rPr lang="en-US" dirty="0"/>
              <a:t>the round digit may be followed by a sequel </a:t>
            </a:r>
            <a:r>
              <a:rPr lang="en-US"/>
              <a:t>of 0’s or 1’s </a:t>
            </a:r>
            <a:r>
              <a:rPr lang="en-US" dirty="0"/>
              <a:t>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259725"/>
            <a:ext cx="6109133" cy="46492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31B177-A069-B74D-EBB7-E940CA98E9E5}"/>
              </a:ext>
            </a:extLst>
          </p:cNvPr>
          <p:cNvSpPr txBox="1"/>
          <p:nvPr/>
        </p:nvSpPr>
        <p:spPr>
          <a:xfrm>
            <a:off x="838200" y="5846544"/>
            <a:ext cx="84023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Examples :</a:t>
            </a:r>
          </a:p>
          <a:p>
            <a:r>
              <a:rPr lang="en-US" dirty="0"/>
              <a:t>sin(0.40225342) = 0x1.</a:t>
            </a:r>
            <a:r>
              <a:rPr lang="en-US" dirty="0">
                <a:solidFill>
                  <a:srgbClr val="FF0000"/>
                </a:solidFill>
              </a:rPr>
              <a:t>90e382</a:t>
            </a:r>
            <a:r>
              <a:rPr lang="en-US" dirty="0"/>
              <a:t>fffff7bp-2         sin(0.47485355) = 0x1.</a:t>
            </a:r>
            <a:r>
              <a:rPr lang="en-US" dirty="0">
                <a:solidFill>
                  <a:srgbClr val="FF0000"/>
                </a:solidFill>
              </a:rPr>
              <a:t>d42e63</a:t>
            </a:r>
            <a:r>
              <a:rPr lang="en-US" dirty="0"/>
              <a:t>000000bp-2 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7809202-E646-4060-ABDB-18815D74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13F79CD-2B51-DC90-393D-0553C0F58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009359D-440C-3F4B-E48C-73985AE4E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D7954C-623A-8348-34B2-A429017D6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0E66D3-EE9C-F226-5B12-B2C719CF9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264B3D-8902-DBC4-57BB-A3DBA9970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 dirty="0"/>
              <a:t>Approximate sin(x) in [0, π/4) with polynomials of increasing order</a:t>
            </a:r>
          </a:p>
          <a:p>
            <a:pPr lvl="1"/>
            <a:r>
              <a:rPr lang="en-US" dirty="0"/>
              <a:t>Taylor</a:t>
            </a:r>
          </a:p>
          <a:p>
            <a:pPr lvl="1"/>
            <a:r>
              <a:rPr lang="en-US" dirty="0"/>
              <a:t>Chebyshev</a:t>
            </a:r>
          </a:p>
          <a:p>
            <a:pPr lvl="1"/>
            <a:r>
              <a:rPr lang="en-US" dirty="0"/>
              <a:t>Pade</a:t>
            </a:r>
          </a:p>
          <a:p>
            <a:r>
              <a:rPr lang="en-US" dirty="0"/>
              <a:t>Plot the absolute and relative error w/r/t a high precision result</a:t>
            </a:r>
          </a:p>
          <a:p>
            <a:endParaRPr lang="en-US" dirty="0"/>
          </a:p>
          <a:p>
            <a:r>
              <a:rPr lang="en-US" dirty="0"/>
              <a:t>Use python </a:t>
            </a:r>
            <a:r>
              <a:rPr lang="en-US" dirty="0" err="1"/>
              <a:t>mpmath</a:t>
            </a:r>
            <a:r>
              <a:rPr lang="en-US" dirty="0"/>
              <a:t> module </a:t>
            </a:r>
            <a:r>
              <a:rPr lang="en-US" dirty="0">
                <a:hlinkClick r:id="rId2"/>
              </a:rPr>
              <a:t>https://mpmath.readthedocs.io/en/latest/calculus/approximation.html</a:t>
            </a:r>
            <a:r>
              <a:rPr lang="en-US" dirty="0"/>
              <a:t>  </a:t>
            </a:r>
          </a:p>
          <a:p>
            <a:r>
              <a:rPr lang="en-US" dirty="0"/>
              <a:t>or sage, or </a:t>
            </a:r>
            <a:r>
              <a:rPr lang="en-US" dirty="0" err="1"/>
              <a:t>mathematica</a:t>
            </a:r>
            <a:r>
              <a:rPr lang="en-US" dirty="0"/>
              <a:t>…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D60382-30A2-E8F0-E707-3EB2C7DB6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6D1F21-D9F8-D515-8FF5-926CDC083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527234-32D0-707E-0BCE-8414101BD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 </a:t>
            </a:r>
            <a:r>
              <a:rPr lang="en-US" dirty="0" err="1"/>
              <a:t>rsqrt</a:t>
            </a:r>
            <a:r>
              <a:rPr lang="en-US" dirty="0"/>
              <a:t> precision in the interval [0.5, 4) </a:t>
            </a:r>
          </a:p>
          <a:p>
            <a:pPr lvl="1"/>
            <a:r>
              <a:rPr lang="en-US" dirty="0"/>
              <a:t>use “quake magic” and/or x86_64 intrinsics plus multiple NR iterations</a:t>
            </a:r>
          </a:p>
          <a:p>
            <a:pPr lvl="1"/>
            <a:r>
              <a:rPr lang="en-US" dirty="0"/>
              <a:t>Try to reach faithful (or even correct) rounding.</a:t>
            </a:r>
          </a:p>
          <a:p>
            <a:endParaRPr lang="en-US" dirty="0"/>
          </a:p>
          <a:p>
            <a:r>
              <a:rPr lang="en-US" dirty="0"/>
              <a:t>Compute sin(0x1.e64002p-2) using Taylor expansion:</a:t>
            </a:r>
          </a:p>
          <a:p>
            <a:pPr lvl="1"/>
            <a:r>
              <a:rPr lang="en-US" dirty="0"/>
              <a:t>How many terms are needed to reach faithful rounding in single precision?</a:t>
            </a:r>
          </a:p>
          <a:p>
            <a:pPr lvl="1"/>
            <a:r>
              <a:rPr lang="en-US" dirty="0"/>
              <a:t>How many more terms to reach correct rounding (in single precision)?</a:t>
            </a:r>
          </a:p>
          <a:p>
            <a:pPr lvl="1"/>
            <a:r>
              <a:rPr lang="en-US" dirty="0"/>
              <a:t>Use double precision to compute, then round to single  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65952E-1E96-58E9-65A6-FFB71C501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7F5821-2FC7-6D38-E751-A1743B829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D6A333-F130-CC9F-C58F-C4BEE4C90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 dirty="0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cos(x) approximation in decimal (</a:t>
            </a:r>
            <a:r>
              <a:rPr lang="en-US" dirty="0" err="1"/>
              <a:t>taylor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2"/>
              </a:rPr>
              <a:t>https://docs.python.org/3/library/decimal.html - recipes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to “solve” TMD above  (mind: direct rounding!)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C63EB2-6FBB-01AD-EED6-855D4FF03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F1534A-880E-9B44-4C1C-0F0CC3FDF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69A6E6-CD29-7317-D66F-531C940D6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Precision,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dirty="0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44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621C5-E9B6-B128-7E8C-1106B6775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26" y="222841"/>
            <a:ext cx="3595133" cy="270866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 dirty="0"/>
              <a:t>Precision</a:t>
            </a:r>
          </a:p>
          <a:p>
            <a:pPr lvl="1"/>
            <a:r>
              <a:rPr lang="en-US" altLang="x-none" dirty="0"/>
              <a:t>Numerical precision (in bits)</a:t>
            </a:r>
          </a:p>
          <a:p>
            <a:pPr lvl="2"/>
            <a:r>
              <a:rPr lang="en-US" altLang="x-none" dirty="0"/>
              <a:t>For an instrument (ruler!) typically “half a tick” </a:t>
            </a:r>
          </a:p>
          <a:p>
            <a:pPr lvl="2"/>
            <a:r>
              <a:rPr lang="en-US" altLang="x-none" dirty="0"/>
              <a:t>Comes from specs</a:t>
            </a:r>
          </a:p>
          <a:p>
            <a:r>
              <a:rPr lang="en-US" altLang="x-none" dirty="0"/>
              <a:t>Accuracy</a:t>
            </a:r>
          </a:p>
          <a:p>
            <a:pPr lvl="1"/>
            <a:r>
              <a:rPr lang="en-US" altLang="x-none" dirty="0"/>
              <a:t>The error w/r/t the truth</a:t>
            </a:r>
          </a:p>
          <a:p>
            <a:pPr lvl="1"/>
            <a:r>
              <a:rPr lang="en-US" altLang="x-none" dirty="0"/>
              <a:t>Can be evaluated comparing with a “refence” or a different algorithm</a:t>
            </a:r>
          </a:p>
          <a:p>
            <a:pPr lvl="2"/>
            <a:r>
              <a:rPr lang="en-US" altLang="x-none" dirty="0"/>
              <a:t>In science “comparing different experiments”</a:t>
            </a:r>
          </a:p>
          <a:p>
            <a:r>
              <a:rPr lang="en-US" altLang="x-none" dirty="0"/>
              <a:t>Target Accuracy</a:t>
            </a:r>
          </a:p>
          <a:p>
            <a:pPr lvl="1"/>
            <a:r>
              <a:rPr lang="en-US" altLang="x-none" dirty="0"/>
              <a:t>The acceptable tolerance w/r/t the above</a:t>
            </a:r>
          </a:p>
          <a:p>
            <a:pPr lvl="1"/>
            <a:r>
              <a:rPr lang="en-US" altLang="x-none" dirty="0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 dirty="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DD03EE8-298C-72E4-E36F-510A2727F9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64"/>
          <a:stretch>
            <a:fillRect/>
          </a:stretch>
        </p:blipFill>
        <p:spPr>
          <a:xfrm>
            <a:off x="7783033" y="0"/>
            <a:ext cx="4205767" cy="3814452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9882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Cost of operations (in </a:t>
            </a:r>
            <a:r>
              <a:rPr lang="en-US" altLang="x-none" dirty="0" err="1"/>
              <a:t>cpu</a:t>
            </a:r>
            <a:r>
              <a:rPr lang="en-US" altLang="x-none" dirty="0"/>
              <a:t> cycles on x86_64)</a:t>
            </a:r>
            <a:br>
              <a:rPr lang="en-US" altLang="x-none" dirty="0"/>
            </a:br>
            <a:r>
              <a:rPr lang="en-US" altLang="x-none" sz="3100" dirty="0">
                <a:hlinkClick r:id="rId2"/>
              </a:rPr>
              <a:t>https://www.agner.org/optimize/instruction_tables.pdf</a:t>
            </a:r>
            <a:r>
              <a:rPr lang="en-US" altLang="x-none" sz="3100" dirty="0"/>
              <a:t>  (</a:t>
            </a:r>
            <a:r>
              <a:rPr lang="en-US" altLang="x-none" sz="3100" dirty="0" err="1"/>
              <a:t>icelake</a:t>
            </a:r>
            <a:r>
              <a:rPr lang="en-US" altLang="x-none" sz="3100" dirty="0"/>
              <a:t> &amp; zen5)</a:t>
            </a:r>
            <a:endParaRPr lang="en-US" altLang="x-none" dirty="0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46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8625509"/>
              </p:ext>
            </p:extLst>
          </p:nvPr>
        </p:nvGraphicFramePr>
        <p:xfrm>
          <a:off x="192040" y="1258208"/>
          <a:ext cx="8755475" cy="5045556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042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==, &lt;,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f=d,  d=f ,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 OR 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719922" y="5891212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</a:t>
            </a:r>
            <a:r>
              <a:rPr lang="en-US" altLang="x-none" sz="1800" b="1" dirty="0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 dirty="0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2778" y="4857420"/>
            <a:ext cx="233800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(does not vectorize on intel?)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05D9CBA9-35AA-C16A-CDEF-B6A2DEBE0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5284" y="2598327"/>
            <a:ext cx="318977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+ jump “overhead”</a:t>
            </a:r>
          </a:p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</a:t>
            </a:r>
            <a:r>
              <a:rPr lang="en-US" altLang="x-none" sz="1800" b="1" dirty="0" err="1">
                <a:solidFill>
                  <a:srgbClr val="FF0000"/>
                </a:solidFill>
              </a:rPr>
              <a:t>mispredicted</a:t>
            </a:r>
            <a:r>
              <a:rPr lang="en-US" altLang="x-none" sz="1800" b="1" dirty="0">
                <a:solidFill>
                  <a:srgbClr val="FF0000"/>
                </a:solidFill>
              </a:rPr>
              <a:t> branches)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56187C-4DD4-0719-7972-2137FE1C9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GPU landscape: </a:t>
            </a:r>
            <a:br>
              <a:rPr lang="en-US" dirty="0"/>
            </a:br>
            <a:r>
              <a:rPr lang="en-US" sz="3200" dirty="0"/>
              <a:t>FP64 is 32 times slower than FP32 on affordable GPU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47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69FCB-7BE9-A74E-8463-2464285FD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30212"/>
            <a:ext cx="10515600" cy="1516922"/>
          </a:xfrm>
        </p:spPr>
        <p:txBody>
          <a:bodyPr>
            <a:normAutofit fontScale="90000"/>
          </a:bodyPr>
          <a:lstStyle/>
          <a:p>
            <a:r>
              <a:rPr lang="en-US" dirty="0"/>
              <a:t>GPU (T4) performance</a:t>
            </a:r>
            <a:br>
              <a:rPr lang="en-US" dirty="0"/>
            </a:br>
            <a:r>
              <a:rPr lang="en-US" sz="2700" dirty="0"/>
              <a:t>Brute-force inversion of 5x5 Pos-Def Matrix using Cholesky decomposition</a:t>
            </a:r>
            <a:br>
              <a:rPr lang="en-US" sz="2700" dirty="0"/>
            </a:br>
            <a:r>
              <a:rPr lang="en-US" sz="2200" dirty="0"/>
              <a:t>33 + , 29 - , 126 * , 5 / , no sqrt    (compiler optimization and </a:t>
            </a:r>
            <a:r>
              <a:rPr lang="en-US" sz="2200" dirty="0" err="1"/>
              <a:t>fma</a:t>
            </a:r>
            <a:r>
              <a:rPr lang="en-US" sz="2200" dirty="0"/>
              <a:t> will contract some)</a:t>
            </a:r>
            <a:br>
              <a:rPr lang="en-US" dirty="0"/>
            </a:br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474E113-7DC7-3421-A4F6-8A1704ABA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892" y="1690688"/>
            <a:ext cx="10502900" cy="4737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4B4080-0FA9-4368-3238-F4ABA1F75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5498E0-E201-0DF9-2AB9-488DFDF7A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6F793D-3F0A-5BCF-18EF-6B2D23AFD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9980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 1/throughput (in cycles)</a:t>
            </a:r>
            <a:br>
              <a:rPr lang="en-US" dirty="0"/>
            </a:br>
            <a:r>
              <a:rPr lang="en-US" sz="2400" dirty="0"/>
              <a:t>(origin </a:t>
            </a:r>
            <a:r>
              <a:rPr lang="en-US" sz="2400" dirty="0">
                <a:hlinkClick r:id="rId2"/>
              </a:rPr>
              <a:t>https://core-math.gitlabpages.inria.fr/</a:t>
            </a:r>
            <a:r>
              <a:rPr lang="en-US" sz="2400" dirty="0"/>
              <a:t>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8B058-E76F-90B4-3BD8-71781F5CE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EF90FE-C3E2-A427-B2CC-CCD66D33F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799A3-9E4E-55E5-70DA-4B194C3F6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339341-6EAE-6208-2287-C0D9FD1AC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 vs double: 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6943C6-1CAB-5CA7-900D-FC3BCCCA19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85383"/>
            <a:ext cx="10896600" cy="46602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 the old days: X87</a:t>
            </a:r>
          </a:p>
          <a:p>
            <a:pPr lvl="1"/>
            <a:r>
              <a:rPr lang="en-US" dirty="0"/>
              <a:t>Double faster than float!</a:t>
            </a:r>
          </a:p>
          <a:p>
            <a:r>
              <a:rPr lang="en-US" dirty="0"/>
              <a:t>X86_64 (and ARM, PPC, RISC)</a:t>
            </a:r>
          </a:p>
          <a:p>
            <a:pPr lvl="1"/>
            <a:r>
              <a:rPr lang="en-US" dirty="0"/>
              <a:t>Scalar: float and double same speed (but div, sqrt, memory bandwidth)</a:t>
            </a:r>
          </a:p>
          <a:p>
            <a:pPr lvl="1"/>
            <a:r>
              <a:rPr lang="en-US" dirty="0"/>
              <a:t>Vector: float twice faster than double</a:t>
            </a:r>
          </a:p>
          <a:p>
            <a:r>
              <a:rPr lang="en-US" dirty="0"/>
              <a:t>GPU: gaming and “Data Center”</a:t>
            </a:r>
          </a:p>
          <a:p>
            <a:pPr lvl="1"/>
            <a:r>
              <a:rPr lang="en-US" dirty="0"/>
              <a:t>Float 64 times faster than double</a:t>
            </a:r>
          </a:p>
          <a:p>
            <a:r>
              <a:rPr lang="en-US" dirty="0"/>
              <a:t>GPU: HPC</a:t>
            </a:r>
          </a:p>
          <a:p>
            <a:pPr lvl="1"/>
            <a:r>
              <a:rPr lang="en-US" dirty="0"/>
              <a:t>Float twice faster than double</a:t>
            </a:r>
          </a:p>
          <a:p>
            <a:r>
              <a:rPr lang="en-US" dirty="0"/>
              <a:t>GPU: AI</a:t>
            </a:r>
          </a:p>
          <a:p>
            <a:pPr lvl="1"/>
            <a:r>
              <a:rPr lang="en-US" dirty="0"/>
              <a:t>Optimized for low-precision tensor operations (GEMM can profit )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127137-E97C-2530-FC5C-9BB430B71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2EDDAD-7430-CB68-041E-2EC480A88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8456BA-9E08-0715-2DA5-2A579E46C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24461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Precision vs Speed for elementary functions</a:t>
            </a:r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51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9293" y="3209082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52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double </a:t>
            </a:r>
            <a:r>
              <a:rPr lang="en-US" altLang="x-none" sz="1800" dirty="0" err="1"/>
              <a:t>ms</a:t>
            </a:r>
            <a:r>
              <a:rPr lang="en-US" altLang="x-none" sz="1800" dirty="0"/>
              <a:t>(double </a:t>
            </a:r>
            <a:r>
              <a:rPr lang="en-US" altLang="x-none" sz="1800" dirty="0" err="1"/>
              <a:t>radLen</a:t>
            </a:r>
            <a:r>
              <a:rPr lang="en-US" altLang="x-none" sz="1800" dirty="0"/>
              <a:t>, double m2, double p2) { </a:t>
            </a:r>
          </a:p>
          <a:p>
            <a:pPr eaLnBrk="1" hangingPunct="1"/>
            <a:r>
              <a:rPr lang="en-US" altLang="x-none" sz="1800" dirty="0"/>
              <a:t>  </a:t>
            </a:r>
            <a:r>
              <a:rPr lang="en-US" altLang="x-none" sz="1800" dirty="0" err="1"/>
              <a:t>constexpr</a:t>
            </a:r>
            <a:r>
              <a:rPr lang="en-US" altLang="x-none" sz="1800" dirty="0"/>
              <a:t> double </a:t>
            </a:r>
            <a:r>
              <a:rPr lang="en-US" altLang="x-none" sz="1800" dirty="0" err="1"/>
              <a:t>amscon</a:t>
            </a:r>
            <a:r>
              <a:rPr lang="en-US" altLang="x-none" sz="1800" dirty="0"/>
              <a:t> = 1.8496e-4;    // (13.6MeV)**2</a:t>
            </a:r>
          </a:p>
          <a:p>
            <a:pPr eaLnBrk="1" hangingPunct="1"/>
            <a:r>
              <a:rPr lang="en-US" altLang="x-none" sz="1800" dirty="0"/>
              <a:t>  double e2     = p2 + m2;</a:t>
            </a:r>
          </a:p>
          <a:p>
            <a:pPr eaLnBrk="1" hangingPunct="1"/>
            <a:r>
              <a:rPr lang="en-US" altLang="x-none" sz="1800" dirty="0"/>
              <a:t>  double beta2  = p2/e2;</a:t>
            </a:r>
          </a:p>
          <a:p>
            <a:pPr eaLnBrk="1" hangingPunct="1"/>
            <a:r>
              <a:rPr lang="en-US" altLang="x-none" sz="1800" dirty="0"/>
              <a:t>  double fact = 1 + 0.038*log(</a:t>
            </a:r>
            <a:r>
              <a:rPr lang="en-US" altLang="x-none" sz="1800" b="1" dirty="0" err="1">
                <a:solidFill>
                  <a:srgbClr val="FF0000"/>
                </a:solidFill>
              </a:rPr>
              <a:t>radLen</a:t>
            </a:r>
            <a:r>
              <a:rPr lang="en-US" altLang="x-none" sz="1800" dirty="0"/>
              <a:t>);  fact *=fact;</a:t>
            </a:r>
          </a:p>
          <a:p>
            <a:pPr eaLnBrk="1" hangingPunct="1"/>
            <a:r>
              <a:rPr lang="en-US" altLang="x-none" sz="1800" dirty="0"/>
              <a:t>  double a = fact/(beta2*p2);</a:t>
            </a:r>
          </a:p>
          <a:p>
            <a:pPr eaLnBrk="1" hangingPunct="1"/>
            <a:r>
              <a:rPr lang="en-US" altLang="x-none" sz="1800" dirty="0"/>
              <a:t>  return </a:t>
            </a:r>
            <a:r>
              <a:rPr lang="en-US" altLang="x-none" sz="1800" dirty="0" err="1"/>
              <a:t>amscon</a:t>
            </a:r>
            <a:r>
              <a:rPr lang="en-US" altLang="x-none" sz="1800" dirty="0"/>
              <a:t>*</a:t>
            </a:r>
            <a:r>
              <a:rPr lang="en-US" altLang="x-none" sz="1800" dirty="0" err="1"/>
              <a:t>radLen</a:t>
            </a:r>
            <a:r>
              <a:rPr lang="en-US" altLang="x-none" sz="1800" dirty="0"/>
              <a:t>*a;</a:t>
            </a:r>
          </a:p>
          <a:p>
            <a:pPr eaLnBrk="1" hangingPunct="1"/>
            <a:r>
              <a:rPr lang="en-US" altLang="x-none" sz="1800" dirty="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 dirty="0"/>
              <a:t>Cash-Karp </a:t>
            </a:r>
            <a:r>
              <a:rPr lang="en-US" dirty="0" err="1"/>
              <a:t>Runge-Kutta</a:t>
            </a:r>
            <a:r>
              <a:rPr lang="en-US" dirty="0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53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0.9*step/</a:t>
            </a:r>
            <a:r>
              <a:rPr lang="en-US" sz="2000" b="1" dirty="0" err="1">
                <a:solidFill>
                  <a:srgbClr val="FF0000"/>
                </a:solidFill>
              </a:rPr>
              <a:t>pow</a:t>
            </a:r>
            <a:r>
              <a:rPr lang="en-US" sz="2000" b="1" dirty="0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3FDDA4-89B5-877D-93D4-1990C58F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pitfalls</a:t>
            </a:r>
            <a:br>
              <a:rPr lang="en-US" dirty="0"/>
            </a:br>
            <a:r>
              <a:rPr lang="en-US" dirty="0"/>
              <a:t>and opportunity for optimization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F1F237B-8A95-38B2-933F-ABFB35AAB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C8776-C25E-AC49-052A-C3D5C6BC6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69655E-A71A-8BA3-B02B-E6DC81B46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31793E-FF0D-0D25-7E59-61FDD040B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022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5CB7E1-A381-DEF2-2706-EBB6FDCB8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 and compiler “rules”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5B978E-93D9-B6FA-ACA4-B18580F7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essentially any language default FP </a:t>
            </a:r>
            <a:r>
              <a:rPr lang="en-US" dirty="0" err="1"/>
              <a:t>arith</a:t>
            </a:r>
            <a:r>
              <a:rPr lang="en-US" dirty="0"/>
              <a:t> is in double</a:t>
            </a:r>
          </a:p>
          <a:p>
            <a:pPr lvl="1"/>
            <a:r>
              <a:rPr lang="en-US" dirty="0"/>
              <a:t>Any other precision needs to be explicitly stated</a:t>
            </a:r>
          </a:p>
          <a:p>
            <a:pPr lvl="1"/>
            <a:r>
              <a:rPr lang="en-US" dirty="0"/>
              <a:t>One element in double and the whole expression will be evaluated in double</a:t>
            </a:r>
          </a:p>
          <a:p>
            <a:pPr lvl="2"/>
            <a:r>
              <a:rPr lang="en-US" dirty="0"/>
              <a:t>Promotion to double can be turn in a warning using “</a:t>
            </a:r>
            <a:r>
              <a:rPr lang="en-US" i="1" dirty="0"/>
              <a:t>-</a:t>
            </a:r>
            <a:r>
              <a:rPr lang="en-US" i="1" dirty="0" err="1"/>
              <a:t>Wdouble</a:t>
            </a:r>
            <a:r>
              <a:rPr lang="en-US" i="1" dirty="0"/>
              <a:t>-promotion”</a:t>
            </a:r>
            <a:endParaRPr lang="en-US" dirty="0"/>
          </a:p>
          <a:p>
            <a:r>
              <a:rPr lang="en-US" dirty="0"/>
              <a:t>C and C++ compilers (</a:t>
            </a:r>
            <a:r>
              <a:rPr lang="en-US" dirty="0" err="1"/>
              <a:t>gcc</a:t>
            </a:r>
            <a:r>
              <a:rPr lang="en-US" dirty="0"/>
              <a:t>, clang) by default will never reorder or transform expressions if the result may change</a:t>
            </a:r>
          </a:p>
          <a:p>
            <a:pPr lvl="1"/>
            <a:r>
              <a:rPr lang="en-US" dirty="0"/>
              <a:t>FMA is (currently) an exception</a:t>
            </a:r>
          </a:p>
          <a:p>
            <a:r>
              <a:rPr lang="en-US" dirty="0"/>
              <a:t>C is a language born in the late `70</a:t>
            </a:r>
          </a:p>
          <a:p>
            <a:pPr lvl="1"/>
            <a:r>
              <a:rPr lang="en-US" dirty="0"/>
              <a:t>even C++ does not (potentially) break old code  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9B7BD0-CF76-B344-9C95-09C9F4549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EDC949-1F8C-5C13-2CCB-6CDFE8AEB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ABC869-066A-C97D-95A4-23F79D9E6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65699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E2FA-A275-FAF5-5F96-ED539A00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Compiler option affecting FP Arith</a:t>
            </a:r>
            <a:br>
              <a:rPr lang="en-US" dirty="0"/>
            </a:br>
            <a:r>
              <a:rPr lang="en-US" sz="2700" dirty="0">
                <a:hlinkClick r:id="rId2"/>
              </a:rPr>
              <a:t>https://gcc.gnu.org/wiki/FloatingPointMath</a:t>
            </a:r>
            <a:br>
              <a:rPr lang="en-US" sz="3600" dirty="0"/>
            </a:br>
            <a:r>
              <a:rPr lang="en-US" sz="2700" dirty="0">
                <a:hlinkClick r:id="rId3"/>
              </a:rPr>
              <a:t>https://clang.llvm.org/docs/UsersManual.html - controlling-floating-point-behavior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59459-D064-7507-A5E8-7BBCD3FD1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10112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errno</a:t>
            </a:r>
            <a:r>
              <a:rPr lang="en-US" dirty="0">
                <a:solidFill>
                  <a:srgbClr val="00B05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</a:t>
            </a:r>
            <a:r>
              <a:rPr lang="en-US" dirty="0" err="1">
                <a:solidFill>
                  <a:srgbClr val="00B050"/>
                </a:solidFill>
              </a:rPr>
              <a:t>libc</a:t>
            </a:r>
            <a:r>
              <a:rPr lang="en-US" dirty="0">
                <a:solidFill>
                  <a:srgbClr val="00B050"/>
                </a:solidFill>
              </a:rPr>
              <a:t> error flag</a:t>
            </a:r>
          </a:p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-trapping-math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IEEE754 exceptions</a:t>
            </a:r>
          </a:p>
          <a:p>
            <a:r>
              <a:rPr lang="en-US" dirty="0">
                <a:solidFill>
                  <a:srgbClr val="FFC000"/>
                </a:solidFill>
              </a:rPr>
              <a:t>-</a:t>
            </a:r>
            <a:r>
              <a:rPr lang="en-US" dirty="0" err="1">
                <a:solidFill>
                  <a:srgbClr val="FFC000"/>
                </a:solidFill>
              </a:rPr>
              <a:t>fno</a:t>
            </a:r>
            <a:r>
              <a:rPr lang="en-US" dirty="0">
                <a:solidFill>
                  <a:srgbClr val="FFC000"/>
                </a:solidFill>
              </a:rPr>
              <a:t>-signed-zeros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user do not distinguish sign of zeroes</a:t>
            </a:r>
          </a:p>
          <a:p>
            <a:r>
              <a:rPr lang="en-US" dirty="0">
                <a:solidFill>
                  <a:srgbClr val="FFC000"/>
                </a:solidFill>
              </a:rPr>
              <a:t>-finite-math-only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code does not emit </a:t>
            </a:r>
            <a:r>
              <a:rPr lang="en-US" dirty="0" err="1">
                <a:solidFill>
                  <a:srgbClr val="FFC000"/>
                </a:solidFill>
              </a:rPr>
              <a:t>NaNs</a:t>
            </a:r>
            <a:r>
              <a:rPr lang="en-US" dirty="0">
                <a:solidFill>
                  <a:srgbClr val="FFC000"/>
                </a:solidFill>
              </a:rPr>
              <a:t> and </a:t>
            </a:r>
            <a:r>
              <a:rPr lang="en-US" dirty="0" err="1">
                <a:solidFill>
                  <a:srgbClr val="FFC000"/>
                </a:solidFill>
              </a:rPr>
              <a:t>Infs</a:t>
            </a:r>
            <a:endParaRPr lang="en-US" dirty="0">
              <a:solidFill>
                <a:srgbClr val="FFC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fassociative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free reordering of expressions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freciprocal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transformation of divisions</a:t>
            </a:r>
          </a:p>
          <a:p>
            <a:r>
              <a:rPr lang="en-US" b="1" dirty="0">
                <a:solidFill>
                  <a:srgbClr val="7030A0"/>
                </a:solidFill>
              </a:rPr>
              <a:t>-</a:t>
            </a:r>
            <a:r>
              <a:rPr lang="en-US" b="1" dirty="0" err="1">
                <a:solidFill>
                  <a:srgbClr val="7030A0"/>
                </a:solidFill>
              </a:rPr>
              <a:t>ffast</a:t>
            </a:r>
            <a:r>
              <a:rPr lang="en-US" b="1" dirty="0">
                <a:solidFill>
                  <a:srgbClr val="7030A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All above and more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C000"/>
              </a:solidFill>
            </a:endParaRPr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ED6A5C-338C-9672-C0CC-E317CA084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191E37-612B-910F-8EAE-E8655764F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20CCE-AEC8-220A-8519-3181B7755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6708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6D7ED-ACC6-7042-AF08-97C6621B7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Controlling </a:t>
            </a:r>
            <a:r>
              <a:rPr lang="en-US" dirty="0" err="1"/>
              <a:t>fma</a:t>
            </a:r>
            <a:r>
              <a:rPr lang="en-US" dirty="0"/>
              <a:t> (contraction)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21D8F-30D4-854D-8AE5-67D181452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gcc</a:t>
            </a:r>
            <a:r>
              <a:rPr lang="en-US" dirty="0"/>
              <a:t>  (and clang)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ffp</a:t>
            </a:r>
            <a:r>
              <a:rPr lang="en-US" dirty="0">
                <a:latin typeface="Courier" pitchFamily="2" charset="0"/>
              </a:rPr>
              <a:t>-contract=off 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fast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2"/>
              </a:rPr>
              <a:t>https://stackoverflow.com/questions/43352510/difference-in-gcc-ffp-contract-options</a:t>
            </a:r>
            <a:endParaRPr lang="en-US" sz="2000" dirty="0"/>
          </a:p>
          <a:p>
            <a:endParaRPr lang="en-US" dirty="0"/>
          </a:p>
          <a:p>
            <a:r>
              <a:rPr lang="en-US" dirty="0" err="1"/>
              <a:t>cuda</a:t>
            </a:r>
            <a:r>
              <a:rPr lang="en-US" dirty="0"/>
              <a:t> (</a:t>
            </a:r>
            <a:r>
              <a:rPr lang="en-US" dirty="0" err="1"/>
              <a:t>nvcc</a:t>
            </a:r>
            <a:r>
              <a:rPr lang="en-US" dirty="0"/>
              <a:t>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fmad</a:t>
            </a:r>
            <a:r>
              <a:rPr lang="en-US" dirty="0">
                <a:latin typeface="Courier" pitchFamily="2" charset="0"/>
              </a:rPr>
              <a:t>=false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true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3"/>
              </a:rPr>
              <a:t>https://docs.nvidia.com/cuda/floating-point/index.html</a:t>
            </a:r>
            <a:r>
              <a:rPr lang="en-US" sz="2000" dirty="0"/>
              <a:t> </a:t>
            </a:r>
          </a:p>
          <a:p>
            <a:pPr lvl="1"/>
            <a:endParaRPr lang="en-US" sz="2000" dirty="0"/>
          </a:p>
          <a:p>
            <a:r>
              <a:rPr lang="en-US" sz="2400" dirty="0" err="1"/>
              <a:t>fma</a:t>
            </a:r>
            <a:r>
              <a:rPr lang="en-US" sz="2400" dirty="0"/>
              <a:t> function itself will in any case honored and will use the hardware instruction if supported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D360D-F979-974E-AC5E-EC496A80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Innocente</a:t>
            </a:r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F0BC1-FA2C-584A-988B-0B3F2265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16E4-D53D-4F48-8EFF-2C1B2F4A6165}" type="slidenum">
              <a:rPr lang="it-IT" altLang="x-none" smtClean="0"/>
              <a:pPr/>
              <a:t>57</a:t>
            </a:fld>
            <a:endParaRPr lang="it-IT" altLang="x-none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2C764AE-31F1-0D06-F7D4-F3620627E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  <p:extLst>
      <p:ext uri="{BB962C8B-B14F-4D97-AF65-F5344CB8AC3E}">
        <p14:creationId xmlns:p14="http://schemas.microsoft.com/office/powerpoint/2010/main" val="8796572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Title 1"/>
          <p:cNvSpPr>
            <a:spLocks noGrp="1"/>
          </p:cNvSpPr>
          <p:nvPr>
            <p:ph type="title"/>
          </p:nvPr>
        </p:nvSpPr>
        <p:spPr>
          <a:xfrm>
            <a:off x="838200" y="168277"/>
            <a:ext cx="10515600" cy="839790"/>
          </a:xfrm>
        </p:spPr>
        <p:txBody>
          <a:bodyPr/>
          <a:lstStyle/>
          <a:p>
            <a:pPr eaLnBrk="1" hangingPunct="1"/>
            <a:r>
              <a:rPr lang="en-US" altLang="x-none" dirty="0"/>
              <a:t>Inspecting generated code</a:t>
            </a:r>
          </a:p>
        </p:txBody>
      </p:sp>
      <p:sp>
        <p:nvSpPr>
          <p:cNvPr id="36866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l" eaLnBrk="1" hangingPunct="1"/>
            <a:fld id="{8A4E5C24-E16C-944D-B659-50A1BFEB947D}" type="slidenum">
              <a:rPr lang="en-US" altLang="x-none" sz="1200">
                <a:latin typeface="Garamond" charset="0"/>
              </a:rPr>
              <a:pPr algn="l" eaLnBrk="1" hangingPunct="1"/>
              <a:t>58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36867" name="TextBox 4"/>
          <p:cNvSpPr txBox="1">
            <a:spLocks noChangeArrowheads="1"/>
          </p:cNvSpPr>
          <p:nvPr/>
        </p:nvSpPr>
        <p:spPr bwMode="auto">
          <a:xfrm>
            <a:off x="1703388" y="981075"/>
            <a:ext cx="8534400" cy="92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i="1"/>
              <a:t>objdump -S -r -C --no-show-raw-insn –w kernel.o | less</a:t>
            </a:r>
          </a:p>
          <a:p>
            <a:pPr eaLnBrk="1" hangingPunct="1"/>
            <a:r>
              <a:rPr lang="en-US" altLang="x-none" sz="1800" i="1"/>
              <a:t>(on MacOS: otool -t -v  -V –X kernel.o  | c++filt | less)</a:t>
            </a:r>
          </a:p>
          <a:p>
            <a:pPr eaLnBrk="1" hangingPunct="1"/>
            <a:r>
              <a:rPr lang="en-US" altLang="x-none" sz="1800" i="1"/>
              <a:t>Or use http://gcc.godbolt.org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1774825" y="2781300"/>
            <a:ext cx="2471738" cy="132238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float 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 a, float x, float y) {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 return a*x + a*y;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}</a:t>
            </a: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5664200" y="3860801"/>
            <a:ext cx="4267200" cy="1323975"/>
          </a:xfrm>
          <a:prstGeom prst="rect">
            <a:avLst/>
          </a:prstGeom>
          <a:solidFill>
            <a:srgbClr val="CCFFCC"/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4953000" y="1700214"/>
            <a:ext cx="5715000" cy="1570037"/>
          </a:xfrm>
          <a:prstGeom prst="rect">
            <a:avLst/>
          </a:prstGeom>
          <a:solidFill>
            <a:srgbClr val="FF6600">
              <a:alpha val="81960"/>
            </a:srgbClr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%xmm0,%xmm2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cxnSp>
        <p:nvCxnSpPr>
          <p:cNvPr id="36871" name="Straight Arrow Connector 8"/>
          <p:cNvCxnSpPr>
            <a:cxnSpLocks noChangeShapeType="1"/>
            <a:stCxn id="5" idx="3"/>
            <a:endCxn id="7" idx="1"/>
          </p:cNvCxnSpPr>
          <p:nvPr/>
        </p:nvCxnSpPr>
        <p:spPr bwMode="auto">
          <a:xfrm flipV="1">
            <a:off x="4246564" y="2486026"/>
            <a:ext cx="706437" cy="957263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6872" name="Straight Arrow Connector 10"/>
          <p:cNvCxnSpPr>
            <a:cxnSpLocks noChangeShapeType="1"/>
            <a:stCxn id="5" idx="3"/>
            <a:endCxn id="6" idx="1"/>
          </p:cNvCxnSpPr>
          <p:nvPr/>
        </p:nvCxnSpPr>
        <p:spPr bwMode="auto">
          <a:xfrm>
            <a:off x="4246564" y="3443288"/>
            <a:ext cx="1417637" cy="10795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873" name="TextBox 15"/>
          <p:cNvSpPr txBox="1">
            <a:spLocks noChangeArrowheads="1"/>
          </p:cNvSpPr>
          <p:nvPr/>
        </p:nvSpPr>
        <p:spPr bwMode="auto">
          <a:xfrm>
            <a:off x="4151313" y="2420939"/>
            <a:ext cx="5762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</a:t>
            </a:r>
          </a:p>
        </p:txBody>
      </p:sp>
      <p:sp>
        <p:nvSpPr>
          <p:cNvPr id="36874" name="TextBox 16"/>
          <p:cNvSpPr txBox="1">
            <a:spLocks noChangeArrowheads="1"/>
          </p:cNvSpPr>
          <p:nvPr/>
        </p:nvSpPr>
        <p:spPr bwMode="auto">
          <a:xfrm>
            <a:off x="3861472" y="4484450"/>
            <a:ext cx="173220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-O2,-ffast-math</a:t>
            </a:r>
          </a:p>
        </p:txBody>
      </p:sp>
      <p:sp>
        <p:nvSpPr>
          <p:cNvPr id="36875" name="Date Placeholder 11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6" name="Footer Placeholder 12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8" name="TextBox 1"/>
          <p:cNvSpPr txBox="1">
            <a:spLocks noChangeArrowheads="1"/>
          </p:cNvSpPr>
          <p:nvPr/>
        </p:nvSpPr>
        <p:spPr bwMode="auto">
          <a:xfrm>
            <a:off x="1543050" y="1916114"/>
            <a:ext cx="32639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c++ -S kernel.cc; less kernel.s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30" y="266702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 dirty="0">
                <a:ea typeface="ＭＳ Ｐゴシック" panose="020B0600070205080204" pitchFamily="34" charset="-128"/>
              </a:rPr>
            </a:br>
            <a:r>
              <a:rPr lang="en-US" altLang="en-US" dirty="0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59</a:t>
            </a:fld>
            <a:endParaRPr lang="en-US" altLang="en-US" sz="1200" dirty="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9090" y="1889363"/>
            <a:ext cx="8640478" cy="2092881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double p =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mom.mag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();</a:t>
            </a:r>
            <a:r>
              <a:rPr lang="en-US" altLang="en-US" sz="1600" dirty="0">
                <a:solidFill>
                  <a:srgbClr val="000000"/>
                </a:solidFill>
              </a:rPr>
              <a:t>  //  sqrt(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mom.z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mom.z</a:t>
            </a:r>
            <a:r>
              <a:rPr lang="en-US" altLang="en-US" sz="1600" dirty="0">
                <a:solidFill>
                  <a:srgbClr val="000000"/>
                </a:solidFill>
              </a:rPr>
              <a:t>())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fabs(p/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())*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radLen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z = 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varz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(exp(-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*log(3.)/log(2.))- exp(-2*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));</a:t>
            </a: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779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pt =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mom.perp</a:t>
            </a:r>
            <a:r>
              <a:rPr lang="en-US" altLang="en-US" sz="1600" b="1" dirty="0">
                <a:solidFill>
                  <a:srgbClr val="000000"/>
                </a:solidFill>
              </a:rPr>
              <a:t>();</a:t>
            </a:r>
            <a:r>
              <a:rPr lang="en-US" altLang="en-US" sz="1600" dirty="0">
                <a:solidFill>
                  <a:srgbClr val="000000"/>
                </a:solidFill>
              </a:rPr>
              <a:t>    //  sqrt(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j = </a:t>
            </a:r>
            <a:r>
              <a:rPr lang="en-US" altLang="en-US" sz="1600" b="1" dirty="0" err="1">
                <a:solidFill>
                  <a:srgbClr val="000000"/>
                </a:solidFill>
              </a:rPr>
              <a:t>a_i</a:t>
            </a:r>
            <a:r>
              <a:rPr lang="en-US" altLang="en-US" sz="1600" b="1" dirty="0">
                <a:solidFill>
                  <a:srgbClr val="000000"/>
                </a:solidFill>
              </a:rPr>
              <a:t>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 +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r_x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r_y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s = 1/(pt*pt*sqrt(1 - j*j));</a:t>
            </a:r>
            <a:endParaRPr lang="en-US" altLang="en-US" sz="1600" dirty="0">
              <a:solidFill>
                <a:srgbClr val="000000"/>
              </a:solidFill>
            </a:endParaRP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June 2026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F80B5F-3E24-A3F7-E808-F85EFC6FB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604" y="195383"/>
            <a:ext cx="5129396" cy="2309571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EE629-C5D9-7084-2EB3-799D99398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453D4B-4025-FA6E-3F06-38E1E19C4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 dirty="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064AA1-FF0D-615D-67C2-918BB7E7CB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 C++</a:t>
            </a:r>
          </a:p>
          <a:p>
            <a:r>
              <a:rPr lang="en-US" dirty="0"/>
              <a:t>use </a:t>
            </a:r>
            <a:r>
              <a:rPr lang="en-US" dirty="0" err="1"/>
              <a:t>godbolt</a:t>
            </a:r>
            <a:r>
              <a:rPr lang="en-US" dirty="0"/>
              <a:t> (  </a:t>
            </a:r>
            <a:r>
              <a:rPr lang="en-US" dirty="0">
                <a:hlinkClick r:id="rId2"/>
              </a:rPr>
              <a:t>https://godbolt.org/z/5TWjsKqha</a:t>
            </a:r>
            <a:r>
              <a:rPr lang="en-US" dirty="0"/>
              <a:t> )</a:t>
            </a:r>
          </a:p>
          <a:p>
            <a:r>
              <a:rPr lang="en-US" dirty="0"/>
              <a:t>change compiler options for various compilers and see what happens</a:t>
            </a:r>
          </a:p>
          <a:p>
            <a:r>
              <a:rPr lang="en-US" dirty="0"/>
              <a:t>Try to optimize some code and see if it really improves</a:t>
            </a:r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1A65EB3-CF93-B9C2-6622-FE1BD77BFC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44CAB0-B094-7C50-B1B5-888BADBEC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CA2008-32C0-BFAD-8900-1333192DA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FE75A0-0AC9-B769-F1A7-04778AE9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76382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EB5E99E-774C-59A5-B5D9-2494DD85E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0970FA-35A5-C18E-4659-69DD12E0DB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C154CE-5283-18C4-288F-3F79E580E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3E2067-5FD4-40C4-E1F6-AA2C3249C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E239A-5EFE-BF23-806D-50305DD8A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6288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516B2F-60E8-9B2B-D8CC-1A933E215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Anecdotes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E268D9-943B-299E-C0B0-CABBA358D1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213" y="2141537"/>
            <a:ext cx="10515600" cy="4351338"/>
          </a:xfrm>
        </p:spPr>
        <p:txBody>
          <a:bodyPr/>
          <a:lstStyle/>
          <a:p>
            <a:r>
              <a:rPr lang="en-US" dirty="0"/>
              <a:t>Floating point “disasters”</a:t>
            </a:r>
          </a:p>
          <a:p>
            <a:pPr lvl="1"/>
            <a:r>
              <a:rPr lang="en-US" dirty="0">
                <a:hlinkClick r:id="rId2"/>
              </a:rPr>
              <a:t>http://ta.twi.tudelft.nl/users/vuik/wi211/disasters.html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https://www.iro.umontreal.ca/~mignotte/IFT2425/Disasters.html</a:t>
            </a:r>
            <a:endParaRPr lang="en-US" dirty="0"/>
          </a:p>
          <a:p>
            <a:pPr lvl="1"/>
            <a:r>
              <a:rPr lang="en-US" dirty="0">
                <a:hlinkClick r:id="rId4"/>
              </a:rPr>
              <a:t>https://slate.com/technology/2019/10/round-floor-software-errors-stock-market-battlefield.html</a:t>
            </a:r>
            <a:endParaRPr lang="en-US" dirty="0"/>
          </a:p>
          <a:p>
            <a:pPr lvl="1"/>
            <a:r>
              <a:rPr lang="en-US" dirty="0">
                <a:hlinkClick r:id="rId5"/>
              </a:rPr>
              <a:t>https://medium.com/@sohail_saifii/the-floating-point-standard-thats-silently-breaking-financial-software-7f7e93430dbb</a:t>
            </a:r>
            <a:endParaRPr lang="en-US" dirty="0"/>
          </a:p>
          <a:p>
            <a:pPr lvl="1"/>
            <a:r>
              <a:rPr lang="en-US" dirty="0">
                <a:hlinkClick r:id="rId6"/>
              </a:rPr>
              <a:t>https://pavpanchekha.com/blog/casio-mathjs.html</a:t>
            </a:r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B35D33A-695B-7A7C-60E5-E358B8C8A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5C66B8-8089-C5EB-43CD-255A811AB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E8B03E-DA23-029F-D0EC-5A771FF6C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8A8F15-253B-A978-568C-B3333316B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00659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2B8DEC-85A3-3D58-8E55-009CFDE07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4941"/>
          </a:xfrm>
        </p:spPr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D861FE-4A93-D2D9-8C3D-4971F68CF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689" y="1124226"/>
            <a:ext cx="10937111" cy="484324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What Every Computer Scientist Should Know About Floating-Point Arithmetic (1991)  </a:t>
            </a:r>
            <a:r>
              <a:rPr lang="en-US" dirty="0">
                <a:hlinkClick r:id="rId2"/>
              </a:rPr>
              <a:t>https://dl.acm.org/doi/pdf/10.1145/103162.103163</a:t>
            </a:r>
            <a:endParaRPr lang="en-US" dirty="0"/>
          </a:p>
          <a:p>
            <a:r>
              <a:rPr lang="en-US" dirty="0"/>
              <a:t>Handbook of Floating-Point Arithmetic(2018)  </a:t>
            </a:r>
            <a:r>
              <a:rPr lang="en-US" dirty="0">
                <a:hlinkClick r:id="rId3"/>
              </a:rPr>
              <a:t>https://link.springer.com/book/10.1007/978-3-319-76526-6</a:t>
            </a:r>
            <a:endParaRPr lang="en-US" dirty="0"/>
          </a:p>
          <a:p>
            <a:r>
              <a:rPr lang="en-US" dirty="0"/>
              <a:t>Elementary Functions  (2016) </a:t>
            </a:r>
            <a:r>
              <a:rPr lang="en-US" dirty="0">
                <a:hlinkClick r:id="rId4"/>
              </a:rPr>
              <a:t>https://link.springer.com/book/10.1007/978-1-4899-7983-4</a:t>
            </a:r>
            <a:endParaRPr lang="en-US" dirty="0"/>
          </a:p>
          <a:p>
            <a:endParaRPr lang="en-US" dirty="0"/>
          </a:p>
          <a:p>
            <a:r>
              <a:rPr lang="en-US" dirty="0"/>
              <a:t>Floating-point arithmetic (2023) </a:t>
            </a:r>
          </a:p>
          <a:p>
            <a:pPr lvl="1"/>
            <a:r>
              <a:rPr lang="en-US" dirty="0">
                <a:hlinkClick r:id="rId5"/>
              </a:rPr>
              <a:t>https://www.cambridge.org/core/journals/acta-numerica/article/floatingpoint-arithmetic/287C4D5F6D4A43FBEEB1ABED2A405AAF</a:t>
            </a:r>
            <a:endParaRPr lang="en-US" dirty="0"/>
          </a:p>
          <a:p>
            <a:endParaRPr lang="en-US" dirty="0"/>
          </a:p>
          <a:p>
            <a:r>
              <a:rPr lang="en-US" dirty="0"/>
              <a:t>Low Precision</a:t>
            </a:r>
          </a:p>
          <a:p>
            <a:pPr lvl="1"/>
            <a:r>
              <a:rPr lang="en-US" dirty="0">
                <a:hlinkClick r:id="rId6"/>
              </a:rPr>
              <a:t>https://www.siam.org/publications/siam-news/articles/mixed-precision-computing-high-accuracy-with-low-precision/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00018A-1EC4-7D72-580D-2E94DBC53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74150F-E0F1-6A3D-09D0-868001683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D1D393-FED8-EB36-E3E4-3F87EAF4D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59232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968AC-28E1-1B47-7E94-76FDF30FC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 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D567D-FF9E-1675-1673-F07E5D942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3610" y="1367959"/>
            <a:ext cx="10053577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How many significand </a:t>
            </a:r>
            <a:r>
              <a:rPr lang="en-US"/>
              <a:t>bits does have </a:t>
            </a:r>
            <a:r>
              <a:rPr lang="en-US" dirty="0"/>
              <a:t>a single precision </a:t>
            </a:r>
            <a:r>
              <a:rPr lang="en-US"/>
              <a:t>FP number?</a:t>
            </a:r>
            <a:endParaRPr lang="en-US" dirty="0"/>
          </a:p>
          <a:p>
            <a:r>
              <a:rPr lang="en-US" dirty="0"/>
              <a:t>How many single precision binary FP numbers exist between 2 and 3?</a:t>
            </a:r>
          </a:p>
          <a:p>
            <a:r>
              <a:rPr lang="en-US" dirty="0"/>
              <a:t>Round 137.5 to 3 digits using default rounding</a:t>
            </a:r>
          </a:p>
          <a:p>
            <a:r>
              <a:rPr lang="en-US" dirty="0"/>
              <a:t>Is the result of 137.5 - 82.4 precise?</a:t>
            </a:r>
          </a:p>
          <a:p>
            <a:r>
              <a:rPr lang="en-US" dirty="0"/>
              <a:t>If MAX is the largest representable single precision FP number: what’s the result of MAX + 0.1 - MAX ? And of Max + Max/1024 –Max ?</a:t>
            </a:r>
          </a:p>
          <a:p>
            <a:r>
              <a:rPr lang="en-US" dirty="0"/>
              <a:t>What is the result of 2.0 &lt; </a:t>
            </a:r>
            <a:r>
              <a:rPr lang="en-US" dirty="0" err="1"/>
              <a:t>NaN</a:t>
            </a:r>
            <a:r>
              <a:rPr lang="en-US" dirty="0"/>
              <a:t> when compiled with –finite-math-only?</a:t>
            </a:r>
          </a:p>
          <a:p>
            <a:r>
              <a:rPr lang="en-US" dirty="0"/>
              <a:t>What’s the difference between sin(x) and </a:t>
            </a:r>
            <a:r>
              <a:rPr lang="en-US" dirty="0" err="1"/>
              <a:t>sinpi</a:t>
            </a:r>
            <a:r>
              <a:rPr lang="en-US" dirty="0"/>
              <a:t>(x)?</a:t>
            </a:r>
          </a:p>
          <a:p>
            <a:r>
              <a:rPr lang="en-US" dirty="0"/>
              <a:t>When the “Table Maker Dilemma” occur?</a:t>
            </a:r>
          </a:p>
          <a:p>
            <a:r>
              <a:rPr lang="en-US" dirty="0"/>
              <a:t>What is faster: a </a:t>
            </a:r>
            <a:r>
              <a:rPr lang="en-US" dirty="0" err="1"/>
              <a:t>fma</a:t>
            </a:r>
            <a:r>
              <a:rPr lang="en-US" dirty="0"/>
              <a:t> instruction or a division?</a:t>
            </a:r>
          </a:p>
          <a:p>
            <a:r>
              <a:rPr lang="en-US" dirty="0"/>
              <a:t>How many </a:t>
            </a:r>
            <a:r>
              <a:rPr lang="en-US" dirty="0" err="1"/>
              <a:t>fma</a:t>
            </a:r>
            <a:r>
              <a:rPr lang="en-US" dirty="0"/>
              <a:t> instructions a modern processor can execute while a similar one is computing a single precision ”sin” functions?</a:t>
            </a:r>
          </a:p>
          <a:p>
            <a:endParaRPr lang="en-US" dirty="0"/>
          </a:p>
        </p:txBody>
      </p:sp>
      <p:pic>
        <p:nvPicPr>
          <p:cNvPr id="18434" name="Picture 2">
            <a:extLst>
              <a:ext uri="{FF2B5EF4-FFF2-40B4-BE49-F238E27FC236}">
                <a16:creationId xmlns:a16="http://schemas.microsoft.com/office/drawing/2014/main" id="{C1D86CD1-CD22-EA2E-555E-3DB54C654D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63983" y="0"/>
            <a:ext cx="2628017" cy="1900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32D96-C23B-F5B8-5008-1F1828EE4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70AA1-7AA0-0CBF-F6AA-7F60BB8D1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5DA5DC-79AE-EA4D-AC23-859B92B9D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70586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187B4-7540-02AE-9C86-4635C5BD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“additional” material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D3D0B-89E3-D3E8-10FD-CFEE306A7F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FFF54A-1EBC-6155-C4BE-81AB18E9A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6F3478-8596-AF21-564D-0AA351FDB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5405C1-4C3E-DC30-4A4B-43ACEFE59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61421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4E89-0E34-D19A-1A80-75A97E6E1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precision is good enough?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851CF-B761-8255-2E25-6301649AD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99747"/>
              </p:ext>
            </p:extLst>
          </p:nvPr>
        </p:nvGraphicFramePr>
        <p:xfrm>
          <a:off x="341424" y="1690688"/>
          <a:ext cx="5754576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921">
                  <a:extLst>
                    <a:ext uri="{9D8B030D-6E8A-4147-A177-3AD203B41FA5}">
                      <a16:colId xmlns:a16="http://schemas.microsoft.com/office/drawing/2014/main" val="2100930270"/>
                    </a:ext>
                  </a:extLst>
                </a:gridCol>
                <a:gridCol w="1090461">
                  <a:extLst>
                    <a:ext uri="{9D8B030D-6E8A-4147-A177-3AD203B41FA5}">
                      <a16:colId xmlns:a16="http://schemas.microsoft.com/office/drawing/2014/main" val="2668942958"/>
                    </a:ext>
                  </a:extLst>
                </a:gridCol>
                <a:gridCol w="965514">
                  <a:extLst>
                    <a:ext uri="{9D8B030D-6E8A-4147-A177-3AD203B41FA5}">
                      <a16:colId xmlns:a16="http://schemas.microsoft.com/office/drawing/2014/main" val="419510664"/>
                    </a:ext>
                  </a:extLst>
                </a:gridCol>
                <a:gridCol w="2901680">
                  <a:extLst>
                    <a:ext uri="{9D8B030D-6E8A-4147-A177-3AD203B41FA5}">
                      <a16:colId xmlns:a16="http://schemas.microsoft.com/office/drawing/2014/main" val="3116060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764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3.9E-3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uint8 ( 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float16 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456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uint16  (short)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809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 dirty="0"/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1.2E-7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float32  (float)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37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uint32  (int)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9893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1.1E-16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float64 (double)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97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5.4E-20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uint64   (long long)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169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1.9E-34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float128 (quad)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32819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0748A0-7198-238D-2C8D-7BA77F556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4E8837-DE4C-3170-1654-FB129C3EB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BF5A9-0832-ED92-6ADE-96AD9012D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45411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67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159097" y="1222377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inline float pt2(float x, float y) {return x*</a:t>
            </a:r>
            <a:r>
              <a:rPr lang="en-US" altLang="x-none" sz="1800" dirty="0" err="1"/>
              <a:t>x+y</a:t>
            </a:r>
            <a:r>
              <a:rPr lang="en-US" altLang="x-none" sz="1800" dirty="0"/>
              <a:t>*y;}</a:t>
            </a:r>
          </a:p>
          <a:p>
            <a:pPr eaLnBrk="1" hangingPunct="1"/>
            <a:r>
              <a:rPr lang="en-US" altLang="x-none" sz="1800" dirty="0"/>
              <a:t>inline float pt(float x, float y) {return std::sqrt(pt2(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));}</a:t>
            </a:r>
          </a:p>
          <a:p>
            <a:pPr eaLnBrk="1" hangingPunct="1"/>
            <a:r>
              <a:rPr lang="en-US" altLang="x-none" sz="1800" dirty="0"/>
              <a:t>inline float phi(float x, float y) {return std::atan2(</a:t>
            </a:r>
            <a:r>
              <a:rPr lang="en-US" altLang="x-none" sz="1800" dirty="0" err="1"/>
              <a:t>y,x</a:t>
            </a:r>
            <a:r>
              <a:rPr lang="en-US" altLang="x-none" sz="1800" dirty="0"/>
              <a:t>);}</a:t>
            </a:r>
          </a:p>
          <a:p>
            <a:pPr eaLnBrk="1" hangingPunct="1"/>
            <a:r>
              <a:rPr lang="en-US" altLang="x-none" sz="1800" dirty="0"/>
              <a:t>inline eta(float x, float y, float z) { float t(z/pt(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 return ::</a:t>
            </a:r>
            <a:r>
              <a:rPr lang="en-US" altLang="x-none" sz="1800" dirty="0" err="1"/>
              <a:t>asinhf</a:t>
            </a:r>
            <a:r>
              <a:rPr lang="en-US" altLang="x-none" sz="1800" dirty="0"/>
              <a:t>(t);} </a:t>
            </a:r>
          </a:p>
          <a:p>
            <a:pPr eaLnBrk="1" hangingPunct="1"/>
            <a:r>
              <a:rPr lang="en-US" altLang="x-none" sz="1800" dirty="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 dirty="0"/>
              <a:t>Inline float </a:t>
            </a:r>
            <a:r>
              <a:rPr lang="en-US" altLang="x-none" sz="1800" dirty="0" err="1"/>
              <a:t>dphi</a:t>
            </a:r>
            <a:r>
              <a:rPr lang="en-US" altLang="x-none" sz="1800" dirty="0"/>
              <a:t>(float p1,float p2) {</a:t>
            </a:r>
          </a:p>
          <a:p>
            <a:pPr eaLnBrk="1" hangingPunct="1"/>
            <a:r>
              <a:rPr lang="en-US" altLang="x-none" sz="1800" dirty="0"/>
              <a:t>    auto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=std::abs(p1-p2); if 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&gt;float(M_PI))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-=float(2*M_PI);</a:t>
            </a:r>
          </a:p>
          <a:p>
            <a:pPr eaLnBrk="1" hangingPunct="1"/>
            <a:r>
              <a:rPr lang="en-US" altLang="x-none" sz="1800" dirty="0"/>
              <a:t>    return std::abs(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);</a:t>
            </a:r>
          </a:p>
          <a:p>
            <a:pPr eaLnBrk="1" hangingPunct="1"/>
            <a:r>
              <a:rPr lang="en-US" altLang="x-none" sz="1800" dirty="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159097" y="4031458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DD3490-4496-5DE2-48C7-78644AC3C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 sz="3200"/>
              <a:t>Example: detector of size 1 m and resolution 10 micron       (required accuracy: ~1micron?)</a:t>
            </a:r>
          </a:p>
        </p:txBody>
      </p:sp>
      <p:sp>
        <p:nvSpPr>
          <p:cNvPr id="4301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301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B7FFE41-57C6-9246-8957-219FD2921327}" type="slidenum">
              <a:rPr lang="it-IT" altLang="x-none" sz="1200">
                <a:latin typeface="Garamond" charset="0"/>
              </a:rPr>
              <a:pPr eaLnBrk="1" hangingPunct="1"/>
              <a:t>68</a:t>
            </a:fld>
            <a:endParaRPr lang="it-IT" altLang="x-none" sz="1200">
              <a:latin typeface="Garamond" charset="0"/>
            </a:endParaRPr>
          </a:p>
        </p:txBody>
      </p:sp>
      <p:cxnSp>
        <p:nvCxnSpPr>
          <p:cNvPr id="4" name="Straight Connector 3"/>
          <p:cNvCxnSpPr>
            <a:cxnSpLocks noChangeShapeType="1"/>
          </p:cNvCxnSpPr>
          <p:nvPr/>
        </p:nvCxnSpPr>
        <p:spPr bwMode="auto">
          <a:xfrm>
            <a:off x="2135188" y="198913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135188" y="3789363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2135188" y="558958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Box 4"/>
          <p:cNvSpPr txBox="1"/>
          <p:nvPr/>
        </p:nvSpPr>
        <p:spPr>
          <a:xfrm>
            <a:off x="6240464" y="1628775"/>
            <a:ext cx="3859775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three measurement planes</a:t>
            </a:r>
          </a:p>
          <a:p>
            <a:pPr>
              <a:defRPr/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Is single precision enough to represent 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geometric elements?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Measurements?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computed trajectory?</a:t>
            </a:r>
          </a:p>
          <a:p>
            <a:pPr>
              <a:defRPr/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Is enough to perform computation?</a:t>
            </a:r>
          </a:p>
        </p:txBody>
      </p:sp>
      <p:sp>
        <p:nvSpPr>
          <p:cNvPr id="7" name="Oval 6"/>
          <p:cNvSpPr>
            <a:spLocks noChangeArrowheads="1"/>
          </p:cNvSpPr>
          <p:nvPr/>
        </p:nvSpPr>
        <p:spPr bwMode="auto">
          <a:xfrm>
            <a:off x="3575051" y="1916114"/>
            <a:ext cx="144463" cy="123825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5" name="Oval 14"/>
          <p:cNvSpPr>
            <a:spLocks noChangeArrowheads="1"/>
          </p:cNvSpPr>
          <p:nvPr/>
        </p:nvSpPr>
        <p:spPr bwMode="auto">
          <a:xfrm>
            <a:off x="3143251" y="3716339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7" name="Oval 16"/>
          <p:cNvSpPr>
            <a:spLocks noChangeArrowheads="1"/>
          </p:cNvSpPr>
          <p:nvPr/>
        </p:nvSpPr>
        <p:spPr bwMode="auto">
          <a:xfrm>
            <a:off x="3575051" y="5516564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9" name="Arc 8"/>
          <p:cNvSpPr>
            <a:spLocks/>
          </p:cNvSpPr>
          <p:nvPr/>
        </p:nvSpPr>
        <p:spPr bwMode="auto">
          <a:xfrm>
            <a:off x="3216275" y="1412876"/>
            <a:ext cx="2374900" cy="4752975"/>
          </a:xfrm>
          <a:custGeom>
            <a:avLst/>
            <a:gdLst>
              <a:gd name="T0" fmla="*/ 812674 w 2374900"/>
              <a:gd name="T1" fmla="*/ 4631507 h 4752975"/>
              <a:gd name="T2" fmla="*/ 122 w 2374900"/>
              <a:gd name="T3" fmla="*/ 2342478 h 4752975"/>
              <a:gd name="T4" fmla="*/ 936948 w 2374900"/>
              <a:gd name="T5" fmla="*/ 53482 h 475297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374900" h="4752975" stroke="0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  <a:lnTo>
                  <a:pt x="1187450" y="2376488"/>
                </a:lnTo>
                <a:lnTo>
                  <a:pt x="812674" y="4631507"/>
                </a:lnTo>
                <a:close/>
              </a:path>
              <a:path w="2374900" h="4752975" fill="none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</a:path>
            </a:pathLst>
          </a:custGeom>
          <a:noFill/>
          <a:ln w="25400" cap="flat" cmpd="sng">
            <a:solidFill>
              <a:srgbClr val="FF0000"/>
            </a:solidFill>
            <a:prstDash val="solid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/>
          </a:p>
        </p:txBody>
      </p:sp>
      <p:cxnSp>
        <p:nvCxnSpPr>
          <p:cNvPr id="13" name="Straight Connector 12"/>
          <p:cNvCxnSpPr>
            <a:cxnSpLocks noChangeShapeType="1"/>
            <a:stCxn id="7" idx="4"/>
            <a:endCxn id="17" idx="0"/>
          </p:cNvCxnSpPr>
          <p:nvPr/>
        </p:nvCxnSpPr>
        <p:spPr bwMode="auto">
          <a:xfrm>
            <a:off x="3648075" y="2039939"/>
            <a:ext cx="0" cy="3476625"/>
          </a:xfrm>
          <a:prstGeom prst="line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2" name="TextBox 13"/>
          <p:cNvSpPr txBox="1">
            <a:spLocks noChangeArrowheads="1"/>
          </p:cNvSpPr>
          <p:nvPr/>
        </p:nvSpPr>
        <p:spPr bwMode="auto">
          <a:xfrm>
            <a:off x="6888163" y="4076700"/>
            <a:ext cx="3376612" cy="2586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Trajectory: circle with radius </a:t>
            </a:r>
            <a:r>
              <a:rPr lang="en-US" altLang="x-none" sz="1800">
                <a:latin typeface="Lucida Calligraphy" charset="0"/>
              </a:rPr>
              <a:t>r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  <a:r>
              <a:rPr lang="en-US" altLang="x-none" sz="1800"/>
              <a:t> is the sagita, </a:t>
            </a:r>
            <a:r>
              <a:rPr lang="en-US" altLang="x-none" sz="1800">
                <a:latin typeface="Lucida Calligraphy" charset="0"/>
              </a:rPr>
              <a:t>h </a:t>
            </a:r>
            <a:r>
              <a:rPr lang="en-US" altLang="x-none" sz="1800"/>
              <a:t>the half-chord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r = (s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+h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 /2s ~ 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/2s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= 2sr - s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 </a:t>
            </a:r>
            <a:r>
              <a:rPr lang="en-US" altLang="x-none" sz="1800">
                <a:latin typeface="Lucida Calligraphy" charset="0"/>
              </a:rPr>
              <a:t>= r +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3023" name="TextBox 17"/>
          <p:cNvSpPr txBox="1">
            <a:spLocks noChangeArrowheads="1"/>
          </p:cNvSpPr>
          <p:nvPr/>
        </p:nvSpPr>
        <p:spPr bwMode="auto">
          <a:xfrm>
            <a:off x="3935414" y="2708275"/>
            <a:ext cx="138588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/>
              <a:t> = 500mm</a:t>
            </a:r>
          </a:p>
        </p:txBody>
      </p:sp>
      <p:sp>
        <p:nvSpPr>
          <p:cNvPr id="43024" name="TextBox 18"/>
          <p:cNvSpPr txBox="1">
            <a:spLocks noChangeArrowheads="1"/>
          </p:cNvSpPr>
          <p:nvPr/>
        </p:nvSpPr>
        <p:spPr bwMode="auto">
          <a:xfrm>
            <a:off x="3359150" y="3789363"/>
            <a:ext cx="28886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</a:p>
        </p:txBody>
      </p:sp>
      <p:cxnSp>
        <p:nvCxnSpPr>
          <p:cNvPr id="21" name="Straight Arrow Connector 20"/>
          <p:cNvCxnSpPr>
            <a:cxnSpLocks noChangeShapeType="1"/>
          </p:cNvCxnSpPr>
          <p:nvPr/>
        </p:nvCxnSpPr>
        <p:spPr bwMode="auto">
          <a:xfrm>
            <a:off x="3287713" y="3860800"/>
            <a:ext cx="381000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6" name="TextBox 27"/>
          <p:cNvSpPr txBox="1">
            <a:spLocks noChangeArrowheads="1"/>
          </p:cNvSpPr>
          <p:nvPr/>
        </p:nvSpPr>
        <p:spPr bwMode="auto">
          <a:xfrm>
            <a:off x="4727576" y="3789363"/>
            <a:ext cx="792163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24" name="Straight Arrow Connector 23"/>
          <p:cNvCxnSpPr>
            <a:cxnSpLocks noChangeShapeType="1"/>
          </p:cNvCxnSpPr>
          <p:nvPr/>
        </p:nvCxnSpPr>
        <p:spPr bwMode="auto">
          <a:xfrm>
            <a:off x="5375276" y="4005263"/>
            <a:ext cx="504825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8" name="TextBox 33"/>
          <p:cNvSpPr txBox="1">
            <a:spLocks noChangeArrowheads="1"/>
          </p:cNvSpPr>
          <p:nvPr/>
        </p:nvSpPr>
        <p:spPr bwMode="auto">
          <a:xfrm>
            <a:off x="2351089" y="3789363"/>
            <a:ext cx="9366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solidFill>
                <a:srgbClr val="FF0000"/>
              </a:solidFill>
              <a:latin typeface="Lucida Calligraphy" charset="0"/>
            </a:endParaRPr>
          </a:p>
        </p:txBody>
      </p:sp>
      <p:sp>
        <p:nvSpPr>
          <p:cNvPr id="43029" name="TextBox 34"/>
          <p:cNvSpPr txBox="1">
            <a:spLocks noChangeArrowheads="1"/>
          </p:cNvSpPr>
          <p:nvPr/>
        </p:nvSpPr>
        <p:spPr bwMode="auto">
          <a:xfrm>
            <a:off x="2782888" y="5589588"/>
            <a:ext cx="792162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sp>
        <p:nvSpPr>
          <p:cNvPr id="43030" name="TextBox 35"/>
          <p:cNvSpPr txBox="1">
            <a:spLocks noChangeArrowheads="1"/>
          </p:cNvSpPr>
          <p:nvPr/>
        </p:nvSpPr>
        <p:spPr bwMode="auto">
          <a:xfrm>
            <a:off x="2782888" y="1628775"/>
            <a:ext cx="79216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37" name="Straight Arrow Connector 36"/>
          <p:cNvCxnSpPr>
            <a:cxnSpLocks noChangeShapeType="1"/>
          </p:cNvCxnSpPr>
          <p:nvPr/>
        </p:nvCxnSpPr>
        <p:spPr bwMode="auto">
          <a:xfrm flipV="1">
            <a:off x="3935413" y="2060576"/>
            <a:ext cx="0" cy="1655763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A97F97-E819-0D00-8197-F99C39037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/>
          <p:cNvSpPr>
            <a:spLocks noGrp="1"/>
          </p:cNvSpPr>
          <p:nvPr>
            <p:ph type="title"/>
          </p:nvPr>
        </p:nvSpPr>
        <p:spPr>
          <a:xfrm>
            <a:off x="1992313" y="188913"/>
            <a:ext cx="8229600" cy="919162"/>
          </a:xfrm>
        </p:spPr>
        <p:txBody>
          <a:bodyPr/>
          <a:lstStyle/>
          <a:p>
            <a:r>
              <a:rPr lang="en-US" altLang="x-none"/>
              <a:t>Circle equation and solutions</a:t>
            </a:r>
          </a:p>
        </p:txBody>
      </p:sp>
      <p:sp>
        <p:nvSpPr>
          <p:cNvPr id="44035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4036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95212A31-810B-054D-BB61-8593D637FD85}" type="slidenum">
              <a:rPr lang="it-IT" altLang="x-none" sz="1200">
                <a:latin typeface="Garamond" charset="0"/>
              </a:rPr>
              <a:pPr eaLnBrk="1" hangingPunct="1"/>
              <a:t>69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43013" name="TextBox 6"/>
          <p:cNvSpPr txBox="1">
            <a:spLocks noChangeArrowheads="1"/>
          </p:cNvSpPr>
          <p:nvPr/>
        </p:nvSpPr>
        <p:spPr bwMode="auto">
          <a:xfrm>
            <a:off x="2516229" y="1187807"/>
            <a:ext cx="6737742" cy="49859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= r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</a:p>
          <a:p>
            <a:pPr eaLnBrk="1" hangingPunct="1"/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Compute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   (x for y=h)</a:t>
            </a:r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x</a:t>
            </a:r>
            <a:r>
              <a:rPr lang="en-US" altLang="x-none" sz="1800" baseline="30000" dirty="0"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= 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latin typeface="Lucida Calligraphy" charset="0"/>
              </a:rPr>
              <a:t> 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 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</a:t>
            </a:r>
            <a:r>
              <a:rPr lang="en-US" altLang="x-none" sz="1800" dirty="0">
                <a:latin typeface="Lucida Calligraphy" charset="0"/>
              </a:rPr>
              <a:t>     ~ 0 (zero)</a:t>
            </a:r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dirty="0"/>
              <a:t>Alternative formulation equivalent to change of </a:t>
            </a:r>
          </a:p>
          <a:p>
            <a:pPr eaLnBrk="1" hangingPunct="1"/>
            <a:r>
              <a:rPr lang="en-US" altLang="x-none" sz="1800" dirty="0"/>
              <a:t>coordinate centered at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 ,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 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 </a:t>
            </a:r>
            <a:r>
              <a:rPr lang="en-US" altLang="x-none" sz="1800" dirty="0">
                <a:latin typeface="Lucida Calligraphy" charset="0"/>
              </a:rPr>
              <a:t>-2ar(x-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-2br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 0</a:t>
            </a:r>
          </a:p>
          <a:p>
            <a:pPr eaLnBrk="1" hangingPunct="1"/>
            <a:r>
              <a:rPr lang="en-US" altLang="x-none" sz="1800" dirty="0"/>
              <a:t>In our simplified case </a:t>
            </a:r>
            <a:r>
              <a:rPr lang="en-US" altLang="x-none" sz="1800" dirty="0">
                <a:latin typeface="Lucida Calligraphy" charset="0"/>
              </a:rPr>
              <a:t>a=1, b=0,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=0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2  </a:t>
            </a:r>
            <a:r>
              <a:rPr lang="en-US" altLang="x-none" sz="1800" dirty="0">
                <a:latin typeface="Lucida Calligraphy" charset="0"/>
              </a:rPr>
              <a:t>- 2(x-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dirty="0">
                <a:latin typeface="Lucida Calligraphy" charset="0"/>
              </a:rPr>
              <a:t>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 </a:t>
            </a:r>
            <a:r>
              <a:rPr lang="en-US" altLang="x-none" sz="1800" baseline="30000" dirty="0"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 0</a:t>
            </a:r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x =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   </a:t>
            </a:r>
            <a:r>
              <a:rPr lang="en-US" altLang="x-none" sz="1800" dirty="0">
                <a:latin typeface="Lucida Calligraphy" charset="0"/>
              </a:rPr>
              <a:t>~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latin typeface="Lucida Calligraphy" charset="0"/>
              </a:rPr>
              <a:t>              </a:t>
            </a:r>
            <a:r>
              <a:rPr lang="en-US" altLang="x-none" sz="1800" dirty="0">
                <a:latin typeface="+mn-lt"/>
              </a:rPr>
              <a:t>(naïve: cancellation!!)</a:t>
            </a:r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x =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 </a:t>
            </a:r>
            <a:r>
              <a:rPr lang="en-US" altLang="x-none" sz="1800" dirty="0">
                <a:latin typeface="Lucida Calligraphy" charset="0"/>
              </a:rPr>
              <a:t>/ (r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</a:t>
            </a:r>
            <a:r>
              <a:rPr lang="en-US" altLang="x-none" sz="1800" dirty="0">
                <a:latin typeface="Lucida Calligraphy" charset="0"/>
              </a:rPr>
              <a:t> )   ~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 </a:t>
            </a:r>
            <a:r>
              <a:rPr lang="en-US" altLang="x-none" sz="1800" dirty="0">
                <a:latin typeface="Lucida Calligraphy" charset="0"/>
              </a:rPr>
              <a:t>/ 2r   </a:t>
            </a:r>
            <a:r>
              <a:rPr lang="en-US" altLang="x-none" sz="1800" dirty="0"/>
              <a:t>(optimal)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endParaRPr lang="en-US" altLang="x-none" sz="1800" dirty="0"/>
          </a:p>
        </p:txBody>
      </p:sp>
      <p:sp>
        <p:nvSpPr>
          <p:cNvPr id="44038" name="TextBox 1"/>
          <p:cNvSpPr txBox="1">
            <a:spLocks noChangeArrowheads="1"/>
          </p:cNvSpPr>
          <p:nvPr/>
        </p:nvSpPr>
        <p:spPr bwMode="auto">
          <a:xfrm>
            <a:off x="1465886" y="5615582"/>
            <a:ext cx="10074074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 correct choice of algorithm can allow to use a reduced precision to obtain the same accuracy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Faster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Smaller memory footprint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44062F-5D33-7AB7-ECCB-830A3D61E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05F96-FA60-9B0C-1DB9-F8EEDD322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73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Example: CMS tracker</a:t>
            </a:r>
            <a:br>
              <a:rPr lang="en-US" dirty="0"/>
            </a:br>
            <a:r>
              <a:rPr lang="en-US" sz="3100" dirty="0">
                <a:hlinkClick r:id="rId2"/>
              </a:rPr>
              <a:t>https://cms-tklayout.web.cern.ch/cmssw/OT806_IT742/info.html</a:t>
            </a:r>
            <a:endParaRPr lang="en-US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20FDB2D-A0A4-C240-D275-1539E67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846" y="1775749"/>
            <a:ext cx="7396717" cy="2465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18AFFAC5-1116-4C6B-D799-E445126441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552354"/>
            <a:ext cx="2775098" cy="277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2F28B3-807A-F852-A8FD-7F09A1F98605}"/>
              </a:ext>
            </a:extLst>
          </p:cNvPr>
          <p:cNvSpPr txBox="1"/>
          <p:nvPr/>
        </p:nvSpPr>
        <p:spPr>
          <a:xfrm>
            <a:off x="340240" y="4326383"/>
            <a:ext cx="49547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Spatial resolution: (alignment error to be added)</a:t>
            </a:r>
          </a:p>
          <a:p>
            <a:r>
              <a:rPr lang="en-US" dirty="0"/>
              <a:t>IT:   σ</a:t>
            </a:r>
            <a:r>
              <a:rPr lang="en-US" baseline="-25000" dirty="0"/>
              <a:t>x</a:t>
            </a:r>
            <a:r>
              <a:rPr lang="en-US" dirty="0"/>
              <a:t>~3μ σ</a:t>
            </a:r>
            <a:r>
              <a:rPr lang="en-US" baseline="-25000" dirty="0"/>
              <a:t>z</a:t>
            </a:r>
            <a:r>
              <a:rPr lang="en-US" dirty="0"/>
              <a:t>~10μ  at r&lt;15cm |z|&lt;20cm</a:t>
            </a:r>
          </a:p>
          <a:p>
            <a:r>
              <a:rPr lang="en-US" dirty="0"/>
              <a:t>OT: σ</a:t>
            </a:r>
            <a:r>
              <a:rPr lang="en-US" baseline="-25000" dirty="0"/>
              <a:t>x</a:t>
            </a:r>
            <a:r>
              <a:rPr lang="en-US" dirty="0"/>
              <a:t>~20μ σ</a:t>
            </a:r>
            <a:r>
              <a:rPr lang="en-US" baseline="-25000" dirty="0"/>
              <a:t>z</a:t>
            </a:r>
            <a:r>
              <a:rPr lang="en-US" dirty="0"/>
              <a:t>~425μ  at r&lt;120cm |z|&lt;130cm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163F2B-7D66-A934-3E4A-5ADDB8CDDC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3DCA85-5ED4-D5FD-D1ED-CBC1E4512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AC6024-9344-3CA3-1226-88E0E9397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58020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6581C-82E0-8D16-FA39-E76292CC7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Track resolution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C3916E-4368-4D92-4FE0-0A2A1BD5D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977" y="137266"/>
            <a:ext cx="5384800" cy="1993900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1AC6E908-414B-B976-A5C5-E78C10392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" y="1918547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9CF9420D-CFC5-F39E-7FA4-6D6BD06D0F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695" y="1965878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>
            <a:extLst>
              <a:ext uri="{FF2B5EF4-FFF2-40B4-BE49-F238E27FC236}">
                <a16:creationId xmlns:a16="http://schemas.microsoft.com/office/drawing/2014/main" id="{8E06164F-8C16-E128-B842-56109EC9F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289" y="2066758"/>
            <a:ext cx="4447488" cy="2964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C684E8-33F7-FE45-48F9-262528C600AF}"/>
              </a:ext>
            </a:extLst>
          </p:cNvPr>
          <p:cNvSpPr txBox="1"/>
          <p:nvPr/>
        </p:nvSpPr>
        <p:spPr>
          <a:xfrm>
            <a:off x="868326" y="2277509"/>
            <a:ext cx="12170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1Gev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70C0"/>
                </a:solidFill>
              </a:rPr>
              <a:t>10GeV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FF0000"/>
                </a:solidFill>
              </a:rPr>
              <a:t>100GeV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EE2636-66F2-D591-32EF-397031DA27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A7F6D5-C5FB-D65A-77C5-8DA203E7B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38D14C-8396-966D-10C8-7FC332606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137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FFB8E-82F8-EF95-7B40-FF6E1C13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CMS Electromagnetic </a:t>
            </a:r>
            <a:r>
              <a:rPr lang="en-US" dirty="0" err="1"/>
              <a:t>Calorimiter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F9D161-A33C-BFA5-F0C8-F49A9386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33546"/>
            <a:ext cx="4447363" cy="3113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6047C5-E321-4DA3-3868-82E182D2678C}"/>
              </a:ext>
            </a:extLst>
          </p:cNvPr>
          <p:cNvSpPr txBox="1"/>
          <p:nvPr/>
        </p:nvSpPr>
        <p:spPr>
          <a:xfrm>
            <a:off x="1484382" y="1349330"/>
            <a:ext cx="1873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0E29F5-31E7-42E9-7BC5-937783976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239" y="1420511"/>
            <a:ext cx="3382435" cy="3469047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13C20A6-40D4-78BA-8CF8-50E6F8907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2CFA264-2651-05E2-3C8D-759B9CBAE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702BE9F-55AD-ADE3-D473-764DF3FC1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804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78339</TotalTime>
  <Words>7157</Words>
  <Application>Microsoft Macintosh PowerPoint</Application>
  <PresentationFormat>Widescreen</PresentationFormat>
  <Paragraphs>971</Paragraphs>
  <Slides>72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86" baseType="lpstr">
      <vt:lpstr>Arial Unicode MS</vt:lpstr>
      <vt:lpstr>ＭＳ Ｐゴシック</vt:lpstr>
      <vt:lpstr>Aptos</vt:lpstr>
      <vt:lpstr>Arial</vt:lpstr>
      <vt:lpstr>Arial Narrow</vt:lpstr>
      <vt:lpstr>Calibri</vt:lpstr>
      <vt:lpstr>Calibri Light</vt:lpstr>
      <vt:lpstr>Corbel</vt:lpstr>
      <vt:lpstr>Courier</vt:lpstr>
      <vt:lpstr>Garamond</vt:lpstr>
      <vt:lpstr>Lucida Calligraphy</vt:lpstr>
      <vt:lpstr>Lucida Console</vt:lpstr>
      <vt:lpstr>Wingdings</vt:lpstr>
      <vt:lpstr>Office Theme</vt:lpstr>
      <vt:lpstr>FloatingPoint Arithmetic for Scientists: Precision, Accuracy, Efficiency </vt:lpstr>
      <vt:lpstr>Definitions</vt:lpstr>
      <vt:lpstr>What is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Arithmetic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Does it help for catastrophic cancellation?</vt:lpstr>
      <vt:lpstr>Compensating algorithms</vt:lpstr>
      <vt:lpstr>FMA: Fused Multiple Add</vt:lpstr>
      <vt:lpstr>EXERCISES</vt:lpstr>
      <vt:lpstr>PowerPoint Presentation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Elementary functions</vt:lpstr>
      <vt:lpstr>Library functions</vt:lpstr>
      <vt:lpstr>Evaluating a function for a recent review see https://dl.acm.org/doi/pdf/10.1145/3747840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PowerPoint Presentation</vt:lpstr>
      <vt:lpstr>TMD in decimal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GPU (T4) performance Brute-force inversion of 5x5 Pos-Def Matrix using Cholesky decomposition 33 + , 29 - , 126 * , 5 / , no sqrt    (compiler optimization and fma will contract some) </vt:lpstr>
      <vt:lpstr>Elementary functions 1/throughput (in cycles) (origin https://core-math.gitlabpages.inria.fr/)</vt:lpstr>
      <vt:lpstr>float vs double: summary</vt:lpstr>
      <vt:lpstr>Precision vs Speed for elementary functions</vt:lpstr>
      <vt:lpstr>Example: multiple scattering formula</vt:lpstr>
      <vt:lpstr>Cash-Karp Runge-Kutta Step</vt:lpstr>
      <vt:lpstr>Code pitfalls and opportunity for optimization</vt:lpstr>
      <vt:lpstr>Language and compiler “rules”</vt:lpstr>
      <vt:lpstr>Compiler option affecting FP Arith https://gcc.gnu.org/wiki/FloatingPointMath https://clang.llvm.org/docs/UsersManual.html - controlling-floating-point-behavior</vt:lpstr>
      <vt:lpstr>Controlling fma (contraction)</vt:lpstr>
      <vt:lpstr>Inspecting generated code</vt:lpstr>
      <vt:lpstr>Formula Translation:  what was the author’s intention?</vt:lpstr>
      <vt:lpstr>EXERCISES</vt:lpstr>
      <vt:lpstr>PowerPoint Presentation</vt:lpstr>
      <vt:lpstr>Anecdotes</vt:lpstr>
      <vt:lpstr>References</vt:lpstr>
      <vt:lpstr>Self Assessment</vt:lpstr>
      <vt:lpstr>“additional” material</vt:lpstr>
      <vt:lpstr>What precision is good enough?</vt:lpstr>
      <vt:lpstr>Example: cut in pt, phi, eta</vt:lpstr>
      <vt:lpstr>Example: detector of size 1 m and resolution 10 micron       (required accuracy: ~1micron?)</vt:lpstr>
      <vt:lpstr>Circle equation and solutions</vt:lpstr>
      <vt:lpstr>Example: CMS tracker https://cms-tklayout.web.cern.ch/cmssw/OT806_IT742/info.html</vt:lpstr>
      <vt:lpstr>Track resolution </vt:lpstr>
      <vt:lpstr>Example: CMS Electromagnetic Calorimiter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332</cp:revision>
  <dcterms:created xsi:type="dcterms:W3CDTF">2026-04-12T14:58:51Z</dcterms:created>
  <dcterms:modified xsi:type="dcterms:W3CDTF">2026-06-13T12:24:35Z</dcterms:modified>
</cp:coreProperties>
</file>