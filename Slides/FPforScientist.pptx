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60" r:id="rId18"/>
    <p:sldId id="462" r:id="rId19"/>
    <p:sldId id="463" r:id="rId20"/>
    <p:sldId id="464" r:id="rId21"/>
    <p:sldId id="465" r:id="rId22"/>
    <p:sldId id="466" r:id="rId23"/>
    <p:sldId id="467" r:id="rId24"/>
    <p:sldId id="468" r:id="rId25"/>
    <p:sldId id="44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58"/>
    <p:restoredTop sz="96327"/>
  </p:normalViewPr>
  <p:slideViewPr>
    <p:cSldViewPr snapToGrid="0" snapToObjects="1">
      <p:cViewPr varScale="1">
        <p:scale>
          <a:sx n="104" d="100"/>
          <a:sy n="104" d="100"/>
        </p:scale>
        <p:origin x="23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</a:t>
            </a:r>
            <a:r>
              <a:rPr lang="en-US"/>
              <a:t>GeV     =    2.2290ᐧ10</a:t>
            </a:r>
            <a:r>
              <a:rPr lang="en-US" baseline="30000"/>
              <a:t>-25</a:t>
            </a:r>
            <a:r>
              <a:rPr lang="en-US"/>
              <a:t> ± 2.1ᐧ10</a:t>
            </a:r>
            <a:r>
              <a:rPr lang="en-US" baseline="30000"/>
              <a:t>-28</a:t>
            </a:r>
            <a:r>
              <a:rPr lang="en-US"/>
              <a:t> Kg</a:t>
            </a:r>
            <a:endParaRPr lang="en-US" dirty="0"/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lvl="1"/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5605" name="TextBox 5"/>
          <p:cNvSpPr txBox="1">
            <a:spLocks noChangeArrowheads="1"/>
          </p:cNvSpPr>
          <p:nvPr/>
        </p:nvSpPr>
        <p:spPr bwMode="auto">
          <a:xfrm>
            <a:off x="1329982" y="1117000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they are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There are two basic operations: </a:t>
            </a:r>
          </a:p>
          <a:p>
            <a:r>
              <a:rPr lang="en-US"/>
              <a:t>sum and multiplication</a:t>
            </a:r>
          </a:p>
          <a:p>
            <a:pPr lvl="1"/>
            <a:r>
              <a:rPr lang="en-US" err="1"/>
              <a:t>a+b</a:t>
            </a:r>
            <a:r>
              <a:rPr lang="en-US"/>
              <a:t> and </a:t>
            </a:r>
            <a:r>
              <a:rPr lang="en-US" err="1"/>
              <a:t>a×b</a:t>
            </a:r>
            <a:r>
              <a:rPr lang="en-US"/>
              <a:t>  symbolize the exact sum and multiplication between a and b</a:t>
            </a:r>
          </a:p>
          <a:p>
            <a:pPr lvl="1"/>
            <a:r>
              <a:rPr lang="en-US" err="1"/>
              <a:t>a⊕b</a:t>
            </a:r>
            <a:r>
              <a:rPr lang="en-US"/>
              <a:t> and </a:t>
            </a:r>
            <a:r>
              <a:rPr lang="en-US" err="1"/>
              <a:t>a⊗b</a:t>
            </a:r>
            <a:r>
              <a:rPr lang="en-US"/>
              <a:t>  symbolize the rounded sum and multiplication between FPs a and b</a:t>
            </a:r>
          </a:p>
          <a:p>
            <a:pPr lvl="2"/>
            <a:r>
              <a:rPr lang="en-US" err="1"/>
              <a:t>a+b</a:t>
            </a:r>
            <a:r>
              <a:rPr lang="en-US"/>
              <a:t> and a*b  are the corresponding operations in code</a:t>
            </a:r>
          </a:p>
          <a:p>
            <a:r>
              <a:rPr lang="en-US"/>
              <a:t>We will use decimal precision 2 for all examples to allow mental arithmetic in a finite time</a:t>
            </a:r>
          </a:p>
          <a:p>
            <a:pPr lvl="1"/>
            <a:r>
              <a:rPr lang="en-US"/>
              <a:t>42+3.7 = …</a:t>
            </a:r>
          </a:p>
          <a:p>
            <a:pPr lvl="1"/>
            <a:r>
              <a:rPr lang="en-US"/>
              <a:t>42⊕3.7 = …</a:t>
            </a:r>
          </a:p>
          <a:p>
            <a:pPr lvl="1"/>
            <a:r>
              <a:rPr lang="en-US"/>
              <a:t>42⊕3.3 = … , 42⊕3.5 = … , 43⊕3.5 = …</a:t>
            </a:r>
            <a:br>
              <a:rPr lang="en-US"/>
            </a:br>
            <a:r>
              <a:rPr lang="en-US"/>
              <a:t>42⊕3.3⊕3.4 = … , 3.4⊕3.3⊕42 = … </a:t>
            </a:r>
          </a:p>
          <a:p>
            <a:pPr marL="457200" lvl="1" indent="0">
              <a:buNone/>
            </a:pPr>
            <a:r>
              <a:rPr lang="en-US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25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10060</TotalTime>
  <Words>2238</Words>
  <Application>Microsoft Macintosh PowerPoint</Application>
  <PresentationFormat>Widescreen</PresentationFormat>
  <Paragraphs>261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5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A first theorem</vt:lpstr>
      <vt:lpstr>Augmented Arithmetic</vt:lpstr>
      <vt:lpstr>Example of augmented sum</vt:lpstr>
      <vt:lpstr>Catastrophic cancellation</vt:lpstr>
      <vt:lpstr>Compensating algorithms</vt:lpstr>
      <vt:lpstr>EXERCISES</vt:lpstr>
      <vt:lpstr>PowerPoint Presentation</vt:lpstr>
      <vt:lpstr>FMA: Fused Multiple Add</vt:lpstr>
      <vt:lpstr>Classical example of loss of precision due to cancellation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91</cp:revision>
  <dcterms:created xsi:type="dcterms:W3CDTF">2026-04-12T14:58:51Z</dcterms:created>
  <dcterms:modified xsi:type="dcterms:W3CDTF">2026-04-19T15:47:22Z</dcterms:modified>
</cp:coreProperties>
</file>