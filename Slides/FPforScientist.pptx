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39"/>
    <p:restoredTop sz="96327"/>
  </p:normalViewPr>
  <p:slideViewPr>
    <p:cSldViewPr snapToGrid="0" snapToObjects="1">
      <p:cViewPr>
        <p:scale>
          <a:sx n="181" d="100"/>
          <a:sy n="181" d="100"/>
        </p:scale>
        <p:origin x="1000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2200" dirty="0"/>
              <a:t>(printed in binary is a 1 followed by a string of 23bits</a:t>
            </a:r>
            <a:r>
              <a:rPr lang="en-US" sz="2200" baseline="30000" dirty="0"/>
              <a:t>, </a:t>
            </a:r>
            <a:r>
              <a:rPr lang="cs-CZ" altLang="x-none" sz="2200" dirty="0">
                <a:latin typeface="Lucida Console" charset="0"/>
              </a:rPr>
              <a:t>1.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 dirty="0">
                <a:latin typeface="Lucida Console" charset="0"/>
              </a:rPr>
              <a:t>0010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 dirty="0">
                <a:latin typeface="Lucida Console" charset="0"/>
              </a:rPr>
              <a:t>1111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 dirty="0">
                <a:latin typeface="Lucida Console" charset="0"/>
              </a:rPr>
              <a:t>011</a:t>
            </a:r>
            <a:r>
              <a:rPr lang="is-IS" altLang="x-none" sz="2200" dirty="0">
                <a:latin typeface="Lucida Console" charset="0"/>
              </a:rPr>
              <a:t> </a:t>
            </a:r>
            <a:r>
              <a:rPr lang="en-US" sz="22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auto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(use </a:t>
            </a:r>
            <a:r>
              <a:rPr lang="en-US" i="1" dirty="0"/>
              <a:t>float, double, </a:t>
            </a:r>
            <a:r>
              <a:rPr lang="en-US" i="1" dirty="0" err="1"/>
              <a:t>simd</a:t>
            </a:r>
            <a:r>
              <a:rPr lang="en-US" i="1" dirty="0"/>
              <a:t>, int, mixed</a:t>
            </a:r>
            <a:r>
              <a:rPr lang="en-US" dirty="0"/>
              <a:t>)</a:t>
            </a:r>
          </a:p>
          <a:p>
            <a:pPr lvl="1"/>
            <a:r>
              <a:rPr lang="en-US" sz="2100" dirty="0"/>
              <a:t>(credit: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</a:t>
            </a:r>
            <a:r>
              <a:rPr lang="en-US" i="1" dirty="0"/>
              <a:t>uniform in [0.5,1) prob. 1/2</a:t>
            </a:r>
          </a:p>
          <a:p>
            <a:pPr lvl="1"/>
            <a:r>
              <a:rPr lang="en-US" dirty="0"/>
              <a:t>If 0 :Throw one more coin: if 1 set exponent of r to -2: </a:t>
            </a:r>
            <a:r>
              <a:rPr lang="en-US" i="1" dirty="0"/>
              <a:t>uniform in [0.25,0.5) prob. 1/4</a:t>
            </a:r>
          </a:p>
          <a:p>
            <a:pPr lvl="2"/>
            <a:r>
              <a:rPr lang="en-US" dirty="0"/>
              <a:t>If 0:  Throw one more coin: if 1 set exponent of r to -3: </a:t>
            </a:r>
            <a:r>
              <a:rPr lang="en-US" i="1" dirty="0"/>
              <a:t>uniform in [0.125,0.25) prob. 1/8</a:t>
            </a:r>
          </a:p>
          <a:p>
            <a:pPr lvl="3"/>
            <a:r>
              <a:rPr lang="en-US" dirty="0"/>
              <a:t>If 0:  Throw one more coin: if 1 set exponent of r to -4: </a:t>
            </a:r>
            <a:r>
              <a:rPr lang="en-US" i="1" dirty="0"/>
              <a:t>uniform in [0.0625,0.125) prob. 1/16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:</a:t>
            </a:r>
          </a:p>
          <a:p>
            <a:r>
              <a:rPr lang="en-US" dirty="0"/>
              <a:t>sin(0.40225342) = 0x1.</a:t>
            </a:r>
            <a:r>
              <a:rPr lang="en-US" dirty="0">
                <a:solidFill>
                  <a:srgbClr val="FF0000"/>
                </a:solidFill>
              </a:rPr>
              <a:t>90e382</a:t>
            </a:r>
            <a:r>
              <a:rPr lang="en-US" dirty="0"/>
              <a:t>fffff7bp-2         sin(0.47485355) = 0x1.</a:t>
            </a:r>
            <a:r>
              <a:rPr lang="en-US" dirty="0">
                <a:solidFill>
                  <a:srgbClr val="FF0000"/>
                </a:solidFill>
              </a:rPr>
              <a:t>d42e63</a:t>
            </a:r>
            <a:r>
              <a:rPr lang="en-US" dirty="0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r>
              <a:rPr lang="en-US" dirty="0"/>
              <a:t>Compute sin(0x1.e64002p-2) using Taylor expansion:</a:t>
            </a:r>
          </a:p>
          <a:p>
            <a:pPr lvl="1"/>
            <a:r>
              <a:rPr lang="en-US" dirty="0"/>
              <a:t>How many terms are needed to reach faithful rounding in single precision?</a:t>
            </a:r>
          </a:p>
          <a:p>
            <a:pPr lvl="1"/>
            <a:r>
              <a:rPr lang="en-US" dirty="0"/>
              <a:t>How many more terms to reach correct rounding (in single precision)?</a:t>
            </a:r>
          </a:p>
          <a:p>
            <a:pPr lvl="1"/>
            <a:r>
              <a:rPr lang="en-US" dirty="0"/>
              <a:t>Use double precision to compute, then round to single  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1/throughput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double </a:t>
            </a:r>
            <a:r>
              <a:rPr lang="en-US" altLang="x-none" sz="1800" dirty="0" err="1"/>
              <a:t>ms</a:t>
            </a:r>
            <a:r>
              <a:rPr lang="en-US" altLang="x-none" sz="1800" dirty="0"/>
              <a:t>(double </a:t>
            </a:r>
            <a:r>
              <a:rPr lang="en-US" altLang="x-none" sz="1800" dirty="0" err="1"/>
              <a:t>radLen</a:t>
            </a:r>
            <a:r>
              <a:rPr lang="en-US" altLang="x-none" sz="1800" dirty="0"/>
              <a:t>, double m2, double p2) { </a:t>
            </a:r>
          </a:p>
          <a:p>
            <a:pPr eaLnBrk="1" hangingPunct="1"/>
            <a:r>
              <a:rPr lang="en-US" altLang="x-none" sz="1800" dirty="0"/>
              <a:t>  </a:t>
            </a:r>
            <a:r>
              <a:rPr lang="en-US" altLang="x-none" sz="1800" dirty="0" err="1"/>
              <a:t>constexpr</a:t>
            </a:r>
            <a:r>
              <a:rPr lang="en-US" altLang="x-none" sz="1800" dirty="0"/>
              <a:t> double </a:t>
            </a:r>
            <a:r>
              <a:rPr lang="en-US" altLang="x-none" sz="1800" dirty="0" err="1"/>
              <a:t>amscon</a:t>
            </a:r>
            <a:r>
              <a:rPr lang="en-US" altLang="x-none" sz="1800" dirty="0"/>
              <a:t> = 1.8496e-4;    // (13.6MeV)**2</a:t>
            </a:r>
          </a:p>
          <a:p>
            <a:pPr eaLnBrk="1" hangingPunct="1"/>
            <a:r>
              <a:rPr lang="en-US" altLang="x-none" sz="1800" dirty="0"/>
              <a:t>  double e2     = p2 + m2;</a:t>
            </a:r>
          </a:p>
          <a:p>
            <a:pPr eaLnBrk="1" hangingPunct="1"/>
            <a:r>
              <a:rPr lang="en-US" altLang="x-none" sz="1800" dirty="0"/>
              <a:t>  double beta2  = p2/e2;</a:t>
            </a:r>
          </a:p>
          <a:p>
            <a:pPr eaLnBrk="1" hangingPunct="1"/>
            <a:r>
              <a:rPr lang="en-US" altLang="x-none" sz="1800" dirty="0"/>
              <a:t>  double fact = 1 + 0.038*log(</a:t>
            </a:r>
            <a:r>
              <a:rPr lang="en-US" altLang="x-none" sz="1800" b="1" dirty="0" err="1">
                <a:solidFill>
                  <a:srgbClr val="FF0000"/>
                </a:solidFill>
              </a:rPr>
              <a:t>radLen</a:t>
            </a:r>
            <a:r>
              <a:rPr lang="en-US" altLang="x-none" sz="1800" dirty="0"/>
              <a:t>);  fact *=fact;</a:t>
            </a:r>
          </a:p>
          <a:p>
            <a:pPr eaLnBrk="1" hangingPunct="1"/>
            <a:r>
              <a:rPr lang="en-US" altLang="x-none" sz="1800" dirty="0"/>
              <a:t>  double a = fact/(beta2*p2);</a:t>
            </a:r>
          </a:p>
          <a:p>
            <a:pPr eaLnBrk="1" hangingPunct="1"/>
            <a:r>
              <a:rPr lang="en-US" altLang="x-none" sz="1800" dirty="0"/>
              <a:t>  return </a:t>
            </a:r>
            <a:r>
              <a:rPr lang="en-US" altLang="x-none" sz="1800" dirty="0" err="1"/>
              <a:t>amscon</a:t>
            </a:r>
            <a:r>
              <a:rPr lang="en-US" altLang="x-none" sz="1800" dirty="0"/>
              <a:t>*</a:t>
            </a:r>
            <a:r>
              <a:rPr lang="en-US" altLang="x-none" sz="1800" dirty="0" err="1"/>
              <a:t>radLen</a:t>
            </a:r>
            <a:r>
              <a:rPr lang="en-US" altLang="x-none" sz="1800" dirty="0"/>
              <a:t>*a;</a:t>
            </a:r>
          </a:p>
          <a:p>
            <a:pPr eaLnBrk="1" hangingPunct="1"/>
            <a:r>
              <a:rPr lang="en-US" altLang="x-none" sz="1800" dirty="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whole expression will be evaluated in double</a:t>
            </a:r>
          </a:p>
          <a:p>
            <a:pPr lvl="2"/>
            <a:r>
              <a:rPr lang="en-US" dirty="0"/>
              <a:t>Promotion to double can be turn in a warning using “</a:t>
            </a:r>
            <a:r>
              <a:rPr lang="en-US" i="1" dirty="0"/>
              <a:t>-</a:t>
            </a:r>
            <a:r>
              <a:rPr lang="en-US" i="1" dirty="0" err="1"/>
              <a:t>Wdouble</a:t>
            </a:r>
            <a:r>
              <a:rPr lang="en-US" i="1" dirty="0"/>
              <a:t>-promotion”</a:t>
            </a:r>
            <a:endParaRPr lang="en-US" dirty="0"/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</a:t>
            </a:r>
            <a:r>
              <a:rPr lang="en-US"/>
              <a:t>bits does have </a:t>
            </a:r>
            <a:r>
              <a:rPr lang="en-US" dirty="0"/>
              <a:t>a single precision </a:t>
            </a:r>
            <a:r>
              <a:rPr lang="en-US"/>
              <a:t>FP number?</a:t>
            </a:r>
            <a:endParaRPr lang="en-US" dirty="0"/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79620</TotalTime>
  <Words>7164</Words>
  <Application>Microsoft Macintosh PowerPoint</Application>
  <PresentationFormat>Widescreen</PresentationFormat>
  <Paragraphs>969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335</cp:revision>
  <dcterms:created xsi:type="dcterms:W3CDTF">2026-04-12T14:58:51Z</dcterms:created>
  <dcterms:modified xsi:type="dcterms:W3CDTF">2026-06-14T09:46:00Z</dcterms:modified>
</cp:coreProperties>
</file>