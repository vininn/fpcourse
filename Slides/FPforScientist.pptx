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06"/>
    <p:restoredTop sz="96327"/>
  </p:normalViewPr>
  <p:slideViewPr>
    <p:cSldViewPr snapToGrid="0" snapToObjects="1">
      <p:cViewPr varScale="1">
        <p:scale>
          <a:sx n="199" d="100"/>
          <a:sy n="199" d="100"/>
        </p:scale>
        <p:origin x="16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Relationship Id="rId9" Type="http://schemas.openxmlformats.org/officeDocument/2006/relationships/hyperlink" Target="https://indico.cern.ch/event/1538409/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>
                <a:latin typeface="Lucida Console" charset="0"/>
              </a:rPr>
              <a:t>1.</a:t>
            </a:r>
            <a:r>
              <a:rPr lang="cs-CZ" altLang="x-none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>
                <a:latin typeface="Lucida Console" charset="0"/>
              </a:rPr>
              <a:t>0010</a:t>
            </a:r>
            <a:r>
              <a:rPr lang="cs-CZ" altLang="x-none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>
                <a:latin typeface="Lucida Console" charset="0"/>
              </a:rPr>
              <a:t>1111</a:t>
            </a:r>
            <a:r>
              <a:rPr lang="cs-CZ" altLang="x-none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>
                <a:latin typeface="Lucida Console" charset="0"/>
              </a:rPr>
              <a:t>011 </a:t>
            </a:r>
            <a:r>
              <a:rPr lang="en-US"/>
              <a:t>is </a:t>
            </a:r>
            <a:r>
              <a:rPr lang="en-US" dirty="0"/>
              <a:t>a FP in base 2 with precision 24 printed in binary </a:t>
            </a:r>
            <a:endParaRPr lang="cs-CZ" altLang="x-none" dirty="0">
              <a:latin typeface="Lucida Console" charset="0"/>
            </a:endParaRPr>
          </a:p>
          <a:p>
            <a:pPr marL="0" indent="0">
              <a:buNone/>
            </a:pPr>
            <a:r>
              <a:rPr lang="en-US" sz="2200" dirty="0"/>
              <a:t>normalized is a 1 followed by a string of 23bits. Easier to read if printed in hexadecimal: </a:t>
            </a:r>
            <a:r>
              <a:rPr lang="cs-CZ" altLang="x-none" sz="2400" dirty="0"/>
              <a:t>1.921fb6</a:t>
            </a:r>
            <a:r>
              <a:rPr lang="en-US" sz="2400" dirty="0" err="1"/>
              <a:t>ᐧ</a:t>
            </a:r>
            <a:r>
              <a:rPr lang="cs-CZ" altLang="x-none" sz="2400" dirty="0"/>
              <a:t>2</a:t>
            </a:r>
            <a:r>
              <a:rPr lang="cs-CZ" altLang="x-none" sz="2400" baseline="30000" dirty="0"/>
              <a:t>+1 </a:t>
            </a:r>
            <a:r>
              <a:rPr lang="cs-CZ" altLang="x-none" sz="2400" dirty="0"/>
              <a:t>:</a:t>
            </a:r>
            <a:r>
              <a:rPr lang="en-US" sz="2200" baseline="30000" dirty="0"/>
              <a:t> </a:t>
            </a:r>
            <a:r>
              <a:rPr lang="en-US" sz="2200" dirty="0"/>
              <a:t>in hex last digit is always even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marL="457200" lvl="1" indent="0">
              <a:buNone/>
            </a:pPr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#include&lt;iostream&gt;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iomanip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cmath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#include&lt;limits&gt;</a:t>
            </a:r>
          </a:p>
          <a:p>
            <a:pPr eaLnBrk="1" hangingPunct="1"/>
            <a:r>
              <a:rPr lang="en-US" altLang="x-none" sz="1800"/>
              <a:t>//  std style</a:t>
            </a:r>
          </a:p>
          <a:p>
            <a:pPr eaLnBrk="1" hangingPunct="1"/>
            <a:r>
              <a:rPr lang="en-US" altLang="x-none" sz="1800"/>
              <a:t>template&lt;</a:t>
            </a:r>
            <a:r>
              <a:rPr lang="en-US" altLang="x-none" sz="1800" err="1"/>
              <a:t>typename</a:t>
            </a:r>
            <a:r>
              <a:rPr lang="en-US" altLang="x-none" sz="1800"/>
              <a:t> T&gt;</a:t>
            </a:r>
          </a:p>
          <a:p>
            <a:pPr eaLnBrk="1" hangingPunct="1"/>
            <a:r>
              <a:rPr lang="en-US" altLang="x-none" sz="1800"/>
              <a:t>void print(T x) {          </a:t>
            </a:r>
          </a:p>
          <a:p>
            <a:pPr eaLnBrk="1" hangingPunct="1"/>
            <a:r>
              <a:rPr lang="en-US" altLang="x-none" sz="1800"/>
              <a:t> 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hexfloat</a:t>
            </a:r>
            <a:r>
              <a:rPr lang="en-US" altLang="x-none" sz="1800"/>
              <a:t> &lt;&lt; x &lt;&lt;'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/>
              <a:t>                &lt;&lt;  std::scientific &lt;&lt; std::</a:t>
            </a:r>
            <a:r>
              <a:rPr lang="en-US" altLang="x-none" sz="1800" err="1"/>
              <a:t>setprecision</a:t>
            </a:r>
            <a:r>
              <a:rPr lang="en-US" altLang="x-none" sz="1800"/>
              <a:t>(8) &lt;&lt; x &lt;&lt; 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/>
              <a:t>                &lt;&lt;  std::</a:t>
            </a:r>
            <a:r>
              <a:rPr lang="en-US" altLang="x-none" sz="1800" err="1"/>
              <a:t>defaultfloat</a:t>
            </a:r>
            <a:r>
              <a:rPr lang="en-US" altLang="x-none" sz="1800"/>
              <a:t> &lt;&lt; x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   </a:t>
            </a:r>
            <a:r>
              <a:rPr lang="en-US" altLang="x-none" sz="180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/>
              <a:t>}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// integer representation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cstring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bitset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int f2i(float x) { int </a:t>
            </a:r>
            <a:r>
              <a:rPr lang="en-US" altLang="x-none" sz="1800" err="1"/>
              <a:t>i</a:t>
            </a:r>
            <a:r>
              <a:rPr lang="en-US" altLang="x-none" sz="1800"/>
              <a:t>; </a:t>
            </a:r>
            <a:r>
              <a:rPr lang="en-US" altLang="x-none" sz="1800" err="1"/>
              <a:t>memcpy</a:t>
            </a:r>
            <a:r>
              <a:rPr lang="en-US" altLang="x-none" sz="1800"/>
              <a:t>(&amp;</a:t>
            </a:r>
            <a:r>
              <a:rPr lang="en-US" altLang="x-none" sz="1800" err="1"/>
              <a:t>i</a:t>
            </a:r>
            <a:r>
              <a:rPr lang="en-US" altLang="x-none" sz="1800"/>
              <a:t>,&amp;</a:t>
            </a:r>
            <a:r>
              <a:rPr lang="en-US" altLang="x-none" sz="1800" err="1"/>
              <a:t>x,sizeof</a:t>
            </a:r>
            <a:r>
              <a:rPr lang="en-US" altLang="x-none" sz="1800"/>
              <a:t>(float)); return </a:t>
            </a:r>
            <a:r>
              <a:rPr lang="en-US" altLang="x-none" sz="1800" err="1"/>
              <a:t>i</a:t>
            </a:r>
            <a:r>
              <a:rPr lang="en-US" altLang="x-none" sz="1800"/>
              <a:t>;} </a:t>
            </a:r>
            <a:r>
              <a:rPr lang="en-US" altLang="x-none" sz="180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/>
              <a:t>//  use </a:t>
            </a:r>
            <a:r>
              <a:rPr lang="en-US" altLang="x-none" sz="1800" err="1"/>
              <a:t>bitset</a:t>
            </a:r>
            <a:r>
              <a:rPr lang="en-US" altLang="x-none" sz="1800"/>
              <a:t> to print in binary (bit by bit) </a:t>
            </a:r>
          </a:p>
          <a:p>
            <a:pPr eaLnBrk="1" hangingPunct="1"/>
            <a:r>
              <a:rPr lang="en-US" altLang="x-none" sz="1800"/>
              <a:t>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bitset</a:t>
            </a:r>
            <a:r>
              <a:rPr lang="en-US" altLang="x-none" sz="1800"/>
              <a:t>&lt;32&gt;(f2i(x))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;   </a:t>
            </a:r>
            <a:r>
              <a:rPr lang="en-US" altLang="x-none" sz="180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 (precise)</a:t>
            </a:r>
          </a:p>
          <a:p>
            <a:pPr lvl="1"/>
            <a:r>
              <a:rPr lang="en-US"/>
              <a:t>18-7.4= 10.6 =&gt; 18⊖7.4 = 11   (not precise)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/>
              <a:t>Kahan summation</a:t>
            </a:r>
          </a:p>
          <a:p>
            <a:pPr lvl="1"/>
            <a:r>
              <a:rPr lang="en-US">
                <a:hlinkClick r:id="rId2"/>
              </a:rPr>
              <a:t>https://en.wikipedia.org/wiki/Kahan_summation_algorithm</a:t>
            </a:r>
            <a:endParaRPr lang="en-US"/>
          </a:p>
          <a:p>
            <a:pPr lvl="1"/>
            <a:r>
              <a:rPr lang="en-US"/>
              <a:t>with excruciating details </a:t>
            </a:r>
            <a:r>
              <a:rPr lang="en-US">
                <a:hlinkClick r:id="rId3"/>
              </a:rPr>
              <a:t>https://arxiv.org/html/2602.19452v1 - LST2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IEEE754 defines a set of “additional operations” (aka elementary functions) </a:t>
            </a:r>
          </a:p>
          <a:p>
            <a:pPr lvl="1"/>
            <a:r>
              <a:rPr lang="en-US"/>
              <a:t>exp, log, power of various forms</a:t>
            </a:r>
          </a:p>
          <a:p>
            <a:pPr lvl="1"/>
            <a:r>
              <a:rPr lang="en-US"/>
              <a:t>trig, hyperbolic and their inverse (arc)</a:t>
            </a:r>
          </a:p>
          <a:p>
            <a:pPr lvl="1"/>
            <a:r>
              <a:rPr lang="en-US"/>
              <a:t>They are “required” to be correctly rounded</a:t>
            </a:r>
          </a:p>
          <a:p>
            <a:r>
              <a:rPr lang="en-US"/>
              <a:t>C and C++ std define some more special functions</a:t>
            </a:r>
          </a:p>
          <a:p>
            <a:pPr lvl="1"/>
            <a:r>
              <a:rPr lang="en-US">
                <a:hlinkClick r:id="rId2"/>
              </a:rPr>
              <a:t>https://en.cppreference.com/cpp/numeric/math</a:t>
            </a:r>
            <a:endParaRPr lang="en-US"/>
          </a:p>
          <a:p>
            <a:pPr lvl="1"/>
            <a:r>
              <a:rPr lang="en-US">
                <a:hlinkClick r:id="rId3"/>
              </a:rPr>
              <a:t>https://en.wikipedia.org/wiki/C_mathematical_functions</a:t>
            </a:r>
            <a:endParaRPr lang="en-US"/>
          </a:p>
          <a:p>
            <a:r>
              <a:rPr lang="en-US"/>
              <a:t>Each vendor/compiler provides its own implementation</a:t>
            </a:r>
          </a:p>
          <a:p>
            <a:pPr lvl="1"/>
            <a:r>
              <a:rPr lang="en-US"/>
              <a:t>A comparison of their accuracy is compiled by </a:t>
            </a:r>
            <a:r>
              <a:rPr lang="en-US" err="1"/>
              <a:t>B.Gladman</a:t>
            </a:r>
            <a:r>
              <a:rPr lang="en-US"/>
              <a:t> et al.</a:t>
            </a:r>
          </a:p>
          <a:p>
            <a:pPr lvl="2"/>
            <a:r>
              <a:rPr lang="en-US">
                <a:hlinkClick r:id="rId4"/>
              </a:rPr>
              <a:t>https://members.loria.fr/PZimmermann/papers/accuracy.pdf</a:t>
            </a:r>
            <a:endParaRPr lang="en-US"/>
          </a:p>
          <a:p>
            <a:r>
              <a:rPr lang="en-US"/>
              <a:t>The most accurate implementation to date is from the “core-math” project</a:t>
            </a:r>
          </a:p>
          <a:p>
            <a:pPr lvl="1"/>
            <a:r>
              <a:rPr lang="en-US">
                <a:hlinkClick r:id="rId5"/>
              </a:rPr>
              <a:t>https://core-math.gitlabpages.inria.fr/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/>
              <a:t>Evaluating a function</a:t>
            </a:r>
            <a:br>
              <a:rPr lang="en-US"/>
            </a:br>
            <a:r>
              <a:rPr lang="en-US" sz="2700"/>
              <a:t>for a recent review see </a:t>
            </a:r>
            <a:r>
              <a:rPr lang="en-US" sz="2700">
                <a:hlinkClick r:id="rId2"/>
              </a:rPr>
              <a:t>https://dl.acm.org/doi/pdf/10.1145/3747840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Handling special values, under/over-flows and invalid</a:t>
            </a:r>
          </a:p>
          <a:p>
            <a:pPr lvl="1"/>
            <a:r>
              <a:rPr lang="en-US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If required:</a:t>
            </a:r>
          </a:p>
          <a:p>
            <a:pPr lvl="1"/>
            <a:r>
              <a:rPr lang="en-US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Back to full range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/>
              <a:t>Since 1964 the reference for function approximation is the </a:t>
            </a:r>
            <a:r>
              <a:rPr lang="en-US" i="1"/>
              <a:t>Abramowitz and </a:t>
            </a:r>
            <a:r>
              <a:rPr lang="en-US" i="1" err="1"/>
              <a:t>Stegun</a:t>
            </a:r>
            <a:endParaRPr lang="en-US" i="1"/>
          </a:p>
          <a:p>
            <a:pPr lvl="1"/>
            <a:r>
              <a:rPr lang="en-US"/>
              <a:t>Today replaced by the </a:t>
            </a:r>
            <a:r>
              <a:rPr lang="en-US" i="1"/>
              <a:t>digital library </a:t>
            </a:r>
            <a:r>
              <a:rPr lang="en-US">
                <a:hlinkClick r:id="rId2"/>
              </a:rPr>
              <a:t>https://dlmf.nist.gov/</a:t>
            </a:r>
            <a:endParaRPr lang="en-US"/>
          </a:p>
          <a:p>
            <a:r>
              <a:rPr lang="en-US"/>
              <a:t>Elementary functions are usually approximated either by  </a:t>
            </a:r>
          </a:p>
          <a:p>
            <a:pPr lvl="1"/>
            <a:r>
              <a:rPr lang="en-US"/>
              <a:t>shift-and-add algorithms (CORDIC </a:t>
            </a:r>
            <a:r>
              <a:rPr lang="en-US">
                <a:hlinkClick r:id="rId3"/>
              </a:rPr>
              <a:t>https://en.wikipedia.org/wiki/CORDIC</a:t>
            </a:r>
            <a:r>
              <a:rPr lang="en-US"/>
              <a:t>)</a:t>
            </a:r>
          </a:p>
          <a:p>
            <a:pPr lvl="2"/>
            <a:r>
              <a:rPr lang="en-US"/>
              <a:t>Today limited to FPGA</a:t>
            </a:r>
          </a:p>
          <a:p>
            <a:pPr lvl="1"/>
            <a:r>
              <a:rPr lang="en-US"/>
              <a:t>a polynomial</a:t>
            </a:r>
          </a:p>
          <a:p>
            <a:pPr lvl="2"/>
            <a:r>
              <a:rPr lang="en-US"/>
              <a:t>Chebyshev approximation satisfying the ”superior” norm (max in an interval)</a:t>
            </a:r>
          </a:p>
          <a:p>
            <a:pPr lvl="1"/>
            <a:r>
              <a:rPr lang="en-US"/>
              <a:t>a rational function (ratio of two polynomials)</a:t>
            </a:r>
          </a:p>
          <a:p>
            <a:pPr lvl="2"/>
            <a:r>
              <a:rPr lang="en-US"/>
              <a:t>Pade’ approximation</a:t>
            </a:r>
          </a:p>
          <a:p>
            <a:pPr lvl="1"/>
            <a:r>
              <a:rPr lang="en-US"/>
              <a:t>an iterative method such as Newton-Raphson</a:t>
            </a:r>
          </a:p>
          <a:p>
            <a:pPr marL="0" indent="0">
              <a:buNone/>
            </a:pPr>
            <a:r>
              <a:rPr lang="en-US" sz="1800"/>
              <a:t>See also the short paper by </a:t>
            </a:r>
            <a:r>
              <a:rPr lang="en-US" sz="1800" err="1"/>
              <a:t>J.M.Muller</a:t>
            </a:r>
            <a:r>
              <a:rPr lang="en-US" sz="1800"/>
              <a:t> </a:t>
            </a:r>
            <a:r>
              <a:rPr lang="en-US" sz="1800">
                <a:hlinkClick r:id="rId4"/>
              </a:rPr>
              <a:t>https://hal.science/hal-02517784v1/file/approxfunctions.pdf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1/x,</a:t>
            </a:r>
            <a:r>
              <a:rPr lang="en-US" altLang="en-US">
                <a:ea typeface="ＭＳ Ｐゴシック" panose="020B0600070205080204" pitchFamily="34" charset="-128"/>
              </a:rPr>
              <a:t> √</a:t>
            </a:r>
            <a:r>
              <a:rPr lang="en-US"/>
              <a:t>(x),1/</a:t>
            </a:r>
            <a:r>
              <a:rPr lang="en-US" altLang="en-US">
                <a:ea typeface="ＭＳ Ｐゴシック" panose="020B0600070205080204" pitchFamily="34" charset="-128"/>
              </a:rPr>
              <a:t>√</a:t>
            </a:r>
            <a:r>
              <a:rPr lang="en-US"/>
              <a:t>(x) aka </a:t>
            </a:r>
            <a:r>
              <a:rPr lang="en-US" err="1"/>
              <a:t>rcp</a:t>
            </a:r>
            <a:r>
              <a:rPr lang="en-US"/>
              <a:t>(x),sqrt(x),</a:t>
            </a:r>
            <a:r>
              <a:rPr lang="en-US" err="1"/>
              <a:t>rsqrt</a:t>
            </a:r>
            <a:r>
              <a:rPr lang="en-US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/>
              <a:t>Few fast converging Newton-Raphson iterations</a:t>
            </a:r>
          </a:p>
          <a:p>
            <a:pPr lvl="1"/>
            <a:r>
              <a:rPr lang="en-US"/>
              <a:t>Starting point is an approximation of  </a:t>
            </a:r>
            <a:r>
              <a:rPr lang="en-US" i="1"/>
              <a:t>f</a:t>
            </a:r>
            <a:r>
              <a:rPr lang="en-US"/>
              <a:t>(1.m)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float </a:t>
            </a:r>
            <a:r>
              <a:rPr lang="en-US" altLang="en-US" sz="1800" err="1"/>
              <a:t>rsqrt</a:t>
            </a:r>
            <a:r>
              <a:rPr lang="en-US" altLang="en-US" sz="1800"/>
              <a:t>(float x){</a:t>
            </a:r>
          </a:p>
          <a:p>
            <a:pPr eaLnBrk="1" hangingPunct="1"/>
            <a:r>
              <a:rPr lang="en-US" altLang="en-US" sz="1800"/>
              <a:t>  union {float </a:t>
            </a:r>
            <a:r>
              <a:rPr lang="en-US" altLang="en-US" sz="1800" err="1"/>
              <a:t>f;int</a:t>
            </a:r>
            <a:r>
              <a:rPr lang="en-US" altLang="en-US" sz="1800"/>
              <a:t> </a:t>
            </a:r>
            <a:r>
              <a:rPr lang="en-US" altLang="en-US" sz="1800" err="1"/>
              <a:t>i</a:t>
            </a:r>
            <a:r>
              <a:rPr lang="en-US" altLang="en-US" sz="1800"/>
              <a:t>;} </a:t>
            </a:r>
            <a:r>
              <a:rPr lang="en-US" altLang="en-US" sz="1800" err="1"/>
              <a:t>tmp</a:t>
            </a:r>
            <a:r>
              <a:rPr lang="en-US" altLang="en-US" sz="1800"/>
              <a:t>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tmp.f</a:t>
            </a:r>
            <a:r>
              <a:rPr lang="en-US" altLang="en-US" sz="1800"/>
              <a:t> = x;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tmp.i</a:t>
            </a:r>
            <a:r>
              <a:rPr lang="en-US" altLang="en-US" sz="1800"/>
              <a:t> = 0x5f3759df - (</a:t>
            </a:r>
            <a:r>
              <a:rPr lang="en-US" altLang="en-US" sz="1800" err="1"/>
              <a:t>tmp.i</a:t>
            </a:r>
            <a:r>
              <a:rPr lang="en-US" altLang="en-US" sz="1800"/>
              <a:t> &gt;&gt; 1);</a:t>
            </a:r>
          </a:p>
          <a:p>
            <a:pPr eaLnBrk="1" hangingPunct="1"/>
            <a:r>
              <a:rPr lang="en-US" altLang="en-US" sz="1800"/>
              <a:t>  float y = </a:t>
            </a:r>
            <a:r>
              <a:rPr lang="en-US" altLang="en-US" sz="1800" err="1"/>
              <a:t>tmp.f</a:t>
            </a:r>
            <a:r>
              <a:rPr lang="en-US" altLang="en-US" sz="1800"/>
              <a:t>; // approximate</a:t>
            </a:r>
          </a:p>
          <a:p>
            <a:pPr eaLnBrk="1" hangingPunct="1"/>
            <a:r>
              <a:rPr lang="en-US" altLang="en-US" sz="1800"/>
              <a:t>  return y * (1.5f - 0.5f * x * y * y); // NR</a:t>
            </a:r>
          </a:p>
          <a:p>
            <a:pPr eaLnBrk="1" hangingPunct="1"/>
            <a:r>
              <a:rPr lang="en-US" altLang="en-US" sz="18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Cost of operations (in </a:t>
            </a:r>
            <a:r>
              <a:rPr lang="en-US" altLang="x-none" err="1"/>
              <a:t>cpu</a:t>
            </a:r>
            <a:r>
              <a:rPr lang="en-US" altLang="x-none"/>
              <a:t> cycles on x86_64)</a:t>
            </a:r>
            <a:br>
              <a:rPr lang="en-US" altLang="x-none"/>
            </a:br>
            <a:r>
              <a:rPr lang="en-US" altLang="x-none" sz="3100">
                <a:hlinkClick r:id="rId2"/>
              </a:rPr>
              <a:t>https://www.agner.org/optimize/instruction_tables.pdf</a:t>
            </a:r>
            <a:r>
              <a:rPr lang="en-US" altLang="x-none" sz="3100"/>
              <a:t>  (</a:t>
            </a:r>
            <a:r>
              <a:rPr lang="en-US" altLang="x-none" sz="3100" err="1"/>
              <a:t>icelake</a:t>
            </a:r>
            <a:r>
              <a:rPr lang="en-US" altLang="x-none" sz="3100"/>
              <a:t> &amp; zen5)</a:t>
            </a:r>
            <a:endParaRPr lang="en-US" altLang="x-none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fno</a:t>
            </a:r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errno</a:t>
            </a:r>
            <a:r>
              <a:rPr lang="en-US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00B050"/>
                </a:solidFill>
              </a:rPr>
              <a:t>Assume user ignore </a:t>
            </a:r>
            <a:r>
              <a:rPr lang="en-US" err="1">
                <a:solidFill>
                  <a:srgbClr val="00B050"/>
                </a:solidFill>
              </a:rPr>
              <a:t>libc</a:t>
            </a:r>
            <a:r>
              <a:rPr lang="en-US">
                <a:solidFill>
                  <a:srgbClr val="00B050"/>
                </a:solidFill>
              </a:rPr>
              <a:t> error flag</a:t>
            </a:r>
          </a:p>
          <a:p>
            <a:r>
              <a:rPr lang="en-US">
                <a:solidFill>
                  <a:srgbClr val="00B050"/>
                </a:solidFill>
              </a:rPr>
              <a:t>-</a:t>
            </a:r>
            <a:r>
              <a:rPr lang="en-US" err="1">
                <a:solidFill>
                  <a:srgbClr val="00B050"/>
                </a:solidFill>
              </a:rPr>
              <a:t>fno</a:t>
            </a:r>
            <a:r>
              <a:rPr lang="en-US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>
                <a:solidFill>
                  <a:srgbClr val="FFC000"/>
                </a:solidFill>
              </a:rPr>
              <a:t>-</a:t>
            </a:r>
            <a:r>
              <a:rPr lang="en-US" err="1">
                <a:solidFill>
                  <a:srgbClr val="FFC000"/>
                </a:solidFill>
              </a:rPr>
              <a:t>fno</a:t>
            </a:r>
            <a:r>
              <a:rPr lang="en-US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>
                <a:solidFill>
                  <a:srgbClr val="FFC000"/>
                </a:solidFill>
              </a:rPr>
              <a:t>Assume code does not emit </a:t>
            </a:r>
            <a:r>
              <a:rPr lang="en-US" err="1">
                <a:solidFill>
                  <a:srgbClr val="FFC000"/>
                </a:solidFill>
              </a:rPr>
              <a:t>NaNs</a:t>
            </a:r>
            <a:r>
              <a:rPr lang="en-US">
                <a:solidFill>
                  <a:srgbClr val="FFC000"/>
                </a:solidFill>
              </a:rPr>
              <a:t> and </a:t>
            </a:r>
            <a:r>
              <a:rPr lang="en-US" err="1">
                <a:solidFill>
                  <a:srgbClr val="FFC000"/>
                </a:solidFill>
              </a:rPr>
              <a:t>Infs</a:t>
            </a:r>
            <a:endParaRPr lang="en-US">
              <a:solidFill>
                <a:srgbClr val="FFC000"/>
              </a:solidFill>
            </a:endParaRPr>
          </a:p>
          <a:p>
            <a:r>
              <a:rPr lang="en-US">
                <a:solidFill>
                  <a:srgbClr val="FF0000"/>
                </a:solidFill>
              </a:rPr>
              <a:t>-</a:t>
            </a:r>
            <a:r>
              <a:rPr lang="en-US" err="1">
                <a:solidFill>
                  <a:srgbClr val="FF0000"/>
                </a:solidFill>
              </a:rPr>
              <a:t>fassociative</a:t>
            </a:r>
            <a:r>
              <a:rPr lang="en-US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>
                <a:solidFill>
                  <a:srgbClr val="FF0000"/>
                </a:solidFill>
              </a:rPr>
              <a:t>-</a:t>
            </a:r>
            <a:r>
              <a:rPr lang="en-US" err="1">
                <a:solidFill>
                  <a:srgbClr val="FF0000"/>
                </a:solidFill>
              </a:rPr>
              <a:t>freciprocal</a:t>
            </a:r>
            <a:r>
              <a:rPr lang="en-US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>
                <a:solidFill>
                  <a:srgbClr val="7030A0"/>
                </a:solidFill>
              </a:rPr>
              <a:t>-</a:t>
            </a:r>
            <a:r>
              <a:rPr lang="en-US" b="1" err="1">
                <a:solidFill>
                  <a:srgbClr val="7030A0"/>
                </a:solidFill>
              </a:rPr>
              <a:t>ffast</a:t>
            </a:r>
            <a:r>
              <a:rPr lang="en-US" b="1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>
                <a:solidFill>
                  <a:srgbClr val="7030A0"/>
                </a:solidFill>
              </a:rPr>
              <a:t>All above and more</a:t>
            </a:r>
          </a:p>
          <a:p>
            <a:endParaRPr lang="en-US">
              <a:solidFill>
                <a:srgbClr val="FF0000"/>
              </a:solidFill>
            </a:endParaRPr>
          </a:p>
          <a:p>
            <a:endParaRPr lang="en-US">
              <a:solidFill>
                <a:srgbClr val="FFC000"/>
              </a:solidFill>
            </a:endParaRP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/>
              <a:t>Floating point “disasters”</a:t>
            </a:r>
          </a:p>
          <a:p>
            <a:pPr lvl="1"/>
            <a:r>
              <a:rPr lang="en-US">
                <a:hlinkClick r:id="rId2"/>
              </a:rPr>
              <a:t>http://ta.twi.tudelft.nl/users/vuik/wi211/disasters.html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https://www.iro.umontreal.ca/~mignotte/IFT2425/Disasters.html</a:t>
            </a:r>
            <a:endParaRPr lang="en-US"/>
          </a:p>
          <a:p>
            <a:pPr lvl="1"/>
            <a:r>
              <a:rPr lang="en-US">
                <a:hlinkClick r:id="rId4"/>
              </a:rPr>
              <a:t>https://slate.com/technology/2019/10/round-floor-software-errors-stock-market-battlefield.html</a:t>
            </a:r>
            <a:endParaRPr lang="en-US"/>
          </a:p>
          <a:p>
            <a:pPr lvl="1"/>
            <a:r>
              <a:rPr lang="en-US">
                <a:hlinkClick r:id="rId5"/>
              </a:rPr>
              <a:t>https://medium.com/@sohail_saifii/the-floating-point-standard-thats-silently-breaking-financial-software-7f7e93430dbb</a:t>
            </a:r>
            <a:endParaRPr lang="en-US"/>
          </a:p>
          <a:p>
            <a:pPr lvl="1"/>
            <a:r>
              <a:rPr lang="en-US">
                <a:hlinkClick r:id="rId6"/>
              </a:rPr>
              <a:t>https://pavpanchekha.com/blog/casio-mathjs.html</a:t>
            </a:r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pPr lvl="1"/>
            <a:r>
              <a:rPr lang="en-US" dirty="0"/>
              <a:t>NGT Workshop: </a:t>
            </a:r>
            <a:r>
              <a:rPr lang="en-US" dirty="0">
                <a:hlinkClick r:id="rId9"/>
              </a:rPr>
              <a:t>https://indico.cern.ch</a:t>
            </a:r>
            <a:r>
              <a:rPr lang="en-US">
                <a:hlinkClick r:id="rId9"/>
              </a:rPr>
              <a:t>/event/1538409/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Example: CMS tracker</a:t>
            </a:r>
            <a:br>
              <a:rPr lang="en-US"/>
            </a:br>
            <a:r>
              <a:rPr lang="en-US" sz="3100">
                <a:hlinkClick r:id="rId2"/>
              </a:rPr>
              <a:t>https://cms-tklayout.web.cern.ch/cmssw/OT806_IT742/info.html</a:t>
            </a:r>
            <a:endParaRPr lang="en-US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Spatial resolution: (alignment error to be added)</a:t>
            </a:r>
          </a:p>
          <a:p>
            <a:r>
              <a:rPr lang="en-US"/>
              <a:t>IT:   σ</a:t>
            </a:r>
            <a:r>
              <a:rPr lang="en-US" baseline="-25000"/>
              <a:t>x</a:t>
            </a:r>
            <a:r>
              <a:rPr lang="en-US"/>
              <a:t>~3μ σ</a:t>
            </a:r>
            <a:r>
              <a:rPr lang="en-US" baseline="-25000"/>
              <a:t>z</a:t>
            </a:r>
            <a:r>
              <a:rPr lang="en-US"/>
              <a:t>~10μ  at r&lt;15cm |z|&lt;20cm</a:t>
            </a:r>
          </a:p>
          <a:p>
            <a:r>
              <a:rPr lang="en-US"/>
              <a:t>OT: σ</a:t>
            </a:r>
            <a:r>
              <a:rPr lang="en-US" baseline="-25000"/>
              <a:t>x</a:t>
            </a:r>
            <a:r>
              <a:rPr lang="en-US"/>
              <a:t>~20μ σ</a:t>
            </a:r>
            <a:r>
              <a:rPr lang="en-US" baseline="-25000"/>
              <a:t>z</a:t>
            </a:r>
            <a:r>
              <a:rPr lang="en-US"/>
              <a:t>~425μ  at r&lt;120cm |z|&lt;130cm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84054</TotalTime>
  <Words>7216</Words>
  <Application>Microsoft Macintosh PowerPoint</Application>
  <PresentationFormat>Widescreen</PresentationFormat>
  <Paragraphs>974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343</cp:revision>
  <dcterms:created xsi:type="dcterms:W3CDTF">2026-04-12T14:58:51Z</dcterms:created>
  <dcterms:modified xsi:type="dcterms:W3CDTF">2026-06-18T09:15:52Z</dcterms:modified>
</cp:coreProperties>
</file>