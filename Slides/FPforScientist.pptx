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7" r:id="rId2"/>
    <p:sldId id="491" r:id="rId3"/>
    <p:sldId id="258" r:id="rId4"/>
    <p:sldId id="259" r:id="rId5"/>
    <p:sldId id="256" r:id="rId6"/>
    <p:sldId id="372" r:id="rId7"/>
    <p:sldId id="260" r:id="rId8"/>
    <p:sldId id="261" r:id="rId9"/>
    <p:sldId id="461" r:id="rId10"/>
    <p:sldId id="455" r:id="rId11"/>
    <p:sldId id="439" r:id="rId12"/>
    <p:sldId id="394" r:id="rId13"/>
    <p:sldId id="262" r:id="rId14"/>
    <p:sldId id="456" r:id="rId15"/>
    <p:sldId id="457" r:id="rId16"/>
    <p:sldId id="458" r:id="rId17"/>
    <p:sldId id="492" r:id="rId18"/>
    <p:sldId id="459" r:id="rId19"/>
    <p:sldId id="441" r:id="rId20"/>
    <p:sldId id="460" r:id="rId21"/>
    <p:sldId id="462" r:id="rId22"/>
    <p:sldId id="463" r:id="rId23"/>
    <p:sldId id="464" r:id="rId24"/>
    <p:sldId id="465" r:id="rId25"/>
    <p:sldId id="468" r:id="rId26"/>
    <p:sldId id="466" r:id="rId27"/>
    <p:sldId id="467" r:id="rId28"/>
    <p:sldId id="500" r:id="rId29"/>
    <p:sldId id="469" r:id="rId30"/>
    <p:sldId id="482" r:id="rId31"/>
    <p:sldId id="276" r:id="rId32"/>
    <p:sldId id="493" r:id="rId33"/>
    <p:sldId id="470" r:id="rId34"/>
    <p:sldId id="480" r:id="rId35"/>
    <p:sldId id="471" r:id="rId36"/>
    <p:sldId id="474" r:id="rId37"/>
    <p:sldId id="473" r:id="rId38"/>
    <p:sldId id="475" r:id="rId39"/>
    <p:sldId id="472" r:id="rId40"/>
    <p:sldId id="476" r:id="rId41"/>
    <p:sldId id="477" r:id="rId42"/>
    <p:sldId id="479" r:id="rId43"/>
    <p:sldId id="478" r:id="rId44"/>
    <p:sldId id="381" r:id="rId45"/>
    <p:sldId id="396" r:id="rId46"/>
    <p:sldId id="341" r:id="rId47"/>
    <p:sldId id="413" r:id="rId48"/>
    <p:sldId id="421" r:id="rId49"/>
    <p:sldId id="496" r:id="rId50"/>
    <p:sldId id="481" r:id="rId51"/>
    <p:sldId id="444" r:id="rId52"/>
    <p:sldId id="397" r:id="rId53"/>
    <p:sldId id="265" r:id="rId54"/>
    <p:sldId id="484" r:id="rId55"/>
    <p:sldId id="488" r:id="rId56"/>
    <p:sldId id="489" r:id="rId57"/>
    <p:sldId id="490" r:id="rId58"/>
    <p:sldId id="363" r:id="rId59"/>
    <p:sldId id="365" r:id="rId60"/>
    <p:sldId id="494" r:id="rId61"/>
    <p:sldId id="501" r:id="rId62"/>
    <p:sldId id="498" r:id="rId63"/>
    <p:sldId id="497" r:id="rId64"/>
    <p:sldId id="499" r:id="rId65"/>
    <p:sldId id="495" r:id="rId66"/>
    <p:sldId id="483" r:id="rId67"/>
    <p:sldId id="393" r:id="rId68"/>
    <p:sldId id="434" r:id="rId69"/>
    <p:sldId id="435" r:id="rId70"/>
    <p:sldId id="485" r:id="rId71"/>
    <p:sldId id="486" r:id="rId72"/>
    <p:sldId id="48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27"/>
    <p:restoredTop sz="96327"/>
  </p:normalViewPr>
  <p:slideViewPr>
    <p:cSldViewPr snapToGrid="0" snapToObjects="1">
      <p:cViewPr varScale="1">
        <p:scale>
          <a:sx n="174" d="100"/>
          <a:sy n="174" d="100"/>
        </p:scale>
        <p:origin x="20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C77A6-2771-B843-8720-9957316CF21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B2F99-B26F-FC4D-9F02-AACA8825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0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D1CC-E622-9933-2868-FA23CB495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9F49D-42D4-EADA-802E-10DF942EA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6A0B4-8090-AE63-458E-05DD8A61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E06B-7144-164C-5FFF-3E805720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4222-DA2F-1FD7-A1C8-0E8274EB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5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1288-4C93-BE36-8B37-19C57035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D9A3-1019-F71C-F371-E56FBD07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1966E-8EB2-89BB-3296-C745F385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773DD-1005-7412-2D94-0AFCFF504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DD6C6-F32A-6D88-4AED-04F55944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9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3827-39DE-2E4C-AF81-22B0FFA1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61E50-9984-78E9-2C35-310DE4504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3C9E6-89F3-7195-D617-C54E9186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025A9-8CEA-4104-A630-2ECE864E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137A8-EFCE-4B63-AA96-5120A039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5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1987-5523-2F89-6C40-1061465C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84363-371F-F9EB-9A10-B654A31D8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AB543-4557-3208-9093-BB3945739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0FA3E-7D70-81D9-C21F-B82CFA9F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A4237-8333-DD18-4AB4-88753F15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BE0D9-B300-304A-7DF4-B0DFE1A6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0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0608-1577-7AA4-2C84-8A3B9FF6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F7FAB-B816-E945-118A-A870AE0D1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F3376-C428-7B30-296A-43A692247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EBA15-C2EC-7C6F-3DC7-A2822D23C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875C1-19F2-91B9-F044-8F328BAA6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405A3-BC33-0500-6DE1-766771B9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44012-7C9A-5389-C9B1-DB6C7E1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EB64E-66AF-E892-2042-802F0AC7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1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54FB-34D7-41F9-4F18-5C5D0EE9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EB5AA-D9D2-53CE-6267-11268D81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B1DBF-4FE7-FE09-42BA-2B4C3EF9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2431B-38EB-0B7E-E375-0C2ADD1A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4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FA5D1-2EE6-8A9E-0492-AF9E940F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8DC07-1464-A056-1F98-F8B9D71E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A9582-C4AB-EF4D-9268-95E1FB06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2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CE12-B809-16F6-E5E5-388C1910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B339F-2FE2-2E90-F911-1715DEBAF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6C5F7-3DAE-2D99-E257-1954DE6B5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8A80C-2FC9-A276-D774-EC0F0D32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A28F0-C969-F136-BA7A-D4C9032C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3915-7E92-C40C-B63E-4E1042C4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94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3C02-70F2-06F6-67E2-C703BECC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ADC8-1BD8-2DFB-9487-C95D7FC97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9C5A2-C293-78CA-40CE-644491C7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655FA-DBE3-249C-74F7-EEC213014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1FF39-B7F3-A35B-82E0-11ECE97E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42919-C396-7D0F-48FE-F795020D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8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A591-0050-49EE-F471-AEAACF38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215F7-F253-A1C1-C23E-7527B472C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8D57C-3555-4A31-D8FC-1A83191F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DC82-D6E2-9F0A-D80F-74A0DC5D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CA39-7884-EE34-FA1A-2048E125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8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EE23A-D4BF-DE6E-2E98-D24079B95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FFA71-64E7-5833-49E7-89DF123AD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858B3-F21F-7B88-C5DA-CA579D1D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8DC47-1AFA-164F-D573-3620FC19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0C44C-A3E8-1127-AD56-A62F465E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80EA6-DA30-58F1-9E76-6A415E5E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9C406-3D01-9DE0-CFE8-333801836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B8FD6-498D-D7C7-1F2F-2A9EE6A50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3F677-D08B-9509-7D91-754A90F64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5791-ECEA-494B-E074-17DCE5FBB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3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Floating-point_arithmeti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n.wikipedia.org/wiki/IEEE_75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en.wikipedia.org/wiki/Na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96778d4GW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cppreference.com/w/cpp/types/floating-point.html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decimal.html" TargetMode="External"/><Relationship Id="rId2" Type="http://schemas.openxmlformats.org/officeDocument/2006/relationships/hyperlink" Target="https://numpy.org/doc/2.3/reference/arrays.scalars.html#floating-point-type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godbolt.org/z/d1e18j3j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terbenz_lemma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nq5Po1Gdz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602.19452v1#LST2" TargetMode="External"/><Relationship Id="rId2" Type="http://schemas.openxmlformats.org/officeDocument/2006/relationships/hyperlink" Target="https://en.wikipedia.org/wiki/Kahan_summation_algorithm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godbolt.org/z/d1e18j3j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screteLogarithm/canonical-random-float/tree/master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_mathematical_functions" TargetMode="External"/><Relationship Id="rId2" Type="http://schemas.openxmlformats.org/officeDocument/2006/relationships/hyperlink" Target="https://en.cppreference.com/cpp/numeric/mat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re-math.gitlabpages.inria.fr/" TargetMode="External"/><Relationship Id="rId4" Type="http://schemas.openxmlformats.org/officeDocument/2006/relationships/hyperlink" Target="https://members.loria.fr/PZimmermann/papers/accuracy.pdf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members.loria.fr/PZimmermann/papers/accuracy.pdf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pdf/10.1145/3747840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RDIC" TargetMode="External"/><Relationship Id="rId2" Type="http://schemas.openxmlformats.org/officeDocument/2006/relationships/hyperlink" Target="https://dlmf.nist.go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l.science/hal-02517784v1/file/approxfunctions.pdf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Fast_inverse_square_root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godbolt.org/z/d1e18j3j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mpmath.readthedocs.io/en/latest/calculus/approximation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ocs.python.org/3/library/decimal.html#recipes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gner.org/optimize/instruction_tables.pdf" TargetMode="Externa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core-math.gitlabpages.inria.fr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lang.llvm.org/docs/UsersManual.html#controlling-floating-point-behavior" TargetMode="External"/><Relationship Id="rId2" Type="http://schemas.openxmlformats.org/officeDocument/2006/relationships/hyperlink" Target="https://gcc.gnu.org/wiki/FloatingPointMath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cuda/floating-point/index.html" TargetMode="External"/><Relationship Id="rId2" Type="http://schemas.openxmlformats.org/officeDocument/2006/relationships/hyperlink" Target="https://stackoverflow.com/questions/43352510/difference-in-gcc-ffp-contract-options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odbolt.org/z/5TWjsKqha" TargetMode="Externa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o.umontreal.ca/~mignotte/IFT2425/Disasters.html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://ta.twi.tudelft.nl/users/vuik/wi211/disaster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vpanchekha.com/blog/casio-mathjs.html" TargetMode="External"/><Relationship Id="rId5" Type="http://schemas.openxmlformats.org/officeDocument/2006/relationships/hyperlink" Target="https://medium.com/@sohail_saifii/the-floating-point-standard-thats-silently-breaking-financial-software-7f7e93430dbb" TargetMode="External"/><Relationship Id="rId4" Type="http://schemas.openxmlformats.org/officeDocument/2006/relationships/hyperlink" Target="https://slate.com/technology/2019/10/round-floor-software-errors-stock-market-battlefield.html" TargetMode="Externa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fptalks.org/" TargetMode="External"/><Relationship Id="rId3" Type="http://schemas.openxmlformats.org/officeDocument/2006/relationships/hyperlink" Target="https://link.springer.com/book/10.1007/978-3-319-76526-6" TargetMode="External"/><Relationship Id="rId7" Type="http://schemas.openxmlformats.org/officeDocument/2006/relationships/hyperlink" Target="https://arith2026.org/archive.html" TargetMode="External"/><Relationship Id="rId2" Type="http://schemas.openxmlformats.org/officeDocument/2006/relationships/hyperlink" Target="https://dl.acm.org/doi/pdf/10.1145/103162.10316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iam.org/publications/siam-news/articles/mixed-precision-computing-high-accuracy-with-low-precision/" TargetMode="External"/><Relationship Id="rId5" Type="http://schemas.openxmlformats.org/officeDocument/2006/relationships/hyperlink" Target="https://www.cambridge.org/core/journals/acta-numerica/article/floatingpoint-arithmetic/287C4D5F6D4A43FBEEB1ABED2A405AAF" TargetMode="External"/><Relationship Id="rId4" Type="http://schemas.openxmlformats.org/officeDocument/2006/relationships/hyperlink" Target="https://link.springer.com/book/10.1007/978-1-4899-7983-4" TargetMode="External"/><Relationship Id="rId9" Type="http://schemas.openxmlformats.org/officeDocument/2006/relationships/hyperlink" Target="https://indico.cern.ch/event/1538409/" TargetMode="Externa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cms-tklayout.web.cern.ch/cmssw/OT806_IT742/info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 descr="JPEG - 68.7 kb">
            <a:extLst>
              <a:ext uri="{FF2B5EF4-FFF2-40B4-BE49-F238E27FC236}">
                <a16:creationId xmlns:a16="http://schemas.microsoft.com/office/drawing/2014/main" id="{1877A84C-6BE1-5045-8D17-7898BF495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750" y="1249079"/>
            <a:ext cx="2679998" cy="1414201"/>
          </a:xfrm>
          <a:prstGeom prst="rect">
            <a:avLst/>
          </a:prstGeom>
          <a:noFill/>
        </p:spPr>
      </p:pic>
      <p:pic>
        <p:nvPicPr>
          <p:cNvPr id="9" name="Picture 4" descr="JPEG - 23.2 kb">
            <a:extLst>
              <a:ext uri="{FF2B5EF4-FFF2-40B4-BE49-F238E27FC236}">
                <a16:creationId xmlns:a16="http://schemas.microsoft.com/office/drawing/2014/main" id="{56DA42E4-78A7-2A44-97F2-C6455AC97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750" y="3623013"/>
            <a:ext cx="2232248" cy="1596576"/>
          </a:xfrm>
          <a:prstGeom prst="rect">
            <a:avLst/>
          </a:prstGeom>
          <a:noFill/>
        </p:spPr>
      </p:pic>
      <p:pic>
        <p:nvPicPr>
          <p:cNvPr id="8" name="Picture 6" descr="http://www.prace-ri.eu/IMG/png/finalbaker91-2.png">
            <a:extLst>
              <a:ext uri="{FF2B5EF4-FFF2-40B4-BE49-F238E27FC236}">
                <a16:creationId xmlns:a16="http://schemas.microsoft.com/office/drawing/2014/main" id="{FD183C20-5D6C-2A4B-B575-BC0F8FC8D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2555" y="2359233"/>
            <a:ext cx="3070358" cy="1127887"/>
          </a:xfrm>
          <a:prstGeom prst="rect">
            <a:avLst/>
          </a:prstGeom>
          <a:noFill/>
        </p:spPr>
      </p:pic>
      <p:pic>
        <p:nvPicPr>
          <p:cNvPr id="7" name="Picture 8" descr="JPEG - 844 kb">
            <a:extLst>
              <a:ext uri="{FF2B5EF4-FFF2-40B4-BE49-F238E27FC236}">
                <a16:creationId xmlns:a16="http://schemas.microsoft.com/office/drawing/2014/main" id="{E177579B-E168-E346-BD05-3C8A582A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98177" y="1869587"/>
            <a:ext cx="3022996" cy="2011994"/>
          </a:xfrm>
          <a:prstGeom prst="rect">
            <a:avLst/>
          </a:prstGeom>
          <a:noFill/>
        </p:spPr>
      </p:pic>
      <p:pic>
        <p:nvPicPr>
          <p:cNvPr id="6" name="Picture 2" descr="GIF - 41.4 kb">
            <a:extLst>
              <a:ext uri="{FF2B5EF4-FFF2-40B4-BE49-F238E27FC236}">
                <a16:creationId xmlns:a16="http://schemas.microsoft.com/office/drawing/2014/main" id="{DBC3CFB4-F3FE-E24A-A5C4-693BB6A9F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37554" y="3914663"/>
            <a:ext cx="3686175" cy="1304926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B12CF97-86BA-E548-8433-CC4C405DB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3729" y="3370019"/>
            <a:ext cx="6168271" cy="2283106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Corbel" panose="020B0503020204020204" pitchFamily="34" charset="0"/>
              </a:rPr>
              <a:t>Vincenzo Innocente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US" sz="3200" dirty="0">
              <a:latin typeface="Corbel" panose="020B0503020204020204" pitchFamily="34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US" sz="3200" dirty="0">
              <a:latin typeface="Corbel" panose="020B0503020204020204" pitchFamily="34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Corbel" panose="020B0503020204020204" pitchFamily="34" charset="0"/>
              </a:rPr>
              <a:t>CERN, June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32488-3532-D14E-9FDD-B6D28AE88DB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AFFFF"/>
              </a:clrFrom>
              <a:clrTo>
                <a:srgbClr val="FA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harpenSoften amount="46000"/>
                    </a14:imgEffect>
                    <a14:imgEffect>
                      <a14:colorTemperature colorTemp="5717"/>
                    </a14:imgEffect>
                    <a14:imgEffect>
                      <a14:saturation sat="290000"/>
                    </a14:imgEffect>
                    <a14:imgEffect>
                      <a14:brightnessContrast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1249079"/>
            <a:ext cx="6023728" cy="5608921"/>
          </a:xfrm>
          <a:prstGeom prst="rect">
            <a:avLst/>
          </a:prstGeom>
          <a:noFill/>
          <a:effectLst>
            <a:glow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D6A989-8750-A946-9EA5-654E46C07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538" y="-14930"/>
            <a:ext cx="11641461" cy="1444171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>
                <a:latin typeface="Corbel" panose="020B0503020204020204" pitchFamily="34" charset="0"/>
              </a:rPr>
              <a:t>FloatingPoint</a:t>
            </a:r>
            <a:r>
              <a:rPr lang="en-US">
                <a:latin typeface="Corbel" panose="020B0503020204020204" pitchFamily="34" charset="0"/>
              </a:rPr>
              <a:t> Arithmetic for Scientists: Precision, Accuracy, Efficiency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749B7-FEF1-5F34-25FA-E74A86EE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317881E-7C19-66CC-6248-D975C69E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346A8E4-D839-60EB-B680-251D7AED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4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7CA273-1CC2-C1BA-A822-8DE49B0B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31635A-7149-86F9-0BD6-6CC2B2D8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E765C-B0A4-268A-E33B-75074B01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25958-4C16-E1FF-8752-D9D56473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5C8DA-F874-2FB6-81B7-7E5545D2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6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68F8-85E7-DA38-B02A-4ADDB868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is a Floating Point?</a:t>
            </a:r>
            <a:br>
              <a:rPr lang="en-US"/>
            </a:br>
            <a:r>
              <a:rPr lang="en-US" sz="1600">
                <a:hlinkClick r:id="rId2"/>
              </a:rPr>
              <a:t>https://en.wikipedia.org/wiki/Floating-point_arithmetic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B85D-0262-522C-7650-5A4514746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2" y="2055813"/>
            <a:ext cx="11444934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Science is based on Measurements</a:t>
            </a:r>
          </a:p>
          <a:p>
            <a:r>
              <a:rPr lang="en-US" dirty="0"/>
              <a:t>The result of a Measurement is a Rational Number</a:t>
            </a:r>
          </a:p>
          <a:p>
            <a:pPr lvl="1"/>
            <a:r>
              <a:rPr lang="en-US" dirty="0"/>
              <a:t>M</a:t>
            </a:r>
            <a:r>
              <a:rPr lang="en-US" baseline="-25000" dirty="0"/>
              <a:t>H</a:t>
            </a:r>
            <a:r>
              <a:rPr lang="en-US" dirty="0"/>
              <a:t> = 125.04 ± 0.12 GeV     =    2.2290ᐧ10</a:t>
            </a:r>
            <a:r>
              <a:rPr lang="en-US" baseline="30000" dirty="0"/>
              <a:t>-25</a:t>
            </a:r>
            <a:r>
              <a:rPr lang="en-US" dirty="0"/>
              <a:t> ± 2.1ᐧ10</a:t>
            </a:r>
            <a:r>
              <a:rPr lang="en-US" baseline="30000" dirty="0"/>
              <a:t>-28</a:t>
            </a:r>
            <a:r>
              <a:rPr lang="en-US" dirty="0"/>
              <a:t> kg</a:t>
            </a:r>
          </a:p>
          <a:p>
            <a:r>
              <a:rPr lang="en-US" dirty="0"/>
              <a:t>“Floating Point” is a way to represent Rational Numbers by a fixed number of digits (precision) multiplied by a “base” with an exponent</a:t>
            </a:r>
          </a:p>
          <a:p>
            <a:pPr lvl="1"/>
            <a:r>
              <a:rPr lang="en-US" dirty="0"/>
              <a:t>A form of “Scientific Notation”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31ᐧ10</a:t>
            </a:r>
            <a:r>
              <a:rPr lang="en-US" baseline="30000" dirty="0"/>
              <a:t>-1</a:t>
            </a:r>
            <a:r>
              <a:rPr lang="en-US" dirty="0"/>
              <a:t> is a FP in base 10 with “precision” 2 (# significant digits)  printed in decimal</a:t>
            </a:r>
          </a:p>
          <a:p>
            <a:pPr marL="0" indent="0">
              <a:buNone/>
            </a:pPr>
            <a:r>
              <a:rPr lang="en-US" sz="2200" dirty="0"/>
              <a:t>FP are usually “normalized” : the first digit is always not zero </a:t>
            </a:r>
          </a:p>
          <a:p>
            <a:pPr marL="0" indent="0">
              <a:buNone/>
            </a:pPr>
            <a:r>
              <a:rPr lang="cs-CZ" altLang="x-none" dirty="0">
                <a:latin typeface="Lucida Console" charset="0"/>
              </a:rPr>
              <a:t>1.</a:t>
            </a:r>
            <a:r>
              <a:rPr lang="cs-CZ" altLang="x-none" dirty="0">
                <a:solidFill>
                  <a:srgbClr val="0070C0"/>
                </a:solidFill>
                <a:latin typeface="Lucida Console" charset="0"/>
              </a:rPr>
              <a:t>1001</a:t>
            </a:r>
            <a:r>
              <a:rPr lang="cs-CZ" altLang="x-none" dirty="0">
                <a:latin typeface="Lucida Console" charset="0"/>
              </a:rPr>
              <a:t>0010</a:t>
            </a:r>
            <a:r>
              <a:rPr lang="cs-CZ" altLang="x-none" dirty="0">
                <a:solidFill>
                  <a:srgbClr val="0070C0"/>
                </a:solidFill>
                <a:latin typeface="Lucida Console" charset="0"/>
              </a:rPr>
              <a:t>0001</a:t>
            </a:r>
            <a:r>
              <a:rPr lang="cs-CZ" altLang="x-none" dirty="0">
                <a:latin typeface="Lucida Console" charset="0"/>
              </a:rPr>
              <a:t>1111</a:t>
            </a:r>
            <a:r>
              <a:rPr lang="cs-CZ" altLang="x-none" dirty="0">
                <a:solidFill>
                  <a:srgbClr val="0070C0"/>
                </a:solidFill>
                <a:latin typeface="Lucida Console" charset="0"/>
              </a:rPr>
              <a:t>1011</a:t>
            </a:r>
            <a:r>
              <a:rPr lang="cs-CZ" altLang="x-none" dirty="0">
                <a:latin typeface="Lucida Console" charset="0"/>
              </a:rPr>
              <a:t>011 </a:t>
            </a:r>
            <a:r>
              <a:rPr lang="en-US" dirty="0"/>
              <a:t>is a FP in base 2 with precision 24 printed in binary </a:t>
            </a:r>
            <a:endParaRPr lang="cs-CZ" altLang="x-none" dirty="0">
              <a:latin typeface="Lucida Console" charset="0"/>
            </a:endParaRPr>
          </a:p>
          <a:p>
            <a:pPr marL="0" indent="0">
              <a:buNone/>
            </a:pPr>
            <a:r>
              <a:rPr lang="en-US" sz="2200" dirty="0"/>
              <a:t>normalized is a 1 followed by a string of 23bits. Easier to read if printed in hexadecimal: </a:t>
            </a:r>
            <a:r>
              <a:rPr lang="cs-CZ" altLang="x-none" sz="2400" dirty="0"/>
              <a:t>1.921fb6</a:t>
            </a:r>
            <a:r>
              <a:rPr lang="en-US" sz="2400" dirty="0" err="1"/>
              <a:t>ᐧ</a:t>
            </a:r>
            <a:r>
              <a:rPr lang="cs-CZ" altLang="x-none" sz="2400" dirty="0"/>
              <a:t>2</a:t>
            </a:r>
            <a:r>
              <a:rPr lang="cs-CZ" altLang="x-none" sz="2400" baseline="30000" dirty="0"/>
              <a:t>+1 </a:t>
            </a:r>
            <a:r>
              <a:rPr lang="cs-CZ" altLang="x-none" sz="2400" dirty="0"/>
              <a:t>:</a:t>
            </a:r>
            <a:r>
              <a:rPr lang="en-US" sz="2200" baseline="30000" dirty="0"/>
              <a:t> </a:t>
            </a:r>
            <a:r>
              <a:rPr lang="en-US" sz="2200" dirty="0"/>
              <a:t>in hex last digit is always even</a:t>
            </a:r>
          </a:p>
          <a:p>
            <a:pPr marL="0" indent="0">
              <a:buNone/>
            </a:pPr>
            <a:endParaRPr lang="en-US" baseline="30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795F761-D29F-6D3D-0704-2A2B8ED29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651" y="0"/>
            <a:ext cx="2701426" cy="243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ABD1D-8FBB-A7AD-CC1C-F9F33373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398E5-4589-442A-BE19-FB442E73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A6CE6-25B2-3A9C-94E3-5CD25B62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5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F8CC-3C21-4921-6714-6705D02D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Trivial properties of FP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CA01-9C0D-C660-E004-78866BE1C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FP has a previous and a next</a:t>
            </a:r>
          </a:p>
          <a:p>
            <a:pPr lvl="1"/>
            <a:r>
              <a:rPr lang="en-US"/>
              <a:t>Previous of 31ᐧ10</a:t>
            </a:r>
            <a:r>
              <a:rPr lang="en-US" baseline="30000"/>
              <a:t>-1 </a:t>
            </a:r>
            <a:r>
              <a:rPr lang="en-US"/>
              <a:t>is</a:t>
            </a:r>
            <a:r>
              <a:rPr lang="en-US" baseline="30000"/>
              <a:t> </a:t>
            </a:r>
            <a:r>
              <a:rPr lang="en-US"/>
              <a:t>30ᐧ10</a:t>
            </a:r>
            <a:r>
              <a:rPr lang="en-US" baseline="30000"/>
              <a:t>-1</a:t>
            </a:r>
            <a:r>
              <a:rPr lang="en-US"/>
              <a:t>, next is 32ᐧ10</a:t>
            </a:r>
            <a:r>
              <a:rPr lang="en-US" baseline="30000"/>
              <a:t>-1</a:t>
            </a:r>
          </a:p>
          <a:p>
            <a:pPr lvl="1"/>
            <a:r>
              <a:rPr lang="en-US"/>
              <a:t>Previous of </a:t>
            </a:r>
            <a:r>
              <a:rPr lang="cs-CZ" altLang="x-none"/>
              <a:t>1.921fb6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  </a:t>
            </a:r>
            <a:r>
              <a:rPr lang="cs-CZ" altLang="x-none" err="1"/>
              <a:t>is</a:t>
            </a:r>
            <a:r>
              <a:rPr lang="cs-CZ" altLang="x-none"/>
              <a:t> 1.921fb4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, </a:t>
            </a:r>
            <a:r>
              <a:rPr lang="cs-CZ" altLang="x-none" err="1"/>
              <a:t>next</a:t>
            </a:r>
            <a:r>
              <a:rPr lang="cs-CZ" altLang="x-none"/>
              <a:t> </a:t>
            </a:r>
            <a:r>
              <a:rPr lang="cs-CZ" altLang="x-none" err="1"/>
              <a:t>is</a:t>
            </a:r>
            <a:r>
              <a:rPr lang="cs-CZ" altLang="x-none"/>
              <a:t> 1.921fb8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 </a:t>
            </a:r>
          </a:p>
          <a:p>
            <a:pPr lvl="1"/>
            <a:r>
              <a:rPr lang="cs-CZ" altLang="x-none" err="1"/>
              <a:t>The</a:t>
            </a:r>
            <a:r>
              <a:rPr lang="cs-CZ" altLang="x-none"/>
              <a:t> </a:t>
            </a:r>
            <a:r>
              <a:rPr lang="cs-CZ" altLang="x-none" err="1"/>
              <a:t>difference</a:t>
            </a:r>
            <a:r>
              <a:rPr lang="cs-CZ" altLang="x-none"/>
              <a:t> </a:t>
            </a:r>
            <a:r>
              <a:rPr lang="cs-CZ" altLang="x-none" err="1"/>
              <a:t>between</a:t>
            </a:r>
            <a:r>
              <a:rPr lang="cs-CZ" altLang="x-none"/>
              <a:t> </a:t>
            </a:r>
            <a:r>
              <a:rPr lang="cs-CZ" altLang="x-none" err="1"/>
              <a:t>two</a:t>
            </a:r>
            <a:r>
              <a:rPr lang="cs-CZ" altLang="x-none"/>
              <a:t> </a:t>
            </a:r>
            <a:r>
              <a:rPr lang="cs-CZ" altLang="x-none" err="1"/>
              <a:t>consecutive</a:t>
            </a:r>
            <a:r>
              <a:rPr lang="cs-CZ" altLang="x-none"/>
              <a:t> FP </a:t>
            </a:r>
            <a:r>
              <a:rPr lang="cs-CZ" altLang="x-none" err="1"/>
              <a:t>is</a:t>
            </a:r>
            <a:r>
              <a:rPr lang="cs-CZ" altLang="x-none"/>
              <a:t> </a:t>
            </a:r>
            <a:r>
              <a:rPr lang="cs-CZ" altLang="x-none" err="1"/>
              <a:t>called</a:t>
            </a:r>
            <a:r>
              <a:rPr lang="cs-CZ" altLang="x-none"/>
              <a:t> ULP (unit in last place)</a:t>
            </a:r>
          </a:p>
          <a:p>
            <a:r>
              <a:rPr lang="cs-CZ" altLang="x-none" err="1"/>
              <a:t>For</a:t>
            </a:r>
            <a:r>
              <a:rPr lang="cs-CZ" altLang="x-none"/>
              <a:t> </a:t>
            </a:r>
            <a:r>
              <a:rPr lang="cs-CZ" altLang="x-none" err="1"/>
              <a:t>each</a:t>
            </a:r>
            <a:r>
              <a:rPr lang="cs-CZ" altLang="x-none"/>
              <a:t> </a:t>
            </a:r>
            <a:r>
              <a:rPr lang="cs-CZ" altLang="x-none" err="1"/>
              <a:t>value</a:t>
            </a:r>
            <a:r>
              <a:rPr lang="cs-CZ" altLang="x-none"/>
              <a:t> </a:t>
            </a:r>
            <a:r>
              <a:rPr lang="cs-CZ" altLang="x-none" err="1"/>
              <a:t>of</a:t>
            </a:r>
            <a:r>
              <a:rPr lang="cs-CZ" altLang="x-none"/>
              <a:t> </a:t>
            </a:r>
            <a:r>
              <a:rPr lang="cs-CZ" altLang="x-none" err="1"/>
              <a:t>the</a:t>
            </a:r>
            <a:r>
              <a:rPr lang="cs-CZ" altLang="x-none"/>
              <a:t> exponent </a:t>
            </a:r>
            <a:r>
              <a:rPr lang="cs-CZ" altLang="x-none" err="1"/>
              <a:t>there</a:t>
            </a:r>
            <a:r>
              <a:rPr lang="cs-CZ" altLang="x-none"/>
              <a:t> </a:t>
            </a:r>
            <a:r>
              <a:rPr lang="cs-CZ" altLang="x-none" err="1"/>
              <a:t>is</a:t>
            </a:r>
            <a:r>
              <a:rPr lang="cs-CZ" altLang="x-none"/>
              <a:t> a </a:t>
            </a:r>
            <a:r>
              <a:rPr lang="cs-CZ" altLang="x-none" err="1"/>
              <a:t>finite</a:t>
            </a:r>
            <a:r>
              <a:rPr lang="cs-CZ" altLang="x-none"/>
              <a:t> </a:t>
            </a:r>
            <a:r>
              <a:rPr lang="cs-CZ" altLang="x-none" err="1"/>
              <a:t>number</a:t>
            </a:r>
            <a:r>
              <a:rPr lang="cs-CZ" altLang="x-none"/>
              <a:t> </a:t>
            </a:r>
            <a:r>
              <a:rPr lang="cs-CZ" altLang="x-none" err="1"/>
              <a:t>of</a:t>
            </a:r>
            <a:r>
              <a:rPr lang="cs-CZ" altLang="x-none"/>
              <a:t> FP</a:t>
            </a:r>
          </a:p>
          <a:p>
            <a:pPr lvl="1"/>
            <a:r>
              <a:rPr lang="cs-CZ" altLang="x-none"/>
              <a:t> 10</a:t>
            </a:r>
            <a:r>
              <a:rPr lang="cs-CZ" altLang="x-none" baseline="30000"/>
              <a:t> </a:t>
            </a:r>
            <a:r>
              <a:rPr lang="en-US"/>
              <a:t>ᐧ10</a:t>
            </a:r>
            <a:r>
              <a:rPr lang="en-US" baseline="30000"/>
              <a:t>e</a:t>
            </a:r>
            <a:r>
              <a:rPr lang="en-US"/>
              <a:t> - </a:t>
            </a:r>
            <a:r>
              <a:rPr lang="cs-CZ"/>
              <a:t>99</a:t>
            </a:r>
            <a:r>
              <a:rPr lang="cs-CZ" altLang="x-none" baseline="30000"/>
              <a:t> </a:t>
            </a:r>
            <a:r>
              <a:rPr lang="en-US"/>
              <a:t>ᐧ10</a:t>
            </a:r>
            <a:r>
              <a:rPr lang="en-US" baseline="30000"/>
              <a:t>e</a:t>
            </a:r>
            <a:r>
              <a:rPr lang="en-US"/>
              <a:t> </a:t>
            </a:r>
          </a:p>
          <a:p>
            <a:pPr lvl="1"/>
            <a:r>
              <a:rPr lang="en-US"/>
              <a:t>1.000000ᐧ</a:t>
            </a:r>
            <a:r>
              <a:rPr lang="cs-CZ" altLang="x-none"/>
              <a:t>2</a:t>
            </a:r>
            <a:r>
              <a:rPr lang="en-US" baseline="30000"/>
              <a:t>e </a:t>
            </a:r>
            <a:r>
              <a:rPr lang="en-US"/>
              <a:t>- 1.ffffffᐧ</a:t>
            </a:r>
            <a:r>
              <a:rPr lang="cs-CZ" altLang="x-none"/>
              <a:t>2</a:t>
            </a:r>
            <a:r>
              <a:rPr lang="en-US" baseline="30000"/>
              <a:t>e </a:t>
            </a:r>
            <a:r>
              <a:rPr lang="en-US"/>
              <a:t> </a:t>
            </a:r>
          </a:p>
          <a:p>
            <a:pPr marL="457200" lvl="1" indent="0">
              <a:buNone/>
            </a:pPr>
            <a:r>
              <a:rPr lang="en-US"/>
              <a:t>(called “</a:t>
            </a:r>
            <a:r>
              <a:rPr lang="en-US" err="1"/>
              <a:t>binade</a:t>
            </a:r>
            <a:r>
              <a:rPr lang="en-US"/>
              <a:t>”)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7F65-CBC4-78E5-8CC5-1C92B8AA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6519-0D04-76EE-55C9-93FCFDCD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54FF-EA56-AC9C-327E-ADECBCE2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7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A3A9D8-867E-6417-96D4-7E682A564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68"/>
            <a:ext cx="10515600" cy="1304924"/>
          </a:xfrm>
        </p:spPr>
        <p:txBody>
          <a:bodyPr/>
          <a:lstStyle/>
          <a:p>
            <a:r>
              <a:rPr lang="en-US"/>
              <a:t>Precision and Rounding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207A04-A816-749B-D772-9ADF868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04" y="1106109"/>
            <a:ext cx="11003996" cy="38406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The result of a measurement is 3.1415 and its accuracy, say, 0.1.</a:t>
            </a:r>
          </a:p>
          <a:p>
            <a:pPr marL="0" indent="0">
              <a:buNone/>
            </a:pPr>
            <a:r>
              <a:rPr lang="en-US"/>
              <a:t>This result needs to be rounded. Default is to round to “nearest”</a:t>
            </a:r>
          </a:p>
          <a:p>
            <a:pPr marL="0" indent="0">
              <a:buNone/>
            </a:pPr>
            <a:r>
              <a:rPr lang="en-US"/>
              <a:t>3.1415 -&gt; 3.1  (3.1515 -&gt; 3.2)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31ᐧ10</a:t>
            </a:r>
            <a:r>
              <a:rPr lang="en-US" baseline="30000"/>
              <a:t>-1</a:t>
            </a:r>
            <a:r>
              <a:rPr lang="en-US"/>
              <a:t> represents all numbers in the interval [30.5ᐧ10</a:t>
            </a:r>
            <a:r>
              <a:rPr lang="en-US" baseline="30000"/>
              <a:t>-1</a:t>
            </a:r>
            <a:r>
              <a:rPr lang="en-US"/>
              <a:t>, 31.5ᐧ10</a:t>
            </a:r>
            <a:r>
              <a:rPr lang="en-US" baseline="30000"/>
              <a:t>-1</a:t>
            </a:r>
            <a:r>
              <a:rPr lang="en-US"/>
              <a:t>]</a:t>
            </a:r>
          </a:p>
          <a:p>
            <a:pPr marL="0" indent="0">
              <a:buNone/>
            </a:pPr>
            <a:r>
              <a:rPr lang="cs-CZ" altLang="x-none"/>
              <a:t>1.921fb6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 </a:t>
            </a:r>
            <a:r>
              <a:rPr lang="en-US"/>
              <a:t>represents all numbers in the interval [</a:t>
            </a:r>
            <a:r>
              <a:rPr lang="cs-CZ" altLang="x-none"/>
              <a:t>1.921fb5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,1.921fb7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]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13824B21-6E52-B544-EBED-01ED8CAFB180}"/>
              </a:ext>
            </a:extLst>
          </p:cNvPr>
          <p:cNvGrpSpPr>
            <a:grpSpLocks/>
          </p:cNvGrpSpPr>
          <p:nvPr/>
        </p:nvGrpSpPr>
        <p:grpSpPr bwMode="auto">
          <a:xfrm>
            <a:off x="1875392" y="3542505"/>
            <a:ext cx="7632700" cy="3249617"/>
            <a:chOff x="899592" y="764704"/>
            <a:chExt cx="7632848" cy="324965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D0E227D9-2D4A-B22E-F248-369A9CF5E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9592" y="2709415"/>
              <a:ext cx="7632848" cy="0"/>
            </a:xfrm>
            <a:prstGeom prst="straightConnector1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BF4DE9F-4E1C-AFB4-1588-025BA0A498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55646" y="2060120"/>
              <a:ext cx="0" cy="5762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00BA996-B837-CAE1-0EAE-928976C6F1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37015" y="2060120"/>
              <a:ext cx="0" cy="5762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087550-CD3F-C920-D935-DFB4E4DF54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20331" y="1988682"/>
              <a:ext cx="0" cy="57626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B2E9F211-B946-FFC4-BB41-DEB9D8679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1700808"/>
              <a:ext cx="14042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sz="1800" b="1">
                  <a:solidFill>
                    <a:srgbClr val="3366FF"/>
                  </a:solidFill>
                </a:rPr>
                <a:t>3.14159274</a:t>
              </a:r>
            </a:p>
          </p:txBody>
        </p:sp>
        <p:sp>
          <p:nvSpPr>
            <p:cNvPr id="10" name="Curved Down Arrow 9">
              <a:extLst>
                <a:ext uri="{FF2B5EF4-FFF2-40B4-BE49-F238E27FC236}">
                  <a16:creationId xmlns:a16="http://schemas.microsoft.com/office/drawing/2014/main" id="{7947E535-3DC8-82A8-F99A-E0F78527E7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04427" y="1052045"/>
              <a:ext cx="2879781" cy="649295"/>
            </a:xfrm>
            <a:prstGeom prst="curvedDownArrow">
              <a:avLst>
                <a:gd name="adj1" fmla="val 24989"/>
                <a:gd name="adj2" fmla="val 49999"/>
                <a:gd name="adj3" fmla="val 29394"/>
              </a:avLst>
            </a:prstGeom>
            <a:gradFill rotWithShape="1">
              <a:gsLst>
                <a:gs pos="0">
                  <a:srgbClr val="9DF3F3"/>
                </a:gs>
                <a:gs pos="100000">
                  <a:srgbClr val="00B0B0"/>
                </a:gs>
              </a:gsLst>
              <a:lin ang="5400000"/>
            </a:gradFill>
            <a:ln w="9525">
              <a:solidFill>
                <a:srgbClr val="009999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x-none" sz="1800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5F4F21E6-F4C7-085F-C4FB-C28DEBF1C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080" y="764704"/>
              <a:ext cx="18722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sz="1800"/>
                <a:t>nextafter(pi,inf)</a:t>
              </a:r>
            </a:p>
          </p:txBody>
        </p:sp>
        <p:sp>
          <p:nvSpPr>
            <p:cNvPr id="12" name="Curved Down Arrow 11">
              <a:extLst>
                <a:ext uri="{FF2B5EF4-FFF2-40B4-BE49-F238E27FC236}">
                  <a16:creationId xmlns:a16="http://schemas.microsoft.com/office/drawing/2014/main" id="{2D42BAC7-78D8-F5C2-F179-F55CE5337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550" y="1052045"/>
              <a:ext cx="2665465" cy="649295"/>
            </a:xfrm>
            <a:prstGeom prst="curvedDownArrow">
              <a:avLst>
                <a:gd name="adj1" fmla="val 24992"/>
                <a:gd name="adj2" fmla="val 50003"/>
                <a:gd name="adj3" fmla="val 29394"/>
              </a:avLst>
            </a:prstGeom>
            <a:gradFill rotWithShape="1">
              <a:gsLst>
                <a:gs pos="0">
                  <a:srgbClr val="9DF3F3"/>
                </a:gs>
                <a:gs pos="100000">
                  <a:srgbClr val="00B0B0"/>
                </a:gs>
              </a:gsLst>
              <a:lin ang="5400000"/>
            </a:gradFill>
            <a:ln w="9525">
              <a:solidFill>
                <a:srgbClr val="009999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x-none" sz="1800"/>
            </a:p>
          </p:txBody>
        </p: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21D7C7E1-2617-4291-642B-25776DBCD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8" y="764704"/>
              <a:ext cx="18722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sz="1800"/>
                <a:t>nextafter(pi,-inf)</a:t>
              </a:r>
            </a:p>
          </p:txBody>
        </p: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6A59F1EF-62D0-1053-52F9-22FA24E7D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224" y="1772816"/>
              <a:ext cx="1433434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1.921fb8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89CA3602-C364-0B21-51F3-DFBBCFDCF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1700808"/>
              <a:ext cx="1433434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1.921fb4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5A41708-3507-93FE-41AC-24C6F319E7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44317" y="2349048"/>
              <a:ext cx="0" cy="36036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F99F614-BCCC-24BA-A1BC-5FA4B09093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563" y="2349048"/>
              <a:ext cx="0" cy="36036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25">
              <a:extLst>
                <a:ext uri="{FF2B5EF4-FFF2-40B4-BE49-F238E27FC236}">
                  <a16:creationId xmlns:a16="http://schemas.microsoft.com/office/drawing/2014/main" id="{044DDC94-42F7-90DF-A4B0-9D41FA23C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9841" y="1998406"/>
              <a:ext cx="1433434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1.921fb5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</p:txBody>
        </p:sp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854015D3-9213-39E0-47F6-20ADF760D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1988840"/>
              <a:ext cx="1433434" cy="646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1.921fb7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  <a:p>
              <a:pPr eaLnBrk="1" hangingPunct="1"/>
              <a:endParaRPr lang="en-US" altLang="x-none" sz="1800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325B6550-875B-B4DB-809F-413D0C9C7493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959560" y="1664022"/>
              <a:ext cx="792172" cy="3168711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x-none" sz="1800"/>
            </a:p>
          </p:txBody>
        </p:sp>
        <p:sp>
          <p:nvSpPr>
            <p:cNvPr id="21" name="TextBox 28">
              <a:extLst>
                <a:ext uri="{FF2B5EF4-FFF2-40B4-BE49-F238E27FC236}">
                  <a16:creationId xmlns:a16="http://schemas.microsoft.com/office/drawing/2014/main" id="{68E838FC-A75C-B2F1-36C7-9C117998F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879" y="3645024"/>
              <a:ext cx="3490189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 b="1">
                  <a:solidFill>
                    <a:srgbClr val="0070C0"/>
                  </a:solidFill>
                </a:rPr>
                <a:t>1.921fb6</a:t>
              </a:r>
              <a:r>
                <a:rPr lang="en-US" sz="1800" b="1" err="1">
                  <a:solidFill>
                    <a:srgbClr val="0070C0"/>
                  </a:solidFill>
                </a:rPr>
                <a:t>ᐧ</a:t>
              </a:r>
              <a:r>
                <a:rPr lang="cs-CZ" altLang="x-none" sz="1800" b="1">
                  <a:solidFill>
                    <a:srgbClr val="0070C0"/>
                  </a:solidFill>
                </a:rPr>
                <a:t>2</a:t>
              </a:r>
              <a:r>
                <a:rPr lang="cs-CZ" altLang="x-none" sz="1800" b="1" baseline="30000">
                  <a:solidFill>
                    <a:srgbClr val="0070C0"/>
                  </a:solidFill>
                </a:rPr>
                <a:t>+1  (</a:t>
              </a:r>
              <a:r>
                <a:rPr lang="en-US" altLang="x-none" sz="1800" b="1">
                  <a:solidFill>
                    <a:srgbClr val="3366FF"/>
                  </a:solidFill>
                </a:rPr>
                <a:t>0x1.921fb6p+1</a:t>
              </a:r>
              <a:r>
                <a:rPr lang="en-US" altLang="x-none" sz="1800" b="1">
                  <a:solidFill>
                    <a:srgbClr val="0070C0"/>
                  </a:solidFill>
                </a:rPr>
                <a:t>)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E1C98D-09CA-4D8C-DE4E-8F86C76056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68558" y="4325674"/>
            <a:ext cx="431800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A9C9EA-1988-CAF2-C977-231B3CF91DC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57258" y="4325674"/>
            <a:ext cx="431800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1EE3197-2DFE-ECFA-751E-8054D5C4A238}"/>
              </a:ext>
            </a:extLst>
          </p:cNvPr>
          <p:cNvSpPr txBox="1"/>
          <p:nvPr/>
        </p:nvSpPr>
        <p:spPr>
          <a:xfrm>
            <a:off x="3504735" y="4109799"/>
            <a:ext cx="642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ea typeface="ＭＳ Ｐゴシック" charset="0"/>
                <a:cs typeface="ＭＳ Ｐゴシック" charset="0"/>
              </a:rPr>
              <a:t>ULP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EE49D4AA-A8CD-BC51-9761-7E2946100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195" y="4154247"/>
            <a:ext cx="5286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1" i="1">
                <a:solidFill>
                  <a:srgbClr val="FF0000"/>
                </a:solidFill>
              </a:rPr>
              <a:t>π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46D4B4-6DE4-6554-459F-4BDCFB109E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53095" y="4657484"/>
            <a:ext cx="0" cy="7921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362" name="Picture 2" descr="Pi Equals">
            <a:extLst>
              <a:ext uri="{FF2B5EF4-FFF2-40B4-BE49-F238E27FC236}">
                <a16:creationId xmlns:a16="http://schemas.microsoft.com/office/drawing/2014/main" id="{083F5442-B7FC-9AA9-B37F-416157FF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591" y="0"/>
            <a:ext cx="2952504" cy="155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85065ABA-F17B-A248-C376-A2329757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8C470FC2-3364-F680-BEE6-91827A1F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06B0926-48A0-21D3-BA64-AF216BD1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9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1992313" y="188915"/>
            <a:ext cx="8229600" cy="842444"/>
          </a:xfrm>
        </p:spPr>
        <p:txBody>
          <a:bodyPr/>
          <a:lstStyle/>
          <a:p>
            <a:r>
              <a:rPr lang="en-US" altLang="x-none"/>
              <a:t>Rounding Algorithms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332067" y="1110932"/>
            <a:ext cx="10599701" cy="5160151"/>
          </a:xfrm>
        </p:spPr>
        <p:txBody>
          <a:bodyPr>
            <a:normAutofit/>
          </a:bodyPr>
          <a:lstStyle/>
          <a:p>
            <a:r>
              <a:rPr lang="en-US" altLang="x-none" sz="2000" dirty="0"/>
              <a:t>The standard defines five rounding algorithms.</a:t>
            </a:r>
          </a:p>
          <a:p>
            <a:pPr lvl="1"/>
            <a:r>
              <a:rPr lang="en-US" altLang="x-none" sz="1800" dirty="0"/>
              <a:t>The first two round to a nearest value; the others are called directed </a:t>
            </a:r>
            <a:r>
              <a:rPr lang="en-US" altLang="x-none" sz="1800" dirty="0" err="1"/>
              <a:t>roundings</a:t>
            </a:r>
            <a:r>
              <a:rPr lang="en-US" altLang="x-none" sz="1800" dirty="0"/>
              <a:t>:</a:t>
            </a:r>
            <a:endParaRPr lang="en-US" altLang="x-none" sz="2000" dirty="0"/>
          </a:p>
          <a:p>
            <a:r>
              <a:rPr lang="en-US" altLang="x-none" sz="2000" dirty="0" err="1"/>
              <a:t>Roundings</a:t>
            </a:r>
            <a:r>
              <a:rPr lang="en-US" altLang="x-none" sz="2000" dirty="0"/>
              <a:t> to nearest</a:t>
            </a:r>
          </a:p>
          <a:p>
            <a:pPr lvl="1"/>
            <a:r>
              <a:rPr lang="en-US" altLang="x-none" sz="1800" b="1" dirty="0">
                <a:solidFill>
                  <a:srgbClr val="FF0000"/>
                </a:solidFill>
              </a:rPr>
              <a:t>Round to nearest, ties to even – rounds to the nearest value;</a:t>
            </a:r>
            <a:r>
              <a:rPr lang="en-US" altLang="x-none" sz="1800" dirty="0"/>
              <a:t> if the number falls midway it is rounded to the nearest value with an even (zero) least significant bit, which occurs 50% of the time; </a:t>
            </a:r>
            <a:r>
              <a:rPr lang="en-US" altLang="x-none" sz="1800" dirty="0">
                <a:solidFill>
                  <a:srgbClr val="FF0000"/>
                </a:solidFill>
              </a:rPr>
              <a:t>this is the default algorithm for binary floating-point </a:t>
            </a:r>
            <a:r>
              <a:rPr lang="en-US" altLang="x-none" sz="1800" dirty="0"/>
              <a:t>and the recommended default for decimal</a:t>
            </a:r>
          </a:p>
          <a:p>
            <a:pPr lvl="1"/>
            <a:r>
              <a:rPr lang="en-US" altLang="x-none" sz="1800" dirty="0"/>
              <a:t>Round to nearest, ties away from zero – rounds to the nearest value; if the number falls midway it is rounded to the nearest value above (for positive numbers) or below (for negative numbers)</a:t>
            </a:r>
          </a:p>
          <a:p>
            <a:r>
              <a:rPr lang="en-US" altLang="x-none" sz="2000" dirty="0"/>
              <a:t>Directed </a:t>
            </a:r>
            <a:r>
              <a:rPr lang="en-US" altLang="x-none" sz="2000" dirty="0" err="1"/>
              <a:t>roundings</a:t>
            </a:r>
            <a:endParaRPr lang="en-US" altLang="x-none" sz="2000" dirty="0"/>
          </a:p>
          <a:p>
            <a:pPr lvl="1"/>
            <a:r>
              <a:rPr lang="en-US" altLang="x-none" sz="1800" dirty="0"/>
              <a:t>Round toward 0 – directed rounding towards zero (also known as truncation).</a:t>
            </a:r>
          </a:p>
          <a:p>
            <a:pPr lvl="1"/>
            <a:r>
              <a:rPr lang="en-US" altLang="x-none" sz="1800" dirty="0"/>
              <a:t>Round toward +∞ – directed rounding towards positive infinity (also known as rounding up or ceiling).</a:t>
            </a:r>
          </a:p>
          <a:p>
            <a:pPr lvl="1"/>
            <a:r>
              <a:rPr lang="en-US" altLang="x-none" sz="1800" dirty="0"/>
              <a:t>Round toward −∞ – directed rounding towards negative infinity (also known as rounding down or floor).</a:t>
            </a:r>
          </a:p>
          <a:p>
            <a:r>
              <a:rPr lang="en-US" altLang="x-none" sz="2200" dirty="0"/>
              <a:t>A ”function” is </a:t>
            </a:r>
            <a:r>
              <a:rPr lang="en-US" altLang="x-none" sz="2200" b="1" dirty="0">
                <a:solidFill>
                  <a:srgbClr val="FF0000"/>
                </a:solidFill>
              </a:rPr>
              <a:t>correctly rounded </a:t>
            </a:r>
            <a:r>
              <a:rPr lang="en-US" altLang="x-none" sz="2200" dirty="0"/>
              <a:t>if the result corresponds to the rounded true value</a:t>
            </a:r>
          </a:p>
          <a:p>
            <a:r>
              <a:rPr lang="en-US" altLang="x-none" sz="2200" dirty="0"/>
              <a:t>A “function” is </a:t>
            </a:r>
            <a:r>
              <a:rPr lang="en-US" altLang="x-none" sz="2200" b="1" dirty="0">
                <a:solidFill>
                  <a:srgbClr val="FF0000"/>
                </a:solidFill>
              </a:rPr>
              <a:t>faithfully rounded </a:t>
            </a:r>
            <a:r>
              <a:rPr lang="en-US" altLang="x-none" sz="2200" dirty="0"/>
              <a:t>if the result corresponds to one of the two FP closest to the true value</a:t>
            </a:r>
          </a:p>
        </p:txBody>
      </p:sp>
      <p:sp>
        <p:nvSpPr>
          <p:cNvPr id="3072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16689D5-6FA2-274B-8EB3-26E90C03259E}" type="slidenum">
              <a:rPr lang="it-IT" altLang="x-none" sz="1200">
                <a:latin typeface="Garamond" charset="0"/>
              </a:rPr>
              <a:pPr eaLnBrk="1" hangingPunct="1"/>
              <a:t>6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0C29DC-E47F-FBBA-1B3D-9535501B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3" r="6759"/>
          <a:stretch>
            <a:fillRect/>
          </a:stretch>
        </p:blipFill>
        <p:spPr>
          <a:xfrm>
            <a:off x="10403058" y="39318"/>
            <a:ext cx="1725637" cy="2143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07A8-7189-021D-6B56-2AD6C868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194"/>
          </a:xfrm>
        </p:spPr>
        <p:txBody>
          <a:bodyPr/>
          <a:lstStyle/>
          <a:p>
            <a:r>
              <a:rPr lang="en-US"/>
              <a:t>FP on a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42EC-D4A4-BB1D-42E2-CC05E4E97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320"/>
            <a:ext cx="10515600" cy="1523055"/>
          </a:xfrm>
        </p:spPr>
        <p:txBody>
          <a:bodyPr/>
          <a:lstStyle/>
          <a:p>
            <a:r>
              <a:rPr lang="en-US"/>
              <a:t>FP are well suited to perform arithmetic on a computer</a:t>
            </a:r>
          </a:p>
          <a:p>
            <a:pPr lvl="1"/>
            <a:r>
              <a:rPr lang="en-US"/>
              <a:t>Since 1985 FP representations and operations are standardized in IEEE754  (</a:t>
            </a:r>
            <a:r>
              <a:rPr lang="en-US">
                <a:hlinkClick r:id="rId2"/>
              </a:rPr>
              <a:t>https://en.wikipedia.org/wiki/IEEE_754</a:t>
            </a:r>
            <a:r>
              <a:rPr lang="en-US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99ED7-3831-8E78-7501-C819F3AA6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209" y="2482846"/>
            <a:ext cx="7772400" cy="422687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F1BA0-51D9-E0B1-3846-09EFE93E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F1064-DE09-CBDE-3F52-D78027EE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B5CA1-B512-2197-E03F-1BB7C0F3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8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4F6A7-30BA-FD40-3C85-7621FFDBA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FP binary representations in IEEE754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4316B-6BD7-88F6-1EEA-1C3225F0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1011"/>
            <a:ext cx="9213326" cy="3323214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920FC59-424C-4E9A-94E8-0D3C2A083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183" y="5057775"/>
            <a:ext cx="74930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AE825F26-D7F3-F3C2-FCBA-6C6B27EB8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383" y="6200775"/>
            <a:ext cx="32004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Bent-Up Arrow 10">
            <a:extLst>
              <a:ext uri="{FF2B5EF4-FFF2-40B4-BE49-F238E27FC236}">
                <a16:creationId xmlns:a16="http://schemas.microsoft.com/office/drawing/2014/main" id="{41FDC136-B6F7-971D-D527-578ED6F93762}"/>
              </a:ext>
            </a:extLst>
          </p:cNvPr>
          <p:cNvSpPr>
            <a:spLocks/>
          </p:cNvSpPr>
          <p:nvPr/>
        </p:nvSpPr>
        <p:spPr bwMode="auto">
          <a:xfrm flipH="1" flipV="1">
            <a:off x="3109783" y="4676775"/>
            <a:ext cx="4038600" cy="533400"/>
          </a:xfrm>
          <a:custGeom>
            <a:avLst/>
            <a:gdLst>
              <a:gd name="T0" fmla="*/ 0 w 4038600"/>
              <a:gd name="T1" fmla="*/ 400050 h 533400"/>
              <a:gd name="T2" fmla="*/ 3838575 w 4038600"/>
              <a:gd name="T3" fmla="*/ 400050 h 533400"/>
              <a:gd name="T4" fmla="*/ 3838575 w 4038600"/>
              <a:gd name="T5" fmla="*/ 133350 h 533400"/>
              <a:gd name="T6" fmla="*/ 3771900 w 4038600"/>
              <a:gd name="T7" fmla="*/ 133350 h 533400"/>
              <a:gd name="T8" fmla="*/ 3905250 w 4038600"/>
              <a:gd name="T9" fmla="*/ 0 h 533400"/>
              <a:gd name="T10" fmla="*/ 4038600 w 4038600"/>
              <a:gd name="T11" fmla="*/ 133350 h 533400"/>
              <a:gd name="T12" fmla="*/ 3971925 w 4038600"/>
              <a:gd name="T13" fmla="*/ 133350 h 533400"/>
              <a:gd name="T14" fmla="*/ 3971925 w 4038600"/>
              <a:gd name="T15" fmla="*/ 533400 h 533400"/>
              <a:gd name="T16" fmla="*/ 0 w 4038600"/>
              <a:gd name="T17" fmla="*/ 533400 h 533400"/>
              <a:gd name="T18" fmla="*/ 0 w 4038600"/>
              <a:gd name="T19" fmla="*/ 400050 h 5334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038600" h="533400">
                <a:moveTo>
                  <a:pt x="0" y="400050"/>
                </a:moveTo>
                <a:lnTo>
                  <a:pt x="3838575" y="400050"/>
                </a:lnTo>
                <a:lnTo>
                  <a:pt x="3838575" y="133350"/>
                </a:lnTo>
                <a:lnTo>
                  <a:pt x="3771900" y="133350"/>
                </a:lnTo>
                <a:lnTo>
                  <a:pt x="3905250" y="0"/>
                </a:lnTo>
                <a:lnTo>
                  <a:pt x="4038600" y="133350"/>
                </a:lnTo>
                <a:lnTo>
                  <a:pt x="3971925" y="133350"/>
                </a:lnTo>
                <a:lnTo>
                  <a:pt x="3971925" y="533400"/>
                </a:lnTo>
                <a:lnTo>
                  <a:pt x="0" y="533400"/>
                </a:lnTo>
                <a:lnTo>
                  <a:pt x="0" y="400050"/>
                </a:lnTo>
                <a:close/>
              </a:path>
            </a:pathLst>
          </a:custGeom>
          <a:gradFill rotWithShape="1">
            <a:gsLst>
              <a:gs pos="0">
                <a:srgbClr val="9DF3F3"/>
              </a:gs>
              <a:gs pos="100000">
                <a:srgbClr val="00B0B0"/>
              </a:gs>
            </a:gsLst>
            <a:lin ang="5400000"/>
          </a:gradFill>
          <a:ln w="9525" cap="flat" cmpd="sng">
            <a:solidFill>
              <a:srgbClr val="009999"/>
            </a:solidFill>
            <a:prstDash val="solid"/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6F693-DF46-E92A-EF7C-AF3BDF4A2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383" y="4524375"/>
            <a:ext cx="1095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Implicit 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5D09B-2090-EC16-F790-B0161A73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330A9-C81F-630E-71CE-6E03A091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EF979-6DBB-9B20-55A7-600F548A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1981200" y="277814"/>
            <a:ext cx="8229600" cy="63090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x-none"/>
              <a:t>IEEE 754 representation of single precision FP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135305"/>
              </p:ext>
            </p:extLst>
          </p:nvPr>
        </p:nvGraphicFramePr>
        <p:xfrm>
          <a:off x="1790700" y="3267739"/>
          <a:ext cx="8610600" cy="3181350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Exponent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significand 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significand non-zero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Equation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00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zero, −0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subnormal numbers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(-1)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signbits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×2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−126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 0.significandbits	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01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, ..., FE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</a:t>
                      </a: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normalized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normalized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(-1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signbits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×2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exponentbits-127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 1.significandbits	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FF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±infinity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hlinkClick r:id="rId2"/>
                        </a:rPr>
                        <a:t>NaN (quiet,signalling)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58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35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35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E4F9FE7-EDA6-7B4F-A207-843BFCE22E1D}" type="slidenum">
              <a:rPr lang="it-IT" altLang="x-none" sz="1200">
                <a:latin typeface="Garamond" charset="0"/>
              </a:rPr>
              <a:pPr eaLnBrk="1" hangingPunct="1"/>
              <a:t>9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23584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52600"/>
            <a:ext cx="74930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8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95600"/>
            <a:ext cx="32004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Bent-Up Arrow 10"/>
          <p:cNvSpPr>
            <a:spLocks/>
          </p:cNvSpPr>
          <p:nvPr/>
        </p:nvSpPr>
        <p:spPr bwMode="auto">
          <a:xfrm flipH="1" flipV="1">
            <a:off x="3657600" y="1371600"/>
            <a:ext cx="4038600" cy="533400"/>
          </a:xfrm>
          <a:custGeom>
            <a:avLst/>
            <a:gdLst>
              <a:gd name="T0" fmla="*/ 0 w 4038600"/>
              <a:gd name="T1" fmla="*/ 400050 h 533400"/>
              <a:gd name="T2" fmla="*/ 3838575 w 4038600"/>
              <a:gd name="T3" fmla="*/ 400050 h 533400"/>
              <a:gd name="T4" fmla="*/ 3838575 w 4038600"/>
              <a:gd name="T5" fmla="*/ 133350 h 533400"/>
              <a:gd name="T6" fmla="*/ 3771900 w 4038600"/>
              <a:gd name="T7" fmla="*/ 133350 h 533400"/>
              <a:gd name="T8" fmla="*/ 3905250 w 4038600"/>
              <a:gd name="T9" fmla="*/ 0 h 533400"/>
              <a:gd name="T10" fmla="*/ 4038600 w 4038600"/>
              <a:gd name="T11" fmla="*/ 133350 h 533400"/>
              <a:gd name="T12" fmla="*/ 3971925 w 4038600"/>
              <a:gd name="T13" fmla="*/ 133350 h 533400"/>
              <a:gd name="T14" fmla="*/ 3971925 w 4038600"/>
              <a:gd name="T15" fmla="*/ 533400 h 533400"/>
              <a:gd name="T16" fmla="*/ 0 w 4038600"/>
              <a:gd name="T17" fmla="*/ 533400 h 533400"/>
              <a:gd name="T18" fmla="*/ 0 w 4038600"/>
              <a:gd name="T19" fmla="*/ 400050 h 5334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038600" h="533400">
                <a:moveTo>
                  <a:pt x="0" y="400050"/>
                </a:moveTo>
                <a:lnTo>
                  <a:pt x="3838575" y="400050"/>
                </a:lnTo>
                <a:lnTo>
                  <a:pt x="3838575" y="133350"/>
                </a:lnTo>
                <a:lnTo>
                  <a:pt x="3771900" y="133350"/>
                </a:lnTo>
                <a:lnTo>
                  <a:pt x="3905250" y="0"/>
                </a:lnTo>
                <a:lnTo>
                  <a:pt x="4038600" y="133350"/>
                </a:lnTo>
                <a:lnTo>
                  <a:pt x="3971925" y="133350"/>
                </a:lnTo>
                <a:lnTo>
                  <a:pt x="3971925" y="533400"/>
                </a:lnTo>
                <a:lnTo>
                  <a:pt x="0" y="533400"/>
                </a:lnTo>
                <a:lnTo>
                  <a:pt x="0" y="400050"/>
                </a:lnTo>
                <a:close/>
              </a:path>
            </a:pathLst>
          </a:custGeom>
          <a:gradFill rotWithShape="1">
            <a:gsLst>
              <a:gs pos="0">
                <a:srgbClr val="9DF3F3"/>
              </a:gs>
              <a:gs pos="100000">
                <a:srgbClr val="00B0B0"/>
              </a:gs>
            </a:gsLst>
            <a:lin ang="5400000"/>
          </a:gradFill>
          <a:ln w="9525" cap="flat" cmpd="sng">
            <a:solidFill>
              <a:srgbClr val="009999"/>
            </a:solidFill>
            <a:prstDash val="solid"/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endParaRPr lang="en-US"/>
          </a:p>
        </p:txBody>
      </p:sp>
      <p:sp>
        <p:nvSpPr>
          <p:cNvPr id="23587" name="TextBox 11"/>
          <p:cNvSpPr txBox="1">
            <a:spLocks noChangeArrowheads="1"/>
          </p:cNvSpPr>
          <p:nvPr/>
        </p:nvSpPr>
        <p:spPr bwMode="auto">
          <a:xfrm>
            <a:off x="7696201" y="1219200"/>
            <a:ext cx="1095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Implicit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1847850" y="260351"/>
            <a:ext cx="8229600" cy="1139825"/>
          </a:xfrm>
        </p:spPr>
        <p:txBody>
          <a:bodyPr/>
          <a:lstStyle/>
          <a:p>
            <a:r>
              <a:rPr lang="en-US" altLang="x-none"/>
              <a:t>examples</a:t>
            </a:r>
          </a:p>
        </p:txBody>
      </p:sp>
      <p:sp>
        <p:nvSpPr>
          <p:cNvPr id="2765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F5B2064-19F4-9B4B-9C86-075C784918A9}" type="slidenum">
              <a:rPr lang="it-IT" altLang="x-none" sz="1200">
                <a:latin typeface="Garamond" charset="0"/>
              </a:rPr>
              <a:pPr eaLnBrk="1" hangingPunct="1"/>
              <a:t>10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27653" name="TextBox 6"/>
          <p:cNvSpPr txBox="1">
            <a:spLocks noChangeArrowheads="1"/>
          </p:cNvSpPr>
          <p:nvPr/>
        </p:nvSpPr>
        <p:spPr bwMode="auto">
          <a:xfrm>
            <a:off x="1703388" y="1196975"/>
            <a:ext cx="8856662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s-IS" altLang="x-none" sz="1600">
                <a:latin typeface="Lucida Console" charset="0"/>
              </a:rPr>
              <a:t>0.00000000e+00 0x0p+0          00000000000000000000000000000000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5.00000000e-01 0x1p-1          00111111000000000000000000000000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1.00000000e+00 0x1p+0          00111111100000000000000000000000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1.50000000e+00 0x1.8p+0        00111111110000000000000000000000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2.00000000e+00 0x1p+1          01000000000000000000000000000000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2.50000000e+00 0x1.4p+1        01000000001000000000000000000000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3.00000000e+00 0x1.8p+1        01000000010000000000000000000000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8.00000000e+00 0x1p+3          01000001000000000000000000000000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3.14159274e+00 0x1.921fb6p+1   01000000010010010000111111011011</a:t>
            </a:r>
            <a:endParaRPr lang="is-IS" altLang="x-none" sz="1600">
              <a:latin typeface="Lucida Console" charset="0"/>
            </a:endParaRPr>
          </a:p>
          <a:p>
            <a:pPr eaLnBrk="1" hangingPunct="1"/>
            <a:r>
              <a:rPr lang="cs-CZ" altLang="x-none" sz="1600">
                <a:latin typeface="Lucida Console" charset="0"/>
              </a:rPr>
              <a:t>1.00000001e-01 0x1.99999ap-4   00111101110011001100110011001101</a:t>
            </a:r>
            <a:endParaRPr lang="is-IS" altLang="x-none" sz="1600">
              <a:latin typeface="Lucida Console" charset="0"/>
            </a:endParaRPr>
          </a:p>
          <a:p>
            <a:pPr eaLnBrk="1" hangingPunct="1"/>
            <a:r>
              <a:rPr lang="cs-CZ" altLang="x-none" sz="1600">
                <a:latin typeface="Lucida Console" charset="0"/>
              </a:rPr>
              <a:t>1.17549435e-38 0x1p-126        00000000100000000000000000000000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3.40282347e+38 0x1.fffffep+127 01111111011111111111111111111111</a:t>
            </a:r>
          </a:p>
          <a:p>
            <a:pPr eaLnBrk="1" hangingPunct="1"/>
            <a:r>
              <a:rPr lang="cs-CZ" altLang="x-none" sz="1600" err="1">
                <a:latin typeface="Lucida Console" charset="0"/>
              </a:rPr>
              <a:t>nan</a:t>
            </a:r>
            <a:r>
              <a:rPr lang="cs-CZ" altLang="x-none" sz="1600">
                <a:latin typeface="Lucida Console" charset="0"/>
              </a:rPr>
              <a:t>            </a:t>
            </a:r>
            <a:r>
              <a:rPr lang="cs-CZ" altLang="x-none" sz="1600" err="1">
                <a:latin typeface="Lucida Console" charset="0"/>
              </a:rPr>
              <a:t>nan</a:t>
            </a:r>
            <a:r>
              <a:rPr lang="cs-CZ" altLang="x-none" sz="1600">
                <a:latin typeface="Lucida Console" charset="0"/>
              </a:rPr>
              <a:t>             11111111110000000000000000000000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-</a:t>
            </a:r>
            <a:r>
              <a:rPr lang="cs-CZ" altLang="x-none" sz="1600" err="1">
                <a:latin typeface="Lucida Console" charset="0"/>
              </a:rPr>
              <a:t>inf</a:t>
            </a:r>
            <a:r>
              <a:rPr lang="cs-CZ" altLang="x-none" sz="1600">
                <a:latin typeface="Lucida Console" charset="0"/>
              </a:rPr>
              <a:t>           -</a:t>
            </a:r>
            <a:r>
              <a:rPr lang="cs-CZ" altLang="x-none" sz="1600" err="1">
                <a:latin typeface="Lucida Console" charset="0"/>
              </a:rPr>
              <a:t>inf</a:t>
            </a:r>
            <a:r>
              <a:rPr lang="cs-CZ" altLang="x-none" sz="1600">
                <a:latin typeface="Lucida Console" charset="0"/>
              </a:rPr>
              <a:t>            11111111100000000000000000000000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2.93873588e-39 0x1p-128        00000000001000000000000000000000</a:t>
            </a:r>
            <a:endParaRPr lang="en-US" altLang="x-none" sz="1600">
              <a:latin typeface="Lucida Console" charset="0"/>
            </a:endParaRPr>
          </a:p>
        </p:txBody>
      </p: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5735638" y="990600"/>
            <a:ext cx="0" cy="44640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>
            <a:off x="6672064" y="1053182"/>
            <a:ext cx="0" cy="44640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6" name="TextBox 20"/>
          <p:cNvSpPr txBox="1">
            <a:spLocks noChangeArrowheads="1"/>
          </p:cNvSpPr>
          <p:nvPr/>
        </p:nvSpPr>
        <p:spPr bwMode="auto">
          <a:xfrm>
            <a:off x="5447928" y="620714"/>
            <a:ext cx="351351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sign  exponent        significant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77419" y="319088"/>
            <a:ext cx="10515600" cy="585851"/>
          </a:xfrm>
        </p:spPr>
        <p:txBody>
          <a:bodyPr>
            <a:normAutofit fontScale="90000"/>
          </a:bodyPr>
          <a:lstStyle/>
          <a:p>
            <a:r>
              <a:rPr lang="en-US" altLang="x-none" dirty="0"/>
              <a:t>C++ interlude</a:t>
            </a:r>
          </a:p>
        </p:txBody>
      </p:sp>
      <p:sp>
        <p:nvSpPr>
          <p:cNvPr id="25602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502E4000-0355-7D4E-B01D-371C3A18747A}" type="slidenum">
              <a:rPr lang="it-IT" altLang="x-none" sz="1200">
                <a:latin typeface="Garamond" charset="0"/>
              </a:rPr>
              <a:pPr eaLnBrk="1" hangingPunct="1"/>
              <a:t>11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F8EE6-D613-F684-C3CF-2FD958AE1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216" y="283985"/>
            <a:ext cx="8497888" cy="618630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dirty="0"/>
              <a:t>#include&lt;iostream&gt;</a:t>
            </a: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iomanip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cmath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#include&lt;limits&gt;</a:t>
            </a:r>
          </a:p>
          <a:p>
            <a:pPr eaLnBrk="1" hangingPunct="1"/>
            <a:r>
              <a:rPr lang="en-US" altLang="x-none" sz="1800" dirty="0"/>
              <a:t>//  std style</a:t>
            </a:r>
          </a:p>
          <a:p>
            <a:pPr eaLnBrk="1" hangingPunct="1"/>
            <a:r>
              <a:rPr lang="en-US" altLang="x-none" sz="1800" dirty="0"/>
              <a:t>template&lt;</a:t>
            </a:r>
            <a:r>
              <a:rPr lang="en-US" altLang="x-none" sz="1800" dirty="0" err="1"/>
              <a:t>typename</a:t>
            </a:r>
            <a:r>
              <a:rPr lang="en-US" altLang="x-none" sz="1800" dirty="0"/>
              <a:t> T&gt;</a:t>
            </a:r>
          </a:p>
          <a:p>
            <a:pPr eaLnBrk="1" hangingPunct="1"/>
            <a:r>
              <a:rPr lang="en-US" altLang="x-none" sz="1800" dirty="0"/>
              <a:t>void print(T x) {          </a:t>
            </a:r>
          </a:p>
          <a:p>
            <a:pPr eaLnBrk="1" hangingPunct="1"/>
            <a:r>
              <a:rPr lang="en-US" altLang="x-none" sz="1800" dirty="0"/>
              <a:t> std::</a:t>
            </a:r>
            <a:r>
              <a:rPr lang="en-US" altLang="x-none" sz="1800" dirty="0" err="1"/>
              <a:t>cout</a:t>
            </a:r>
            <a:r>
              <a:rPr lang="en-US" altLang="x-none" sz="1800" dirty="0"/>
              <a:t> &lt;&lt; std::</a:t>
            </a:r>
            <a:r>
              <a:rPr lang="en-US" altLang="x-none" sz="1800" dirty="0" err="1"/>
              <a:t>hexfloat</a:t>
            </a:r>
            <a:r>
              <a:rPr lang="en-US" altLang="x-none" sz="1800" dirty="0"/>
              <a:t> &lt;&lt; x &lt;&lt;' </a:t>
            </a:r>
            <a:r>
              <a:rPr lang="en-US" altLang="en-US" sz="1800" dirty="0"/>
              <a:t>’</a:t>
            </a:r>
            <a:r>
              <a:rPr lang="en-US" altLang="x-none" sz="1800" dirty="0"/>
              <a:t> </a:t>
            </a:r>
            <a:r>
              <a:rPr lang="en-US" altLang="x-none" sz="1800" dirty="0">
                <a:solidFill>
                  <a:srgbClr val="FF0000"/>
                </a:solidFill>
              </a:rPr>
              <a:t>// exact binary representation</a:t>
            </a:r>
          </a:p>
          <a:p>
            <a:pPr eaLnBrk="1" hangingPunct="1"/>
            <a:r>
              <a:rPr lang="en-US" altLang="x-none" sz="1800" dirty="0"/>
              <a:t>                &lt;&lt;  std::scientific &lt;&lt; std::</a:t>
            </a:r>
            <a:r>
              <a:rPr lang="en-US" altLang="x-none" sz="1800" dirty="0" err="1"/>
              <a:t>setprecision</a:t>
            </a:r>
            <a:r>
              <a:rPr lang="en-US" altLang="x-none" sz="1800" dirty="0"/>
              <a:t>(8) &lt;&lt; x &lt;&lt; ' </a:t>
            </a:r>
            <a:r>
              <a:rPr lang="en-US" altLang="en-US" sz="1800" dirty="0"/>
              <a:t>’</a:t>
            </a:r>
            <a:r>
              <a:rPr lang="en-US" altLang="x-none" sz="1800" dirty="0"/>
              <a:t> </a:t>
            </a:r>
            <a:r>
              <a:rPr lang="en-US" altLang="x-none" sz="1800" dirty="0">
                <a:solidFill>
                  <a:srgbClr val="FF0000"/>
                </a:solidFill>
              </a:rPr>
              <a:t>// 8 decimal digits</a:t>
            </a:r>
          </a:p>
          <a:p>
            <a:pPr eaLnBrk="1" hangingPunct="1"/>
            <a:r>
              <a:rPr lang="en-US" altLang="x-none" sz="1800" dirty="0"/>
              <a:t>                &lt;&lt;  std::</a:t>
            </a:r>
            <a:r>
              <a:rPr lang="en-US" altLang="x-none" sz="1800" dirty="0" err="1"/>
              <a:t>defaultfloat</a:t>
            </a:r>
            <a:r>
              <a:rPr lang="en-US" altLang="x-none" sz="1800" dirty="0"/>
              <a:t> &lt;&lt; x &lt;&lt; std::</a:t>
            </a:r>
            <a:r>
              <a:rPr lang="en-US" altLang="x-none" sz="1800" dirty="0" err="1"/>
              <a:t>endl</a:t>
            </a:r>
            <a:r>
              <a:rPr lang="en-US" altLang="x-none" sz="1800" dirty="0"/>
              <a:t>;    </a:t>
            </a:r>
            <a:r>
              <a:rPr lang="en-US" altLang="x-none" sz="1800" dirty="0">
                <a:solidFill>
                  <a:srgbClr val="FF0000"/>
                </a:solidFill>
              </a:rPr>
              <a:t>// 6 decimal digits for float </a:t>
            </a:r>
          </a:p>
          <a:p>
            <a:pPr eaLnBrk="1" hangingPunct="1"/>
            <a:r>
              <a:rPr lang="en-US" altLang="x-none" sz="1800" dirty="0"/>
              <a:t>}</a:t>
            </a:r>
          </a:p>
          <a:p>
            <a:pPr eaLnBrk="1" hangingPunct="1"/>
            <a:endParaRPr lang="en-US" altLang="x-none" sz="1800" dirty="0"/>
          </a:p>
          <a:p>
            <a:pPr eaLnBrk="1" hangingPunct="1"/>
            <a:r>
              <a:rPr lang="en-US" altLang="x-none" sz="1800" dirty="0"/>
              <a:t>// integer representation </a:t>
            </a:r>
            <a:r>
              <a:rPr lang="en-US" altLang="x-none" sz="1800" dirty="0">
                <a:solidFill>
                  <a:srgbClr val="FF0000"/>
                </a:solidFill>
              </a:rPr>
              <a:t>// </a:t>
            </a:r>
            <a:r>
              <a:rPr lang="en-US" altLang="x-none" sz="18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https://godbolt.org/z/96778d4GW</a:t>
            </a:r>
            <a:endParaRPr lang="en-US" altLang="x-none" sz="18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cstring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bitset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int f2i(float x) { int </a:t>
            </a:r>
            <a:r>
              <a:rPr lang="en-US" altLang="x-none" sz="1800" dirty="0" err="1"/>
              <a:t>i</a:t>
            </a:r>
            <a:r>
              <a:rPr lang="en-US" altLang="x-none" sz="1800" dirty="0"/>
              <a:t>; </a:t>
            </a:r>
            <a:r>
              <a:rPr lang="en-US" altLang="x-none" sz="1800" dirty="0" err="1"/>
              <a:t>memcpy</a:t>
            </a:r>
            <a:r>
              <a:rPr lang="en-US" altLang="x-none" sz="1800" dirty="0"/>
              <a:t>(&amp;</a:t>
            </a:r>
            <a:r>
              <a:rPr lang="en-US" altLang="x-none" sz="1800" dirty="0" err="1"/>
              <a:t>i</a:t>
            </a:r>
            <a:r>
              <a:rPr lang="en-US" altLang="x-none" sz="1800" dirty="0"/>
              <a:t>,&amp;</a:t>
            </a:r>
            <a:r>
              <a:rPr lang="en-US" altLang="x-none" sz="1800" dirty="0" err="1"/>
              <a:t>x,sizeof</a:t>
            </a:r>
            <a:r>
              <a:rPr lang="en-US" altLang="x-none" sz="1800" dirty="0"/>
              <a:t>(float)); return </a:t>
            </a:r>
            <a:r>
              <a:rPr lang="en-US" altLang="x-none" sz="1800" dirty="0" err="1"/>
              <a:t>i</a:t>
            </a:r>
            <a:r>
              <a:rPr lang="en-US" altLang="x-none" sz="1800" dirty="0"/>
              <a:t>;} </a:t>
            </a:r>
            <a:r>
              <a:rPr lang="en-US" altLang="x-none" sz="1800" dirty="0">
                <a:solidFill>
                  <a:srgbClr val="FF0000"/>
                </a:solidFill>
              </a:rPr>
              <a:t>// compiler will optimize</a:t>
            </a:r>
          </a:p>
          <a:p>
            <a:pPr eaLnBrk="1" hangingPunct="1"/>
            <a:r>
              <a:rPr lang="en-US" altLang="x-none" sz="1800" dirty="0"/>
              <a:t>//  use </a:t>
            </a:r>
            <a:r>
              <a:rPr lang="en-US" altLang="x-none" sz="1800" dirty="0" err="1"/>
              <a:t>bitset</a:t>
            </a:r>
            <a:r>
              <a:rPr lang="en-US" altLang="x-none" sz="1800" dirty="0"/>
              <a:t> to print in binary (bit by bit) </a:t>
            </a:r>
          </a:p>
          <a:p>
            <a:pPr eaLnBrk="1" hangingPunct="1"/>
            <a:r>
              <a:rPr lang="en-US" altLang="x-none" sz="1800" dirty="0"/>
              <a:t>int ix = f2i(x);</a:t>
            </a:r>
          </a:p>
          <a:p>
            <a:pPr eaLnBrk="1" hangingPunct="1"/>
            <a:r>
              <a:rPr lang="en-US" altLang="x-none" sz="1800" dirty="0"/>
              <a:t>std::</a:t>
            </a:r>
            <a:r>
              <a:rPr lang="en-US" altLang="x-none" sz="1800" dirty="0" err="1"/>
              <a:t>cout</a:t>
            </a:r>
            <a:r>
              <a:rPr lang="en-US" altLang="x-none" sz="1800" dirty="0"/>
              <a:t> &lt;&lt; std::</a:t>
            </a:r>
            <a:r>
              <a:rPr lang="en-US" altLang="x-none" sz="1800" dirty="0" err="1"/>
              <a:t>bitset</a:t>
            </a:r>
            <a:r>
              <a:rPr lang="en-US" altLang="x-none" sz="1800" dirty="0"/>
              <a:t>&lt;32&gt;(ix)) &lt;&lt; std::</a:t>
            </a:r>
            <a:r>
              <a:rPr lang="en-US" altLang="x-none" sz="1800" dirty="0" err="1"/>
              <a:t>endl</a:t>
            </a:r>
            <a:r>
              <a:rPr lang="en-US" altLang="x-none" sz="1800" dirty="0"/>
              <a:t>; ;   </a:t>
            </a:r>
            <a:r>
              <a:rPr lang="en-US" altLang="x-none" sz="1800" dirty="0">
                <a:solidFill>
                  <a:srgbClr val="FF0000"/>
                </a:solidFill>
              </a:rPr>
              <a:t>// bit by bit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int e = ((ix &gt;&gt; 23) &amp; 255) - 127;  //exponent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ix &amp;= 0x7FFFFF;                       //mantissa (aka significand)  (w/o leading “1”)</a:t>
            </a:r>
          </a:p>
          <a:p>
            <a:pPr eaLnBrk="1" hangingPunct="1"/>
            <a:endParaRPr lang="en-US" altLang="x-none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Limits</a:t>
            </a:r>
          </a:p>
        </p:txBody>
      </p:sp>
      <p:sp>
        <p:nvSpPr>
          <p:cNvPr id="26626" name="Content Placeholder 5"/>
          <p:cNvSpPr>
            <a:spLocks noGrp="1"/>
          </p:cNvSpPr>
          <p:nvPr>
            <p:ph idx="1"/>
          </p:nvPr>
        </p:nvSpPr>
        <p:spPr>
          <a:xfrm>
            <a:off x="714633" y="1367851"/>
            <a:ext cx="8229600" cy="1931404"/>
          </a:xfrm>
        </p:spPr>
        <p:txBody>
          <a:bodyPr/>
          <a:lstStyle/>
          <a:p>
            <a:r>
              <a:rPr lang="en-US" altLang="x-none"/>
              <a:t>Everything you want to know about an arithmetic type is in </a:t>
            </a:r>
          </a:p>
          <a:p>
            <a:pPr lvl="1"/>
            <a:r>
              <a:rPr lang="en-US" altLang="x-none" err="1"/>
              <a:t>std</a:t>
            </a:r>
            <a:r>
              <a:rPr lang="en-US" altLang="x-none"/>
              <a:t>::</a:t>
            </a:r>
            <a:r>
              <a:rPr lang="en-US" altLang="x-none" err="1"/>
              <a:t>numeric_limits</a:t>
            </a:r>
            <a:r>
              <a:rPr lang="en-US" altLang="x-none"/>
              <a:t>&lt;T&gt;  </a:t>
            </a:r>
          </a:p>
          <a:p>
            <a:pPr lvl="1"/>
            <a:r>
              <a:rPr lang="en-US" altLang="x-none"/>
              <a:t>see </a:t>
            </a:r>
            <a:r>
              <a:rPr lang="en-US" altLang="x-none" sz="2000"/>
              <a:t>http://</a:t>
            </a:r>
            <a:r>
              <a:rPr lang="en-US" altLang="x-none" sz="2000" err="1"/>
              <a:t>www.cplusplus.com</a:t>
            </a:r>
            <a:r>
              <a:rPr lang="en-US" altLang="x-none" sz="2000"/>
              <a:t>/reference/limits/</a:t>
            </a:r>
            <a:r>
              <a:rPr lang="en-US" altLang="x-none" sz="2000" err="1"/>
              <a:t>numeric_limits</a:t>
            </a:r>
            <a:r>
              <a:rPr lang="en-US" altLang="x-none" sz="2000"/>
              <a:t>/</a:t>
            </a:r>
          </a:p>
        </p:txBody>
      </p:sp>
      <p:sp>
        <p:nvSpPr>
          <p:cNvPr id="26627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A44000F-1B7D-CC46-A072-D0868C9398B7}" type="slidenum">
              <a:rPr lang="it-IT" altLang="x-none" sz="1200">
                <a:latin typeface="Garamond" charset="0"/>
              </a:rPr>
              <a:pPr eaLnBrk="1" hangingPunct="1"/>
              <a:t>12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26630" name="TextBox 5"/>
          <p:cNvSpPr txBox="1">
            <a:spLocks noChangeArrowheads="1"/>
          </p:cNvSpPr>
          <p:nvPr/>
        </p:nvSpPr>
        <p:spPr bwMode="auto">
          <a:xfrm>
            <a:off x="951883" y="3224289"/>
            <a:ext cx="8713787" cy="3046988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#include &lt;</a:t>
            </a:r>
            <a:r>
              <a:rPr lang="en-US" altLang="x-none" sz="1600" err="1"/>
              <a:t>iostream</a:t>
            </a:r>
            <a:r>
              <a:rPr lang="en-US" altLang="x-none" sz="1600"/>
              <a:t>&gt;     // </a:t>
            </a:r>
            <a:r>
              <a:rPr lang="en-US" altLang="x-none" sz="1600" err="1"/>
              <a:t>std</a:t>
            </a:r>
            <a:r>
              <a:rPr lang="en-US" altLang="x-none" sz="1600"/>
              <a:t>::</a:t>
            </a:r>
            <a:r>
              <a:rPr lang="en-US" altLang="x-none" sz="1600" err="1"/>
              <a:t>cout</a:t>
            </a:r>
            <a:endParaRPr lang="en-US" altLang="x-none" sz="1600"/>
          </a:p>
          <a:p>
            <a:r>
              <a:rPr lang="en-US" altLang="x-none" sz="1600"/>
              <a:t>#include &lt;limits&gt;       // </a:t>
            </a:r>
            <a:r>
              <a:rPr lang="en-US" altLang="x-none" sz="1600" err="1"/>
              <a:t>std</a:t>
            </a:r>
            <a:r>
              <a:rPr lang="en-US" altLang="x-none" sz="1600"/>
              <a:t>::</a:t>
            </a:r>
            <a:r>
              <a:rPr lang="en-US" altLang="x-none" sz="1600" err="1"/>
              <a:t>numeric_limits</a:t>
            </a:r>
            <a:endParaRPr lang="en-US" altLang="x-none" sz="1600"/>
          </a:p>
          <a:p>
            <a:r>
              <a:rPr lang="fr-FR" altLang="x-none" sz="1600" err="1"/>
              <a:t>int</a:t>
            </a:r>
            <a:r>
              <a:rPr lang="fr-FR" altLang="x-none" sz="1600"/>
              <a:t> main () {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boolalpha</a:t>
            </a:r>
            <a:r>
              <a:rPr lang="fr-FR" altLang="x-none" sz="1600"/>
              <a:t>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"Minimum value: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&gt;::min()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"Maximum value: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&gt;::max()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"Is </a:t>
            </a:r>
            <a:r>
              <a:rPr lang="fr-FR" altLang="x-none" sz="1600" err="1"/>
              <a:t>signed</a:t>
            </a:r>
            <a:r>
              <a:rPr lang="fr-FR" altLang="x-none" sz="1600"/>
              <a:t>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</a:t>
            </a:r>
            <a:r>
              <a:rPr lang="fr-FR" altLang="x-none" sz="1600" err="1"/>
              <a:t>is_signed</a:t>
            </a:r>
            <a:r>
              <a:rPr lang="fr-FR" altLang="x-none" sz="1600"/>
              <a:t>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</a:t>
            </a:r>
            <a:r>
              <a:rPr lang="fr-FR" altLang="x-none" sz="1600" err="1"/>
              <a:t>significand</a:t>
            </a:r>
            <a:r>
              <a:rPr lang="fr-FR" altLang="x-none" sz="1600"/>
              <a:t> bits: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&gt;::digits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</a:t>
            </a:r>
            <a:r>
              <a:rPr lang="fr-FR" altLang="x-none" sz="1600" err="1"/>
              <a:t>precision</a:t>
            </a:r>
            <a:r>
              <a:rPr lang="fr-FR" altLang="x-none" sz="1600"/>
              <a:t>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&gt;::epsilon()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"has </a:t>
            </a:r>
            <a:r>
              <a:rPr lang="fr-FR" altLang="x-none" sz="1600" err="1"/>
              <a:t>infinity</a:t>
            </a:r>
            <a:r>
              <a:rPr lang="fr-FR" altLang="x-none" sz="1600"/>
              <a:t>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</a:t>
            </a:r>
            <a:r>
              <a:rPr lang="fr-FR" altLang="x-none" sz="1600" err="1"/>
              <a:t>has_infinity</a:t>
            </a:r>
            <a:r>
              <a:rPr lang="fr-FR" altLang="x-none" sz="1600"/>
              <a:t> &lt;&lt; '\n';</a:t>
            </a:r>
          </a:p>
          <a:p>
            <a:r>
              <a:rPr lang="is-IS" altLang="x-none" sz="1600"/>
              <a:t>  return 0;</a:t>
            </a:r>
          </a:p>
          <a:p>
            <a:r>
              <a:rPr lang="is-IS" altLang="x-none" sz="1600"/>
              <a:t>}</a:t>
            </a:r>
            <a:endParaRPr lang="es-ES_tradnl" altLang="x-none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6E17-2320-B4E8-C34D-A4003CB0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Fixed width floating-point types (since C++23)</a:t>
            </a:r>
            <a:br>
              <a:rPr lang="en-US"/>
            </a:br>
            <a:r>
              <a:rPr lang="en-US" sz="2800">
                <a:hlinkClick r:id="rId2"/>
              </a:rPr>
              <a:t>https://en.cppreference.com/w/cpp/types/floating-point.html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8096F-C156-5E7E-33C3-8A1ECDE36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" y="1824630"/>
            <a:ext cx="12094461" cy="291217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009C7-E708-6065-E4FC-356A623E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0CCE1-DD16-A042-6C05-AF992992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887B-831D-F932-AD21-ABE727AF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7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5DD-862D-7A79-453B-2A77FA25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6797E-987F-A023-3746-9B0EAF6BF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Python intrinsic “float” is actually double precision</a:t>
            </a:r>
          </a:p>
          <a:p>
            <a:pPr lvl="1"/>
            <a:r>
              <a:rPr lang="en-US" err="1"/>
              <a:t>float.hex</a:t>
            </a:r>
            <a:r>
              <a:rPr lang="en-US"/>
              <a:t>() and </a:t>
            </a:r>
            <a:r>
              <a:rPr lang="en-US" err="1"/>
              <a:t>float.fromhex</a:t>
            </a:r>
            <a:r>
              <a:rPr lang="en-US"/>
              <a:t>() allows to convert to/from </a:t>
            </a:r>
            <a:r>
              <a:rPr lang="en-US" err="1"/>
              <a:t>exadecimal</a:t>
            </a:r>
            <a:r>
              <a:rPr lang="en-US"/>
              <a:t> string</a:t>
            </a:r>
          </a:p>
          <a:p>
            <a:r>
              <a:rPr lang="en-US" b="1" err="1"/>
              <a:t>numpy</a:t>
            </a:r>
            <a:r>
              <a:rPr lang="en-US"/>
              <a:t> defines float16, float32, float64 (and float128 on x86_64)</a:t>
            </a:r>
          </a:p>
          <a:p>
            <a:pPr lvl="1"/>
            <a:r>
              <a:rPr lang="en-US">
                <a:hlinkClick r:id="rId2"/>
              </a:rPr>
              <a:t>https://numpy.org/doc/2.3/reference/arrays.scalars.html - floating-point-types</a:t>
            </a:r>
            <a:endParaRPr lang="en-US"/>
          </a:p>
          <a:p>
            <a:r>
              <a:rPr lang="en-US" b="1"/>
              <a:t>decimal</a:t>
            </a:r>
            <a:r>
              <a:rPr lang="en-US"/>
              <a:t> is a module providing FP in base 10 of arbitrary precision</a:t>
            </a:r>
          </a:p>
          <a:p>
            <a:pPr lvl="1"/>
            <a:r>
              <a:rPr lang="en-US">
                <a:hlinkClick r:id="rId3"/>
              </a:rPr>
              <a:t>https://docs.python.org/3/library/decimal.html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BED4D-3DAA-A00A-58CE-3ADC259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D82EE-92B3-ABCE-7711-85A19D29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52ABA-91A4-0A2D-9FA6-36416DD4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29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CA9CE8-5518-5ECA-0924-1A0E2D2A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42" y="2092798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E4ED0-7E73-91A2-45E0-6A4AC47AA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Either in Python or C++</a:t>
            </a:r>
          </a:p>
          <a:p>
            <a:endParaRPr lang="en-US" dirty="0"/>
          </a:p>
          <a:p>
            <a:r>
              <a:rPr lang="en-US" dirty="0"/>
              <a:t>For C++ one can use </a:t>
            </a:r>
            <a:r>
              <a:rPr lang="en-US" dirty="0" err="1"/>
              <a:t>godbolt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https://godbolt.org/z/d1e18j3jK</a:t>
            </a:r>
            <a:r>
              <a:rPr lang="en-US" dirty="0"/>
              <a:t>  ) </a:t>
            </a:r>
          </a:p>
          <a:p>
            <a:r>
              <a:rPr lang="en-US" dirty="0"/>
              <a:t>For Python either a python3 shell on your PC, or a </a:t>
            </a:r>
            <a:r>
              <a:rPr lang="en-US" dirty="0" err="1"/>
              <a:t>jupyter</a:t>
            </a:r>
            <a:r>
              <a:rPr lang="en-US" dirty="0"/>
              <a:t> notebook or the browser shell in </a:t>
            </a:r>
            <a:r>
              <a:rPr lang="en-US" dirty="0">
                <a:hlinkClick r:id="rId3"/>
              </a:rPr>
              <a:t>https://numpy.org/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397D800-2A5D-8DE1-A99F-EB71EAD3A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41" y="99724"/>
            <a:ext cx="3433957" cy="299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31B29-45A8-0AD0-1ADF-99E824B3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16F60-1EF1-3994-2130-3688A17F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BF44B-5E97-E0D7-FD62-21201A9C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38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4F31B8-A7B9-38EC-1040-6B6993B0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73195-2A5F-D6F4-66AD-545144681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Count the number of FP in a </a:t>
            </a:r>
            <a:r>
              <a:rPr lang="en-US" err="1"/>
              <a:t>binade</a:t>
            </a:r>
            <a:endParaRPr lang="en-US"/>
          </a:p>
          <a:p>
            <a:pPr lvl="1"/>
            <a:r>
              <a:rPr lang="en-US"/>
              <a:t>Verify that it is the same for two different </a:t>
            </a:r>
            <a:r>
              <a:rPr lang="en-US" err="1"/>
              <a:t>binades</a:t>
            </a:r>
            <a:endParaRPr lang="en-US"/>
          </a:p>
          <a:p>
            <a:r>
              <a:rPr lang="en-US"/>
              <a:t>Compute the ULP for some FPs</a:t>
            </a:r>
          </a:p>
          <a:p>
            <a:pPr lvl="1"/>
            <a:r>
              <a:rPr lang="en-US"/>
              <a:t>How it depends on the </a:t>
            </a:r>
            <a:r>
              <a:rPr lang="en-US" err="1"/>
              <a:t>binade</a:t>
            </a:r>
            <a:r>
              <a:rPr lang="en-US"/>
              <a:t>?</a:t>
            </a:r>
          </a:p>
          <a:p>
            <a:r>
              <a:rPr lang="en-US"/>
              <a:t>Convert some number (0.1, e, pi, 31.5,  …) between various representations (including decimal)</a:t>
            </a:r>
          </a:p>
          <a:p>
            <a:pPr lvl="1"/>
            <a:r>
              <a:rPr lang="en-US"/>
              <a:t>See what happens and explain it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32694B-AEEB-1E1F-B63A-2144C722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575" y="120649"/>
            <a:ext cx="2928425" cy="357179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DB26D-6F62-ADF8-3189-779F51F9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79BB7-AE88-7AA2-A907-41324997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97063-4E44-B159-04BF-25336626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34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1FB2D1-E638-8436-6181-3DD3F5D6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Arithmetic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5FF7A-0C3D-FF58-DA20-F0FF12133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AA0DD5-6E6E-B116-6F88-54DC2F0B1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079" y="252819"/>
            <a:ext cx="2760921" cy="351761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D8B0B-B424-4268-9711-C5499786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40AE5-07CF-CDE1-4BD5-38F4B276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21792-DAD4-2020-1E9C-3477F6B1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F874-3597-BFB0-AECD-EAF9C947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722"/>
          </a:xfrm>
        </p:spPr>
        <p:txBody>
          <a:bodyPr/>
          <a:lstStyle/>
          <a:p>
            <a:r>
              <a:rPr lang="en-US"/>
              <a:t>FP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2559-4366-0A66-160C-67AB5C7A6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951" y="1190848"/>
            <a:ext cx="11232292" cy="502559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There are two basic operations: sum and multiplication</a:t>
            </a:r>
          </a:p>
          <a:p>
            <a:pPr lvl="1"/>
            <a:r>
              <a:rPr lang="en-US" dirty="0" err="1"/>
              <a:t>a+b</a:t>
            </a:r>
            <a:r>
              <a:rPr lang="en-US" dirty="0"/>
              <a:t> and </a:t>
            </a:r>
            <a:r>
              <a:rPr lang="en-US" dirty="0" err="1"/>
              <a:t>a×b</a:t>
            </a:r>
            <a:r>
              <a:rPr lang="en-US" dirty="0"/>
              <a:t>  symbolize the exact sum and multiplication between a and b</a:t>
            </a:r>
          </a:p>
          <a:p>
            <a:pPr lvl="1"/>
            <a:r>
              <a:rPr lang="en-US" dirty="0" err="1"/>
              <a:t>a⊕b</a:t>
            </a:r>
            <a:r>
              <a:rPr lang="en-US" dirty="0"/>
              <a:t> and </a:t>
            </a:r>
            <a:r>
              <a:rPr lang="en-US" dirty="0" err="1"/>
              <a:t>a⊗b</a:t>
            </a:r>
            <a:r>
              <a:rPr lang="en-US" dirty="0"/>
              <a:t>  symbolize the rounded sum and multiplication between FPs a and b</a:t>
            </a:r>
          </a:p>
          <a:p>
            <a:pPr lvl="2"/>
            <a:r>
              <a:rPr lang="en-US" dirty="0" err="1"/>
              <a:t>a+b</a:t>
            </a:r>
            <a:r>
              <a:rPr lang="en-US" dirty="0"/>
              <a:t> and a*b  are the corresponding operations in code</a:t>
            </a:r>
          </a:p>
          <a:p>
            <a:r>
              <a:rPr lang="en-US" dirty="0"/>
              <a:t>We will use decimal precision 2 for all examples to allow mental arithmetic in a finite time</a:t>
            </a:r>
          </a:p>
          <a:p>
            <a:pPr lvl="1"/>
            <a:r>
              <a:rPr lang="en-US" dirty="0"/>
              <a:t>42+3.7 = …</a:t>
            </a:r>
          </a:p>
          <a:p>
            <a:pPr lvl="1"/>
            <a:r>
              <a:rPr lang="en-US" dirty="0"/>
              <a:t>42⊕3.7 = …</a:t>
            </a:r>
          </a:p>
          <a:p>
            <a:pPr lvl="1"/>
            <a:r>
              <a:rPr lang="en-US" dirty="0"/>
              <a:t>42⊕3.3 = … , 42⊕3.5 = … , 43⊕3.5 = …</a:t>
            </a:r>
            <a:br>
              <a:rPr lang="en-US" dirty="0"/>
            </a:br>
            <a:r>
              <a:rPr lang="en-US" dirty="0"/>
              <a:t>42⊕3.3⊕3.4 = … , 3.4⊕3.3⊕42 = … </a:t>
            </a:r>
            <a:br>
              <a:rPr lang="en-US" dirty="0"/>
            </a:br>
            <a:r>
              <a:rPr lang="en-US" dirty="0"/>
              <a:t>42⊕3.3⊕ -45 = … </a:t>
            </a:r>
          </a:p>
          <a:p>
            <a:pPr marL="457200" lvl="1" indent="0">
              <a:buNone/>
            </a:pPr>
            <a:r>
              <a:rPr lang="en-US" dirty="0"/>
              <a:t>(use python decimal to verify results)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FP Arithmetic is not associative and can lead to  loss of precision up to catastrophic cancellations</a:t>
            </a:r>
          </a:p>
          <a:p>
            <a:pPr lvl="1"/>
            <a:r>
              <a:rPr lang="en-US" altLang="x-none" dirty="0"/>
              <a:t>x + </a:t>
            </a:r>
            <a:r>
              <a:rPr lang="en-US" altLang="x-none" dirty="0" err="1"/>
              <a:t>ε</a:t>
            </a:r>
            <a:r>
              <a:rPr lang="en-US" altLang="x-none" dirty="0"/>
              <a:t> – x </a:t>
            </a:r>
            <a:r>
              <a:rPr lang="en-US" altLang="x-none" sz="2800" dirty="0"/>
              <a:t>≠ </a:t>
            </a:r>
            <a:r>
              <a:rPr lang="en-US" altLang="x-none" dirty="0" err="1"/>
              <a:t>ε</a:t>
            </a:r>
            <a:r>
              <a:rPr lang="en-US" altLang="x-none" dirty="0"/>
              <a:t> </a:t>
            </a:r>
            <a:r>
              <a:rPr lang="en-US" altLang="x-none" dirty="0">
                <a:latin typeface="Wingdings" charset="2"/>
              </a:rPr>
              <a:t> </a:t>
            </a:r>
            <a:r>
              <a:rPr lang="en-US" altLang="x-none" dirty="0"/>
              <a:t>(can easily be 0 or </a:t>
            </a:r>
            <a:r>
              <a:rPr lang="en-US" altLang="x-none" sz="2800" dirty="0"/>
              <a:t>∞</a:t>
            </a:r>
            <a:r>
              <a:rPr lang="en-US" altLang="x-none" dirty="0"/>
              <a:t> )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A652B-1729-6DA8-C128-1749DA19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A531-E17B-3A7F-8D25-120EDFFC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88C99-BC35-5DE0-E738-8120470D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15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234778" y="258763"/>
            <a:ext cx="11957222" cy="1225550"/>
          </a:xfrm>
        </p:spPr>
        <p:txBody>
          <a:bodyPr>
            <a:normAutofit fontScale="90000"/>
          </a:bodyPr>
          <a:lstStyle/>
          <a:p>
            <a:r>
              <a:rPr lang="en-US" altLang="x-none"/>
              <a:t>Classical example of loss of precision due to cancellation</a:t>
            </a:r>
          </a:p>
        </p:txBody>
      </p:sp>
      <p:sp>
        <p:nvSpPr>
          <p:cNvPr id="32770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5E060A6B-253B-E84D-BDFF-791BD1DD4C11}" type="slidenum">
              <a:rPr lang="it-IT" altLang="x-none" sz="1200">
                <a:latin typeface="Garamond" charset="0"/>
              </a:rPr>
              <a:pPr eaLnBrk="1" hangingPunct="1"/>
              <a:t>19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32774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484313"/>
            <a:ext cx="5005388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655" y="2267125"/>
            <a:ext cx="4611687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Box 11"/>
          <p:cNvSpPr txBox="1">
            <a:spLocks noChangeArrowheads="1"/>
          </p:cNvSpPr>
          <p:nvPr/>
        </p:nvSpPr>
        <p:spPr bwMode="auto">
          <a:xfrm>
            <a:off x="6715662" y="1921154"/>
            <a:ext cx="28094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Well know better solution</a:t>
            </a:r>
          </a:p>
        </p:txBody>
      </p:sp>
      <p:sp>
        <p:nvSpPr>
          <p:cNvPr id="32777" name="TextBox 12"/>
          <p:cNvSpPr txBox="1">
            <a:spLocks noChangeArrowheads="1"/>
          </p:cNvSpPr>
          <p:nvPr/>
        </p:nvSpPr>
        <p:spPr bwMode="auto">
          <a:xfrm>
            <a:off x="3575050" y="4797425"/>
            <a:ext cx="49672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1">
                <a:solidFill>
                  <a:srgbClr val="FF0000"/>
                </a:solidFill>
              </a:rPr>
              <a:t>Two sources of cancellation</a:t>
            </a:r>
          </a:p>
        </p:txBody>
      </p: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 flipH="1" flipV="1">
            <a:off x="4727575" y="3500439"/>
            <a:ext cx="1512888" cy="13684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 flipH="1" flipV="1">
            <a:off x="3792538" y="3500438"/>
            <a:ext cx="215900" cy="14414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0" name="TextBox 19"/>
          <p:cNvSpPr txBox="1">
            <a:spLocks noChangeArrowheads="1"/>
          </p:cNvSpPr>
          <p:nvPr/>
        </p:nvSpPr>
        <p:spPr bwMode="auto">
          <a:xfrm>
            <a:off x="2424113" y="5661025"/>
            <a:ext cx="520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https://en.wikipedia.org/wiki/Loss_of_significance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5E44-1145-B3B5-99CB-164A17DB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first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A1BBA-EAF2-6BF3-A6DF-55D23C2E2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difference of two number of the same </a:t>
            </a:r>
            <a:r>
              <a:rPr lang="en-US" err="1"/>
              <a:t>binade</a:t>
            </a:r>
            <a:r>
              <a:rPr lang="en-US"/>
              <a:t> is precise</a:t>
            </a:r>
          </a:p>
          <a:p>
            <a:pPr lvl="1"/>
            <a:r>
              <a:rPr lang="en-US"/>
              <a:t>99-11 = 88, 42-37 = 5</a:t>
            </a:r>
          </a:p>
          <a:p>
            <a:pPr lvl="1"/>
            <a:r>
              <a:rPr lang="en-US"/>
              <a:t>0x1.921fb6p+1 - 0x1.001e72p+1 = 0x1.240288p+0</a:t>
            </a:r>
          </a:p>
          <a:p>
            <a:endParaRPr lang="en-US"/>
          </a:p>
          <a:p>
            <a:r>
              <a:rPr lang="en-US"/>
              <a:t>If 2b&gt;a&gt;b/2&gt;0 then </a:t>
            </a:r>
            <a:r>
              <a:rPr lang="en-US" err="1"/>
              <a:t>a⊖b</a:t>
            </a:r>
            <a:r>
              <a:rPr lang="en-US"/>
              <a:t> = a-b (is precise)</a:t>
            </a:r>
            <a:br>
              <a:rPr lang="en-US"/>
            </a:br>
            <a:r>
              <a:rPr lang="en-US"/>
              <a:t>(</a:t>
            </a:r>
            <a:r>
              <a:rPr lang="en-US">
                <a:hlinkClick r:id="rId2"/>
              </a:rPr>
              <a:t>https://en.wikipedia.org/wiki/Sterbenz_lemma</a:t>
            </a:r>
            <a:r>
              <a:rPr lang="en-US"/>
              <a:t>)</a:t>
            </a:r>
          </a:p>
          <a:p>
            <a:pPr lvl="1"/>
            <a:r>
              <a:rPr lang="en-US"/>
              <a:t>12-7.4 = 4.6 (precise)</a:t>
            </a:r>
          </a:p>
          <a:p>
            <a:pPr lvl="1"/>
            <a:r>
              <a:rPr lang="en-US"/>
              <a:t>18-7.4= 10.6 =&gt; 18⊖7.4 = 11   (not precise)</a:t>
            </a:r>
          </a:p>
          <a:p>
            <a:pPr lvl="1"/>
            <a:r>
              <a:rPr lang="en-US"/>
              <a:t>0x1.333334p-2 ⊖ 0x1.99999ap-3 = 0x1.99999ap-4 (precise)</a:t>
            </a:r>
          </a:p>
          <a:p>
            <a:pPr lvl="1"/>
            <a:r>
              <a:rPr lang="en-US"/>
              <a:t>0x1.333334p-2 ⊖ 0x1.99999ap-4 = 0x1.99999cp-3 (not precise)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8210-85B9-6D74-1F5A-D53B03DD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95801-0B59-9A3F-8B23-53E41C93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FFF55-09D2-F9E9-2BF6-473892FC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27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E935-6904-8630-3A5E-C062BD08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Augmented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1BE4-A79E-81D3-30F4-1363BA165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89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a&gt;b&gt;0  =&gt;  </a:t>
            </a:r>
            <a:r>
              <a:rPr lang="en-US" dirty="0" err="1"/>
              <a:t>a+b</a:t>
            </a:r>
            <a:r>
              <a:rPr lang="en-US" dirty="0"/>
              <a:t> &lt; 2a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c = </a:t>
            </a:r>
            <a:r>
              <a:rPr lang="en-US" dirty="0" err="1">
                <a:solidFill>
                  <a:srgbClr val="00B050"/>
                </a:solidFill>
              </a:rPr>
              <a:t>a⊕b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t = </a:t>
            </a:r>
            <a:r>
              <a:rPr lang="en-US" dirty="0" err="1">
                <a:solidFill>
                  <a:srgbClr val="00B050"/>
                </a:solidFill>
              </a:rPr>
              <a:t>c⊖a</a:t>
            </a:r>
            <a:r>
              <a:rPr lang="en-US" dirty="0">
                <a:solidFill>
                  <a:srgbClr val="00B050"/>
                </a:solidFill>
              </a:rPr>
              <a:t>  is exact</a:t>
            </a:r>
          </a:p>
          <a:p>
            <a:r>
              <a:rPr lang="en-US" dirty="0">
                <a:solidFill>
                  <a:srgbClr val="00B050"/>
                </a:solidFill>
              </a:rPr>
              <a:t>e = </a:t>
            </a:r>
            <a:r>
              <a:rPr lang="en-US" dirty="0" err="1">
                <a:solidFill>
                  <a:srgbClr val="00B050"/>
                </a:solidFill>
              </a:rPr>
              <a:t>b⊖t</a:t>
            </a:r>
            <a:r>
              <a:rPr lang="en-US" dirty="0">
                <a:solidFill>
                  <a:srgbClr val="00B050"/>
                </a:solidFill>
              </a:rPr>
              <a:t>  is exact</a:t>
            </a:r>
          </a:p>
          <a:p>
            <a:r>
              <a:rPr lang="en-US" dirty="0" err="1"/>
              <a:t>a+b</a:t>
            </a:r>
            <a:r>
              <a:rPr lang="en-US" dirty="0"/>
              <a:t> = </a:t>
            </a:r>
            <a:r>
              <a:rPr lang="en-US" dirty="0" err="1"/>
              <a:t>c+e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 is the error of </a:t>
            </a:r>
            <a:r>
              <a:rPr lang="en-US" dirty="0" err="1"/>
              <a:t>a⊕b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algorithm is known as “</a:t>
            </a:r>
            <a:r>
              <a:rPr lang="en-US" dirty="0" err="1"/>
              <a:t>fastTwoSum</a:t>
            </a:r>
            <a:r>
              <a:rPr lang="en-US" dirty="0"/>
              <a:t>” and (with small modifications) proposed as </a:t>
            </a:r>
            <a:r>
              <a:rPr lang="en-US" dirty="0" err="1"/>
              <a:t>AugmentedSum</a:t>
            </a:r>
            <a:r>
              <a:rPr lang="en-US" dirty="0"/>
              <a:t> in next IEEE754 revision </a:t>
            </a:r>
          </a:p>
          <a:p>
            <a:r>
              <a:rPr lang="en-US" dirty="0"/>
              <a:t>A similar algorithm exists for multiplication as well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6E5FB-8775-E443-17AC-3D7A63E7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2BA9B-2D27-2400-C1EC-50DD6373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0EC1-B4F3-F679-34F4-6784C48C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97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FB71-B737-C32C-CF86-40936586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augmented sum</a:t>
            </a:r>
            <a:br>
              <a:rPr lang="en-US" dirty="0"/>
            </a:br>
            <a:r>
              <a:rPr lang="en-US" sz="2400" dirty="0">
                <a:hlinkClick r:id="rId2"/>
              </a:rPr>
              <a:t>https://godbolt.org/z/nq5Po1Gdz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01E0E-6FCF-CEA0-F220-94CD44A4F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938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42⊕3.7 = 46</a:t>
            </a:r>
          </a:p>
          <a:p>
            <a:r>
              <a:rPr lang="en-US" dirty="0">
                <a:solidFill>
                  <a:srgbClr val="00B050"/>
                </a:solidFill>
              </a:rPr>
              <a:t>46⊖42 = 4</a:t>
            </a:r>
          </a:p>
          <a:p>
            <a:r>
              <a:rPr lang="en-US" dirty="0">
                <a:solidFill>
                  <a:srgbClr val="00B050"/>
                </a:solidFill>
              </a:rPr>
              <a:t>3.7⊖4 = -0.3</a:t>
            </a:r>
          </a:p>
          <a:p>
            <a:r>
              <a:rPr lang="en-US" i="1" dirty="0"/>
              <a:t>46-0.3 = 42+3.7  (</a:t>
            </a:r>
            <a:r>
              <a:rPr lang="en-US" i="1" dirty="0" err="1"/>
              <a:t>q.e.d.</a:t>
            </a:r>
            <a:r>
              <a:rPr lang="en-US" i="1" dirty="0"/>
              <a:t>)</a:t>
            </a:r>
          </a:p>
          <a:p>
            <a:r>
              <a:rPr lang="en-US" dirty="0"/>
              <a:t>In short: </a:t>
            </a:r>
            <a:r>
              <a:rPr lang="en-US" dirty="0" err="1">
                <a:solidFill>
                  <a:srgbClr val="00B050"/>
                </a:solidFill>
              </a:rPr>
              <a:t>asum</a:t>
            </a:r>
            <a:r>
              <a:rPr lang="en-US" dirty="0">
                <a:solidFill>
                  <a:srgbClr val="00B050"/>
                </a:solidFill>
              </a:rPr>
              <a:t>(42,3.7) = 46,-0.3</a:t>
            </a:r>
          </a:p>
          <a:p>
            <a:endParaRPr lang="en-US" dirty="0"/>
          </a:p>
          <a:p>
            <a:r>
              <a:rPr lang="en-US" dirty="0"/>
              <a:t>42⊕3.3⊕3.4 = 48 while 42+3.3+3.4 = 48.7</a:t>
            </a:r>
          </a:p>
          <a:p>
            <a:r>
              <a:rPr lang="en-US" dirty="0" err="1"/>
              <a:t>asum</a:t>
            </a:r>
            <a:r>
              <a:rPr lang="en-US" dirty="0"/>
              <a:t>(42,3.3) = 45,0.3</a:t>
            </a:r>
          </a:p>
          <a:p>
            <a:r>
              <a:rPr lang="en-US" dirty="0" err="1"/>
              <a:t>asum</a:t>
            </a:r>
            <a:r>
              <a:rPr lang="en-US" dirty="0"/>
              <a:t>(45 ,3.4) = 48,0.4</a:t>
            </a:r>
          </a:p>
          <a:p>
            <a:r>
              <a:rPr lang="en-US" dirty="0" err="1"/>
              <a:t>asum</a:t>
            </a:r>
            <a:r>
              <a:rPr lang="en-US" dirty="0"/>
              <a:t>(48,0.3+0.4) = 49, -0.3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0AA64-266F-9A3E-CBCC-A535EC68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14C84-DEBA-FE5E-D615-4AF55ED6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638C0-8A0E-A896-7CFC-C08E15B8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72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461D-F652-AAC2-4FC1-FDE36544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Does it help for catastrophic cancellation?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86B28-45D1-57E1-A9B0-C1CC5697A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42⊕3.3⊕ -45 = 0 while 42+3.3-45 = 0.3</a:t>
            </a:r>
          </a:p>
          <a:p>
            <a:pPr lvl="1"/>
            <a:r>
              <a:rPr lang="en-US"/>
              <a:t>Catastrophic cancellation</a:t>
            </a:r>
          </a:p>
          <a:p>
            <a:r>
              <a:rPr lang="en-US" err="1"/>
              <a:t>asum</a:t>
            </a:r>
            <a:r>
              <a:rPr lang="en-US"/>
              <a:t>(42,3.3) = 45,0.3</a:t>
            </a:r>
          </a:p>
          <a:p>
            <a:r>
              <a:rPr lang="en-US" err="1"/>
              <a:t>asum</a:t>
            </a:r>
            <a:r>
              <a:rPr lang="en-US"/>
              <a:t>(45 ,-45) = 0.0,0.0</a:t>
            </a:r>
          </a:p>
          <a:p>
            <a:r>
              <a:rPr lang="en-US" err="1"/>
              <a:t>asum</a:t>
            </a:r>
            <a:r>
              <a:rPr lang="en-US"/>
              <a:t>(0.0,0.3+0.0) = 0.3, 0.0 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97AB1-BA83-20D7-3123-0DDFE92F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43B86-CD61-F84E-DA4A-4741E9F9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C5A63-E55F-020B-6C8E-26ABB9241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52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D40A-FA76-6F94-EE86-7C1679F6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Compensating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316F0-F6EA-A0F3-3D5D-CC38A7447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31266"/>
          </a:xfrm>
        </p:spPr>
        <p:txBody>
          <a:bodyPr/>
          <a:lstStyle/>
          <a:p>
            <a:r>
              <a:rPr lang="en-US"/>
              <a:t>Kahan summation</a:t>
            </a:r>
          </a:p>
          <a:p>
            <a:pPr lvl="1"/>
            <a:r>
              <a:rPr lang="en-US">
                <a:hlinkClick r:id="rId2"/>
              </a:rPr>
              <a:t>https://en.wikipedia.org/wiki/Kahan_summation_algorithm</a:t>
            </a:r>
            <a:endParaRPr lang="en-US"/>
          </a:p>
          <a:p>
            <a:pPr lvl="1"/>
            <a:r>
              <a:rPr lang="en-US"/>
              <a:t>with excruciating details </a:t>
            </a:r>
            <a:r>
              <a:rPr lang="en-US">
                <a:hlinkClick r:id="rId3"/>
              </a:rPr>
              <a:t>https://arxiv.org/html/2602.19452v1 - LST2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2782E-2AE8-5E4E-D2AA-20DCC4B00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98" y="3287851"/>
            <a:ext cx="3985413" cy="2554545"/>
          </a:xfrm>
          <a:prstGeom prst="rect">
            <a:avLst/>
          </a:prstGeom>
          <a:gradFill rotWithShape="1">
            <a:gsLst>
              <a:gs pos="0">
                <a:srgbClr val="FFFFDC"/>
              </a:gs>
              <a:gs pos="64999">
                <a:srgbClr val="FFFFAC"/>
              </a:gs>
              <a:gs pos="100000">
                <a:srgbClr val="FFFF88"/>
              </a:gs>
            </a:gsLst>
            <a:lin ang="5400000" scaled="1"/>
          </a:gradFill>
          <a:ln w="9525">
            <a:solidFill>
              <a:srgbClr val="FADD4D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/>
              <a:t>T </a:t>
            </a:r>
            <a:r>
              <a:rPr lang="en-US" altLang="en-US" sz="1600" b="1" err="1"/>
              <a:t>kahanSum</a:t>
            </a:r>
            <a:r>
              <a:rPr lang="en-US" altLang="en-US" sz="1600" b="1"/>
              <a:t>(T const * input, </a:t>
            </a:r>
            <a:r>
              <a:rPr lang="en-US" altLang="en-US" sz="1600" b="1" err="1"/>
              <a:t>size_t</a:t>
            </a:r>
            <a:r>
              <a:rPr lang="en-US" altLang="en-US" sz="1600" b="1"/>
              <a:t> n) { </a:t>
            </a:r>
          </a:p>
          <a:p>
            <a:pPr eaLnBrk="1" hangingPunct="1"/>
            <a:r>
              <a:rPr lang="en-US" altLang="en-US" sz="1600" b="1"/>
              <a:t>T sum = input[0];</a:t>
            </a:r>
          </a:p>
          <a:p>
            <a:pPr eaLnBrk="1" hangingPunct="1"/>
            <a:r>
              <a:rPr lang="en-US" altLang="en-US" sz="1600" b="1"/>
              <a:t>T t = 0.0;          </a:t>
            </a:r>
          </a:p>
          <a:p>
            <a:pPr eaLnBrk="1" hangingPunct="1"/>
            <a:r>
              <a:rPr lang="en-US" altLang="en-US" sz="1600" b="1"/>
              <a:t>for (</a:t>
            </a:r>
            <a:r>
              <a:rPr lang="en-US" altLang="en-US" sz="1600" b="1" err="1"/>
              <a:t>size_t</a:t>
            </a:r>
            <a:r>
              <a:rPr lang="en-US" altLang="en-US" sz="1600" b="1"/>
              <a:t> </a:t>
            </a:r>
            <a:r>
              <a:rPr lang="en-US" altLang="en-US" sz="1600" b="1" err="1"/>
              <a:t>i</a:t>
            </a:r>
            <a:r>
              <a:rPr lang="en-US" altLang="en-US" sz="1600" b="1"/>
              <a:t> = 1; </a:t>
            </a:r>
            <a:r>
              <a:rPr lang="en-US" altLang="en-US" sz="1600" b="1" err="1"/>
              <a:t>i</a:t>
            </a:r>
            <a:r>
              <a:rPr lang="en-US" altLang="en-US" sz="1600" b="1"/>
              <a:t>&lt;n; ++</a:t>
            </a:r>
            <a:r>
              <a:rPr lang="en-US" altLang="en-US" sz="1600" b="1" err="1"/>
              <a:t>i</a:t>
            </a:r>
            <a:r>
              <a:rPr lang="en-US" altLang="en-US" sz="1600" b="1"/>
              <a:t>)  {  </a:t>
            </a:r>
          </a:p>
          <a:p>
            <a:pPr eaLnBrk="1" hangingPunct="1"/>
            <a:r>
              <a:rPr lang="en-US" altLang="en-US" sz="1600" b="1"/>
              <a:t>  auto y = input[</a:t>
            </a:r>
            <a:r>
              <a:rPr lang="en-US" altLang="en-US" sz="1600" b="1" err="1"/>
              <a:t>i</a:t>
            </a:r>
            <a:r>
              <a:rPr lang="en-US" altLang="en-US" sz="1600" b="1"/>
              <a:t>] – t; </a:t>
            </a:r>
          </a:p>
          <a:p>
            <a:pPr eaLnBrk="1" hangingPunct="1"/>
            <a:r>
              <a:rPr lang="en-US" altLang="en-US" sz="1600" b="1" i="1"/>
              <a:t>  auto s = sum + y</a:t>
            </a:r>
          </a:p>
          <a:p>
            <a:pPr eaLnBrk="1" hangingPunct="1"/>
            <a:r>
              <a:rPr lang="en-US" altLang="en-US" sz="1600" b="1" i="1"/>
              <a:t>  t = (s - sum) – y;   </a:t>
            </a:r>
          </a:p>
          <a:p>
            <a:pPr eaLnBrk="1" hangingPunct="1"/>
            <a:r>
              <a:rPr lang="en-US" altLang="en-US" sz="1600" b="1" i="1"/>
              <a:t>  sum = s;                                    </a:t>
            </a:r>
          </a:p>
          <a:p>
            <a:pPr eaLnBrk="1" hangingPunct="1"/>
            <a:r>
              <a:rPr lang="en-US" altLang="en-US" sz="1600" b="1" i="1"/>
              <a:t>} </a:t>
            </a:r>
          </a:p>
          <a:p>
            <a:pPr eaLnBrk="1" hangingPunct="1"/>
            <a:r>
              <a:rPr lang="en-US" altLang="en-US" sz="1600" b="1" i="1"/>
              <a:t>return sum;</a:t>
            </a:r>
            <a:endParaRPr lang="en-US" altLang="en-US" sz="1600" b="1">
              <a:solidFill>
                <a:srgbClr val="000000"/>
              </a:solidFill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3E267-73A4-1A4E-36A1-BA2B20C5695B}"/>
              </a:ext>
            </a:extLst>
          </p:cNvPr>
          <p:cNvSpPr txBox="1"/>
          <p:nvPr/>
        </p:nvSpPr>
        <p:spPr>
          <a:xfrm>
            <a:off x="4756108" y="3356891"/>
            <a:ext cx="61009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Improved algorithms exist: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differently handling of various magnitude ranges (“big”, “medium”, “tiny”)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 (partial) sorting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pairwise recursion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optimization for parallelism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026C23-E632-131E-0AAC-CCA89D4A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F7411B-CF3A-8304-E47A-C8F69137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7536A8-028D-C576-9C1A-BE4CAC3F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03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20AA-B625-0B63-9F2F-C72BE2EA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FMA: Fused Multiple 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66DD-121A-7352-FBC1-5EB3685E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25"/>
            <a:ext cx="10515600" cy="3550309"/>
          </a:xfrm>
        </p:spPr>
        <p:txBody>
          <a:bodyPr>
            <a:normAutofit lnSpcReduction="10000"/>
          </a:bodyPr>
          <a:lstStyle/>
          <a:p>
            <a:r>
              <a:rPr lang="en-US"/>
              <a:t>Also known as MAC (multiply accumulate) instruction on AMD</a:t>
            </a:r>
          </a:p>
          <a:p>
            <a:r>
              <a:rPr lang="en-US" err="1"/>
              <a:t>fma</a:t>
            </a:r>
            <a:r>
              <a:rPr lang="en-US"/>
              <a:t>(</a:t>
            </a:r>
            <a:r>
              <a:rPr lang="en-US" err="1"/>
              <a:t>a,b,c</a:t>
            </a:r>
            <a:r>
              <a:rPr lang="en-US"/>
              <a:t>) computes the correctly rounded result of a*</a:t>
            </a:r>
            <a:r>
              <a:rPr lang="en-US" err="1"/>
              <a:t>b+c</a:t>
            </a:r>
            <a:endParaRPr lang="en-US"/>
          </a:p>
          <a:p>
            <a:pPr lvl="1"/>
            <a:r>
              <a:rPr lang="en-US"/>
              <a:t>It improves speed and precision in many computation such as linear algebra</a:t>
            </a:r>
          </a:p>
          <a:p>
            <a:pPr lvl="1"/>
            <a:r>
              <a:rPr lang="en-US"/>
              <a:t>No standard on how to “contract” expression (depends on compiler)</a:t>
            </a:r>
          </a:p>
          <a:p>
            <a:pPr lvl="2"/>
            <a:r>
              <a:rPr lang="en-US"/>
              <a:t>a*</a:t>
            </a:r>
            <a:r>
              <a:rPr lang="en-US" err="1"/>
              <a:t>b+c</a:t>
            </a:r>
            <a:r>
              <a:rPr lang="en-US"/>
              <a:t>*d ,  </a:t>
            </a:r>
            <a:r>
              <a:rPr lang="en-US" err="1"/>
              <a:t>a+b</a:t>
            </a:r>
            <a:r>
              <a:rPr lang="en-US"/>
              <a:t>*</a:t>
            </a:r>
            <a:r>
              <a:rPr lang="en-US" err="1"/>
              <a:t>c+d</a:t>
            </a:r>
            <a:r>
              <a:rPr lang="en-US"/>
              <a:t> , x*=</a:t>
            </a:r>
            <a:r>
              <a:rPr lang="en-US" err="1"/>
              <a:t>a;x</a:t>
            </a:r>
            <a:r>
              <a:rPr lang="en-US"/>
              <a:t>+=b ,  </a:t>
            </a:r>
            <a:r>
              <a:rPr lang="en-US" err="1"/>
              <a:t>etc</a:t>
            </a:r>
            <a:endParaRPr lang="en-US"/>
          </a:p>
          <a:p>
            <a:pPr lvl="1"/>
            <a:r>
              <a:rPr lang="en-US"/>
              <a:t>It clearly introduces asymmetries </a:t>
            </a:r>
          </a:p>
          <a:p>
            <a:pPr lvl="2"/>
            <a:r>
              <a:rPr lang="en-US"/>
              <a:t>for instance  a*</a:t>
            </a:r>
            <a:r>
              <a:rPr lang="en-US" err="1"/>
              <a:t>b+c</a:t>
            </a:r>
            <a:r>
              <a:rPr lang="en-US"/>
              <a:t>*d ≠ c*</a:t>
            </a:r>
            <a:r>
              <a:rPr lang="en-US" err="1"/>
              <a:t>d+a</a:t>
            </a:r>
            <a:r>
              <a:rPr lang="en-US"/>
              <a:t>*b</a:t>
            </a:r>
          </a:p>
          <a:p>
            <a:r>
              <a:rPr lang="en-US"/>
              <a:t>Kahan comes to the rescue again with this algorithm</a:t>
            </a:r>
          </a:p>
          <a:p>
            <a:pPr marL="914400" lvl="2" indent="0">
              <a:buNone/>
            </a:pPr>
            <a:r>
              <a:rPr 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EF3BD-4D64-9993-8C80-6011D1A0E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843" y="4565174"/>
            <a:ext cx="6612012" cy="1815882"/>
          </a:xfrm>
          <a:prstGeom prst="rect">
            <a:avLst/>
          </a:prstGeom>
          <a:gradFill rotWithShape="1">
            <a:gsLst>
              <a:gs pos="0">
                <a:srgbClr val="FFFFDC"/>
              </a:gs>
              <a:gs pos="64999">
                <a:srgbClr val="FFFFAC"/>
              </a:gs>
              <a:gs pos="100000">
                <a:srgbClr val="FFFF88"/>
              </a:gs>
            </a:gsLst>
            <a:lin ang="5400000" scaled="1"/>
          </a:gradFill>
          <a:ln w="9525">
            <a:solidFill>
              <a:srgbClr val="FADD4D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T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kahanDet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(T a, T b, T c, T d) { // a*d-b*c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using std::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fma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auto w = b*c;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auto e =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fma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(-b, c, w); // error on w: (w,-e) =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augmentedMultiply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b,c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)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auto f =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fma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(a, d, -w);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return (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f+e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);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}</a:t>
            </a:r>
            <a:endParaRPr lang="en-US" altLang="en-US" sz="36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697F7-EEF3-94D9-714F-2F27C225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CD021-A54C-407A-748A-A78F7081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66453-4C51-0285-BE87-5C0544D1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58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9581-E325-5E7E-0859-53684EED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A1CFB-C459-B481-2D99-2558956D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877" y="2443893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988BC-AA84-EA5B-1D5E-2B46A6087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Either in Python or C++</a:t>
            </a:r>
          </a:p>
          <a:p>
            <a:endParaRPr lang="en-US" dirty="0"/>
          </a:p>
          <a:p>
            <a:r>
              <a:rPr lang="en-US" dirty="0"/>
              <a:t>For C++ one can use </a:t>
            </a:r>
            <a:r>
              <a:rPr lang="en-US" dirty="0" err="1"/>
              <a:t>godbolt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https://godbolt.org/z/d1e18j3jK</a:t>
            </a:r>
            <a:r>
              <a:rPr lang="en-US" dirty="0"/>
              <a:t>  ) </a:t>
            </a:r>
          </a:p>
          <a:p>
            <a:r>
              <a:rPr lang="en-US" dirty="0"/>
              <a:t>For Python either a python3 shell on your PC, or a </a:t>
            </a:r>
            <a:r>
              <a:rPr lang="en-US" dirty="0" err="1"/>
              <a:t>jupyter</a:t>
            </a:r>
            <a:r>
              <a:rPr lang="en-US" dirty="0"/>
              <a:t> notebook or the browser shell in </a:t>
            </a:r>
            <a:r>
              <a:rPr lang="en-US" dirty="0">
                <a:hlinkClick r:id="rId3"/>
              </a:rPr>
              <a:t>https://numpy.org/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641AD1-6BCC-8312-7490-CF01BD728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91" y="11052"/>
            <a:ext cx="5070696" cy="243284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AF075-987B-9474-1F4A-6FBA7614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48CFB-3E08-5063-6000-46EE3A13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9AF79-0694-DF3A-DDD6-63E0B9FF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30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EAC43B-26A5-792A-9D83-2D4F75A3F27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7574" y="819129"/>
            <a:ext cx="10741324" cy="2887663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Sum T(0.1) 10000 times in binary32, binary64, decimal2, decimal5</a:t>
            </a:r>
          </a:p>
          <a:p>
            <a:pPr lvl="1"/>
            <a:r>
              <a:rPr lang="en-US"/>
              <a:t>Google for “patriot failure”</a:t>
            </a:r>
          </a:p>
          <a:p>
            <a:r>
              <a:rPr lang="en-US"/>
              <a:t>Sum 10</a:t>
            </a:r>
            <a:r>
              <a:rPr lang="en-US" baseline="30000"/>
              <a:t>9</a:t>
            </a:r>
            <a:r>
              <a:rPr lang="en-US"/>
              <a:t> positive random numbers (in range   10</a:t>
            </a:r>
            <a:r>
              <a:rPr lang="en-US" baseline="30000"/>
              <a:t>-n</a:t>
            </a:r>
            <a:r>
              <a:rPr lang="en-US"/>
              <a:t>, 10</a:t>
            </a:r>
            <a:r>
              <a:rPr lang="en-US" baseline="30000"/>
              <a:t>+n</a:t>
            </a:r>
            <a:r>
              <a:rPr lang="en-US"/>
              <a:t> )</a:t>
            </a:r>
          </a:p>
          <a:p>
            <a:pPr lvl="1"/>
            <a:r>
              <a:rPr lang="en-US"/>
              <a:t>Typical in </a:t>
            </a:r>
            <a:r>
              <a:rPr lang="en-US" err="1"/>
              <a:t>unbinned</a:t>
            </a:r>
            <a:r>
              <a:rPr lang="en-US"/>
              <a:t> log-</a:t>
            </a:r>
            <a:r>
              <a:rPr lang="en-US" err="1"/>
              <a:t>likehood</a:t>
            </a:r>
            <a:endParaRPr lang="en-US"/>
          </a:p>
          <a:p>
            <a:r>
              <a:rPr lang="en-US"/>
              <a:t>Compute the average age of all humans on earth</a:t>
            </a:r>
          </a:p>
          <a:p>
            <a:endParaRPr lang="en-US"/>
          </a:p>
          <a:p>
            <a:r>
              <a:rPr lang="en-US"/>
              <a:t>Compute π as the integral of 4/(1+x</a:t>
            </a:r>
            <a:r>
              <a:rPr lang="en-US" baseline="30000"/>
              <a:t>2</a:t>
            </a:r>
            <a:r>
              <a:rPr lang="en-US"/>
              <a:t>) between 0 and 1 (use </a:t>
            </a:r>
            <a:r>
              <a:rPr lang="en-US" i="1"/>
              <a:t>float, double, </a:t>
            </a:r>
            <a:r>
              <a:rPr lang="en-US" i="1" err="1"/>
              <a:t>simd</a:t>
            </a:r>
            <a:r>
              <a:rPr lang="en-US" i="1"/>
              <a:t>, int, mixed</a:t>
            </a:r>
            <a:r>
              <a:rPr lang="en-US"/>
              <a:t>)</a:t>
            </a:r>
          </a:p>
          <a:p>
            <a:pPr lvl="1"/>
            <a:r>
              <a:rPr lang="en-US" sz="2100"/>
              <a:t>(credit: Tim Mattson)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55FF4-1135-3B72-0E12-51A04E264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87" y="3613194"/>
            <a:ext cx="4630750" cy="2891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F7091E-0E56-FB7A-8067-4CBEA0739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627" y="3515270"/>
            <a:ext cx="4203603" cy="317234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E1852-4690-E1E0-C027-3CFB48A5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CDDF0-B51E-87CD-77E1-90591FAC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0FFE3-8783-E55E-9CA7-A846A94E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50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A643-93BC-3983-D41A-F0D417A4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2EBE-91A8-7259-E824-37E3C23E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Solve the equation </a:t>
            </a:r>
            <a:r>
              <a:rPr lang="en-US" i="1"/>
              <a:t>x</a:t>
            </a:r>
            <a:r>
              <a:rPr lang="en-US" i="1" baseline="30000"/>
              <a:t>2</a:t>
            </a:r>
            <a:r>
              <a:rPr lang="en-US" i="1"/>
              <a:t> – 2bx +1 = 0 </a:t>
            </a:r>
            <a:r>
              <a:rPr lang="en-US"/>
              <a:t>using the “high-school” formula</a:t>
            </a:r>
          </a:p>
          <a:p>
            <a:pPr lvl="1"/>
            <a:r>
              <a:rPr lang="en-US"/>
              <a:t>What is the smallest value of b (single precision) for which one of the solution becomes 0?</a:t>
            </a:r>
          </a:p>
          <a:p>
            <a:pPr lvl="1"/>
            <a:r>
              <a:rPr lang="en-US"/>
              <a:t>What is instead the correct result? (use only single precision computations)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BB61-0A7C-2ABA-FDC6-A025F215E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F551E-08F6-00DE-9B25-A8BD5801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46934-CDD9-03DB-801C-50FD5DF2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38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>
            <a:extLst>
              <a:ext uri="{FF2B5EF4-FFF2-40B4-BE49-F238E27FC236}">
                <a16:creationId xmlns:a16="http://schemas.microsoft.com/office/drawing/2014/main" id="{12C6D14A-6777-8EE3-EC4F-B86911903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17803"/>
            <a:ext cx="6682946" cy="634019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400"/>
              <a:t>#include &lt;iostream&gt;</a:t>
            </a:r>
          </a:p>
          <a:p>
            <a:pPr eaLnBrk="1" hangingPunct="1"/>
            <a:r>
              <a:rPr lang="en-US" altLang="x-none" sz="1400"/>
              <a:t>#include &lt;</a:t>
            </a:r>
            <a:r>
              <a:rPr lang="en-US" altLang="x-none" sz="1400" err="1"/>
              <a:t>iomanip</a:t>
            </a:r>
            <a:r>
              <a:rPr lang="en-US" altLang="x-none" sz="1400"/>
              <a:t>&gt;</a:t>
            </a:r>
          </a:p>
          <a:p>
            <a:pPr eaLnBrk="1" hangingPunct="1"/>
            <a:r>
              <a:rPr lang="en-US" altLang="x-none" sz="1400"/>
              <a:t>#include &lt;random&gt;</a:t>
            </a:r>
          </a:p>
          <a:p>
            <a:pPr eaLnBrk="1" hangingPunct="1"/>
            <a:r>
              <a:rPr lang="en-US" altLang="x-none" sz="1400"/>
              <a:t>#include &lt;algorithm&gt;</a:t>
            </a:r>
          </a:p>
          <a:p>
            <a:pPr eaLnBrk="1" hangingPunct="1"/>
            <a:r>
              <a:rPr lang="en-US" altLang="x-none" sz="1400"/>
              <a:t>#include &lt;</a:t>
            </a:r>
            <a:r>
              <a:rPr lang="en-US" altLang="x-none" sz="1400" err="1"/>
              <a:t>cmath</a:t>
            </a:r>
            <a:r>
              <a:rPr lang="en-US" altLang="x-none" sz="1400"/>
              <a:t>&gt;</a:t>
            </a:r>
          </a:p>
          <a:p>
            <a:pPr eaLnBrk="1" hangingPunct="1"/>
            <a:r>
              <a:rPr lang="en-US" altLang="x-none" sz="1400"/>
              <a:t>int main()</a:t>
            </a:r>
          </a:p>
          <a:p>
            <a:pPr eaLnBrk="1" hangingPunct="1"/>
            <a:r>
              <a:rPr lang="en-US" altLang="x-none" sz="1400"/>
              <a:t>{</a:t>
            </a:r>
          </a:p>
          <a:p>
            <a:pPr eaLnBrk="1" hangingPunct="1"/>
            <a:r>
              <a:rPr lang="en-US" altLang="x-none" sz="1400"/>
              <a:t>    std::</a:t>
            </a:r>
            <a:r>
              <a:rPr lang="en-US" altLang="x-none" sz="1400" err="1"/>
              <a:t>random_device</a:t>
            </a:r>
            <a:r>
              <a:rPr lang="en-US" altLang="x-none" sz="1400"/>
              <a:t> </a:t>
            </a:r>
            <a:r>
              <a:rPr lang="en-US" altLang="x-none" sz="1400" err="1"/>
              <a:t>rd</a:t>
            </a:r>
            <a:r>
              <a:rPr lang="en-US" altLang="x-none" sz="1400"/>
              <a:t>;  // to obtain a seed for the random number engine</a:t>
            </a:r>
          </a:p>
          <a:p>
            <a:pPr eaLnBrk="1" hangingPunct="1"/>
            <a:r>
              <a:rPr lang="en-US" altLang="x-none" sz="1400"/>
              <a:t>    std::mt19937 gen(</a:t>
            </a:r>
            <a:r>
              <a:rPr lang="en-US" altLang="x-none" sz="1400" err="1"/>
              <a:t>rd</a:t>
            </a:r>
            <a:r>
              <a:rPr lang="en-US" altLang="x-none" sz="1400"/>
              <a:t>()); // Standard </a:t>
            </a:r>
            <a:r>
              <a:rPr lang="en-US" altLang="x-none" sz="1400" err="1"/>
              <a:t>mersenne_twister_engine</a:t>
            </a:r>
            <a:r>
              <a:rPr lang="en-US" altLang="x-none" sz="1400"/>
              <a:t> seeded with </a:t>
            </a:r>
            <a:r>
              <a:rPr lang="en-US" altLang="x-none" sz="1400" err="1"/>
              <a:t>rd</a:t>
            </a:r>
            <a:r>
              <a:rPr lang="en-US" altLang="x-none" sz="1400"/>
              <a:t>()</a:t>
            </a:r>
          </a:p>
          <a:p>
            <a:pPr eaLnBrk="1" hangingPunct="1"/>
            <a:r>
              <a:rPr lang="en-US" altLang="x-none" sz="1400"/>
              <a:t>    std::</a:t>
            </a:r>
            <a:r>
              <a:rPr lang="en-US" altLang="x-none" sz="1400" err="1"/>
              <a:t>uniform_real_distribution</a:t>
            </a:r>
            <a:r>
              <a:rPr lang="en-US" altLang="x-none" sz="1400"/>
              <a:t>&lt;float&gt; dis(-1.0, 1.0); </a:t>
            </a:r>
          </a:p>
          <a:p>
            <a:pPr eaLnBrk="1" hangingPunct="1"/>
            <a:r>
              <a:rPr lang="en-US" altLang="x-none" sz="1400"/>
              <a:t>    </a:t>
            </a:r>
            <a:r>
              <a:rPr lang="en-US" altLang="x-none" sz="1400" err="1"/>
              <a:t>size_t</a:t>
            </a:r>
            <a:r>
              <a:rPr lang="en-US" altLang="x-none" sz="1400"/>
              <a:t> N = 40*1000*1000;</a:t>
            </a:r>
          </a:p>
          <a:p>
            <a:pPr eaLnBrk="1" hangingPunct="1"/>
            <a:r>
              <a:rPr lang="en-US" altLang="x-none" sz="1400"/>
              <a:t>    float * x = new float[N];</a:t>
            </a:r>
          </a:p>
          <a:p>
            <a:pPr eaLnBrk="1" hangingPunct="1"/>
            <a:r>
              <a:rPr lang="en-US" altLang="x-none" sz="1400"/>
              <a:t>    for (int n = 0; n &lt; N; ++n) {</a:t>
            </a:r>
          </a:p>
          <a:p>
            <a:pPr eaLnBrk="1" hangingPunct="1"/>
            <a:r>
              <a:rPr lang="en-US" altLang="x-none" sz="1400"/>
              <a:t>        // Use dis to transform the random unsigned int generated by gen into a</a:t>
            </a:r>
          </a:p>
          <a:p>
            <a:pPr eaLnBrk="1" hangingPunct="1"/>
            <a:r>
              <a:rPr lang="en-US" altLang="x-none" sz="1400"/>
              <a:t>        // float in [-1, 1). Each call to dis(gen) generates a new random float.</a:t>
            </a:r>
          </a:p>
          <a:p>
            <a:pPr eaLnBrk="1" hangingPunct="1"/>
            <a:r>
              <a:rPr lang="en-US" altLang="x-none" sz="1400"/>
              <a:t>        x[n] = dis(gen);</a:t>
            </a:r>
          </a:p>
          <a:p>
            <a:pPr eaLnBrk="1" hangingPunct="1"/>
            <a:r>
              <a:rPr lang="en-US" altLang="x-none" sz="1400"/>
              <a:t>    }</a:t>
            </a:r>
          </a:p>
          <a:p>
            <a:pPr eaLnBrk="1" hangingPunct="1"/>
            <a:r>
              <a:rPr lang="en-US" altLang="x-none" sz="1400"/>
              <a:t>    // sort in absolute value</a:t>
            </a:r>
          </a:p>
          <a:p>
            <a:pPr eaLnBrk="1" hangingPunct="1"/>
            <a:r>
              <a:rPr lang="en-US" altLang="x-none" sz="1400"/>
              <a:t>    std::sort(</a:t>
            </a:r>
            <a:r>
              <a:rPr lang="en-US" altLang="x-none" sz="1400" err="1"/>
              <a:t>x,x+N</a:t>
            </a:r>
            <a:r>
              <a:rPr lang="en-US" altLang="x-none" sz="1400"/>
              <a:t>,[](float a, float b) { return std::abs(a) &lt; std::abs(b);});</a:t>
            </a:r>
          </a:p>
          <a:p>
            <a:pPr eaLnBrk="1" hangingPunct="1"/>
            <a:r>
              <a:rPr lang="en-US" altLang="x-none" sz="1400"/>
              <a:t>    // print first and last 40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</a:t>
            </a:r>
            <a:r>
              <a:rPr lang="en-US" altLang="x-none" sz="1400" err="1"/>
              <a:t>i</a:t>
            </a:r>
            <a:r>
              <a:rPr lang="en-US" altLang="x-none" sz="1400"/>
              <a:t>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'\n';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x[N-1-i]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'\n’;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'\n';</a:t>
            </a:r>
          </a:p>
          <a:p>
            <a:pPr eaLnBrk="1" hangingPunct="1"/>
            <a:r>
              <a:rPr lang="en-US" altLang="x-none" sz="1400"/>
              <a:t>   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std::</a:t>
            </a:r>
            <a:r>
              <a:rPr lang="en-US" altLang="x-none" sz="1400" err="1"/>
              <a:t>hexfloat</a:t>
            </a:r>
            <a:r>
              <a:rPr lang="en-US" altLang="x-none" sz="1400"/>
              <a:t>;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</a:t>
            </a:r>
            <a:r>
              <a:rPr lang="en-US" altLang="x-none" sz="1400" err="1"/>
              <a:t>i</a:t>
            </a:r>
            <a:r>
              <a:rPr lang="en-US" altLang="x-none" sz="1400"/>
              <a:t>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'\n’;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x[N-1-i]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'\n';</a:t>
            </a:r>
          </a:p>
          <a:p>
            <a:pPr eaLnBrk="1" hangingPunct="1"/>
            <a:endParaRPr lang="en-US" altLang="x-none" sz="1400"/>
          </a:p>
          <a:p>
            <a:pPr eaLnBrk="1" hangingPunct="1"/>
            <a:r>
              <a:rPr lang="en-US" altLang="x-none" sz="1400"/>
              <a:t>    delete [] x;</a:t>
            </a:r>
          </a:p>
          <a:p>
            <a:pPr eaLnBrk="1" hangingPunct="1"/>
            <a:r>
              <a:rPr lang="en-US" altLang="x-none" sz="1400"/>
              <a:t>    return 0;</a:t>
            </a:r>
          </a:p>
          <a:p>
            <a:pPr eaLnBrk="1" hangingPunct="1"/>
            <a:r>
              <a:rPr lang="en-US" altLang="x-none" sz="1400"/>
              <a:t>}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2F4D33E-677C-6D18-A2E1-B5488259B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2946" y="339429"/>
            <a:ext cx="5509054" cy="65556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400"/>
              <a:t>0 -5.96046e-08 1.19209e-07 -1.19209e-07 1.19209e-07 -1.19209e-07 1.19209e-07 1.19209e-07 -1.78814e-07 2.38419e-07 -2.38419e-07 -3.57628e-07 3.57628e-07 3.57628e-07 -4.17233e-07 -4.17233e-07 -4.17233e-07 4.76837e-07 4.76837e-07 4.76837e-07 5.96046e-07 -5.96046e-07 -6.55651e-07 7.15256e-07 -7.15256e-07 -7.7486e-07 8.34465e-07 8.34465e-07 -8.34465e-07 8.34465e-07 -8.9407e-07 -9.53674e-07 -9.53674e-07 -9.53674e-07 9.53674e-07 1.07288e-06 1.07288e-06 1.19209e-06 1.19209e-06 1.19209e-06</a:t>
            </a:r>
          </a:p>
          <a:p>
            <a:pPr eaLnBrk="1" hangingPunct="1"/>
            <a:r>
              <a:rPr lang="en-US" altLang="x-none" sz="1400"/>
              <a:t>1 -1 1 1 1 -1 1 1 1 1 -1 -1 -1 -1 -1 1 1 0.999999 0.999999 -0.999999 -0.999999 -0.999999 -0.999999 -0.999999 0.999999 0.999999 0.999999 0.999999 -0.999999 -0.999999 -0.999999 0.999999 0.999999 -0.999999 -0.999999 -0.999999 0.999999 0.999999 0.999999 -0.999999</a:t>
            </a:r>
          </a:p>
          <a:p>
            <a:pPr eaLnBrk="1" hangingPunct="1"/>
            <a:endParaRPr lang="en-US" altLang="x-none" sz="1400"/>
          </a:p>
          <a:p>
            <a:pPr eaLnBrk="1" hangingPunct="1"/>
            <a:r>
              <a:rPr lang="en-US" altLang="x-none" sz="1400"/>
              <a:t>0x0p+0 -0x1p-24 0x1p-23 -0x1p-23 0x1p-23 -0x1p-23 0x1p-23 0x1p-23 -0x1.8p-23 0x1p-22 -0x1p-22 -0x1.8p-22 0x1.8p-22 0x1.8p-22 -0x1.cp-22 -0x1.cp-22 -0x1.cp-22 0x1p-21 0x1p-21 0x1p-21 0x1.4p-21 -0x1.4p-21 -0x1.6p-21 0x1.8p-21 -0x1.8p-21 -0x1.ap-21 0x1.cp-21 0x1.cp-21 -0x1.cp-21 0x1.cp-21 -0x1.ep-21 -0x1p-20 -0x1p-20 -0x1p-20 0x1p-20 0x1.2p-20 0x1.2p-20 0x1.4p-20 0x1.4p-20 0x1.4p-20</a:t>
            </a:r>
          </a:p>
          <a:p>
            <a:pPr eaLnBrk="1" hangingPunct="1"/>
            <a:r>
              <a:rPr lang="en-US" altLang="x-none" sz="1400"/>
              <a:t>0x1p+0 -0x1p+0 0x1p+0 0x1p+0 0x1p+0 -0x1.fffffep-1 0x1.fffffcp-1 0x1.fffffcp-1 0x1.fffff8p-1 0x1.fffff4p-1 -0x1.fffff4p-1 -0x1.fffff2p-1 -0x1.fffff2p-1 -0x1.fffffp-1 -0x1.fffffp-1 0x1.fffffp-1 0x1.fffffp-1 0x1.ffffecp-1 0x1.ffffecp-1 -0x1.ffffeap-1 -0x1.ffffeap-1 -0x1.ffffeap-1 -0x1.ffffeap-1 -0x1.ffffeap-1 0x1.ffffe8p-1 0x1.ffffe8p-1 0x1.ffffe8p-1 0x1.ffffe8p-1 -0x1.ffffe6p-1 -0x1.ffffe6p-1 -0x1.ffffe6p-1 0x1.ffffe4p-1 0x1.ffffe4p-1 -0x1.ffffe2p-1 -0x1.ffffe2p-1 -0x1.ffffep-1 0x1.ffffep-1 0x1.ffffep-1 0x1.ffffep-1 -0x1.ffffep-1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AAF5F-A54C-2843-F80E-D8605F16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13" y="0"/>
            <a:ext cx="6682946" cy="870551"/>
          </a:xfrm>
        </p:spPr>
        <p:txBody>
          <a:bodyPr/>
          <a:lstStyle/>
          <a:p>
            <a:r>
              <a:rPr lang="en-US"/>
              <a:t>Random Number interlude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9B69373-28D4-967A-ED33-3BA269A4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518" y="667389"/>
            <a:ext cx="3713482" cy="133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36137-EDD4-AB78-D5E5-8D3FE933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5923A-0928-4412-321D-2E8D7A5D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350BE-F637-E4FC-358C-92DEFE98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05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2A27-8BC3-D8E6-E35B-0D725A86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Uniform vs canonical</a:t>
            </a:r>
            <a:br>
              <a:rPr lang="en-US"/>
            </a:br>
            <a:r>
              <a:rPr lang="en-US" sz="2200"/>
              <a:t>(for a detailed discussion see among others</a:t>
            </a:r>
            <a:br>
              <a:rPr lang="en-US" sz="2200"/>
            </a:br>
            <a:r>
              <a:rPr lang="en-US" sz="2200">
                <a:hlinkClick r:id="rId2"/>
              </a:rPr>
              <a:t>https://github.com/DiscreteLogarithm/canonical-random-float/tree/master</a:t>
            </a:r>
            <a:r>
              <a:rPr lang="en-US" sz="2200"/>
              <a:t>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EBA84-CCDB-3151-928F-7A00CCB8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1037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/>
              <a:t>Uniform in range [</a:t>
            </a:r>
            <a:r>
              <a:rPr lang="en-US" u="sng" err="1"/>
              <a:t>a,b</a:t>
            </a:r>
            <a:r>
              <a:rPr lang="en-US" u="sng"/>
              <a:t>)</a:t>
            </a:r>
          </a:p>
          <a:p>
            <a:r>
              <a:rPr lang="en-US"/>
              <a:t>Throw 32 coins: interpret as a positive integer N</a:t>
            </a:r>
          </a:p>
          <a:p>
            <a:r>
              <a:rPr lang="en-US"/>
              <a:t>Compute r = float(N)/float(2</a:t>
            </a:r>
            <a:r>
              <a:rPr lang="en-US" baseline="30000"/>
              <a:t>32</a:t>
            </a:r>
            <a:r>
              <a:rPr lang="en-US"/>
              <a:t>)*(b-a) –a</a:t>
            </a:r>
          </a:p>
          <a:p>
            <a:pPr marL="0" indent="0">
              <a:buNone/>
            </a:pPr>
            <a:endParaRPr lang="en-US" baseline="30000"/>
          </a:p>
          <a:p>
            <a:pPr marL="0" indent="0">
              <a:buNone/>
            </a:pPr>
            <a:r>
              <a:rPr lang="en-US" u="sng"/>
              <a:t>Canonical</a:t>
            </a:r>
          </a:p>
          <a:p>
            <a:r>
              <a:rPr lang="en-US"/>
              <a:t>Throw 23 coins: set significand of r to them</a:t>
            </a:r>
          </a:p>
          <a:p>
            <a:r>
              <a:rPr lang="en-US"/>
              <a:t>Throw one more coin: if 1 set exponent of r to -1: </a:t>
            </a:r>
            <a:r>
              <a:rPr lang="en-US" i="1"/>
              <a:t>uniform in [0.5,1) prob. 1/2</a:t>
            </a:r>
          </a:p>
          <a:p>
            <a:pPr lvl="1"/>
            <a:r>
              <a:rPr lang="en-US"/>
              <a:t>If 0 :Throw one more coin: if 1 set exponent of r to -2: </a:t>
            </a:r>
            <a:r>
              <a:rPr lang="en-US" i="1"/>
              <a:t>uniform in [0.25,0.5) prob. 1/4</a:t>
            </a:r>
          </a:p>
          <a:p>
            <a:pPr lvl="2"/>
            <a:r>
              <a:rPr lang="en-US"/>
              <a:t>If 0:  Throw one more coin: if 1 set exponent of r to -3: </a:t>
            </a:r>
            <a:r>
              <a:rPr lang="en-US" i="1"/>
              <a:t>uniform in [0.125,0.25) prob. 1/8</a:t>
            </a:r>
          </a:p>
          <a:p>
            <a:pPr lvl="3"/>
            <a:r>
              <a:rPr lang="en-US"/>
              <a:t>If 0:  Throw one more coin: if 1 set exponent of r to -4: </a:t>
            </a:r>
            <a:r>
              <a:rPr lang="en-US" i="1"/>
              <a:t>uniform in [0.0625,0.125) prob. 1/16</a:t>
            </a:r>
          </a:p>
          <a:p>
            <a:pPr lvl="4"/>
            <a:r>
              <a:rPr lang="en-US"/>
              <a:t>If 0: ….	</a:t>
            </a:r>
          </a:p>
          <a:p>
            <a:r>
              <a:rPr lang="en-US"/>
              <a:t>If symmetric interval around 0 needed : use last coin to choose sign</a:t>
            </a:r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98E9A-EF3C-D633-ED36-F60057FF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1904-6135-3F8D-A713-2FEBDF17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C31B9-6622-755D-6A20-8F8327E3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4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690117-F887-E4E1-FE6A-411EDB8C6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49372"/>
            <a:ext cx="10515600" cy="1515153"/>
          </a:xfrm>
        </p:spPr>
        <p:txBody>
          <a:bodyPr>
            <a:normAutofit/>
          </a:bodyPr>
          <a:lstStyle/>
          <a:p>
            <a:r>
              <a:rPr lang="en-US"/>
              <a:t> Gaussian Tail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CF096E-5ACB-4EFC-C309-58C23DF22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7628" y="497991"/>
            <a:ext cx="7630275" cy="1325562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Generated 256*10</a:t>
            </a:r>
            <a:r>
              <a:rPr lang="en-US" baseline="30000"/>
              <a:t>9 </a:t>
            </a:r>
            <a:r>
              <a:rPr lang="en-US"/>
              <a:t>Normal distributed using Box-Muller</a:t>
            </a:r>
            <a:endParaRPr lang="en-US" baseline="30000"/>
          </a:p>
          <a:p>
            <a:pPr marL="0" indent="0">
              <a:buNone/>
            </a:pPr>
            <a:endParaRPr lang="en-US" baseline="30000"/>
          </a:p>
          <a:p>
            <a:r>
              <a:rPr lang="en-US" baseline="30000">
                <a:solidFill>
                  <a:srgbClr val="FF0000"/>
                </a:solidFill>
              </a:rPr>
              <a:t>Mix: 23 bits for U2, 41 bits for U1 </a:t>
            </a:r>
          </a:p>
          <a:p>
            <a:r>
              <a:rPr lang="en-US" baseline="30000">
                <a:solidFill>
                  <a:srgbClr val="7030A0"/>
                </a:solidFill>
              </a:rPr>
              <a:t>Lux: all-possible floats for both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89EE30-8AD0-5E32-BF70-8C3EE90C6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52" y="1864525"/>
            <a:ext cx="105029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A93714-3098-EE65-A716-4C94B850E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934" y="2770960"/>
            <a:ext cx="5838466" cy="16202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7850CB-9387-7EF8-62D7-531BD0082637}"/>
              </a:ext>
            </a:extLst>
          </p:cNvPr>
          <p:cNvSpPr txBox="1"/>
          <p:nvPr/>
        </p:nvSpPr>
        <p:spPr>
          <a:xfrm>
            <a:off x="5562600" y="2349754"/>
            <a:ext cx="2861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Box-Muller 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A6DC3-61D8-A584-FC6E-3B5A7EC540A4}"/>
              </a:ext>
            </a:extLst>
          </p:cNvPr>
          <p:cNvSpPr txBox="1"/>
          <p:nvPr/>
        </p:nvSpPr>
        <p:spPr>
          <a:xfrm>
            <a:off x="3348370" y="5561930"/>
            <a:ext cx="2192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sqrt(-2log(2</a:t>
            </a:r>
            <a:r>
              <a:rPr lang="en-US" baseline="30000">
                <a:solidFill>
                  <a:srgbClr val="00B050"/>
                </a:solidFill>
              </a:rPr>
              <a:t>-32</a:t>
            </a:r>
            <a:r>
              <a:rPr lang="en-US">
                <a:solidFill>
                  <a:srgbClr val="00B050"/>
                </a:solidFill>
              </a:rPr>
              <a:t>)) ~ 6.6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989CB7-7507-EAB2-FB48-25D5A0CE8A2C}"/>
              </a:ext>
            </a:extLst>
          </p:cNvPr>
          <p:cNvSpPr txBox="1"/>
          <p:nvPr/>
        </p:nvSpPr>
        <p:spPr>
          <a:xfrm>
            <a:off x="1612584" y="4478262"/>
            <a:ext cx="234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sqrt(-2log(2</a:t>
            </a:r>
            <a:r>
              <a:rPr lang="en-US" baseline="30000">
                <a:solidFill>
                  <a:srgbClr val="FFC000"/>
                </a:solidFill>
              </a:rPr>
              <a:t>-23</a:t>
            </a:r>
            <a:r>
              <a:rPr lang="en-US">
                <a:solidFill>
                  <a:srgbClr val="FFC000"/>
                </a:solidFill>
              </a:rPr>
              <a:t>)) ~ 5.6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CB7FFD-54D9-306B-0DE7-3543DE82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FB7C8-B82E-10B7-B680-E4500A01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ECB13-71A3-BBCF-FC48-EA2A7C6B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64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019E70-22B4-DF02-AE05-678200F0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Elementary 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C798C-9A31-71FC-75F9-46194DA10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37063-32CF-D21A-8887-F8935016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6EC71-0A89-3E6D-4C4A-428734B0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0048-DB70-23FB-B855-D76E6847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43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59C7-A3CA-91DB-D251-2D35BFC1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Elementary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0296-7549-07A9-DB46-A197286DF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IEEE754 defines a set of “additional operations” (aka elementary functions) </a:t>
            </a:r>
          </a:p>
          <a:p>
            <a:pPr lvl="1"/>
            <a:r>
              <a:rPr lang="en-US"/>
              <a:t>exp, log, power of various forms</a:t>
            </a:r>
          </a:p>
          <a:p>
            <a:pPr lvl="1"/>
            <a:r>
              <a:rPr lang="en-US"/>
              <a:t>trig, hyperbolic and their inverse (arc)</a:t>
            </a:r>
          </a:p>
          <a:p>
            <a:pPr lvl="1"/>
            <a:r>
              <a:rPr lang="en-US"/>
              <a:t>They are “required” to be correctly rounded</a:t>
            </a:r>
          </a:p>
          <a:p>
            <a:r>
              <a:rPr lang="en-US"/>
              <a:t>C and C++ std define some more special functions</a:t>
            </a:r>
          </a:p>
          <a:p>
            <a:pPr lvl="1"/>
            <a:r>
              <a:rPr lang="en-US">
                <a:hlinkClick r:id="rId2"/>
              </a:rPr>
              <a:t>https://en.cppreference.com/cpp/numeric/math</a:t>
            </a:r>
            <a:endParaRPr lang="en-US"/>
          </a:p>
          <a:p>
            <a:pPr lvl="1"/>
            <a:r>
              <a:rPr lang="en-US">
                <a:hlinkClick r:id="rId3"/>
              </a:rPr>
              <a:t>https://en.wikipedia.org/wiki/C_mathematical_functions</a:t>
            </a:r>
            <a:endParaRPr lang="en-US"/>
          </a:p>
          <a:p>
            <a:r>
              <a:rPr lang="en-US"/>
              <a:t>Each vendor/compiler provides its own implementation</a:t>
            </a:r>
          </a:p>
          <a:p>
            <a:pPr lvl="1"/>
            <a:r>
              <a:rPr lang="en-US"/>
              <a:t>A comparison of their accuracy is compiled by </a:t>
            </a:r>
            <a:r>
              <a:rPr lang="en-US" err="1"/>
              <a:t>B.Gladman</a:t>
            </a:r>
            <a:r>
              <a:rPr lang="en-US"/>
              <a:t> et al.</a:t>
            </a:r>
          </a:p>
          <a:p>
            <a:pPr lvl="2"/>
            <a:r>
              <a:rPr lang="en-US">
                <a:hlinkClick r:id="rId4"/>
              </a:rPr>
              <a:t>https://members.loria.fr/PZimmermann/papers/accuracy.pdf</a:t>
            </a:r>
            <a:endParaRPr lang="en-US"/>
          </a:p>
          <a:p>
            <a:r>
              <a:rPr lang="en-US"/>
              <a:t>The most accurate implementation to date is from the “core-math” project</a:t>
            </a:r>
          </a:p>
          <a:p>
            <a:pPr lvl="1"/>
            <a:r>
              <a:rPr lang="en-US">
                <a:hlinkClick r:id="rId5"/>
              </a:rPr>
              <a:t>https://core-math.gitlabpages.inria.fr/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8DE3E-D67D-A1A4-E232-4A7BB01C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C795-0250-EBB7-783E-0BC4F3D70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0BA2-9719-AFDB-22F6-16C0EB52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14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06DE-C899-6844-8CF7-F5F9A44A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Library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D6A3A-AEDA-BC4E-82AD-F1AA1D4FE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5406"/>
            <a:ext cx="10515600" cy="705215"/>
          </a:xfrm>
        </p:spPr>
        <p:txBody>
          <a:bodyPr/>
          <a:lstStyle/>
          <a:p>
            <a:r>
              <a:rPr lang="en-US">
                <a:hlinkClick r:id="rId2"/>
              </a:rPr>
              <a:t>https://members.loria.fr/PZimmermann/papers/accuracy.pdf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40C4C-B678-4041-BD67-6527373C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889F-FE40-C740-B271-3670DFF2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9A71-BBC1-574E-86E1-9B53D806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D0D4D-849C-9F43-9E32-2F43D5C86DA0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EE449-BB21-A44B-BDA5-58672ED5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460897"/>
            <a:ext cx="8712200" cy="3568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2365B0-AD44-A44D-8213-330063DB1A50}"/>
              </a:ext>
            </a:extLst>
          </p:cNvPr>
          <p:cNvSpPr txBox="1"/>
          <p:nvPr/>
        </p:nvSpPr>
        <p:spPr>
          <a:xfrm>
            <a:off x="1270000" y="5316074"/>
            <a:ext cx="8784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Maximal error (in bits) for single precision functions as implemented in various math library</a:t>
            </a:r>
          </a:p>
        </p:txBody>
      </p:sp>
    </p:spTree>
    <p:extLst>
      <p:ext uri="{BB962C8B-B14F-4D97-AF65-F5344CB8AC3E}">
        <p14:creationId xmlns:p14="http://schemas.microsoft.com/office/powerpoint/2010/main" val="1459706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1F9A-4DE0-E93B-B0EA-19809759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219" y="389767"/>
            <a:ext cx="10515600" cy="1031189"/>
          </a:xfrm>
        </p:spPr>
        <p:txBody>
          <a:bodyPr>
            <a:normAutofit fontScale="90000"/>
          </a:bodyPr>
          <a:lstStyle/>
          <a:p>
            <a:r>
              <a:rPr lang="en-US"/>
              <a:t>Evaluating a function</a:t>
            </a:r>
            <a:br>
              <a:rPr lang="en-US"/>
            </a:br>
            <a:r>
              <a:rPr lang="en-US" sz="2700"/>
              <a:t>for a recent review see </a:t>
            </a:r>
            <a:r>
              <a:rPr lang="en-US" sz="2700">
                <a:hlinkClick r:id="rId2"/>
              </a:rPr>
              <a:t>https://dl.acm.org/doi/pdf/10.1145/3747840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FA385-BE03-A1B4-A776-3419E23CA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956"/>
            <a:ext cx="10515600" cy="484702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Five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Handling special values, under/over-flows and invalid</a:t>
            </a:r>
          </a:p>
          <a:p>
            <a:pPr lvl="1"/>
            <a:r>
              <a:rPr lang="en-US"/>
              <a:t>Standard specify them all!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Range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Approximation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If required:</a:t>
            </a:r>
          </a:p>
          <a:p>
            <a:pPr lvl="1"/>
            <a:r>
              <a:rPr lang="en-US"/>
              <a:t>precision test and handling of “Table Maker’s Dilemma”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Back to full range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2CEB2-C6E2-2E81-9AEE-00103BC4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806CA-A6E6-62BE-EE91-5141AE21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EC1F9-B412-F318-431E-0D1DD531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5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A76E-847D-8C9D-A4E2-A1B587BC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1C695-E4BD-B119-1B0B-4E90AA85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21" y="1825625"/>
            <a:ext cx="11310330" cy="4351338"/>
          </a:xfrm>
        </p:spPr>
        <p:txBody>
          <a:bodyPr>
            <a:normAutofit/>
          </a:bodyPr>
          <a:lstStyle/>
          <a:p>
            <a:r>
              <a:rPr lang="en-US"/>
              <a:t>exp, log, pow</a:t>
            </a:r>
          </a:p>
          <a:p>
            <a:pPr lvl="1"/>
            <a:r>
              <a:rPr lang="en-US"/>
              <a:t>exploit </a:t>
            </a:r>
            <a:r>
              <a:rPr lang="en-US" err="1"/>
              <a:t>fp</a:t>
            </a:r>
            <a:r>
              <a:rPr lang="en-US"/>
              <a:t> representation: x = 1.mᐧ</a:t>
            </a:r>
            <a:r>
              <a:rPr lang="cs-CZ" altLang="x-none"/>
              <a:t>2</a:t>
            </a:r>
            <a:r>
              <a:rPr lang="en-US" altLang="x-none" baseline="30000"/>
              <a:t>n</a:t>
            </a:r>
            <a:endParaRPr lang="en-US" baseline="30000"/>
          </a:p>
          <a:p>
            <a:pPr lvl="1"/>
            <a:r>
              <a:rPr lang="en-US"/>
              <a:t>For log(x):  x =  yᐧ2</a:t>
            </a:r>
            <a:r>
              <a:rPr lang="en-US" baseline="30000"/>
              <a:t>z</a:t>
            </a:r>
            <a:r>
              <a:rPr lang="en-US"/>
              <a:t>, with  y in [0.75,1.5)</a:t>
            </a:r>
            <a:r>
              <a:rPr lang="en-US" baseline="30000"/>
              <a:t> </a:t>
            </a:r>
            <a:r>
              <a:rPr lang="en-US"/>
              <a:t>. log(x) = </a:t>
            </a:r>
            <a:r>
              <a:rPr lang="en-US" err="1"/>
              <a:t>zᐧlog</a:t>
            </a:r>
            <a:r>
              <a:rPr lang="en-US"/>
              <a:t>(2)+log(y) </a:t>
            </a:r>
          </a:p>
          <a:p>
            <a:pPr lvl="1"/>
            <a:r>
              <a:rPr lang="en-US"/>
              <a:t>For exp(x):  x = </a:t>
            </a:r>
            <a:r>
              <a:rPr lang="en-US" err="1"/>
              <a:t>kᐧlog</a:t>
            </a:r>
            <a:r>
              <a:rPr lang="en-US"/>
              <a:t>(2)+y, with y in [-log(2)/2;log(2)/2). exp(x) = 2</a:t>
            </a:r>
            <a:r>
              <a:rPr lang="en-US" baseline="30000"/>
              <a:t>k </a:t>
            </a:r>
            <a:r>
              <a:rPr lang="en-US" err="1"/>
              <a:t>ᐧexp</a:t>
            </a:r>
            <a:r>
              <a:rPr lang="en-US"/>
              <a:t>(y)</a:t>
            </a:r>
            <a:endParaRPr lang="en-US" baseline="30000"/>
          </a:p>
          <a:p>
            <a:pPr lvl="1"/>
            <a:r>
              <a:rPr lang="en-US" err="1"/>
              <a:t>x</a:t>
            </a:r>
            <a:r>
              <a:rPr lang="en-US" baseline="30000" err="1"/>
              <a:t>y</a:t>
            </a:r>
            <a:r>
              <a:rPr lang="en-US" baseline="30000"/>
              <a:t> </a:t>
            </a:r>
            <a:r>
              <a:rPr lang="en-US"/>
              <a:t>= </a:t>
            </a:r>
            <a:r>
              <a:rPr lang="en-US" err="1"/>
              <a:t>e</a:t>
            </a:r>
            <a:r>
              <a:rPr lang="en-US" baseline="30000" err="1"/>
              <a:t>yᐧlog</a:t>
            </a:r>
            <a:r>
              <a:rPr lang="en-US" baseline="30000"/>
              <a:t>(x)</a:t>
            </a:r>
            <a:endParaRPr lang="en-US"/>
          </a:p>
          <a:p>
            <a:r>
              <a:rPr lang="en-US" err="1"/>
              <a:t>sin,cos,tan,atan</a:t>
            </a:r>
            <a:r>
              <a:rPr lang="en-US"/>
              <a:t>(2)</a:t>
            </a:r>
          </a:p>
          <a:p>
            <a:pPr lvl="1"/>
            <a:r>
              <a:rPr lang="en-US"/>
              <a:t>Reduce to [0, π/4) (trivial for f(π</a:t>
            </a:r>
            <a:r>
              <a:rPr lang="en-US" err="1"/>
              <a:t>ᐧx</a:t>
            </a:r>
            <a:r>
              <a:rPr lang="en-US"/>
              <a:t>) known as </a:t>
            </a:r>
            <a:r>
              <a:rPr lang="en-US" err="1"/>
              <a:t>sinpi,cospi</a:t>
            </a:r>
            <a:r>
              <a:rPr lang="en-US"/>
              <a:t> </a:t>
            </a:r>
            <a:r>
              <a:rPr lang="en-US" err="1"/>
              <a:t>etc</a:t>
            </a:r>
            <a:r>
              <a:rPr lang="en-US"/>
              <a:t>, tricky for sin(x)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 lvl="1"/>
            <a:r>
              <a:rPr lang="en-US"/>
              <a:t>use trig identities to go back</a:t>
            </a:r>
          </a:p>
          <a:p>
            <a:r>
              <a:rPr lang="en-US" err="1"/>
              <a:t>asin,acos</a:t>
            </a:r>
            <a:r>
              <a:rPr lang="en-US"/>
              <a:t>, hyperbolic</a:t>
            </a:r>
          </a:p>
          <a:p>
            <a:pPr lvl="1"/>
            <a:r>
              <a:rPr lang="en-US"/>
              <a:t>approximate it in “ad-hoc” intervals (make sure continuity at edges)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F9D0A-87C3-F1A2-0EC5-7BF02A7A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CB5DA-C398-9FDD-B68E-D9C5A4CE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23B9F-A74F-686A-6167-3694D75E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198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096E-0FB8-D1CA-58AB-3E330A508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C86E-C3C4-005B-E8CD-545CAC7E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357"/>
            <a:ext cx="10515600" cy="4783830"/>
          </a:xfrm>
        </p:spPr>
        <p:txBody>
          <a:bodyPr>
            <a:normAutofit/>
          </a:bodyPr>
          <a:lstStyle/>
          <a:p>
            <a:r>
              <a:rPr lang="en-US"/>
              <a:t>Since 1964 the reference for function approximation is the </a:t>
            </a:r>
            <a:r>
              <a:rPr lang="en-US" i="1"/>
              <a:t>Abramowitz and </a:t>
            </a:r>
            <a:r>
              <a:rPr lang="en-US" i="1" err="1"/>
              <a:t>Stegun</a:t>
            </a:r>
            <a:endParaRPr lang="en-US" i="1"/>
          </a:p>
          <a:p>
            <a:pPr lvl="1"/>
            <a:r>
              <a:rPr lang="en-US"/>
              <a:t>Today replaced by the </a:t>
            </a:r>
            <a:r>
              <a:rPr lang="en-US" i="1"/>
              <a:t>digital library </a:t>
            </a:r>
            <a:r>
              <a:rPr lang="en-US">
                <a:hlinkClick r:id="rId2"/>
              </a:rPr>
              <a:t>https://dlmf.nist.gov/</a:t>
            </a:r>
            <a:endParaRPr lang="en-US"/>
          </a:p>
          <a:p>
            <a:r>
              <a:rPr lang="en-US"/>
              <a:t>Elementary functions are usually approximated either by  </a:t>
            </a:r>
          </a:p>
          <a:p>
            <a:pPr lvl="1"/>
            <a:r>
              <a:rPr lang="en-US"/>
              <a:t>shift-and-add algorithms (CORDIC </a:t>
            </a:r>
            <a:r>
              <a:rPr lang="en-US">
                <a:hlinkClick r:id="rId3"/>
              </a:rPr>
              <a:t>https://en.wikipedia.org/wiki/CORDIC</a:t>
            </a:r>
            <a:r>
              <a:rPr lang="en-US"/>
              <a:t>)</a:t>
            </a:r>
          </a:p>
          <a:p>
            <a:pPr lvl="2"/>
            <a:r>
              <a:rPr lang="en-US"/>
              <a:t>Today limited to FPGA</a:t>
            </a:r>
          </a:p>
          <a:p>
            <a:pPr lvl="1"/>
            <a:r>
              <a:rPr lang="en-US"/>
              <a:t>a polynomial</a:t>
            </a:r>
          </a:p>
          <a:p>
            <a:pPr lvl="2"/>
            <a:r>
              <a:rPr lang="en-US"/>
              <a:t>Chebyshev approximation satisfying the ”superior” norm (max in an interval)</a:t>
            </a:r>
          </a:p>
          <a:p>
            <a:pPr lvl="1"/>
            <a:r>
              <a:rPr lang="en-US"/>
              <a:t>a rational function (ratio of two polynomials)</a:t>
            </a:r>
          </a:p>
          <a:p>
            <a:pPr lvl="2"/>
            <a:r>
              <a:rPr lang="en-US"/>
              <a:t>Pade’ approximation</a:t>
            </a:r>
          </a:p>
          <a:p>
            <a:pPr lvl="1"/>
            <a:r>
              <a:rPr lang="en-US"/>
              <a:t>an iterative method such as Newton-Raphson</a:t>
            </a:r>
          </a:p>
          <a:p>
            <a:pPr marL="0" indent="0">
              <a:buNone/>
            </a:pPr>
            <a:r>
              <a:rPr lang="en-US" sz="1800"/>
              <a:t>See also the short paper by </a:t>
            </a:r>
            <a:r>
              <a:rPr lang="en-US" sz="1800" err="1"/>
              <a:t>J.M.Muller</a:t>
            </a:r>
            <a:r>
              <a:rPr lang="en-US" sz="1800"/>
              <a:t> </a:t>
            </a:r>
            <a:r>
              <a:rPr lang="en-US" sz="1800">
                <a:hlinkClick r:id="rId4"/>
              </a:rPr>
              <a:t>https://hal.science/hal-02517784v1/file/approxfunctions.pdf</a:t>
            </a:r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F1AD8-F3C3-229C-4BF7-7AF1474D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CA141-B1AE-30D1-6087-93D46E1E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B7AC6-3D25-81E3-595A-461F2E63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42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C1BC-635C-B440-306B-771A7D70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1/x,</a:t>
            </a:r>
            <a:r>
              <a:rPr lang="en-US" altLang="en-US">
                <a:ea typeface="ＭＳ Ｐゴシック" panose="020B0600070205080204" pitchFamily="34" charset="-128"/>
              </a:rPr>
              <a:t> √</a:t>
            </a:r>
            <a:r>
              <a:rPr lang="en-US"/>
              <a:t>(x),1/</a:t>
            </a:r>
            <a:r>
              <a:rPr lang="en-US" altLang="en-US">
                <a:ea typeface="ＭＳ Ｐゴシック" panose="020B0600070205080204" pitchFamily="34" charset="-128"/>
              </a:rPr>
              <a:t>√</a:t>
            </a:r>
            <a:r>
              <a:rPr lang="en-US"/>
              <a:t>(x) aka </a:t>
            </a:r>
            <a:r>
              <a:rPr lang="en-US" err="1"/>
              <a:t>rcp</a:t>
            </a:r>
            <a:r>
              <a:rPr lang="en-US"/>
              <a:t>(x),sqrt(x),</a:t>
            </a:r>
            <a:r>
              <a:rPr lang="en-US" err="1"/>
              <a:t>rsqrt</a:t>
            </a:r>
            <a:r>
              <a:rPr lang="en-US"/>
              <a:t>(x)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48287-65FB-35C0-3D99-A7760E44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1518"/>
            <a:ext cx="10515600" cy="2476350"/>
          </a:xfrm>
        </p:spPr>
        <p:txBody>
          <a:bodyPr>
            <a:normAutofit/>
          </a:bodyPr>
          <a:lstStyle/>
          <a:p>
            <a:r>
              <a:rPr lang="en-US"/>
              <a:t>Few fast converging Newton-Raphson iterations</a:t>
            </a:r>
          </a:p>
          <a:p>
            <a:pPr lvl="1"/>
            <a:r>
              <a:rPr lang="en-US"/>
              <a:t>Starting point is an approximation of  </a:t>
            </a:r>
            <a:r>
              <a:rPr lang="en-US" i="1"/>
              <a:t>f</a:t>
            </a:r>
            <a:r>
              <a:rPr lang="en-US"/>
              <a:t>(1.m)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CB73D8-E6ED-0730-F110-9A5324BBB611}"/>
              </a:ext>
            </a:extLst>
          </p:cNvPr>
          <p:cNvSpPr txBox="1">
            <a:spLocks/>
          </p:cNvSpPr>
          <p:nvPr/>
        </p:nvSpPr>
        <p:spPr>
          <a:xfrm>
            <a:off x="1470814" y="2675694"/>
            <a:ext cx="84582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The major contribution of game industry to CS is the discovery of the “magic” fast 1/√x algorithm in quake3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FB198-5BA2-7463-B22E-2D8A8537B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24" y="3742494"/>
            <a:ext cx="4648200" cy="2032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float </a:t>
            </a:r>
            <a:r>
              <a:rPr lang="en-US" altLang="en-US" sz="1800" err="1"/>
              <a:t>rsqrt</a:t>
            </a:r>
            <a:r>
              <a:rPr lang="en-US" altLang="en-US" sz="1800"/>
              <a:t>(float x){</a:t>
            </a:r>
          </a:p>
          <a:p>
            <a:pPr eaLnBrk="1" hangingPunct="1"/>
            <a:r>
              <a:rPr lang="en-US" altLang="en-US" sz="1800"/>
              <a:t>  union {float </a:t>
            </a:r>
            <a:r>
              <a:rPr lang="en-US" altLang="en-US" sz="1800" err="1"/>
              <a:t>f;int</a:t>
            </a:r>
            <a:r>
              <a:rPr lang="en-US" altLang="en-US" sz="1800"/>
              <a:t> </a:t>
            </a:r>
            <a:r>
              <a:rPr lang="en-US" altLang="en-US" sz="1800" err="1"/>
              <a:t>i</a:t>
            </a:r>
            <a:r>
              <a:rPr lang="en-US" altLang="en-US" sz="1800"/>
              <a:t>;} </a:t>
            </a:r>
            <a:r>
              <a:rPr lang="en-US" altLang="en-US" sz="1800" err="1"/>
              <a:t>tmp</a:t>
            </a:r>
            <a:r>
              <a:rPr lang="en-US" altLang="en-US" sz="1800"/>
              <a:t>;</a:t>
            </a:r>
          </a:p>
          <a:p>
            <a:pPr eaLnBrk="1" hangingPunct="1"/>
            <a:r>
              <a:rPr lang="en-US" altLang="en-US" sz="1800"/>
              <a:t>  </a:t>
            </a:r>
            <a:r>
              <a:rPr lang="en-US" altLang="en-US" sz="1800" err="1"/>
              <a:t>tmp.f</a:t>
            </a:r>
            <a:r>
              <a:rPr lang="en-US" altLang="en-US" sz="1800"/>
              <a:t> = x;</a:t>
            </a:r>
          </a:p>
          <a:p>
            <a:pPr eaLnBrk="1" hangingPunct="1"/>
            <a:r>
              <a:rPr lang="en-US" altLang="en-US" sz="1800"/>
              <a:t>  </a:t>
            </a:r>
            <a:r>
              <a:rPr lang="en-US" altLang="en-US" sz="1800" err="1"/>
              <a:t>tmp.i</a:t>
            </a:r>
            <a:r>
              <a:rPr lang="en-US" altLang="en-US" sz="1800"/>
              <a:t> = 0x5f3759df - (</a:t>
            </a:r>
            <a:r>
              <a:rPr lang="en-US" altLang="en-US" sz="1800" err="1"/>
              <a:t>tmp.i</a:t>
            </a:r>
            <a:r>
              <a:rPr lang="en-US" altLang="en-US" sz="1800"/>
              <a:t> &gt;&gt; 1);</a:t>
            </a:r>
          </a:p>
          <a:p>
            <a:pPr eaLnBrk="1" hangingPunct="1"/>
            <a:r>
              <a:rPr lang="en-US" altLang="en-US" sz="1800"/>
              <a:t>  float y = </a:t>
            </a:r>
            <a:r>
              <a:rPr lang="en-US" altLang="en-US" sz="1800" err="1"/>
              <a:t>tmp.f</a:t>
            </a:r>
            <a:r>
              <a:rPr lang="en-US" altLang="en-US" sz="1800"/>
              <a:t>; // approximate</a:t>
            </a:r>
          </a:p>
          <a:p>
            <a:pPr eaLnBrk="1" hangingPunct="1"/>
            <a:r>
              <a:rPr lang="en-US" altLang="en-US" sz="1800"/>
              <a:t>  return y * (1.5f - 0.5f * x * y * y); // NR</a:t>
            </a:r>
          </a:p>
          <a:p>
            <a:pPr eaLnBrk="1" hangingPunct="1"/>
            <a:r>
              <a:rPr lang="en-US" altLang="en-US" sz="180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E26A6-BE0B-DF7E-E51E-058EF259F85F}"/>
              </a:ext>
            </a:extLst>
          </p:cNvPr>
          <p:cNvSpPr txBox="1"/>
          <p:nvPr/>
        </p:nvSpPr>
        <p:spPr>
          <a:xfrm>
            <a:off x="259450" y="5849512"/>
            <a:ext cx="544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https://en.wikipedia.org/wiki/Fast_inverse_square_root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CFECC8-000C-5FCD-2219-D383F2794BFB}"/>
              </a:ext>
            </a:extLst>
          </p:cNvPr>
          <p:cNvSpPr txBox="1"/>
          <p:nvPr/>
        </p:nvSpPr>
        <p:spPr>
          <a:xfrm>
            <a:off x="5098901" y="3651974"/>
            <a:ext cx="6823075" cy="1200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800"/>
              <a:t>Real x86_64 code for 1/√x</a:t>
            </a:r>
          </a:p>
          <a:p>
            <a:pPr eaLnBrk="1" hangingPunct="1">
              <a:defRPr/>
            </a:pPr>
            <a:r>
              <a:rPr lang="en-US" sz="1800"/>
              <a:t> _</a:t>
            </a:r>
            <a:r>
              <a:rPr lang="en-US" sz="1800" err="1"/>
              <a:t>mm_store_ss</a:t>
            </a:r>
            <a:r>
              <a:rPr lang="en-US" sz="1800"/>
              <a:t>( &amp;y</a:t>
            </a:r>
            <a:r>
              <a:rPr lang="en-US" sz="1800" b="1"/>
              <a:t>, _</a:t>
            </a:r>
            <a:r>
              <a:rPr lang="en-US" sz="1800" b="1" err="1"/>
              <a:t>mm_rsqrt_ss</a:t>
            </a:r>
            <a:r>
              <a:rPr lang="en-US" sz="1800"/>
              <a:t>( _</a:t>
            </a:r>
            <a:r>
              <a:rPr lang="en-US" sz="1800" err="1"/>
              <a:t>mm_load_ss</a:t>
            </a:r>
            <a:r>
              <a:rPr lang="en-US" sz="1800"/>
              <a:t>( &amp;x ) ) ); </a:t>
            </a:r>
          </a:p>
          <a:p>
            <a:pPr eaLnBrk="1" hangingPunct="1">
              <a:defRPr/>
            </a:pPr>
            <a:r>
              <a:rPr lang="en-US" sz="1800"/>
              <a:t>return y * (1.5f - 0.5f * x * y * y); // One round of Newton's method</a:t>
            </a:r>
          </a:p>
          <a:p>
            <a:pPr eaLnBrk="1" hangingPunct="1">
              <a:defRPr/>
            </a:pPr>
            <a:r>
              <a:rPr lang="en-US" sz="180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118DCB-422D-391F-653D-D4278409250C}"/>
              </a:ext>
            </a:extLst>
          </p:cNvPr>
          <p:cNvSpPr txBox="1"/>
          <p:nvPr/>
        </p:nvSpPr>
        <p:spPr>
          <a:xfrm>
            <a:off x="5699914" y="4888078"/>
            <a:ext cx="6043613" cy="9239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Real x86_64 code for 1/x</a:t>
            </a:r>
          </a:p>
          <a:p>
            <a:pPr eaLnBrk="1" hangingPunct="1"/>
            <a:r>
              <a:rPr lang="en-US" altLang="en-US" sz="1800"/>
              <a:t>_mm_store_ss( &amp;y,</a:t>
            </a:r>
            <a:r>
              <a:rPr lang="en-US" altLang="en-US" sz="1800" b="1"/>
              <a:t>_mm_rcp_ss</a:t>
            </a:r>
            <a:r>
              <a:rPr lang="en-US" altLang="en-US" sz="1800"/>
              <a:t>( _mm_load_ss( &amp;x ) ) );</a:t>
            </a:r>
          </a:p>
          <a:p>
            <a:pPr eaLnBrk="1" hangingPunct="1"/>
            <a:r>
              <a:rPr lang="en-US" altLang="en-US" sz="1800"/>
              <a:t> return (y+y) – x*y*y; // One round of Newton's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E3B31-B08C-9964-AD22-81E873C1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9274F-1970-BE8F-D8DA-ED4BE39D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D1F65-9041-7B96-D189-3FDF877B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33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343B-1389-DA64-EB0F-528286A51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Maker’s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B04A-95BD-FA41-2381-3A717B3D5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014" y="1253331"/>
            <a:ext cx="5198673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to guarantee a given precision one needs to evaluate the  error of the approximation “y = f(x)”</a:t>
            </a:r>
          </a:p>
          <a:p>
            <a:pPr lvl="1"/>
            <a:r>
              <a:rPr lang="en-US"/>
              <a:t>From first principle</a:t>
            </a:r>
          </a:p>
          <a:p>
            <a:pPr lvl="1"/>
            <a:r>
              <a:rPr lang="en-US"/>
              <a:t>Or on the fly as seen before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The function need to be computed with at least one more digit (the round digit)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In Round2Near: if the error interval includes the middle point an even more precise evaluation is required</a:t>
            </a:r>
          </a:p>
          <a:p>
            <a:pPr lvl="1"/>
            <a:r>
              <a:rPr lang="en-US"/>
              <a:t>the round digit may be followed by a sequel of 0’s or 1’s (or 9’s) and the TMD solution may be very expensive</a:t>
            </a:r>
          </a:p>
          <a:p>
            <a:pPr marL="971550" lvl="1" indent="-514350">
              <a:buFont typeface="+mj-lt"/>
              <a:buAutoNum type="arabicPeriod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868B6-1862-A422-6CB6-CBFCB24EC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3" y="1259725"/>
            <a:ext cx="6109133" cy="4649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31B177-A069-B74D-EBB7-E940CA98E9E5}"/>
              </a:ext>
            </a:extLst>
          </p:cNvPr>
          <p:cNvSpPr txBox="1"/>
          <p:nvPr/>
        </p:nvSpPr>
        <p:spPr>
          <a:xfrm>
            <a:off x="838200" y="5846544"/>
            <a:ext cx="8402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Examples :</a:t>
            </a:r>
          </a:p>
          <a:p>
            <a:r>
              <a:rPr lang="en-US"/>
              <a:t>sin(0.40225342) = 0x1.</a:t>
            </a:r>
            <a:r>
              <a:rPr lang="en-US">
                <a:solidFill>
                  <a:srgbClr val="FF0000"/>
                </a:solidFill>
              </a:rPr>
              <a:t>90e382</a:t>
            </a:r>
            <a:r>
              <a:rPr lang="en-US"/>
              <a:t>fffff7bp-2         sin(0.47485355) = 0x1.</a:t>
            </a:r>
            <a:r>
              <a:rPr lang="en-US">
                <a:solidFill>
                  <a:srgbClr val="FF0000"/>
                </a:solidFill>
              </a:rPr>
              <a:t>d42e63</a:t>
            </a:r>
            <a:r>
              <a:rPr lang="en-US"/>
              <a:t>000000bp-2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809202-E646-4060-ABDB-18815D74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3F79CD-2B51-DC90-393D-0553C0F5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09359D-440C-3F4B-E48C-73985AE4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81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E45D-8A1B-77C4-8416-9CFA674E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D803B3-A662-93AE-BFEA-520D2B54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42" y="2092798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7D02F-13B0-63C1-7316-0EDEA28A3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Either in Python or C++</a:t>
            </a:r>
          </a:p>
          <a:p>
            <a:endParaRPr lang="en-US"/>
          </a:p>
          <a:p>
            <a:r>
              <a:rPr lang="en-US"/>
              <a:t>For C++ one can use </a:t>
            </a:r>
            <a:r>
              <a:rPr lang="en-US" err="1"/>
              <a:t>godbolt</a:t>
            </a:r>
            <a:r>
              <a:rPr lang="en-US"/>
              <a:t> (</a:t>
            </a:r>
            <a:r>
              <a:rPr lang="en-US">
                <a:hlinkClick r:id="rId2"/>
              </a:rPr>
              <a:t>https://godbolt.org/z/d1e18j3jK</a:t>
            </a:r>
            <a:r>
              <a:rPr lang="en-US"/>
              <a:t>  ) </a:t>
            </a:r>
          </a:p>
          <a:p>
            <a:r>
              <a:rPr lang="en-US"/>
              <a:t>For Python either a python3 shell on your PC, or a </a:t>
            </a:r>
            <a:r>
              <a:rPr lang="en-US" err="1"/>
              <a:t>jupyter</a:t>
            </a:r>
            <a:r>
              <a:rPr lang="en-US"/>
              <a:t> notebook or the browser shell in </a:t>
            </a:r>
            <a:r>
              <a:rPr lang="en-US">
                <a:hlinkClick r:id="rId3"/>
              </a:rPr>
              <a:t>https://numpy.org/</a:t>
            </a:r>
            <a:endParaRPr lang="en-US"/>
          </a:p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E436A6E-4BF4-AE61-7CAC-6EE44526F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41" y="99724"/>
            <a:ext cx="3433957" cy="299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7954C-623A-8348-34B2-A429017D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E66D3-EE9C-F226-5B12-B2C719CF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64B3D-8902-DBC4-57BB-A3DBA997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99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3A2906-2B42-271A-75CE-31C74386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Polynomials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91255-06FB-D5FE-F5F4-3295E62E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86" y="1825625"/>
            <a:ext cx="10921314" cy="4389824"/>
          </a:xfrm>
        </p:spPr>
        <p:txBody>
          <a:bodyPr/>
          <a:lstStyle/>
          <a:p>
            <a:r>
              <a:rPr lang="en-US"/>
              <a:t>Approximate sin(x) in [0, π/4) with polynomials of increasing order</a:t>
            </a:r>
          </a:p>
          <a:p>
            <a:pPr lvl="1"/>
            <a:r>
              <a:rPr lang="en-US"/>
              <a:t>Taylor</a:t>
            </a:r>
          </a:p>
          <a:p>
            <a:pPr lvl="1"/>
            <a:r>
              <a:rPr lang="en-US"/>
              <a:t>Chebyshev</a:t>
            </a:r>
          </a:p>
          <a:p>
            <a:pPr lvl="1"/>
            <a:r>
              <a:rPr lang="en-US"/>
              <a:t>Pade</a:t>
            </a:r>
          </a:p>
          <a:p>
            <a:r>
              <a:rPr lang="en-US"/>
              <a:t>Plot the absolute and relative error w/r/t a high precision result</a:t>
            </a:r>
          </a:p>
          <a:p>
            <a:endParaRPr lang="en-US"/>
          </a:p>
          <a:p>
            <a:r>
              <a:rPr lang="en-US"/>
              <a:t>Use python </a:t>
            </a:r>
            <a:r>
              <a:rPr lang="en-US" err="1"/>
              <a:t>mpmath</a:t>
            </a:r>
            <a:r>
              <a:rPr lang="en-US"/>
              <a:t> module </a:t>
            </a:r>
            <a:r>
              <a:rPr lang="en-US">
                <a:hlinkClick r:id="rId2"/>
              </a:rPr>
              <a:t>https://mpmath.readthedocs.io/en/latest/calculus/approximation.html</a:t>
            </a:r>
            <a:r>
              <a:rPr lang="en-US"/>
              <a:t>  </a:t>
            </a:r>
          </a:p>
          <a:p>
            <a:r>
              <a:rPr lang="en-US"/>
              <a:t>or sage, or </a:t>
            </a:r>
            <a:r>
              <a:rPr lang="en-US" err="1"/>
              <a:t>mathematica</a:t>
            </a:r>
            <a:r>
              <a:rPr lang="en-US"/>
              <a:t>…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60382-30A2-E8F0-E707-3EB2C7DB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D1F21-D9F8-D515-8FF5-926CDC08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27234-32D0-707E-0BCE-8414101B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63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6CAE-1C6F-71E7-5459-91BEC2C4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50B62-55DA-5A04-7FA2-868807EEB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Test  </a:t>
            </a:r>
            <a:r>
              <a:rPr lang="en-US" err="1"/>
              <a:t>rsqrt</a:t>
            </a:r>
            <a:r>
              <a:rPr lang="en-US"/>
              <a:t> precision in the interval [0.5, 4) </a:t>
            </a:r>
          </a:p>
          <a:p>
            <a:pPr lvl="1"/>
            <a:r>
              <a:rPr lang="en-US"/>
              <a:t>use “quake magic” and/or x86_64 intrinsics plus multiple NR iterations</a:t>
            </a:r>
          </a:p>
          <a:p>
            <a:pPr lvl="1"/>
            <a:r>
              <a:rPr lang="en-US"/>
              <a:t>Try to reach faithful (or even correct) rounding.</a:t>
            </a:r>
          </a:p>
          <a:p>
            <a:endParaRPr lang="en-US"/>
          </a:p>
          <a:p>
            <a:r>
              <a:rPr lang="en-US"/>
              <a:t>Compute sin(0x1.e64002p-2) using Taylor expansion:</a:t>
            </a:r>
          </a:p>
          <a:p>
            <a:pPr lvl="1"/>
            <a:r>
              <a:rPr lang="en-US"/>
              <a:t>How many terms are needed to reach faithful rounding in single precision?</a:t>
            </a:r>
          </a:p>
          <a:p>
            <a:pPr lvl="1"/>
            <a:r>
              <a:rPr lang="en-US"/>
              <a:t>How many more terms to reach correct rounding (in single precision)?</a:t>
            </a:r>
          </a:p>
          <a:p>
            <a:pPr lvl="1"/>
            <a:r>
              <a:rPr lang="en-US"/>
              <a:t>Use double precision to compute, then round to single  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5952E-1E96-58E9-65A6-FFB71C50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F5821-2FC7-6D38-E751-A1743B82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6A333-F130-CC9F-C58F-C4BEE4C9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6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4263-5C9C-37A3-2658-4E5AD860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94" y="232922"/>
            <a:ext cx="10515600" cy="1325563"/>
          </a:xfrm>
        </p:spPr>
        <p:txBody>
          <a:bodyPr/>
          <a:lstStyle/>
          <a:p>
            <a:r>
              <a:rPr lang="en-US"/>
              <a:t>TMD in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530F-11DB-A49D-AC71-4F92AF696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49" y="4660135"/>
            <a:ext cx="11425832" cy="1784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Use cos(x) approximation in decimal (</a:t>
            </a:r>
            <a:r>
              <a:rPr lang="en-US" err="1"/>
              <a:t>taylor</a:t>
            </a:r>
            <a:r>
              <a:rPr lang="en-US"/>
              <a:t>)</a:t>
            </a:r>
            <a:br>
              <a:rPr lang="en-US"/>
            </a:br>
            <a:r>
              <a:rPr lang="en-US"/>
              <a:t>see </a:t>
            </a:r>
            <a:r>
              <a:rPr lang="en-US">
                <a:hlinkClick r:id="rId2"/>
              </a:rPr>
              <a:t>https://docs.python.org/3/library/decimal.html - recipes</a:t>
            </a:r>
            <a:endParaRPr lang="en-US"/>
          </a:p>
          <a:p>
            <a:pPr marL="0" indent="0">
              <a:buNone/>
            </a:pPr>
            <a:r>
              <a:rPr lang="en-US"/>
              <a:t>to “solve” TMD above  (mind: direct rounding!)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AFE6B-031D-E082-91CB-04D189843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49" y="1230151"/>
            <a:ext cx="7772400" cy="31600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63EB2-6FBB-01AD-EED6-855D4FF0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1534A-880E-9B44-4C1C-0F0CC3FD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9A6E6-CD29-7317-D66F-531C940D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677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Precision, </a:t>
            </a:r>
            <a:r>
              <a:rPr lang="en-US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Accuracy,</a:t>
            </a:r>
            <a:r>
              <a:rPr lang="en-US">
                <a:ea typeface="ＭＳ Ｐゴシック" charset="0"/>
                <a:cs typeface="ＭＳ Ｐゴシック" charset="0"/>
              </a:rPr>
              <a:t> </a:t>
            </a:r>
            <a:r>
              <a:rPr lang="en-US">
                <a:solidFill>
                  <a:srgbClr val="00B050"/>
                </a:solidFill>
                <a:ea typeface="ＭＳ Ｐゴシック" charset="0"/>
                <a:cs typeface="ＭＳ Ｐゴシック" charset="0"/>
              </a:rPr>
              <a:t>Speed</a:t>
            </a:r>
          </a:p>
        </p:txBody>
      </p:sp>
      <p:sp>
        <p:nvSpPr>
          <p:cNvPr id="4096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40963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74AEA11-21EC-8340-B6C0-1AF2C04111D7}" type="slidenum">
              <a:rPr lang="it-IT" altLang="x-none" sz="1200">
                <a:latin typeface="Garamond" charset="0"/>
              </a:rPr>
              <a:pPr eaLnBrk="1" hangingPunct="1"/>
              <a:t>44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621C5-E9B6-B128-7E8C-1106B677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26" y="222841"/>
            <a:ext cx="3595133" cy="270866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Definitions </a:t>
            </a:r>
          </a:p>
        </p:txBody>
      </p:sp>
      <p:sp>
        <p:nvSpPr>
          <p:cNvPr id="41986" name="Content Placeholder 7"/>
          <p:cNvSpPr>
            <a:spLocks noGrp="1"/>
          </p:cNvSpPr>
          <p:nvPr>
            <p:ph idx="1"/>
          </p:nvPr>
        </p:nvSpPr>
        <p:spPr>
          <a:xfrm>
            <a:off x="575304" y="1371015"/>
            <a:ext cx="10515600" cy="4895850"/>
          </a:xfrm>
        </p:spPr>
        <p:txBody>
          <a:bodyPr/>
          <a:lstStyle/>
          <a:p>
            <a:r>
              <a:rPr lang="en-US" altLang="x-none"/>
              <a:t>Precision</a:t>
            </a:r>
          </a:p>
          <a:p>
            <a:pPr lvl="1"/>
            <a:r>
              <a:rPr lang="en-US" altLang="x-none"/>
              <a:t>Numerical precision (in bits)</a:t>
            </a:r>
          </a:p>
          <a:p>
            <a:pPr lvl="2"/>
            <a:r>
              <a:rPr lang="en-US" altLang="x-none"/>
              <a:t>For an instrument (ruler!) typically “half a tick” </a:t>
            </a:r>
          </a:p>
          <a:p>
            <a:pPr lvl="2"/>
            <a:r>
              <a:rPr lang="en-US" altLang="x-none"/>
              <a:t>Comes from specs</a:t>
            </a:r>
          </a:p>
          <a:p>
            <a:r>
              <a:rPr lang="en-US" altLang="x-none"/>
              <a:t>Accuracy</a:t>
            </a:r>
          </a:p>
          <a:p>
            <a:pPr lvl="1"/>
            <a:r>
              <a:rPr lang="en-US" altLang="x-none"/>
              <a:t>The error w/r/t the truth</a:t>
            </a:r>
          </a:p>
          <a:p>
            <a:pPr lvl="1"/>
            <a:r>
              <a:rPr lang="en-US" altLang="x-none"/>
              <a:t>Can be evaluated comparing with a “refence” or a different algorithm</a:t>
            </a:r>
          </a:p>
          <a:p>
            <a:pPr lvl="2"/>
            <a:r>
              <a:rPr lang="en-US" altLang="x-none"/>
              <a:t>In science “comparing different experiments”</a:t>
            </a:r>
          </a:p>
          <a:p>
            <a:r>
              <a:rPr lang="en-US" altLang="x-none"/>
              <a:t>Target Accuracy</a:t>
            </a:r>
          </a:p>
          <a:p>
            <a:pPr lvl="1"/>
            <a:r>
              <a:rPr lang="en-US" altLang="x-none"/>
              <a:t>The acceptable tolerance w/r/t the above</a:t>
            </a:r>
          </a:p>
          <a:p>
            <a:pPr lvl="1"/>
            <a:r>
              <a:rPr lang="en-US" altLang="x-none"/>
              <a:t>Evaluated, for instance, w/r/t  know error on the truth </a:t>
            </a:r>
          </a:p>
        </p:txBody>
      </p:sp>
      <p:sp>
        <p:nvSpPr>
          <p:cNvPr id="4198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F44EA-EC42-6D42-8111-94D13066666A}" type="slidenum">
              <a:rPr lang="it-IT" altLang="x-none" sz="1200">
                <a:latin typeface="Garamond" charset="0"/>
              </a:rPr>
              <a:pPr eaLnBrk="1" hangingPunct="1"/>
              <a:t>45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D03EE8-298C-72E4-E36F-510A2727F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64"/>
          <a:stretch>
            <a:fillRect/>
          </a:stretch>
        </p:blipFill>
        <p:spPr>
          <a:xfrm>
            <a:off x="7783033" y="0"/>
            <a:ext cx="4205767" cy="381445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>
          <a:xfrm>
            <a:off x="838200" y="179882"/>
            <a:ext cx="10515600" cy="905216"/>
          </a:xfrm>
        </p:spPr>
        <p:txBody>
          <a:bodyPr>
            <a:normAutofit fontScale="90000"/>
          </a:bodyPr>
          <a:lstStyle/>
          <a:p>
            <a:r>
              <a:rPr lang="en-US" altLang="x-none"/>
              <a:t>Cost of operations (in </a:t>
            </a:r>
            <a:r>
              <a:rPr lang="en-US" altLang="x-none" err="1"/>
              <a:t>cpu</a:t>
            </a:r>
            <a:r>
              <a:rPr lang="en-US" altLang="x-none"/>
              <a:t> cycles on x86_64)</a:t>
            </a:r>
            <a:br>
              <a:rPr lang="en-US" altLang="x-none"/>
            </a:br>
            <a:r>
              <a:rPr lang="en-US" altLang="x-none" sz="3100">
                <a:hlinkClick r:id="rId2"/>
              </a:rPr>
              <a:t>https://www.agner.org/optimize/instruction_tables.pdf</a:t>
            </a:r>
            <a:r>
              <a:rPr lang="en-US" altLang="x-none" sz="3100"/>
              <a:t>  (</a:t>
            </a:r>
            <a:r>
              <a:rPr lang="en-US" altLang="x-none" sz="3100" err="1"/>
              <a:t>icelake</a:t>
            </a:r>
            <a:r>
              <a:rPr lang="en-US" altLang="x-none" sz="3100"/>
              <a:t> &amp; zen5)</a:t>
            </a:r>
            <a:endParaRPr lang="en-US" altLang="x-none"/>
          </a:p>
        </p:txBody>
      </p:sp>
      <p:sp>
        <p:nvSpPr>
          <p:cNvPr id="460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60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1B67AE8-072D-9244-AE10-F2F9233C5E3B}" type="slidenum">
              <a:rPr lang="it-IT" altLang="x-none" sz="1200">
                <a:latin typeface="Garamond" charset="0"/>
              </a:rPr>
              <a:pPr eaLnBrk="1" hangingPunct="1"/>
              <a:t>46</a:t>
            </a:fld>
            <a:endParaRPr lang="it-IT" altLang="x-none" sz="1200">
              <a:latin typeface="Garamond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25509"/>
              </p:ext>
            </p:extLst>
          </p:nvPr>
        </p:nvGraphicFramePr>
        <p:xfrm>
          <a:off x="192040" y="1258208"/>
          <a:ext cx="8755475" cy="5045556"/>
        </p:xfrm>
        <a:graphic>
          <a:graphicData uri="http://schemas.openxmlformats.org/drawingml/2006/table">
            <a:tbl>
              <a:tblPr/>
              <a:tblGrid>
                <a:gridCol w="203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869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latency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inv throughput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15224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instruction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 </a:t>
                      </a: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+,-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ADD,SUB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          </a:t>
                      </a: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42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==, &lt;, &gt;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COMISS CMP..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2,3             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2,3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389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f=d,  d=f ,</a:t>
                      </a:r>
                      <a:r>
                        <a:rPr kumimoji="0" lang="en-US" altLang="x-none" sz="18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=f, f=</a:t>
                      </a:r>
                      <a:r>
                        <a:rPr kumimoji="0" lang="en-US" altLang="x-none" sz="18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</a:t>
                      </a: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CVT..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3-7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3-7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|,&amp;,^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AND, OR 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1-2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1-2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0.25-0.5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0.25-0.5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*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MUL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              </a:t>
                      </a: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a*</a:t>
                      </a:r>
                      <a:r>
                        <a:rPr kumimoji="0" lang="en-US" altLang="x-none" sz="18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b+c</a:t>
                      </a: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FMA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232465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/,sqrt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DIV, SQRT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11-20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13-29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3-12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4-24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48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1.f/ ,  1.f/sqrt       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RCP, RSQRT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4-5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MOV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1,3,…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1,3,…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0.25,1,….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0.25,1,…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6157" name="TextBox 1"/>
          <p:cNvSpPr txBox="1">
            <a:spLocks noChangeArrowheads="1"/>
          </p:cNvSpPr>
          <p:nvPr/>
        </p:nvSpPr>
        <p:spPr bwMode="auto">
          <a:xfrm>
            <a:off x="8719922" y="5891212"/>
            <a:ext cx="17637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 </a:t>
            </a:r>
            <a:r>
              <a:rPr lang="en-US" altLang="x-none" sz="1800" b="1">
                <a:solidFill>
                  <a:srgbClr val="FF0000"/>
                </a:solidFill>
                <a:latin typeface="Wingdings" charset="2"/>
                <a:sym typeface="Wingdings" charset="2"/>
              </a:rPr>
              <a:t></a:t>
            </a:r>
            <a:r>
              <a:rPr lang="en-US" altLang="x-none" sz="1800" b="1">
                <a:solidFill>
                  <a:srgbClr val="FF0000"/>
                </a:solidFill>
              </a:rPr>
              <a:t>350 from main memory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5B03D6-E391-FBB4-E70E-AF7A8A4F1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778" y="4857420"/>
            <a:ext cx="23380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(does not vectorize on intel?)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5D9CBA9-35AA-C16A-CDEF-B6A2DEBE0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284" y="2598327"/>
            <a:ext cx="318977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 + jump “overhead”</a:t>
            </a:r>
          </a:p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(</a:t>
            </a:r>
            <a:r>
              <a:rPr lang="en-US" altLang="x-none" sz="1800" b="1" err="1">
                <a:solidFill>
                  <a:srgbClr val="FF0000"/>
                </a:solidFill>
              </a:rPr>
              <a:t>mispredicted</a:t>
            </a:r>
            <a:r>
              <a:rPr lang="en-US" altLang="x-none" sz="1800" b="1">
                <a:solidFill>
                  <a:srgbClr val="FF0000"/>
                </a:solidFill>
              </a:rPr>
              <a:t> branches)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6187C-4DD4-0719-7972-2137FE1C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2850F5-594B-8748-CE9C-FC5DF5CB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84" y="0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GPU landscape: </a:t>
            </a:r>
            <a:br>
              <a:rPr lang="en-US"/>
            </a:br>
            <a:r>
              <a:rPr lang="en-US" sz="3200"/>
              <a:t>FP64 is 32 times slower than FP32 on affordable GPU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75642-A9D0-4DCC-1ADE-EDA829FF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CF686-8583-78AF-0F93-93FD555E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5C367-B602-5C3B-1A9C-CA7F103E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286E-1D7B-9F4C-8CE1-3E0553D8E6DD}" type="slidenum">
              <a:rPr lang="en-US" smtClean="0"/>
              <a:t>47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F9CC64-8128-DDF2-F9E8-2282F49F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17139"/>
            <a:ext cx="4726608" cy="2260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DAD41-0AFE-E8C6-419B-3EFB9E7C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021" y="3626768"/>
            <a:ext cx="4726608" cy="2212994"/>
          </a:xfrm>
          <a:prstGeom prst="rect">
            <a:avLst/>
          </a:prstGeom>
        </p:spPr>
      </p:pic>
      <p:pic>
        <p:nvPicPr>
          <p:cNvPr id="13" name="Picture 2" descr="https://lh6.googleusercontent.com/YJBkvJUIWySmGjHqnByeJ0tkCmpcCiwGijQ2ZL-x40ALSEsRiiDybq4f5voYZQHoj8yjhkmVOY70YxS8fqiXXWFhzM7mSmUXJ0R774HXkNjMRadGfficqKxf0wvo4WCN6Wxigr6MOjk">
            <a:extLst>
              <a:ext uri="{FF2B5EF4-FFF2-40B4-BE49-F238E27FC236}">
                <a16:creationId xmlns:a16="http://schemas.microsoft.com/office/drawing/2014/main" id="{71A9DFB9-FEE5-56A0-8879-6B42A0DA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4296299"/>
            <a:ext cx="4046793" cy="102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1FAD85-DDF9-BE60-B3DB-C2CD8AE36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284" y="1260528"/>
            <a:ext cx="4678716" cy="21684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DE889A-F38D-5549-E26E-9AECD2678D4A}"/>
              </a:ext>
            </a:extLst>
          </p:cNvPr>
          <p:cNvSpPr txBox="1"/>
          <p:nvPr/>
        </p:nvSpPr>
        <p:spPr>
          <a:xfrm>
            <a:off x="2468137" y="5544058"/>
            <a:ext cx="328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min rank for tensor is 16 (not 4)! </a:t>
            </a:r>
          </a:p>
        </p:txBody>
      </p:sp>
    </p:spTree>
    <p:extLst>
      <p:ext uri="{BB962C8B-B14F-4D97-AF65-F5344CB8AC3E}">
        <p14:creationId xmlns:p14="http://schemas.microsoft.com/office/powerpoint/2010/main" val="2479796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9FCB-7BE9-A74E-8463-2464285F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0212"/>
            <a:ext cx="10515600" cy="1516922"/>
          </a:xfrm>
        </p:spPr>
        <p:txBody>
          <a:bodyPr>
            <a:normAutofit fontScale="90000"/>
          </a:bodyPr>
          <a:lstStyle/>
          <a:p>
            <a:r>
              <a:rPr lang="en-US"/>
              <a:t>GPU (T4) performance</a:t>
            </a:r>
            <a:br>
              <a:rPr lang="en-US"/>
            </a:br>
            <a:r>
              <a:rPr lang="en-US" sz="2700"/>
              <a:t>Brute-force inversion of 5x5 Pos-Def Matrix using Cholesky decomposition</a:t>
            </a:r>
            <a:br>
              <a:rPr lang="en-US" sz="2700"/>
            </a:br>
            <a:r>
              <a:rPr lang="en-US" sz="2200"/>
              <a:t>33 + , 29 - , 126 * , 5 / , no sqrt    (compiler optimization and </a:t>
            </a:r>
            <a:r>
              <a:rPr lang="en-US" sz="2200" err="1"/>
              <a:t>fma</a:t>
            </a:r>
            <a:r>
              <a:rPr lang="en-US" sz="2200"/>
              <a:t> will contract some)</a:t>
            </a:r>
            <a:br>
              <a:rPr lang="en-US"/>
            </a:br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474E113-7DC7-3421-A4F6-8A1704AB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92" y="1690688"/>
            <a:ext cx="105029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4B4080-0FA9-4368-3238-F4ABA1F7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498E0-E201-0DF9-2AB9-488DFDF7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793D-3F0A-5BCF-18EF-6B2D23AF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980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339341-6EAE-6208-2287-C0D9FD1A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float vs double: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943C6-1CAB-5CA7-900D-FC3BCCCA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383"/>
            <a:ext cx="10896600" cy="4660236"/>
          </a:xfrm>
        </p:spPr>
        <p:txBody>
          <a:bodyPr>
            <a:normAutofit lnSpcReduction="10000"/>
          </a:bodyPr>
          <a:lstStyle/>
          <a:p>
            <a:r>
              <a:rPr lang="en-US"/>
              <a:t>In the old days: X87</a:t>
            </a:r>
          </a:p>
          <a:p>
            <a:pPr lvl="1"/>
            <a:r>
              <a:rPr lang="en-US"/>
              <a:t>Double faster than float!</a:t>
            </a:r>
          </a:p>
          <a:p>
            <a:r>
              <a:rPr lang="en-US"/>
              <a:t>X86_64 (and ARM, PPC, RISC)</a:t>
            </a:r>
          </a:p>
          <a:p>
            <a:pPr lvl="1"/>
            <a:r>
              <a:rPr lang="en-US"/>
              <a:t>Scalar: float and double same speed (but div, sqrt, memory bandwidth)</a:t>
            </a:r>
          </a:p>
          <a:p>
            <a:pPr lvl="1"/>
            <a:r>
              <a:rPr lang="en-US"/>
              <a:t>Vector: float twice faster than double</a:t>
            </a:r>
          </a:p>
          <a:p>
            <a:r>
              <a:rPr lang="en-US"/>
              <a:t>GPU: gaming and “Data Center”</a:t>
            </a:r>
          </a:p>
          <a:p>
            <a:pPr lvl="1"/>
            <a:r>
              <a:rPr lang="en-US"/>
              <a:t>Float 64 times faster than double</a:t>
            </a:r>
          </a:p>
          <a:p>
            <a:r>
              <a:rPr lang="en-US"/>
              <a:t>GPU: HPC</a:t>
            </a:r>
          </a:p>
          <a:p>
            <a:pPr lvl="1"/>
            <a:r>
              <a:rPr lang="en-US"/>
              <a:t>Float twice faster than double</a:t>
            </a:r>
          </a:p>
          <a:p>
            <a:r>
              <a:rPr lang="en-US"/>
              <a:t>GPU: AI</a:t>
            </a:r>
          </a:p>
          <a:p>
            <a:pPr lvl="1"/>
            <a:r>
              <a:rPr lang="en-US"/>
              <a:t>Optimized for low-precision tensor operations (GEMM can profit )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127137-E97C-2530-FC5C-9BB430B7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DDAD-7430-CB68-041E-2EC480A8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56BA-9E08-0715-2DA5-2A579E46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446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419E-2B4A-C2A3-FB0B-CE3CD272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Elementary functions 1/throughput (in cycles)</a:t>
            </a:r>
            <a:br>
              <a:rPr lang="en-US"/>
            </a:br>
            <a:r>
              <a:rPr lang="en-US" sz="2400"/>
              <a:t>(origin </a:t>
            </a:r>
            <a:r>
              <a:rPr lang="en-US" sz="2400">
                <a:hlinkClick r:id="rId2"/>
              </a:rPr>
              <a:t>https://core-math.gitlabpages.inria.fr/</a:t>
            </a:r>
            <a:r>
              <a:rPr lang="en-US" sz="2400"/>
              <a:t>)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10067-2EAB-C7EA-310D-EBA60F466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549" y="1761634"/>
            <a:ext cx="7772400" cy="2279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049743-76F6-153F-AE8C-21E6D7F0A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49" y="4284121"/>
            <a:ext cx="7772400" cy="20869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8B058-E76F-90B4-3BD8-71781F5C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F90FE-C3E2-A427-B2CC-CCD66D33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799A3-9E4E-55E5-70DA-4B194C3F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460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Precision vs Speed for elementary functions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1981200" y="1484314"/>
            <a:ext cx="8229600" cy="2232025"/>
          </a:xfrm>
        </p:spPr>
        <p:txBody>
          <a:bodyPr/>
          <a:lstStyle/>
          <a:p>
            <a:r>
              <a:rPr lang="en-US" altLang="x-none"/>
              <a:t>Log</a:t>
            </a:r>
          </a:p>
          <a:p>
            <a:pPr lvl="1"/>
            <a:r>
              <a:rPr lang="en-US" altLang="x-none"/>
              <a:t>24 bit precision needs 8</a:t>
            </a:r>
            <a:r>
              <a:rPr lang="en-US" altLang="x-none" baseline="30000"/>
              <a:t>th</a:t>
            </a:r>
            <a:r>
              <a:rPr lang="en-US" altLang="x-none"/>
              <a:t> degree polynomial</a:t>
            </a:r>
          </a:p>
          <a:p>
            <a:pPr lvl="1"/>
            <a:r>
              <a:rPr lang="en-US" altLang="x-none"/>
              <a:t>16 bit precision needs 5</a:t>
            </a:r>
            <a:r>
              <a:rPr lang="en-US" altLang="x-none" baseline="30000"/>
              <a:t>th</a:t>
            </a:r>
            <a:r>
              <a:rPr lang="en-US" altLang="x-none"/>
              <a:t> degree polynomial</a:t>
            </a:r>
          </a:p>
          <a:p>
            <a:pPr lvl="1"/>
            <a:r>
              <a:rPr lang="en-US" altLang="x-none"/>
              <a:t>  7 bit precision needs 2</a:t>
            </a:r>
            <a:r>
              <a:rPr lang="en-US" altLang="x-none" baseline="30000"/>
              <a:t>th</a:t>
            </a:r>
            <a:r>
              <a:rPr lang="en-US" altLang="x-none"/>
              <a:t> degree polynomial</a:t>
            </a:r>
          </a:p>
        </p:txBody>
      </p:sp>
      <p:sp>
        <p:nvSpPr>
          <p:cNvPr id="4915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91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5AD297D-B083-7041-8A74-D2C04E204E53}" type="slidenum">
              <a:rPr lang="it-IT" altLang="x-none" sz="1200">
                <a:latin typeface="Garamond" charset="0"/>
              </a:rPr>
              <a:pPr eaLnBrk="1" hangingPunct="1"/>
              <a:t>51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4915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93" y="3209082"/>
            <a:ext cx="9144001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Example: multiple scattering formula</a:t>
            </a:r>
          </a:p>
        </p:txBody>
      </p:sp>
      <p:sp>
        <p:nvSpPr>
          <p:cNvPr id="501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</a:p>
        </p:txBody>
      </p:sp>
      <p:sp>
        <p:nvSpPr>
          <p:cNvPr id="501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</a:p>
        </p:txBody>
      </p:sp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A5B59D6-910D-034D-8D83-A57C63F78C9A}" type="slidenum">
              <a:rPr lang="en-US" altLang="x-none" sz="1200">
                <a:latin typeface="Garamond" charset="0"/>
              </a:rPr>
              <a:pPr eaLnBrk="1" hangingPunct="1"/>
              <a:t>52</a:t>
            </a:fld>
            <a:endParaRPr lang="en-US" altLang="x-none" sz="1200">
              <a:latin typeface="Garamond" charset="0"/>
            </a:endParaRPr>
          </a:p>
        </p:txBody>
      </p:sp>
      <p:sp>
        <p:nvSpPr>
          <p:cNvPr id="50181" name="TextBox 5"/>
          <p:cNvSpPr txBox="1">
            <a:spLocks noChangeArrowheads="1"/>
          </p:cNvSpPr>
          <p:nvPr/>
        </p:nvSpPr>
        <p:spPr bwMode="auto">
          <a:xfrm>
            <a:off x="1797050" y="1304926"/>
            <a:ext cx="6280150" cy="2308225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double </a:t>
            </a:r>
            <a:r>
              <a:rPr lang="en-US" altLang="x-none" sz="1800" err="1"/>
              <a:t>ms</a:t>
            </a:r>
            <a:r>
              <a:rPr lang="en-US" altLang="x-none" sz="1800"/>
              <a:t>(double </a:t>
            </a:r>
            <a:r>
              <a:rPr lang="en-US" altLang="x-none" sz="1800" err="1"/>
              <a:t>radLen</a:t>
            </a:r>
            <a:r>
              <a:rPr lang="en-US" altLang="x-none" sz="1800"/>
              <a:t>, double m2, double p2) { </a:t>
            </a:r>
          </a:p>
          <a:p>
            <a:pPr eaLnBrk="1" hangingPunct="1"/>
            <a:r>
              <a:rPr lang="en-US" altLang="x-none" sz="1800"/>
              <a:t>  </a:t>
            </a:r>
            <a:r>
              <a:rPr lang="en-US" altLang="x-none" sz="1800" err="1"/>
              <a:t>constexpr</a:t>
            </a:r>
            <a:r>
              <a:rPr lang="en-US" altLang="x-none" sz="1800"/>
              <a:t> double </a:t>
            </a:r>
            <a:r>
              <a:rPr lang="en-US" altLang="x-none" sz="1800" err="1"/>
              <a:t>amscon</a:t>
            </a:r>
            <a:r>
              <a:rPr lang="en-US" altLang="x-none" sz="1800"/>
              <a:t> = 1.8496e-4;    // (13.6MeV)**2</a:t>
            </a:r>
          </a:p>
          <a:p>
            <a:pPr eaLnBrk="1" hangingPunct="1"/>
            <a:r>
              <a:rPr lang="en-US" altLang="x-none" sz="1800"/>
              <a:t>  double e2     = p2 + m2;</a:t>
            </a:r>
          </a:p>
          <a:p>
            <a:pPr eaLnBrk="1" hangingPunct="1"/>
            <a:r>
              <a:rPr lang="en-US" altLang="x-none" sz="1800"/>
              <a:t>  double beta2  = p2/e2;</a:t>
            </a:r>
          </a:p>
          <a:p>
            <a:pPr eaLnBrk="1" hangingPunct="1"/>
            <a:r>
              <a:rPr lang="en-US" altLang="x-none" sz="1800"/>
              <a:t>  double fact = 1 + 0.038*log(</a:t>
            </a:r>
            <a:r>
              <a:rPr lang="en-US" altLang="x-none" sz="1800" b="1" err="1">
                <a:solidFill>
                  <a:srgbClr val="FF0000"/>
                </a:solidFill>
              </a:rPr>
              <a:t>radLen</a:t>
            </a:r>
            <a:r>
              <a:rPr lang="en-US" altLang="x-none" sz="1800"/>
              <a:t>);  fact *=fact;</a:t>
            </a:r>
          </a:p>
          <a:p>
            <a:pPr eaLnBrk="1" hangingPunct="1"/>
            <a:r>
              <a:rPr lang="en-US" altLang="x-none" sz="1800"/>
              <a:t>  double a = fact/(beta2*p2);</a:t>
            </a:r>
          </a:p>
          <a:p>
            <a:pPr eaLnBrk="1" hangingPunct="1"/>
            <a:r>
              <a:rPr lang="en-US" altLang="x-none" sz="1800"/>
              <a:t>  return </a:t>
            </a:r>
            <a:r>
              <a:rPr lang="en-US" altLang="x-none" sz="1800" err="1"/>
              <a:t>amscon</a:t>
            </a:r>
            <a:r>
              <a:rPr lang="en-US" altLang="x-none" sz="1800"/>
              <a:t>*</a:t>
            </a:r>
            <a:r>
              <a:rPr lang="en-US" altLang="x-none" sz="1800" err="1"/>
              <a:t>radLen</a:t>
            </a:r>
            <a:r>
              <a:rPr lang="en-US" altLang="x-none" sz="1800"/>
              <a:t>*a;</a:t>
            </a:r>
          </a:p>
          <a:p>
            <a:pPr eaLnBrk="1" hangingPunct="1"/>
            <a:r>
              <a:rPr lang="en-US" altLang="x-none" sz="1800"/>
              <a:t>}</a:t>
            </a:r>
          </a:p>
        </p:txBody>
      </p:sp>
      <p:cxnSp>
        <p:nvCxnSpPr>
          <p:cNvPr id="10" name="Straight Arrow Connector 9"/>
          <p:cNvCxnSpPr>
            <a:cxnSpLocks noChangeShapeType="1"/>
            <a:stCxn id="50185" idx="1"/>
          </p:cNvCxnSpPr>
          <p:nvPr/>
        </p:nvCxnSpPr>
        <p:spPr bwMode="auto">
          <a:xfrm flipH="1" flipV="1">
            <a:off x="5303839" y="2636839"/>
            <a:ext cx="3024187" cy="390227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11"/>
          <p:cNvCxnSpPr>
            <a:cxnSpLocks noChangeShapeType="1"/>
            <a:stCxn id="50184" idx="1"/>
          </p:cNvCxnSpPr>
          <p:nvPr/>
        </p:nvCxnSpPr>
        <p:spPr bwMode="auto">
          <a:xfrm flipH="1">
            <a:off x="4295775" y="1556654"/>
            <a:ext cx="4008438" cy="1008746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84" name="TextBox 14"/>
          <p:cNvSpPr txBox="1">
            <a:spLocks noChangeArrowheads="1"/>
          </p:cNvSpPr>
          <p:nvPr/>
        </p:nvSpPr>
        <p:spPr bwMode="auto">
          <a:xfrm>
            <a:off x="8304214" y="1233489"/>
            <a:ext cx="1633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Already an </a:t>
            </a:r>
          </a:p>
          <a:p>
            <a:pPr eaLnBrk="1" hangingPunct="1"/>
            <a:r>
              <a:rPr lang="en-US" altLang="x-none" sz="1800"/>
              <a:t>approximation</a:t>
            </a:r>
          </a:p>
        </p:txBody>
      </p:sp>
      <p:sp>
        <p:nvSpPr>
          <p:cNvPr id="50185" name="TextBox 18"/>
          <p:cNvSpPr txBox="1">
            <a:spLocks noChangeArrowheads="1"/>
          </p:cNvSpPr>
          <p:nvPr/>
        </p:nvSpPr>
        <p:spPr bwMode="auto">
          <a:xfrm>
            <a:off x="8328025" y="2565400"/>
            <a:ext cx="240322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Material density, </a:t>
            </a:r>
          </a:p>
          <a:p>
            <a:pPr eaLnBrk="1" hangingPunct="1"/>
            <a:r>
              <a:rPr lang="en-US" altLang="x-none" sz="1800"/>
              <a:t>thickness, track angle</a:t>
            </a:r>
          </a:p>
          <a:p>
            <a:pPr eaLnBrk="1" hangingPunct="1"/>
            <a:r>
              <a:rPr lang="en-US" altLang="x-none" sz="1800"/>
              <a:t>Known at percent?</a:t>
            </a:r>
          </a:p>
        </p:txBody>
      </p:sp>
      <p:sp>
        <p:nvSpPr>
          <p:cNvPr id="50186" name="TextBox 5"/>
          <p:cNvSpPr txBox="1">
            <a:spLocks noChangeArrowheads="1"/>
          </p:cNvSpPr>
          <p:nvPr/>
        </p:nvSpPr>
        <p:spPr bwMode="auto">
          <a:xfrm>
            <a:off x="1879600" y="4044950"/>
            <a:ext cx="6280150" cy="2586038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float msf(float radLen, float m2, float p2) { </a:t>
            </a:r>
          </a:p>
          <a:p>
            <a:pPr eaLnBrk="1" hangingPunct="1"/>
            <a:r>
              <a:rPr lang="en-US" altLang="x-none" sz="1800"/>
              <a:t>  constexpr float amscon = 1.8496e-4;    // (13.6MeV)**2</a:t>
            </a:r>
          </a:p>
          <a:p>
            <a:pPr eaLnBrk="1" hangingPunct="1"/>
            <a:r>
              <a:rPr lang="en-US" altLang="x-none" sz="1800"/>
              <a:t>  float e2     = p2 + m2;</a:t>
            </a:r>
          </a:p>
          <a:p>
            <a:pPr eaLnBrk="1" hangingPunct="1"/>
            <a:r>
              <a:rPr lang="en-US" altLang="x-none" sz="1800"/>
              <a:t>  </a:t>
            </a:r>
          </a:p>
          <a:p>
            <a:pPr eaLnBrk="1" hangingPunct="1"/>
            <a:r>
              <a:rPr lang="en-US" altLang="x-none" sz="1800"/>
              <a:t>  float fact = 1.f + 0.038f*unsafe_logf&lt;2&gt;(radLen); fact /= p2;</a:t>
            </a:r>
          </a:p>
          <a:p>
            <a:pPr eaLnBrk="1" hangingPunct="1"/>
            <a:r>
              <a:rPr lang="en-US" altLang="x-none" sz="1800"/>
              <a:t>  fact *=fact;</a:t>
            </a:r>
          </a:p>
          <a:p>
            <a:pPr eaLnBrk="1" hangingPunct="1"/>
            <a:r>
              <a:rPr lang="en-US" altLang="x-none" sz="1800"/>
              <a:t>  float a = e2*fact;</a:t>
            </a:r>
          </a:p>
          <a:p>
            <a:pPr eaLnBrk="1" hangingPunct="1"/>
            <a:r>
              <a:rPr lang="en-US" altLang="x-none" sz="1800"/>
              <a:t>  return amscon*radLen*a;</a:t>
            </a:r>
          </a:p>
          <a:p>
            <a:pPr eaLnBrk="1" hangingPunct="1"/>
            <a:r>
              <a:rPr lang="en-US" altLang="x-none" sz="1800"/>
              <a:t>}</a:t>
            </a:r>
          </a:p>
        </p:txBody>
      </p:sp>
      <p:cxnSp>
        <p:nvCxnSpPr>
          <p:cNvPr id="25" name="Straight Arrow Connector 24"/>
          <p:cNvCxnSpPr>
            <a:cxnSpLocks noChangeShapeType="1"/>
            <a:stCxn id="50188" idx="1"/>
          </p:cNvCxnSpPr>
          <p:nvPr/>
        </p:nvCxnSpPr>
        <p:spPr bwMode="auto">
          <a:xfrm flipH="1">
            <a:off x="5232401" y="4405829"/>
            <a:ext cx="2951163" cy="823396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88" name="TextBox 26"/>
          <p:cNvSpPr txBox="1">
            <a:spLocks noChangeArrowheads="1"/>
          </p:cNvSpPr>
          <p:nvPr/>
        </p:nvSpPr>
        <p:spPr bwMode="auto">
          <a:xfrm>
            <a:off x="8183563" y="4221163"/>
            <a:ext cx="2316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2</a:t>
            </a:r>
            <a:r>
              <a:rPr lang="en-US" altLang="x-none" sz="1800" baseline="30000"/>
              <a:t>nd</a:t>
            </a:r>
            <a:r>
              <a:rPr lang="en-US" altLang="x-none" sz="1800"/>
              <a:t> order polynomial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826029"/>
          </a:xfrm>
        </p:spPr>
        <p:txBody>
          <a:bodyPr/>
          <a:lstStyle/>
          <a:p>
            <a:r>
              <a:rPr lang="en-US"/>
              <a:t>Cash-Karp </a:t>
            </a:r>
            <a:r>
              <a:rPr lang="en-US" err="1"/>
              <a:t>Runge-Kutta</a:t>
            </a:r>
            <a:r>
              <a:rPr lang="en-US"/>
              <a:t> Step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286E-1D7B-9F4C-8CE1-3E0553D8E6DD}" type="slidenum">
              <a:rPr lang="en-US" smtClean="0"/>
              <a:t>53</a:t>
            </a:fld>
            <a:endParaRPr lang="en-US"/>
          </a:p>
        </p:txBody>
      </p:sp>
      <p:pic>
        <p:nvPicPr>
          <p:cNvPr id="9" name="Picture 8" descr="cash-karp01_Page_07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6" t="33059" r="6297" b="6677"/>
          <a:stretch/>
        </p:blipFill>
        <p:spPr>
          <a:xfrm>
            <a:off x="1981200" y="1002799"/>
            <a:ext cx="5428074" cy="57186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648201" y="3433704"/>
            <a:ext cx="328319" cy="150518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55638" y="4836348"/>
            <a:ext cx="674511" cy="419570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343864" y="4895615"/>
            <a:ext cx="328319" cy="150518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546123" y="5398439"/>
            <a:ext cx="310915" cy="285046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271926" y="3584222"/>
            <a:ext cx="3020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0.9*step/</a:t>
            </a:r>
            <a:r>
              <a:rPr lang="en-US" sz="2000" b="1" err="1">
                <a:solidFill>
                  <a:srgbClr val="FF0000"/>
                </a:solidFill>
              </a:rPr>
              <a:t>pow</a:t>
            </a:r>
            <a:r>
              <a:rPr lang="en-US" sz="2000" b="1">
                <a:solidFill>
                  <a:srgbClr val="FF0000"/>
                </a:solidFill>
              </a:rPr>
              <a:t>(err/eps,0.2)</a:t>
            </a:r>
          </a:p>
        </p:txBody>
      </p:sp>
    </p:spTree>
    <p:extLst>
      <p:ext uri="{BB962C8B-B14F-4D97-AF65-F5344CB8AC3E}">
        <p14:creationId xmlns:p14="http://schemas.microsoft.com/office/powerpoint/2010/main" val="2908783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3FDDA4-89B5-877D-93D4-1990C58F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pitfalls</a:t>
            </a:r>
            <a:br>
              <a:rPr lang="en-US"/>
            </a:br>
            <a:r>
              <a:rPr lang="en-US"/>
              <a:t>and opportunity for optimization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1F237B-8A95-38B2-933F-ABFB35AAB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C8776-C25E-AC49-052A-C3D5C6BC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9655E-A71A-8BA3-B02B-E6DC81B4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1793E-FF0D-0D25-7E59-61FDD040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022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5CB7E1-A381-DEF2-2706-EBB6FDCB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and compiler “rules”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5B978E-93D9-B6FA-ACA4-B18580F7F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essentially any language default FP </a:t>
            </a:r>
            <a:r>
              <a:rPr lang="en-US" err="1"/>
              <a:t>arith</a:t>
            </a:r>
            <a:r>
              <a:rPr lang="en-US"/>
              <a:t> is in double</a:t>
            </a:r>
          </a:p>
          <a:p>
            <a:pPr lvl="1"/>
            <a:r>
              <a:rPr lang="en-US"/>
              <a:t>Any other precision needs to be explicitly stated</a:t>
            </a:r>
          </a:p>
          <a:p>
            <a:pPr lvl="1"/>
            <a:r>
              <a:rPr lang="en-US"/>
              <a:t>One element in double and the whole expression will be evaluated in double</a:t>
            </a:r>
          </a:p>
          <a:p>
            <a:pPr lvl="2"/>
            <a:r>
              <a:rPr lang="en-US"/>
              <a:t>Promotion to double can be turn in a warning using “</a:t>
            </a:r>
            <a:r>
              <a:rPr lang="en-US" i="1"/>
              <a:t>-</a:t>
            </a:r>
            <a:r>
              <a:rPr lang="en-US" i="1" err="1"/>
              <a:t>Wdouble</a:t>
            </a:r>
            <a:r>
              <a:rPr lang="en-US" i="1"/>
              <a:t>-promotion”</a:t>
            </a:r>
            <a:endParaRPr lang="en-US"/>
          </a:p>
          <a:p>
            <a:r>
              <a:rPr lang="en-US"/>
              <a:t>C and C++ compilers (</a:t>
            </a:r>
            <a:r>
              <a:rPr lang="en-US" err="1"/>
              <a:t>gcc</a:t>
            </a:r>
            <a:r>
              <a:rPr lang="en-US"/>
              <a:t>, clang) by default will never reorder or transform expressions if the result may change</a:t>
            </a:r>
          </a:p>
          <a:p>
            <a:pPr lvl="1"/>
            <a:r>
              <a:rPr lang="en-US"/>
              <a:t>FMA is (currently) an exception</a:t>
            </a:r>
          </a:p>
          <a:p>
            <a:r>
              <a:rPr lang="en-US"/>
              <a:t>C is a language born in the late `70</a:t>
            </a:r>
          </a:p>
          <a:p>
            <a:pPr lvl="1"/>
            <a:r>
              <a:rPr lang="en-US"/>
              <a:t>even C++ does not (potentially) break old code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B7BD0-CF76-B344-9C95-09C9F454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DC949-1F8C-5C13-2CCB-6CDFE8AEB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C869-066A-C97D-95A4-23F79D9E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569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E2FA-A275-FAF5-5F96-ED539A00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Compiler option affecting FP Arith</a:t>
            </a:r>
            <a:br>
              <a:rPr lang="en-US"/>
            </a:br>
            <a:r>
              <a:rPr lang="en-US" sz="2700">
                <a:hlinkClick r:id="rId2"/>
              </a:rPr>
              <a:t>https://gcc.gnu.org/wiki/FloatingPointMath</a:t>
            </a:r>
            <a:br>
              <a:rPr lang="en-US" sz="3600"/>
            </a:br>
            <a:r>
              <a:rPr lang="en-US" sz="2700">
                <a:hlinkClick r:id="rId3"/>
              </a:rPr>
              <a:t>https://clang.llvm.org/docs/UsersManual.html - controlling-floating-point-behavior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9459-D064-7507-A5E8-7BBCD3FD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011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en-US" dirty="0" err="1">
                <a:solidFill>
                  <a:srgbClr val="00B050"/>
                </a:solidFill>
              </a:rPr>
              <a:t>fno</a:t>
            </a:r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en-US" dirty="0" err="1">
                <a:solidFill>
                  <a:srgbClr val="00B050"/>
                </a:solidFill>
              </a:rPr>
              <a:t>errno</a:t>
            </a:r>
            <a:r>
              <a:rPr lang="en-US" dirty="0">
                <a:solidFill>
                  <a:srgbClr val="00B050"/>
                </a:solidFill>
              </a:rPr>
              <a:t>-math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Assume user ignore </a:t>
            </a:r>
            <a:r>
              <a:rPr lang="en-US" dirty="0" err="1">
                <a:solidFill>
                  <a:srgbClr val="00B050"/>
                </a:solidFill>
              </a:rPr>
              <a:t>libc</a:t>
            </a:r>
            <a:r>
              <a:rPr lang="en-US" dirty="0">
                <a:solidFill>
                  <a:srgbClr val="00B050"/>
                </a:solidFill>
              </a:rPr>
              <a:t> error flag</a:t>
            </a:r>
          </a:p>
          <a:p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en-US" dirty="0" err="1">
                <a:solidFill>
                  <a:srgbClr val="00B050"/>
                </a:solidFill>
              </a:rPr>
              <a:t>fno</a:t>
            </a:r>
            <a:r>
              <a:rPr lang="en-US" dirty="0">
                <a:solidFill>
                  <a:srgbClr val="00B050"/>
                </a:solidFill>
              </a:rPr>
              <a:t>-trapping-math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Assume user ignore IEEE754 exceptions</a:t>
            </a:r>
          </a:p>
          <a:p>
            <a:r>
              <a:rPr lang="en-US" dirty="0">
                <a:solidFill>
                  <a:srgbClr val="FFC000"/>
                </a:solidFill>
              </a:rPr>
              <a:t>-</a:t>
            </a:r>
            <a:r>
              <a:rPr lang="en-US" dirty="0" err="1">
                <a:solidFill>
                  <a:srgbClr val="FFC000"/>
                </a:solidFill>
              </a:rPr>
              <a:t>fno</a:t>
            </a:r>
            <a:r>
              <a:rPr lang="en-US" dirty="0">
                <a:solidFill>
                  <a:srgbClr val="FFC000"/>
                </a:solidFill>
              </a:rPr>
              <a:t>-signed-zeros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Assume user do not distinguish sign of zeroes</a:t>
            </a:r>
          </a:p>
          <a:p>
            <a:r>
              <a:rPr lang="en-US" dirty="0">
                <a:solidFill>
                  <a:srgbClr val="FFC000"/>
                </a:solidFill>
              </a:rPr>
              <a:t>-</a:t>
            </a:r>
            <a:r>
              <a:rPr lang="en-US" dirty="0" err="1">
                <a:solidFill>
                  <a:srgbClr val="FFC000"/>
                </a:solidFill>
              </a:rPr>
              <a:t>ffinite</a:t>
            </a:r>
            <a:r>
              <a:rPr lang="en-US" dirty="0">
                <a:solidFill>
                  <a:srgbClr val="FFC000"/>
                </a:solidFill>
              </a:rPr>
              <a:t>-math-only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Assume code does not emit </a:t>
            </a:r>
            <a:r>
              <a:rPr lang="en-US" dirty="0" err="1">
                <a:solidFill>
                  <a:srgbClr val="FFC000"/>
                </a:solidFill>
              </a:rPr>
              <a:t>NaNs</a:t>
            </a:r>
            <a:r>
              <a:rPr lang="en-US" dirty="0">
                <a:solidFill>
                  <a:srgbClr val="FFC000"/>
                </a:solidFill>
              </a:rPr>
              <a:t> and </a:t>
            </a:r>
            <a:r>
              <a:rPr lang="en-US" dirty="0" err="1">
                <a:solidFill>
                  <a:srgbClr val="FFC000"/>
                </a:solidFill>
              </a:rPr>
              <a:t>Infs</a:t>
            </a:r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fassociative</a:t>
            </a:r>
            <a:r>
              <a:rPr lang="en-US" dirty="0">
                <a:solidFill>
                  <a:srgbClr val="FF0000"/>
                </a:solidFill>
              </a:rPr>
              <a:t>-math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Allows free reordering of expressions</a:t>
            </a:r>
          </a:p>
          <a:p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freciprocal</a:t>
            </a:r>
            <a:r>
              <a:rPr lang="en-US" dirty="0">
                <a:solidFill>
                  <a:srgbClr val="FF0000"/>
                </a:solidFill>
              </a:rPr>
              <a:t>-math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Allows transformation of divisions</a:t>
            </a:r>
          </a:p>
          <a:p>
            <a:r>
              <a:rPr lang="en-US" b="1" dirty="0">
                <a:solidFill>
                  <a:srgbClr val="7030A0"/>
                </a:solidFill>
              </a:rPr>
              <a:t>-</a:t>
            </a:r>
            <a:r>
              <a:rPr lang="en-US" b="1" dirty="0" err="1">
                <a:solidFill>
                  <a:srgbClr val="7030A0"/>
                </a:solidFill>
              </a:rPr>
              <a:t>ffast</a:t>
            </a:r>
            <a:r>
              <a:rPr lang="en-US" b="1" dirty="0">
                <a:solidFill>
                  <a:srgbClr val="7030A0"/>
                </a:solidFill>
              </a:rPr>
              <a:t>-math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All above and more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C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D6A5C-338C-9672-C0CC-E317CA08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91E37-612B-910F-8EAE-E8655764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20CCE-AEC8-220A-8519-3181B775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708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D7ED-ACC6-7042-AF08-97C6621B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Controlling </a:t>
            </a:r>
            <a:r>
              <a:rPr lang="en-US" err="1"/>
              <a:t>fma</a:t>
            </a:r>
            <a:r>
              <a:rPr lang="en-US"/>
              <a:t> (contraction)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21D8F-30D4-854D-8AE5-67D18145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gcc</a:t>
            </a:r>
            <a:r>
              <a:rPr lang="en-US"/>
              <a:t>  (and clang) flags</a:t>
            </a:r>
          </a:p>
          <a:p>
            <a:pPr lvl="1"/>
            <a:r>
              <a:rPr lang="en-US">
                <a:latin typeface="Courier" pitchFamily="2" charset="0"/>
              </a:rPr>
              <a:t>-</a:t>
            </a:r>
            <a:r>
              <a:rPr lang="en-US" err="1">
                <a:latin typeface="Courier" pitchFamily="2" charset="0"/>
              </a:rPr>
              <a:t>ffp</a:t>
            </a:r>
            <a:r>
              <a:rPr lang="en-US">
                <a:latin typeface="Courier" pitchFamily="2" charset="0"/>
              </a:rPr>
              <a:t>-contract=off  </a:t>
            </a:r>
            <a:r>
              <a:rPr lang="en-US"/>
              <a:t>(default is “</a:t>
            </a:r>
            <a:r>
              <a:rPr lang="en-US">
                <a:latin typeface="Courier" pitchFamily="2" charset="0"/>
              </a:rPr>
              <a:t>fast</a:t>
            </a:r>
            <a:r>
              <a:rPr lang="en-US"/>
              <a:t>”)</a:t>
            </a:r>
          </a:p>
          <a:p>
            <a:pPr lvl="1"/>
            <a:r>
              <a:rPr lang="en-US" sz="2000">
                <a:hlinkClick r:id="rId2"/>
              </a:rPr>
              <a:t>https://stackoverflow.com/questions/43352510/difference-in-gcc-ffp-contract-options</a:t>
            </a:r>
            <a:endParaRPr lang="en-US" sz="2000"/>
          </a:p>
          <a:p>
            <a:endParaRPr lang="en-US"/>
          </a:p>
          <a:p>
            <a:r>
              <a:rPr lang="en-US" err="1"/>
              <a:t>cuda</a:t>
            </a:r>
            <a:r>
              <a:rPr lang="en-US"/>
              <a:t> (</a:t>
            </a:r>
            <a:r>
              <a:rPr lang="en-US" err="1"/>
              <a:t>nvcc</a:t>
            </a:r>
            <a:r>
              <a:rPr lang="en-US"/>
              <a:t>) flags</a:t>
            </a:r>
          </a:p>
          <a:p>
            <a:pPr lvl="1"/>
            <a:r>
              <a:rPr lang="en-US">
                <a:latin typeface="Courier" pitchFamily="2" charset="0"/>
              </a:rPr>
              <a:t>-</a:t>
            </a:r>
            <a:r>
              <a:rPr lang="en-US" err="1">
                <a:latin typeface="Courier" pitchFamily="2" charset="0"/>
              </a:rPr>
              <a:t>fmad</a:t>
            </a:r>
            <a:r>
              <a:rPr lang="en-US">
                <a:latin typeface="Courier" pitchFamily="2" charset="0"/>
              </a:rPr>
              <a:t>=false </a:t>
            </a:r>
            <a:r>
              <a:rPr lang="en-US"/>
              <a:t>(default is “</a:t>
            </a:r>
            <a:r>
              <a:rPr lang="en-US">
                <a:latin typeface="Courier" pitchFamily="2" charset="0"/>
              </a:rPr>
              <a:t>true</a:t>
            </a:r>
            <a:r>
              <a:rPr lang="en-US"/>
              <a:t>”)</a:t>
            </a:r>
          </a:p>
          <a:p>
            <a:pPr lvl="1"/>
            <a:r>
              <a:rPr lang="en-US" sz="2000">
                <a:hlinkClick r:id="rId3"/>
              </a:rPr>
              <a:t>https://docs.nvidia.com/cuda/floating-point/index.html</a:t>
            </a:r>
            <a:r>
              <a:rPr lang="en-US" sz="2000"/>
              <a:t> </a:t>
            </a:r>
          </a:p>
          <a:p>
            <a:pPr lvl="1"/>
            <a:endParaRPr lang="en-US" sz="2000"/>
          </a:p>
          <a:p>
            <a:r>
              <a:rPr lang="en-US" sz="2400" err="1"/>
              <a:t>fma</a:t>
            </a:r>
            <a:r>
              <a:rPr lang="en-US" sz="2400"/>
              <a:t> function itself will in any case honored and will use the hardware instruction if supported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D360D-F979-974E-AC5E-EC496A80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Innocente</a:t>
            </a:r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F0BC1-FA2C-584A-988B-0B3F2265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16E4-D53D-4F48-8EFF-2C1B2F4A6165}" type="slidenum">
              <a:rPr lang="it-IT" altLang="x-none" smtClean="0"/>
              <a:pPr/>
              <a:t>57</a:t>
            </a:fld>
            <a:endParaRPr lang="it-IT" altLang="x-non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C764AE-31F1-0D06-F7D4-F3620627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8796572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>
          <a:xfrm>
            <a:off x="838200" y="168277"/>
            <a:ext cx="10515600" cy="839790"/>
          </a:xfrm>
        </p:spPr>
        <p:txBody>
          <a:bodyPr/>
          <a:lstStyle/>
          <a:p>
            <a:pPr eaLnBrk="1" hangingPunct="1"/>
            <a:r>
              <a:rPr lang="en-US" altLang="x-none"/>
              <a:t>Inspecting generated code</a:t>
            </a:r>
          </a:p>
        </p:txBody>
      </p:sp>
      <p:sp>
        <p:nvSpPr>
          <p:cNvPr id="3686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981200" y="6243638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/>
            <a:fld id="{8A4E5C24-E16C-944D-B659-50A1BFEB947D}" type="slidenum">
              <a:rPr lang="en-US" altLang="x-none" sz="1200">
                <a:latin typeface="Garamond" charset="0"/>
              </a:rPr>
              <a:pPr algn="l" eaLnBrk="1" hangingPunct="1"/>
              <a:t>58</a:t>
            </a:fld>
            <a:endParaRPr lang="en-US" altLang="x-none" sz="1200">
              <a:latin typeface="Garamond" charset="0"/>
            </a:endParaRPr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703388" y="981075"/>
            <a:ext cx="85344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i="1"/>
              <a:t>objdump -S -r -C --no-show-raw-insn –w kernel.o | less</a:t>
            </a:r>
          </a:p>
          <a:p>
            <a:pPr eaLnBrk="1" hangingPunct="1"/>
            <a:r>
              <a:rPr lang="en-US" altLang="x-none" sz="1800" i="1"/>
              <a:t>(on MacOS: otool -t -v  -V –X kernel.o  | c++filt | less)</a:t>
            </a:r>
          </a:p>
          <a:p>
            <a:pPr eaLnBrk="1" hangingPunct="1"/>
            <a:r>
              <a:rPr lang="en-US" altLang="x-none" sz="1800" i="1"/>
              <a:t>Or use http://gcc.godbolt.org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74825" y="2781300"/>
            <a:ext cx="2471738" cy="1322388"/>
          </a:xfrm>
          <a:prstGeom prst="rect">
            <a:avLst/>
          </a:prstGeom>
          <a:gradFill rotWithShape="1">
            <a:gsLst>
              <a:gs pos="0">
                <a:srgbClr val="E6FAFA"/>
              </a:gs>
              <a:gs pos="64999">
                <a:srgbClr val="BFF1F1"/>
              </a:gs>
              <a:gs pos="100000">
                <a:srgbClr val="A3EDED"/>
              </a:gs>
            </a:gsLst>
            <a:lin ang="5400000" scaled="1"/>
          </a:gra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 float 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kernel(float a, float x, float y) {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  return a*x + a*y;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664200" y="3860801"/>
            <a:ext cx="4267200" cy="1323975"/>
          </a:xfrm>
          <a:prstGeom prst="rect">
            <a:avLst/>
          </a:prstGeom>
          <a:solidFill>
            <a:srgbClr val="CCFFCC"/>
          </a:soli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kernel(float, float, float):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addss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%xmm2,%xmm1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mulss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%xmm0,%xmm1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movaps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%xmm1,%xmm0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ret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53000" y="1700214"/>
            <a:ext cx="5715000" cy="1570037"/>
          </a:xfrm>
          <a:prstGeom prst="rect">
            <a:avLst/>
          </a:prstGeom>
          <a:solidFill>
            <a:srgbClr val="FF6600">
              <a:alpha val="81960"/>
            </a:srgbClr>
          </a:soli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kernel(float, float, float):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mulss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%xmm0,%xmm2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mulss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%xmm0,%xmm1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addss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%xmm2,%xmm1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movaps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%xmm1,%xmm0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ret</a:t>
            </a:r>
          </a:p>
        </p:txBody>
      </p:sp>
      <p:cxnSp>
        <p:nvCxnSpPr>
          <p:cNvPr id="36871" name="Straight Arrow Connector 8"/>
          <p:cNvCxnSpPr>
            <a:cxnSpLocks noChangeShapeType="1"/>
            <a:stCxn id="5" idx="3"/>
            <a:endCxn id="7" idx="1"/>
          </p:cNvCxnSpPr>
          <p:nvPr/>
        </p:nvCxnSpPr>
        <p:spPr bwMode="auto">
          <a:xfrm flipV="1">
            <a:off x="4246564" y="2486026"/>
            <a:ext cx="706437" cy="9572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2" name="Straight Arrow Connector 10"/>
          <p:cNvCxnSpPr>
            <a:cxnSpLocks noChangeShapeType="1"/>
            <a:stCxn id="5" idx="3"/>
            <a:endCxn id="6" idx="1"/>
          </p:cNvCxnSpPr>
          <p:nvPr/>
        </p:nvCxnSpPr>
        <p:spPr bwMode="auto">
          <a:xfrm>
            <a:off x="4246564" y="3443288"/>
            <a:ext cx="1417637" cy="10795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3" name="TextBox 15"/>
          <p:cNvSpPr txBox="1">
            <a:spLocks noChangeArrowheads="1"/>
          </p:cNvSpPr>
          <p:nvPr/>
        </p:nvSpPr>
        <p:spPr bwMode="auto">
          <a:xfrm>
            <a:off x="4151313" y="2420939"/>
            <a:ext cx="576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-O2</a:t>
            </a:r>
          </a:p>
        </p:txBody>
      </p:sp>
      <p:sp>
        <p:nvSpPr>
          <p:cNvPr id="36874" name="TextBox 16"/>
          <p:cNvSpPr txBox="1">
            <a:spLocks noChangeArrowheads="1"/>
          </p:cNvSpPr>
          <p:nvPr/>
        </p:nvSpPr>
        <p:spPr bwMode="auto">
          <a:xfrm>
            <a:off x="3861472" y="4484450"/>
            <a:ext cx="17322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-O2,-ffast-math</a:t>
            </a:r>
          </a:p>
        </p:txBody>
      </p:sp>
      <p:sp>
        <p:nvSpPr>
          <p:cNvPr id="36875" name="Date Placeholder 1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6876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6878" name="TextBox 1"/>
          <p:cNvSpPr txBox="1">
            <a:spLocks noChangeArrowheads="1"/>
          </p:cNvSpPr>
          <p:nvPr/>
        </p:nvSpPr>
        <p:spPr bwMode="auto">
          <a:xfrm>
            <a:off x="1543050" y="1916114"/>
            <a:ext cx="326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c++ -S kernel.cc; less kernel.s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67F279E4-798B-9D4A-9F99-36D7821C6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0" y="266702"/>
            <a:ext cx="8305800" cy="1139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Formula Translation: 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what was the author’s intention?</a:t>
            </a:r>
          </a:p>
        </p:txBody>
      </p:sp>
      <p:sp>
        <p:nvSpPr>
          <p:cNvPr id="44034" name="Slide Number Placeholder 2">
            <a:extLst>
              <a:ext uri="{FF2B5EF4-FFF2-40B4-BE49-F238E27FC236}">
                <a16:creationId xmlns:a16="http://schemas.microsoft.com/office/drawing/2014/main" id="{8690833D-F70A-7A13-2CCE-6B478E51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1200" y="6243638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fld id="{3EE553D8-5B70-2B47-8216-F80BC25C743D}" type="slidenum">
              <a:rPr lang="en-US" altLang="en-US" sz="1200">
                <a:latin typeface="Garamond" panose="02020404030301010803" pitchFamily="18" charset="0"/>
              </a:rPr>
              <a:pPr algn="l" eaLnBrk="1" hangingPunct="1"/>
              <a:t>59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E64A5-664F-7067-5917-CFCFF16FF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090" y="1889363"/>
            <a:ext cx="8640478" cy="2092881"/>
          </a:xfrm>
          <a:prstGeom prst="rect">
            <a:avLst/>
          </a:prstGeom>
          <a:gradFill rotWithShape="1">
            <a:gsLst>
              <a:gs pos="0">
                <a:srgbClr val="E6FAFA"/>
              </a:gs>
              <a:gs pos="64999">
                <a:srgbClr val="BFF1F1"/>
              </a:gs>
              <a:gs pos="100000">
                <a:srgbClr val="A3EDED"/>
              </a:gs>
            </a:gsLst>
            <a:lin ang="5400000" scaled="1"/>
          </a:gra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Arial Narrow" panose="020B0604020202020204" pitchFamily="34" charset="0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// Energy loss and variance according to Bethe and Heitler, see also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 // Comp. Phys. Comm. 79 (1994) 157.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 //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 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double p = 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mom.mag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();</a:t>
            </a:r>
            <a:r>
              <a:rPr lang="en-US" altLang="en-US" sz="1600">
                <a:solidFill>
                  <a:srgbClr val="000000"/>
                </a:solidFill>
              </a:rPr>
              <a:t>  //  sqrt(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()+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()+</a:t>
            </a:r>
            <a:r>
              <a:rPr lang="en-US" altLang="en-US" sz="1600" err="1">
                <a:solidFill>
                  <a:srgbClr val="000000"/>
                </a:solidFill>
              </a:rPr>
              <a:t>mom.z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mom.z</a:t>
            </a:r>
            <a:r>
              <a:rPr lang="en-US" altLang="en-US" sz="1600">
                <a:solidFill>
                  <a:srgbClr val="000000"/>
                </a:solidFill>
              </a:rPr>
              <a:t>())</a:t>
            </a:r>
            <a:endParaRPr lang="en-US" altLang="en-US" sz="1600" b="1">
              <a:solidFill>
                <a:srgbClr val="000000"/>
              </a:solidFill>
              <a:latin typeface="Arial Narrow" panose="020B0604020202020204" pitchFamily="34" charset="0"/>
            </a:endParaRP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 double 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= fabs(p/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mom.z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())*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radLen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;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 double z = exp(-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);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 double 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varz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= (exp(-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*log(3.)/log(2.))- exp(-2*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));</a:t>
            </a:r>
          </a:p>
          <a:p>
            <a:pPr eaLnBrk="1" hangingPunct="1"/>
            <a:endParaRPr lang="en-US" altLang="en-US" sz="1600">
              <a:solidFill>
                <a:srgbClr val="000000"/>
              </a:solidFill>
              <a:latin typeface="Arial Narrow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22716-0B3B-10B3-6F35-152C62CFE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779" y="4038600"/>
            <a:ext cx="8153400" cy="1570038"/>
          </a:xfrm>
          <a:prstGeom prst="rect">
            <a:avLst/>
          </a:prstGeom>
          <a:gradFill rotWithShape="1">
            <a:gsLst>
              <a:gs pos="0">
                <a:srgbClr val="E6FAFA"/>
              </a:gs>
              <a:gs pos="64999">
                <a:srgbClr val="BFF1F1"/>
              </a:gs>
              <a:gs pos="100000">
                <a:srgbClr val="A3EDED"/>
              </a:gs>
            </a:gsLst>
            <a:lin ang="5400000" scaled="1"/>
          </a:gra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</a:t>
            </a:r>
            <a:r>
              <a:rPr lang="en-US" altLang="en-US" sz="1600" b="1">
                <a:solidFill>
                  <a:srgbClr val="000000"/>
                </a:solidFill>
              </a:rPr>
              <a:t>double pt = </a:t>
            </a:r>
            <a:r>
              <a:rPr lang="en-US" altLang="en-US" sz="1600" b="1" err="1">
                <a:solidFill>
                  <a:srgbClr val="000000"/>
                </a:solidFill>
              </a:rPr>
              <a:t>mom.perp</a:t>
            </a:r>
            <a:r>
              <a:rPr lang="en-US" altLang="en-US" sz="1600" b="1">
                <a:solidFill>
                  <a:srgbClr val="000000"/>
                </a:solidFill>
              </a:rPr>
              <a:t>();</a:t>
            </a:r>
            <a:r>
              <a:rPr lang="en-US" altLang="en-US" sz="1600">
                <a:solidFill>
                  <a:srgbClr val="000000"/>
                </a:solidFill>
              </a:rPr>
              <a:t>    //  sqrt(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()+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())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</a:rPr>
              <a:t> </a:t>
            </a:r>
            <a:r>
              <a:rPr lang="en-US" altLang="en-US" sz="1600" b="1">
                <a:solidFill>
                  <a:srgbClr val="000000"/>
                </a:solidFill>
              </a:rPr>
              <a:t>double j = </a:t>
            </a:r>
            <a:r>
              <a:rPr lang="en-US" altLang="en-US" sz="1600" b="1" err="1">
                <a:solidFill>
                  <a:srgbClr val="000000"/>
                </a:solidFill>
              </a:rPr>
              <a:t>a_i</a:t>
            </a:r>
            <a:r>
              <a:rPr lang="en-US" altLang="en-US" sz="1600" b="1">
                <a:solidFill>
                  <a:srgbClr val="000000"/>
                </a:solidFill>
              </a:rPr>
              <a:t>*(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 * 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 + 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 * 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())/(pt*pt);      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 double </a:t>
            </a:r>
            <a:r>
              <a:rPr lang="en-US" altLang="en-US" sz="1600" b="1" err="1">
                <a:solidFill>
                  <a:srgbClr val="000000"/>
                </a:solidFill>
              </a:rPr>
              <a:t>r_x</a:t>
            </a:r>
            <a:r>
              <a:rPr lang="en-US" altLang="en-US" sz="1600" b="1">
                <a:solidFill>
                  <a:srgbClr val="000000"/>
                </a:solidFill>
              </a:rPr>
              <a:t> = 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 - 2* 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()*(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()+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())/(pt*pt);         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 double </a:t>
            </a:r>
            <a:r>
              <a:rPr lang="en-US" altLang="en-US" sz="1600" b="1" err="1">
                <a:solidFill>
                  <a:srgbClr val="000000"/>
                </a:solidFill>
              </a:rPr>
              <a:t>r_y</a:t>
            </a:r>
            <a:r>
              <a:rPr lang="en-US" altLang="en-US" sz="1600" b="1">
                <a:solidFill>
                  <a:srgbClr val="000000"/>
                </a:solidFill>
              </a:rPr>
              <a:t> = 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 - 2* 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()*(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()+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())/(pt*pt);         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 double s = 1/(pt*pt*sqrt(1 - j*j));</a:t>
            </a:r>
            <a:endParaRPr lang="en-US" altLang="en-US" sz="1600">
              <a:solidFill>
                <a:srgbClr val="000000"/>
              </a:solidFill>
            </a:endParaRPr>
          </a:p>
          <a:p>
            <a:pPr eaLnBrk="1" hangingPunct="1"/>
            <a:endParaRPr lang="en-US" altLang="en-US" sz="1600">
              <a:solidFill>
                <a:srgbClr val="000000"/>
              </a:solidFill>
              <a:latin typeface="Arial Narrow" panose="020B0604020202020204" pitchFamily="34" charset="0"/>
            </a:endParaRPr>
          </a:p>
        </p:txBody>
      </p:sp>
      <p:sp>
        <p:nvSpPr>
          <p:cNvPr id="44037" name="Date Placeholder 6">
            <a:extLst>
              <a:ext uri="{FF2B5EF4-FFF2-40B4-BE49-F238E27FC236}">
                <a16:creationId xmlns:a16="http://schemas.microsoft.com/office/drawing/2014/main" id="{38C4F485-D91D-560D-BD67-1E98F1115A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June 2026</a:t>
            </a:r>
            <a:endParaRPr lang="it-IT" altLang="en-US" sz="1200">
              <a:latin typeface="Garamond" panose="02020404030301010803" pitchFamily="18" charset="0"/>
            </a:endParaRPr>
          </a:p>
        </p:txBody>
      </p:sp>
      <p:sp>
        <p:nvSpPr>
          <p:cNvPr id="44038" name="Footer Placeholder 7">
            <a:extLst>
              <a:ext uri="{FF2B5EF4-FFF2-40B4-BE49-F238E27FC236}">
                <a16:creationId xmlns:a16="http://schemas.microsoft.com/office/drawing/2014/main" id="{8333B058-DEB9-BFE4-10AD-9A0CF6A4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Vincenzo Innocente</a:t>
            </a:r>
            <a:endParaRPr lang="it-IT" altLang="en-US" sz="1200">
              <a:latin typeface="Garamond" panose="020204040303010108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80B5F-3E24-A3F7-E808-F85EFC6FB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944" y="94576"/>
            <a:ext cx="5195056" cy="233913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E629-C5D9-7084-2EB3-799D9939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53D4B-4025-FA6E-3F06-38E1E19C4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42" y="2092798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64AA1-FF0D-615D-67C2-918BB7E7C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C++</a:t>
            </a:r>
          </a:p>
          <a:p>
            <a:r>
              <a:rPr lang="en-US" dirty="0"/>
              <a:t>use </a:t>
            </a:r>
            <a:r>
              <a:rPr lang="en-US" dirty="0" err="1"/>
              <a:t>godbolt</a:t>
            </a:r>
            <a:r>
              <a:rPr lang="en-US" dirty="0"/>
              <a:t> (  </a:t>
            </a:r>
            <a:r>
              <a:rPr lang="en-US" dirty="0">
                <a:hlinkClick r:id="rId2"/>
              </a:rPr>
              <a:t>https://godbolt.org/z/5TWjsKqha</a:t>
            </a:r>
            <a:r>
              <a:rPr lang="en-US" dirty="0"/>
              <a:t> )</a:t>
            </a:r>
          </a:p>
          <a:p>
            <a:r>
              <a:rPr lang="en-US" dirty="0"/>
              <a:t>change compiler options for various compilers and see what happens</a:t>
            </a:r>
          </a:p>
          <a:p>
            <a:r>
              <a:rPr lang="en-US" dirty="0"/>
              <a:t>Try to optimize some code and see if it really improves</a:t>
            </a:r>
          </a:p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1A65EB3-CF93-B9C2-6622-FE1BD77BF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41" y="99724"/>
            <a:ext cx="3433957" cy="299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4CAB0-B094-7C50-B1B5-888BADBE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2008-32C0-BFAD-8900-1333192D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E75A0-0AC9-B769-F1A7-04778AE9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638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B5E99E-774C-59A5-B5D9-2494DD85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970FA-35A5-C18E-4659-69DD12E0D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154CE-5283-18C4-288F-3F79E580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E2067-5FD4-40C4-E1F6-AA2C3249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E239A-5EFE-BF23-806D-50305DD8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288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516B2F-60E8-9B2B-D8CC-1A933E215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Anecdotes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E268D9-943B-299E-C0B0-CABBA358D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3" y="2141537"/>
            <a:ext cx="10515600" cy="4351338"/>
          </a:xfrm>
        </p:spPr>
        <p:txBody>
          <a:bodyPr/>
          <a:lstStyle/>
          <a:p>
            <a:r>
              <a:rPr lang="en-US"/>
              <a:t>Floating point “disasters”</a:t>
            </a:r>
          </a:p>
          <a:p>
            <a:pPr lvl="1"/>
            <a:r>
              <a:rPr lang="en-US">
                <a:hlinkClick r:id="rId2"/>
              </a:rPr>
              <a:t>http://ta.twi.tudelft.nl/users/vuik/wi211/disasters.html</a:t>
            </a:r>
            <a:endParaRPr lang="en-US"/>
          </a:p>
          <a:p>
            <a:pPr lvl="1"/>
            <a:r>
              <a:rPr lang="en-US">
                <a:hlinkClick r:id="rId3"/>
              </a:rPr>
              <a:t>https://www.iro.umontreal.ca/~mignotte/IFT2425/Disasters.html</a:t>
            </a:r>
            <a:endParaRPr lang="en-US"/>
          </a:p>
          <a:p>
            <a:pPr lvl="1"/>
            <a:r>
              <a:rPr lang="en-US">
                <a:hlinkClick r:id="rId4"/>
              </a:rPr>
              <a:t>https://slate.com/technology/2019/10/round-floor-software-errors-stock-market-battlefield.html</a:t>
            </a:r>
            <a:endParaRPr lang="en-US"/>
          </a:p>
          <a:p>
            <a:pPr lvl="1"/>
            <a:r>
              <a:rPr lang="en-US">
                <a:hlinkClick r:id="rId5"/>
              </a:rPr>
              <a:t>https://medium.com/@sohail_saifii/the-floating-point-standard-thats-silently-breaking-financial-software-7f7e93430dbb</a:t>
            </a:r>
            <a:endParaRPr lang="en-US"/>
          </a:p>
          <a:p>
            <a:pPr lvl="1"/>
            <a:r>
              <a:rPr lang="en-US">
                <a:hlinkClick r:id="rId6"/>
              </a:rPr>
              <a:t>https://pavpanchekha.com/blog/casio-mathjs.html</a:t>
            </a:r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B35D33A-695B-7A7C-60E5-E358B8C8A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721" y="0"/>
            <a:ext cx="2701426" cy="243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C66B8-8089-C5EB-43CD-255A811A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8B03E-DA23-029F-D0EC-5A771FF6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A8F15-253B-A978-568C-B3333316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065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2B8DEC-85A3-3D58-8E55-009CFDE0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941"/>
          </a:xfrm>
        </p:spPr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D861FE-4A93-D2D9-8C3D-4971F68CF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89" y="1124226"/>
            <a:ext cx="10937111" cy="484324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What Every Computer Scientist Should Know About Floating-Point Arithmetic (1991)  </a:t>
            </a:r>
            <a:r>
              <a:rPr lang="en-US" dirty="0">
                <a:hlinkClick r:id="rId2"/>
              </a:rPr>
              <a:t>https://dl.acm.org/doi/pdf/10.1145/103162.103163</a:t>
            </a:r>
            <a:endParaRPr lang="en-US" dirty="0"/>
          </a:p>
          <a:p>
            <a:r>
              <a:rPr lang="en-US" dirty="0"/>
              <a:t>Handbook of Floating-Point Arithmetic(2018)  </a:t>
            </a:r>
            <a:r>
              <a:rPr lang="en-US" dirty="0">
                <a:hlinkClick r:id="rId3"/>
              </a:rPr>
              <a:t>https://link.springer.com/book/10.1007/978-3-319-76526-6</a:t>
            </a:r>
            <a:endParaRPr lang="en-US" dirty="0"/>
          </a:p>
          <a:p>
            <a:r>
              <a:rPr lang="en-US" dirty="0"/>
              <a:t>Elementary Functions  (2016) </a:t>
            </a:r>
            <a:r>
              <a:rPr lang="en-US" dirty="0">
                <a:hlinkClick r:id="rId4"/>
              </a:rPr>
              <a:t>https://link.springer.com/book/10.1007/978-1-4899-7983-4</a:t>
            </a:r>
            <a:endParaRPr lang="en-US" dirty="0"/>
          </a:p>
          <a:p>
            <a:endParaRPr lang="en-US" dirty="0"/>
          </a:p>
          <a:p>
            <a:r>
              <a:rPr lang="en-US" dirty="0"/>
              <a:t>Floating-point arithmetic (2023) </a:t>
            </a:r>
            <a:r>
              <a:rPr lang="en-US" dirty="0">
                <a:hlinkClick r:id="rId5"/>
              </a:rPr>
              <a:t>https://www.cambridge.org/core/journals/acta-numerica/article/floatingpoint-arithmetic/287C4D5F6D4A43FBEEB1ABED2A405AAF</a:t>
            </a:r>
            <a:endParaRPr lang="en-US" dirty="0"/>
          </a:p>
          <a:p>
            <a:endParaRPr lang="en-US" dirty="0"/>
          </a:p>
          <a:p>
            <a:r>
              <a:rPr lang="en-US" dirty="0"/>
              <a:t>Low Precision  (2025) </a:t>
            </a:r>
            <a:r>
              <a:rPr lang="en-US" dirty="0">
                <a:hlinkClick r:id="rId6"/>
              </a:rPr>
              <a:t>https://www.siam.org/publications/siam-news/articles/mixed-precision-computing-high-accuracy-with-low-precision/</a:t>
            </a:r>
            <a:endParaRPr lang="en-US" dirty="0"/>
          </a:p>
          <a:p>
            <a:endParaRPr lang="en-US" dirty="0"/>
          </a:p>
          <a:p>
            <a:r>
              <a:rPr lang="en-US" dirty="0"/>
              <a:t>Bleeding edge</a:t>
            </a:r>
          </a:p>
          <a:p>
            <a:pPr lvl="1"/>
            <a:r>
              <a:rPr lang="en-US" dirty="0"/>
              <a:t>IEEE Arith Conference: </a:t>
            </a:r>
            <a:r>
              <a:rPr lang="en-US" dirty="0">
                <a:hlinkClick r:id="rId7"/>
              </a:rPr>
              <a:t>https://arith2026.org/archive.html</a:t>
            </a:r>
            <a:endParaRPr lang="en-US" dirty="0"/>
          </a:p>
          <a:p>
            <a:pPr lvl="1"/>
            <a:r>
              <a:rPr lang="en-US" dirty="0" err="1"/>
              <a:t>FPTalks</a:t>
            </a:r>
            <a:r>
              <a:rPr lang="en-US" dirty="0"/>
              <a:t>: </a:t>
            </a:r>
            <a:r>
              <a:rPr lang="en-US" dirty="0">
                <a:hlinkClick r:id="rId8"/>
              </a:rPr>
              <a:t>https://fptalks.org/</a:t>
            </a:r>
            <a:endParaRPr lang="en-US" dirty="0"/>
          </a:p>
          <a:p>
            <a:pPr lvl="1"/>
            <a:r>
              <a:rPr lang="en-US" dirty="0"/>
              <a:t>NGT Workshop: </a:t>
            </a:r>
            <a:r>
              <a:rPr lang="en-US" dirty="0">
                <a:hlinkClick r:id="rId9"/>
              </a:rPr>
              <a:t>https://indico.cern.ch</a:t>
            </a:r>
            <a:r>
              <a:rPr lang="en-US">
                <a:hlinkClick r:id="rId9"/>
              </a:rPr>
              <a:t>/event/1538409/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0018A-1EC4-7D72-580D-2E94DBC5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4150F-E0F1-6A3D-09D0-86800168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1D393-FED8-EB36-E3E4-3F87EAF4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923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68AC-28E1-1B47-7E94-76FDF30F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D567D-FF9E-1675-1673-F07E5D942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10" y="1367959"/>
            <a:ext cx="10053577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many significand bits does have a single precision FP number?</a:t>
            </a:r>
          </a:p>
          <a:p>
            <a:r>
              <a:rPr lang="en-US" dirty="0"/>
              <a:t>How many single precision binary FP numbers exist between 2 and 3?</a:t>
            </a:r>
          </a:p>
          <a:p>
            <a:r>
              <a:rPr lang="en-US" dirty="0"/>
              <a:t>Round 137.5 to 3 digits using default rounding</a:t>
            </a:r>
          </a:p>
          <a:p>
            <a:r>
              <a:rPr lang="en-US" dirty="0"/>
              <a:t>Is the result of 137.5 - 82.4 precise?</a:t>
            </a:r>
          </a:p>
          <a:p>
            <a:r>
              <a:rPr lang="en-US" dirty="0"/>
              <a:t>If MAX is the largest representable single precision FP number: what’s the result of MAX + 0.1 - MAX ? And of Max + Max/1024 –Max ?</a:t>
            </a:r>
          </a:p>
          <a:p>
            <a:r>
              <a:rPr lang="en-US" dirty="0"/>
              <a:t>What is the result of 2.0 &lt; </a:t>
            </a:r>
            <a:r>
              <a:rPr lang="en-US" dirty="0" err="1"/>
              <a:t>NaN</a:t>
            </a:r>
            <a:r>
              <a:rPr lang="en-US" dirty="0"/>
              <a:t> when compiled with –</a:t>
            </a:r>
            <a:r>
              <a:rPr lang="en-US" dirty="0" err="1"/>
              <a:t>ffinite</a:t>
            </a:r>
            <a:r>
              <a:rPr lang="en-US" dirty="0"/>
              <a:t>-math-only?</a:t>
            </a:r>
          </a:p>
          <a:p>
            <a:r>
              <a:rPr lang="en-US" dirty="0"/>
              <a:t>What’s the difference between sin(x) and </a:t>
            </a:r>
            <a:r>
              <a:rPr lang="en-US" dirty="0" err="1"/>
              <a:t>sinpi</a:t>
            </a:r>
            <a:r>
              <a:rPr lang="en-US" dirty="0"/>
              <a:t>(x)?</a:t>
            </a:r>
          </a:p>
          <a:p>
            <a:r>
              <a:rPr lang="en-US" dirty="0"/>
              <a:t>When the “Table Maker Dilemma” occur?</a:t>
            </a:r>
          </a:p>
          <a:p>
            <a:r>
              <a:rPr lang="en-US" dirty="0"/>
              <a:t>What is faster: a </a:t>
            </a:r>
            <a:r>
              <a:rPr lang="en-US" dirty="0" err="1"/>
              <a:t>fma</a:t>
            </a:r>
            <a:r>
              <a:rPr lang="en-US" dirty="0"/>
              <a:t> instruction or a division?</a:t>
            </a:r>
          </a:p>
          <a:p>
            <a:r>
              <a:rPr lang="en-US" dirty="0"/>
              <a:t>How many </a:t>
            </a:r>
            <a:r>
              <a:rPr lang="en-US" dirty="0" err="1"/>
              <a:t>fma</a:t>
            </a:r>
            <a:r>
              <a:rPr lang="en-US" dirty="0"/>
              <a:t> instructions a modern processor can execute while a similar one is computing a single precision ”sin” functions?</a:t>
            </a:r>
          </a:p>
          <a:p>
            <a:endParaRPr lang="en-US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C1D86CD1-CD22-EA2E-555E-3DB54C654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983" y="0"/>
            <a:ext cx="2628017" cy="190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32D96-C23B-F5B8-5008-1F1828EE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70AA1-7AA0-0CBF-F6AA-7F60BB8D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A5DC-79AE-EA4D-AC23-859B92B9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058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187B4-7540-02AE-9C86-4635C5BD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“additional” material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D3D0B-89E3-D3E8-10FD-CFEE306A7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FF54A-1EBC-6155-C4BE-81AB18E9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F3478-8596-AF21-564D-0AA351FD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05C1-4C3E-DC30-4A4B-43ACEFE5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142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4E89-0E34-D19A-1A80-75A97E6E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precision is good enough?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1851CF-B761-8255-2E25-6301649AD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999747"/>
              </p:ext>
            </p:extLst>
          </p:nvPr>
        </p:nvGraphicFramePr>
        <p:xfrm>
          <a:off x="341424" y="1690688"/>
          <a:ext cx="5754576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921">
                  <a:extLst>
                    <a:ext uri="{9D8B030D-6E8A-4147-A177-3AD203B41FA5}">
                      <a16:colId xmlns:a16="http://schemas.microsoft.com/office/drawing/2014/main" val="2100930270"/>
                    </a:ext>
                  </a:extLst>
                </a:gridCol>
                <a:gridCol w="1090461">
                  <a:extLst>
                    <a:ext uri="{9D8B030D-6E8A-4147-A177-3AD203B41FA5}">
                      <a16:colId xmlns:a16="http://schemas.microsoft.com/office/drawing/2014/main" val="2668942958"/>
                    </a:ext>
                  </a:extLst>
                </a:gridCol>
                <a:gridCol w="965514">
                  <a:extLst>
                    <a:ext uri="{9D8B030D-6E8A-4147-A177-3AD203B41FA5}">
                      <a16:colId xmlns:a16="http://schemas.microsoft.com/office/drawing/2014/main" val="419510664"/>
                    </a:ext>
                  </a:extLst>
                </a:gridCol>
                <a:gridCol w="2901680">
                  <a:extLst>
                    <a:ext uri="{9D8B030D-6E8A-4147-A177-3AD203B41FA5}">
                      <a16:colId xmlns:a16="http://schemas.microsoft.com/office/drawing/2014/main" val="3116060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relative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764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uint8 ( byte)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5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float16  (half)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45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1.5E-5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uint16  (short)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09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1.2E-7</a:t>
                      </a:r>
                      <a:endParaRPr lang="en-US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float32  (float)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7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2.3E-10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uint32  (int)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9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1.1E-16</a:t>
                      </a:r>
                      <a:endParaRPr lang="en-US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float64 (double)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597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5.4E-20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uint64   (long long)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1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1.9E-34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float128 (quad)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63281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748A0-7198-238D-2C8D-7BA77F55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E8837-DE4C-3170-1654-FB129C3E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F5A9-0832-ED92-6ADE-96AD9012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541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Example: cut in pt, phi, eta</a:t>
            </a:r>
          </a:p>
        </p:txBody>
      </p:sp>
      <p:sp>
        <p:nvSpPr>
          <p:cNvPr id="5222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F8E13EF-96D1-8A4C-8131-8CAED82A2CC6}" type="slidenum">
              <a:rPr lang="it-IT" altLang="x-none" sz="1200">
                <a:latin typeface="Garamond" charset="0"/>
              </a:rPr>
              <a:pPr eaLnBrk="1" hangingPunct="1"/>
              <a:t>67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52229" name="TextBox 5"/>
          <p:cNvSpPr txBox="1">
            <a:spLocks noChangeArrowheads="1"/>
          </p:cNvSpPr>
          <p:nvPr/>
        </p:nvSpPr>
        <p:spPr bwMode="auto">
          <a:xfrm>
            <a:off x="1159097" y="1222377"/>
            <a:ext cx="8259763" cy="2584450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inline float pt2(float x, float y) {return x*</a:t>
            </a:r>
            <a:r>
              <a:rPr lang="en-US" altLang="x-none" sz="1800" err="1"/>
              <a:t>x+y</a:t>
            </a:r>
            <a:r>
              <a:rPr lang="en-US" altLang="x-none" sz="1800"/>
              <a:t>*y;}</a:t>
            </a:r>
          </a:p>
          <a:p>
            <a:pPr eaLnBrk="1" hangingPunct="1"/>
            <a:r>
              <a:rPr lang="en-US" altLang="x-none" sz="1800"/>
              <a:t>inline float pt(float x, float y) {return std::sqrt(pt2(</a:t>
            </a:r>
            <a:r>
              <a:rPr lang="en-US" altLang="x-none" sz="1800" err="1"/>
              <a:t>x,y</a:t>
            </a:r>
            <a:r>
              <a:rPr lang="en-US" altLang="x-none" sz="1800"/>
              <a:t>));}</a:t>
            </a:r>
          </a:p>
          <a:p>
            <a:pPr eaLnBrk="1" hangingPunct="1"/>
            <a:r>
              <a:rPr lang="en-US" altLang="x-none" sz="1800"/>
              <a:t>inline float phi(float x, float y) {return std::atan2(</a:t>
            </a:r>
            <a:r>
              <a:rPr lang="en-US" altLang="x-none" sz="1800" err="1"/>
              <a:t>y,x</a:t>
            </a:r>
            <a:r>
              <a:rPr lang="en-US" altLang="x-none" sz="1800"/>
              <a:t>);}</a:t>
            </a:r>
          </a:p>
          <a:p>
            <a:pPr eaLnBrk="1" hangingPunct="1"/>
            <a:r>
              <a:rPr lang="en-US" altLang="x-none" sz="1800"/>
              <a:t>inline eta(float x, float y, float z) { float t(z/pt(</a:t>
            </a:r>
            <a:r>
              <a:rPr lang="en-US" altLang="x-none" sz="1800" err="1"/>
              <a:t>x,y</a:t>
            </a:r>
            <a:r>
              <a:rPr lang="en-US" altLang="x-none" sz="1800"/>
              <a:t>)); return ::</a:t>
            </a:r>
            <a:r>
              <a:rPr lang="en-US" altLang="x-none" sz="1800" err="1"/>
              <a:t>asinhf</a:t>
            </a:r>
            <a:r>
              <a:rPr lang="en-US" altLang="x-none" sz="1800"/>
              <a:t>(t);} </a:t>
            </a:r>
          </a:p>
          <a:p>
            <a:pPr eaLnBrk="1" hangingPunct="1"/>
            <a:r>
              <a:rPr lang="en-US" altLang="x-none" sz="1800"/>
              <a:t>inline float dot(float x1, float y1, float x2, float y2) {return x1*x2+y1*y2;}</a:t>
            </a:r>
          </a:p>
          <a:p>
            <a:pPr eaLnBrk="1" hangingPunct="1"/>
            <a:r>
              <a:rPr lang="en-US" altLang="x-none" sz="1800"/>
              <a:t>Inline float </a:t>
            </a:r>
            <a:r>
              <a:rPr lang="en-US" altLang="x-none" sz="1800" err="1"/>
              <a:t>dphi</a:t>
            </a:r>
            <a:r>
              <a:rPr lang="en-US" altLang="x-none" sz="1800"/>
              <a:t>(float p1,float p2) {</a:t>
            </a:r>
          </a:p>
          <a:p>
            <a:pPr eaLnBrk="1" hangingPunct="1"/>
            <a:r>
              <a:rPr lang="en-US" altLang="x-none" sz="1800"/>
              <a:t>    auto </a:t>
            </a:r>
            <a:r>
              <a:rPr lang="en-US" altLang="x-none" sz="1800" err="1"/>
              <a:t>dp</a:t>
            </a:r>
            <a:r>
              <a:rPr lang="en-US" altLang="x-none" sz="1800"/>
              <a:t>=std::abs(p1-p2); if (</a:t>
            </a:r>
            <a:r>
              <a:rPr lang="en-US" altLang="x-none" sz="1800" err="1"/>
              <a:t>dp</a:t>
            </a:r>
            <a:r>
              <a:rPr lang="en-US" altLang="x-none" sz="1800"/>
              <a:t>&gt;float(M_PI)) </a:t>
            </a:r>
            <a:r>
              <a:rPr lang="en-US" altLang="x-none" sz="1800" err="1"/>
              <a:t>dp</a:t>
            </a:r>
            <a:r>
              <a:rPr lang="en-US" altLang="x-none" sz="1800"/>
              <a:t>-=float(2*M_PI);</a:t>
            </a:r>
          </a:p>
          <a:p>
            <a:pPr eaLnBrk="1" hangingPunct="1"/>
            <a:r>
              <a:rPr lang="en-US" altLang="x-none" sz="1800"/>
              <a:t>    return std::abs(</a:t>
            </a:r>
            <a:r>
              <a:rPr lang="en-US" altLang="x-none" sz="1800" err="1"/>
              <a:t>dp</a:t>
            </a:r>
            <a:r>
              <a:rPr lang="en-US" altLang="x-none" sz="1800"/>
              <a:t>);</a:t>
            </a:r>
          </a:p>
          <a:p>
            <a:pPr eaLnBrk="1" hangingPunct="1"/>
            <a:r>
              <a:rPr lang="en-US" altLang="x-none" sz="1800"/>
              <a:t>}; </a:t>
            </a: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1159097" y="4031458"/>
            <a:ext cx="8258175" cy="1476375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 if (pt(x[i],y[i])&gt;ptcut) …</a:t>
            </a: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/>
              <a:t>if (dphi(phi(x[i],y[i]),phi(x[j],y[j]))&lt;phicut) ….</a:t>
            </a:r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</p:txBody>
      </p:sp>
      <p:sp>
        <p:nvSpPr>
          <p:cNvPr id="52231" name="TextBox 8"/>
          <p:cNvSpPr txBox="1">
            <a:spLocks noChangeArrowheads="1"/>
          </p:cNvSpPr>
          <p:nvPr/>
        </p:nvSpPr>
        <p:spPr bwMode="auto">
          <a:xfrm>
            <a:off x="3863976" y="5732464"/>
            <a:ext cx="2314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Exercise in ptcut.cpp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D3490-4496-5DE2-48C7-78644AC3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>
          <a:xfrm>
            <a:off x="1847850" y="260351"/>
            <a:ext cx="8229600" cy="1139825"/>
          </a:xfrm>
        </p:spPr>
        <p:txBody>
          <a:bodyPr/>
          <a:lstStyle/>
          <a:p>
            <a:r>
              <a:rPr lang="en-US" altLang="x-none" sz="3200"/>
              <a:t>Example: detector of size 1 m and resolution 10 micron       (required accuracy: ~1micron?)</a:t>
            </a:r>
          </a:p>
        </p:txBody>
      </p:sp>
      <p:sp>
        <p:nvSpPr>
          <p:cNvPr id="4301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B7FFE41-57C6-9246-8957-219FD2921327}" type="slidenum">
              <a:rPr lang="it-IT" altLang="x-none" sz="1200">
                <a:latin typeface="Garamond" charset="0"/>
              </a:rPr>
              <a:pPr eaLnBrk="1" hangingPunct="1"/>
              <a:t>68</a:t>
            </a:fld>
            <a:endParaRPr lang="it-IT" altLang="x-none" sz="1200">
              <a:latin typeface="Garamond" charset="0"/>
            </a:endParaRP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2135188" y="1989138"/>
            <a:ext cx="36004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2135188" y="3789363"/>
            <a:ext cx="36004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>
            <a:off x="2135188" y="5589588"/>
            <a:ext cx="36004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6240464" y="1628775"/>
            <a:ext cx="3859775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three measurement planes</a:t>
            </a:r>
          </a:p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Is single precision enough to represent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geometric elements?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Measurements?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computed trajectory?</a:t>
            </a:r>
          </a:p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Is enough to perform computation?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3575051" y="1916114"/>
            <a:ext cx="144463" cy="123825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9999"/>
            </a:solidFill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en-US" altLang="x-none" sz="1800">
              <a:solidFill>
                <a:srgbClr val="FFFFFF"/>
              </a:solidFill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3143251" y="3716339"/>
            <a:ext cx="144463" cy="12223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9999"/>
            </a:solidFill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en-US" altLang="x-none" sz="1800">
              <a:solidFill>
                <a:srgbClr val="FFFFFF"/>
              </a:solidFill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575051" y="5516564"/>
            <a:ext cx="144463" cy="12223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9999"/>
            </a:solidFill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en-US" altLang="x-none" sz="1800">
              <a:solidFill>
                <a:srgbClr val="FFFFFF"/>
              </a:solidFill>
            </a:endParaRPr>
          </a:p>
        </p:txBody>
      </p:sp>
      <p:sp>
        <p:nvSpPr>
          <p:cNvPr id="9" name="Arc 8"/>
          <p:cNvSpPr>
            <a:spLocks/>
          </p:cNvSpPr>
          <p:nvPr/>
        </p:nvSpPr>
        <p:spPr bwMode="auto">
          <a:xfrm>
            <a:off x="3216275" y="1412876"/>
            <a:ext cx="2374900" cy="4752975"/>
          </a:xfrm>
          <a:custGeom>
            <a:avLst/>
            <a:gdLst>
              <a:gd name="T0" fmla="*/ 812674 w 2374900"/>
              <a:gd name="T1" fmla="*/ 4631507 h 4752975"/>
              <a:gd name="T2" fmla="*/ 122 w 2374900"/>
              <a:gd name="T3" fmla="*/ 2342478 h 4752975"/>
              <a:gd name="T4" fmla="*/ 936948 w 2374900"/>
              <a:gd name="T5" fmla="*/ 53482 h 47529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74900" h="4752975" stroke="0">
                <a:moveTo>
                  <a:pt x="812674" y="4631507"/>
                </a:moveTo>
                <a:cubicBezTo>
                  <a:pt x="321473" y="4304527"/>
                  <a:pt x="-7286" y="3378384"/>
                  <a:pt x="122" y="2342478"/>
                </a:cubicBezTo>
                <a:cubicBezTo>
                  <a:pt x="8034" y="1236025"/>
                  <a:pt x="396478" y="286921"/>
                  <a:pt x="936948" y="53482"/>
                </a:cubicBezTo>
                <a:lnTo>
                  <a:pt x="1187450" y="2376488"/>
                </a:lnTo>
                <a:lnTo>
                  <a:pt x="812674" y="4631507"/>
                </a:lnTo>
                <a:close/>
              </a:path>
              <a:path w="2374900" h="4752975" fill="none">
                <a:moveTo>
                  <a:pt x="812674" y="4631507"/>
                </a:moveTo>
                <a:cubicBezTo>
                  <a:pt x="321473" y="4304527"/>
                  <a:pt x="-7286" y="3378384"/>
                  <a:pt x="122" y="2342478"/>
                </a:cubicBezTo>
                <a:cubicBezTo>
                  <a:pt x="8034" y="1236025"/>
                  <a:pt x="396478" y="286921"/>
                  <a:pt x="936948" y="5348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13" name="Straight Connector 12"/>
          <p:cNvCxnSpPr>
            <a:cxnSpLocks noChangeShapeType="1"/>
            <a:stCxn id="7" idx="4"/>
            <a:endCxn id="17" idx="0"/>
          </p:cNvCxnSpPr>
          <p:nvPr/>
        </p:nvCxnSpPr>
        <p:spPr bwMode="auto">
          <a:xfrm>
            <a:off x="3648075" y="2039939"/>
            <a:ext cx="0" cy="3476625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2" name="TextBox 13"/>
          <p:cNvSpPr txBox="1">
            <a:spLocks noChangeArrowheads="1"/>
          </p:cNvSpPr>
          <p:nvPr/>
        </p:nvSpPr>
        <p:spPr bwMode="auto">
          <a:xfrm>
            <a:off x="6888163" y="4076700"/>
            <a:ext cx="3376612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Trajectory: circle with radius </a:t>
            </a:r>
            <a:r>
              <a:rPr lang="en-US" altLang="x-none" sz="1800">
                <a:latin typeface="Lucida Calligraphy" charset="0"/>
              </a:rPr>
              <a:t>r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s</a:t>
            </a:r>
            <a:r>
              <a:rPr lang="en-US" altLang="x-none" sz="1800"/>
              <a:t> is the sagita, </a:t>
            </a:r>
            <a:r>
              <a:rPr lang="en-US" altLang="x-none" sz="1800">
                <a:latin typeface="Lucida Calligraphy" charset="0"/>
              </a:rPr>
              <a:t>h </a:t>
            </a:r>
            <a:r>
              <a:rPr lang="en-US" altLang="x-none" sz="1800"/>
              <a:t>the half-chord</a:t>
            </a: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r = (s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+h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 /2s ~ 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/2s 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  </a:t>
            </a:r>
            <a:r>
              <a:rPr lang="en-US" altLang="x-none" sz="1800">
                <a:latin typeface="Lucida Calligraphy" charset="0"/>
              </a:rPr>
              <a:t>= 2sr - s</a:t>
            </a:r>
            <a:r>
              <a:rPr lang="en-US" altLang="x-none" sz="1800" baseline="30000">
                <a:latin typeface="Lucida Calligraphy" charset="0"/>
              </a:rPr>
              <a:t>2</a:t>
            </a:r>
          </a:p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 </a:t>
            </a:r>
            <a:r>
              <a:rPr lang="en-US" altLang="x-none" sz="1800">
                <a:latin typeface="Lucida Calligraphy" charset="0"/>
              </a:rPr>
              <a:t>= r + 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m</a:t>
            </a:r>
            <a:endParaRPr lang="en-US" altLang="x-none" sz="1800">
              <a:latin typeface="Lucida Calligraphy" charset="0"/>
            </a:endParaRPr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</p:txBody>
      </p:sp>
      <p:sp>
        <p:nvSpPr>
          <p:cNvPr id="43023" name="TextBox 17"/>
          <p:cNvSpPr txBox="1">
            <a:spLocks noChangeArrowheads="1"/>
          </p:cNvSpPr>
          <p:nvPr/>
        </p:nvSpPr>
        <p:spPr bwMode="auto">
          <a:xfrm>
            <a:off x="3935414" y="2708275"/>
            <a:ext cx="1385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/>
              <a:t> = 500mm</a:t>
            </a:r>
          </a:p>
        </p:txBody>
      </p:sp>
      <p:sp>
        <p:nvSpPr>
          <p:cNvPr id="43024" name="TextBox 18"/>
          <p:cNvSpPr txBox="1">
            <a:spLocks noChangeArrowheads="1"/>
          </p:cNvSpPr>
          <p:nvPr/>
        </p:nvSpPr>
        <p:spPr bwMode="auto">
          <a:xfrm>
            <a:off x="3359150" y="3789363"/>
            <a:ext cx="288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latin typeface="Lucida Calligraphy" charset="0"/>
              </a:rPr>
              <a:t>s</a:t>
            </a:r>
          </a:p>
        </p:txBody>
      </p: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>
            <a:off x="3287713" y="3860800"/>
            <a:ext cx="381000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arrow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6" name="TextBox 27"/>
          <p:cNvSpPr txBox="1">
            <a:spLocks noChangeArrowheads="1"/>
          </p:cNvSpPr>
          <p:nvPr/>
        </p:nvSpPr>
        <p:spPr bwMode="auto">
          <a:xfrm>
            <a:off x="4727576" y="3789363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</a:p>
        </p:txBody>
      </p:sp>
      <p:cxnSp>
        <p:nvCxnSpPr>
          <p:cNvPr id="24" name="Straight Arrow Connector 23"/>
          <p:cNvCxnSpPr>
            <a:cxnSpLocks noChangeShapeType="1"/>
          </p:cNvCxnSpPr>
          <p:nvPr/>
        </p:nvCxnSpPr>
        <p:spPr bwMode="auto">
          <a:xfrm>
            <a:off x="5375276" y="4005263"/>
            <a:ext cx="504825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8" name="TextBox 33"/>
          <p:cNvSpPr txBox="1">
            <a:spLocks noChangeArrowheads="1"/>
          </p:cNvSpPr>
          <p:nvPr/>
        </p:nvSpPr>
        <p:spPr bwMode="auto">
          <a:xfrm>
            <a:off x="2351089" y="3789363"/>
            <a:ext cx="936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m</a:t>
            </a:r>
            <a:endParaRPr lang="en-US" altLang="x-none" sz="1800">
              <a:solidFill>
                <a:srgbClr val="FF0000"/>
              </a:solidFill>
              <a:latin typeface="Lucida Calligraphy" charset="0"/>
            </a:endParaRPr>
          </a:p>
        </p:txBody>
      </p:sp>
      <p:sp>
        <p:nvSpPr>
          <p:cNvPr id="43029" name="TextBox 34"/>
          <p:cNvSpPr txBox="1">
            <a:spLocks noChangeArrowheads="1"/>
          </p:cNvSpPr>
          <p:nvPr/>
        </p:nvSpPr>
        <p:spPr bwMode="auto">
          <a:xfrm>
            <a:off x="2782888" y="558958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b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b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</a:p>
        </p:txBody>
      </p:sp>
      <p:sp>
        <p:nvSpPr>
          <p:cNvPr id="43030" name="TextBox 35"/>
          <p:cNvSpPr txBox="1">
            <a:spLocks noChangeArrowheads="1"/>
          </p:cNvSpPr>
          <p:nvPr/>
        </p:nvSpPr>
        <p:spPr bwMode="auto">
          <a:xfrm>
            <a:off x="2782888" y="1628775"/>
            <a:ext cx="792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t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t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</a:p>
        </p:txBody>
      </p: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 flipV="1">
            <a:off x="3935413" y="2060576"/>
            <a:ext cx="0" cy="165576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arrow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97F97-E819-0D00-8197-F99C3903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>
          <a:xfrm>
            <a:off x="1992313" y="188913"/>
            <a:ext cx="8229600" cy="919162"/>
          </a:xfrm>
        </p:spPr>
        <p:txBody>
          <a:bodyPr/>
          <a:lstStyle/>
          <a:p>
            <a:r>
              <a:rPr lang="en-US" altLang="x-none"/>
              <a:t>Circle equation and solutions</a:t>
            </a:r>
          </a:p>
        </p:txBody>
      </p:sp>
      <p:sp>
        <p:nvSpPr>
          <p:cNvPr id="440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40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95212A31-810B-054D-BB61-8593D637FD85}" type="slidenum">
              <a:rPr lang="it-IT" altLang="x-none" sz="1200">
                <a:latin typeface="Garamond" charset="0"/>
              </a:rPr>
              <a:pPr eaLnBrk="1" hangingPunct="1"/>
              <a:t>69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43013" name="TextBox 6"/>
          <p:cNvSpPr txBox="1">
            <a:spLocks noChangeArrowheads="1"/>
          </p:cNvSpPr>
          <p:nvPr/>
        </p:nvSpPr>
        <p:spPr bwMode="auto">
          <a:xfrm>
            <a:off x="2516229" y="1187807"/>
            <a:ext cx="6737742" cy="498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latin typeface="Lucida Calligraphy" charset="0"/>
              </a:rPr>
              <a:t>(x-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</a:t>
            </a:r>
            <a:r>
              <a:rPr lang="en-US" altLang="x-none" sz="1800">
                <a:latin typeface="Lucida Calligraphy" charset="0"/>
              </a:rPr>
              <a:t>(y-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= r</a:t>
            </a:r>
            <a:r>
              <a:rPr lang="en-US" altLang="x-none" sz="1800" baseline="30000">
                <a:latin typeface="Lucida Calligraphy" charset="0"/>
              </a:rPr>
              <a:t>2</a:t>
            </a:r>
          </a:p>
          <a:p>
            <a:pPr eaLnBrk="1" hangingPunct="1"/>
            <a:endParaRPr lang="en-US" altLang="x-none" sz="1800" baseline="30000">
              <a:latin typeface="Lucida Calligraphy" charset="0"/>
            </a:endParaRPr>
          </a:p>
          <a:p>
            <a:pPr eaLnBrk="1" hangingPunct="1"/>
            <a:r>
              <a:rPr lang="en-US" altLang="x-none" sz="1800">
                <a:latin typeface="Lucida Calligraphy" charset="0"/>
              </a:rPr>
              <a:t>Compute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t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 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   (x for y=h)</a:t>
            </a:r>
            <a:endParaRPr lang="en-US" altLang="x-none" sz="1800" baseline="-25000">
              <a:solidFill>
                <a:srgbClr val="FF0000"/>
              </a:solidFill>
              <a:latin typeface="Lucida Calligraphy" charset="0"/>
            </a:endParaRPr>
          </a:p>
          <a:p>
            <a:pPr eaLnBrk="1" hangingPunct="1"/>
            <a:endParaRPr lang="en-US" altLang="x-none" sz="1800" baseline="-25000">
              <a:solidFill>
                <a:srgbClr val="FF0000"/>
              </a:solidFill>
              <a:latin typeface="Lucida Calligraphy" charset="0"/>
            </a:endParaRPr>
          </a:p>
          <a:p>
            <a:pPr eaLnBrk="1" hangingPunct="1"/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x</a:t>
            </a:r>
            <a:r>
              <a:rPr lang="en-US" altLang="x-none" sz="1800" baseline="30000"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= 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latin typeface="Lucida Calligraphy" charset="0"/>
              </a:rPr>
              <a:t> 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-  (</a:t>
            </a:r>
            <a:r>
              <a:rPr lang="en-US" altLang="x-none" sz="1800">
                <a:latin typeface="Lucida Calligraphy" charset="0"/>
              </a:rPr>
              <a:t>r</a:t>
            </a:r>
            <a:r>
              <a:rPr lang="en-US" altLang="x-none" sz="1800" baseline="30000">
                <a:latin typeface="Lucida Calligraphy" charset="0"/>
              </a:rPr>
              <a:t>2 –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1/2</a:t>
            </a:r>
            <a:r>
              <a:rPr lang="en-US" altLang="x-none" sz="1800">
                <a:latin typeface="Lucida Calligraphy" charset="0"/>
              </a:rPr>
              <a:t>     ~ 0 (zero)</a:t>
            </a:r>
            <a:endParaRPr lang="en-US" altLang="x-none" sz="1800" baseline="30000">
              <a:latin typeface="Lucida Calligraphy" charset="0"/>
            </a:endParaRPr>
          </a:p>
          <a:p>
            <a:pPr eaLnBrk="1" hangingPunct="1"/>
            <a:endParaRPr lang="en-US" altLang="x-none" sz="1800" baseline="-25000">
              <a:solidFill>
                <a:srgbClr val="FF0000"/>
              </a:solidFill>
              <a:latin typeface="Lucida Calligraphy" charset="0"/>
            </a:endParaRPr>
          </a:p>
          <a:p>
            <a:pPr eaLnBrk="1" hangingPunct="1"/>
            <a:r>
              <a:rPr lang="en-US" altLang="x-none" sz="1800"/>
              <a:t>Alternative formulation equivalent to change of </a:t>
            </a:r>
          </a:p>
          <a:p>
            <a:pPr eaLnBrk="1" hangingPunct="1"/>
            <a:r>
              <a:rPr lang="en-US" altLang="x-none" sz="1800"/>
              <a:t>coordinate centered at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,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 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 </a:t>
            </a:r>
            <a:r>
              <a:rPr lang="en-US" altLang="x-none" sz="1800">
                <a:latin typeface="Lucida Calligraphy" charset="0"/>
              </a:rPr>
              <a:t>(y-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  </a:t>
            </a:r>
            <a:r>
              <a:rPr lang="en-US" altLang="x-none" sz="1800">
                <a:latin typeface="Lucida Calligraphy" charset="0"/>
              </a:rPr>
              <a:t>-2ar(x-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-2br</a:t>
            </a:r>
            <a:r>
              <a:rPr lang="en-US" altLang="x-none" sz="1800">
                <a:latin typeface="Lucida Calligraphy" charset="0"/>
              </a:rPr>
              <a:t>(y-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= 0</a:t>
            </a:r>
          </a:p>
          <a:p>
            <a:pPr eaLnBrk="1" hangingPunct="1"/>
            <a:r>
              <a:rPr lang="en-US" altLang="x-none" sz="1800"/>
              <a:t>In our simplified case </a:t>
            </a:r>
            <a:r>
              <a:rPr lang="en-US" altLang="x-none" sz="1800">
                <a:latin typeface="Lucida Calligraphy" charset="0"/>
              </a:rPr>
              <a:t>a=1, b=0,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=0</a:t>
            </a: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2  </a:t>
            </a:r>
            <a:r>
              <a:rPr lang="en-US" altLang="x-none" sz="1800">
                <a:latin typeface="Lucida Calligraphy" charset="0"/>
              </a:rPr>
              <a:t>- 2(x-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>
                <a:latin typeface="Lucida Calligraphy" charset="0"/>
              </a:rPr>
              <a:t>r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 </a:t>
            </a:r>
            <a:r>
              <a:rPr lang="en-US" altLang="x-none" sz="1800" baseline="30000"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= 0</a:t>
            </a:r>
            <a:endParaRPr lang="en-US" altLang="x-none" sz="1800" baseline="30000">
              <a:latin typeface="Lucida Calligraphy" charset="0"/>
            </a:endParaRP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x =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 </a:t>
            </a:r>
            <a:r>
              <a:rPr lang="en-US" altLang="x-none" sz="1800"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r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- (</a:t>
            </a:r>
            <a:r>
              <a:rPr lang="en-US" altLang="x-none" sz="1800">
                <a:latin typeface="Lucida Calligraphy" charset="0"/>
              </a:rPr>
              <a:t>r</a:t>
            </a:r>
            <a:r>
              <a:rPr lang="en-US" altLang="x-none" sz="1800" baseline="30000">
                <a:latin typeface="Lucida Calligraphy" charset="0"/>
              </a:rPr>
              <a:t>2 –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1/2   </a:t>
            </a:r>
            <a:r>
              <a:rPr lang="en-US" altLang="x-none" sz="1800">
                <a:latin typeface="Lucida Calligraphy" charset="0"/>
              </a:rPr>
              <a:t>~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latin typeface="Lucida Calligraphy" charset="0"/>
              </a:rPr>
              <a:t>              </a:t>
            </a:r>
            <a:r>
              <a:rPr lang="en-US" altLang="x-none" sz="1800">
                <a:latin typeface="+mn-lt"/>
              </a:rPr>
              <a:t>(naïve: cancellation!!)</a:t>
            </a:r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x =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 </a:t>
            </a:r>
            <a:r>
              <a:rPr lang="en-US" altLang="x-none" sz="1800"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 </a:t>
            </a:r>
            <a:r>
              <a:rPr lang="en-US" altLang="x-none" sz="1800">
                <a:latin typeface="Lucida Calligraphy" charset="0"/>
              </a:rPr>
              <a:t>/ (r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 (</a:t>
            </a:r>
            <a:r>
              <a:rPr lang="en-US" altLang="x-none" sz="1800">
                <a:latin typeface="Lucida Calligraphy" charset="0"/>
              </a:rPr>
              <a:t>r</a:t>
            </a:r>
            <a:r>
              <a:rPr lang="en-US" altLang="x-none" sz="1800" baseline="30000">
                <a:latin typeface="Lucida Calligraphy" charset="0"/>
              </a:rPr>
              <a:t>2 –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1/2</a:t>
            </a:r>
            <a:r>
              <a:rPr lang="en-US" altLang="x-none" sz="1800">
                <a:latin typeface="Lucida Calligraphy" charset="0"/>
              </a:rPr>
              <a:t> )   ~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 </a:t>
            </a:r>
            <a:r>
              <a:rPr lang="en-US" altLang="x-none" sz="1800">
                <a:latin typeface="Lucida Calligraphy" charset="0"/>
              </a:rPr>
              <a:t>/ 2r   </a:t>
            </a:r>
            <a:r>
              <a:rPr lang="en-US" altLang="x-none" sz="1800"/>
              <a:t>(optimal)</a:t>
            </a:r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</p:txBody>
      </p:sp>
      <p:sp>
        <p:nvSpPr>
          <p:cNvPr id="44038" name="TextBox 1"/>
          <p:cNvSpPr txBox="1">
            <a:spLocks noChangeArrowheads="1"/>
          </p:cNvSpPr>
          <p:nvPr/>
        </p:nvSpPr>
        <p:spPr bwMode="auto">
          <a:xfrm>
            <a:off x="1465886" y="5615582"/>
            <a:ext cx="1007407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A correct choice of algorithm can allow to use a reduced precision to obtain the same accuracy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x-none" sz="1800"/>
              <a:t>Faster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x-none" sz="1800"/>
              <a:t>Smaller memory footprint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062F-5D33-7AB7-ECCB-830A3D61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5F96-FA60-9B0C-1DB9-F8EEDD32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0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Example: CMS tracker</a:t>
            </a:r>
            <a:br>
              <a:rPr lang="en-US"/>
            </a:br>
            <a:r>
              <a:rPr lang="en-US" sz="3100">
                <a:hlinkClick r:id="rId2"/>
              </a:rPr>
              <a:t>https://cms-tklayout.web.cern.ch/cmssw/OT806_IT742/info.html</a:t>
            </a:r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20FDB2D-A0A4-C240-D275-1539E67F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846" y="1775749"/>
            <a:ext cx="7396717" cy="246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18AFFAC5-1116-4C6B-D799-E44512644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552354"/>
            <a:ext cx="2775098" cy="277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2F28B3-807A-F852-A8FD-7F09A1F98605}"/>
              </a:ext>
            </a:extLst>
          </p:cNvPr>
          <p:cNvSpPr txBox="1"/>
          <p:nvPr/>
        </p:nvSpPr>
        <p:spPr>
          <a:xfrm>
            <a:off x="340240" y="4326383"/>
            <a:ext cx="4954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Spatial resolution: (alignment error to be added)</a:t>
            </a:r>
          </a:p>
          <a:p>
            <a:r>
              <a:rPr lang="en-US"/>
              <a:t>IT:   σ</a:t>
            </a:r>
            <a:r>
              <a:rPr lang="en-US" baseline="-25000"/>
              <a:t>x</a:t>
            </a:r>
            <a:r>
              <a:rPr lang="en-US"/>
              <a:t>~3μ σ</a:t>
            </a:r>
            <a:r>
              <a:rPr lang="en-US" baseline="-25000"/>
              <a:t>z</a:t>
            </a:r>
            <a:r>
              <a:rPr lang="en-US"/>
              <a:t>~10μ  at r&lt;15cm |z|&lt;20cm</a:t>
            </a:r>
          </a:p>
          <a:p>
            <a:r>
              <a:rPr lang="en-US"/>
              <a:t>OT: σ</a:t>
            </a:r>
            <a:r>
              <a:rPr lang="en-US" baseline="-25000"/>
              <a:t>x</a:t>
            </a:r>
            <a:r>
              <a:rPr lang="en-US"/>
              <a:t>~20μ σ</a:t>
            </a:r>
            <a:r>
              <a:rPr lang="en-US" baseline="-25000"/>
              <a:t>z</a:t>
            </a:r>
            <a:r>
              <a:rPr lang="en-US"/>
              <a:t>~425μ  at r&lt;120cm |z|&lt;130cm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63F2B-7D66-A934-3E4A-5ADDB8CD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DCA85-5ED4-D5FD-D1ED-CBC1E451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6024-9344-3CA3-1226-88E0E93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802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581C-82E0-8D16-FA39-E76292CC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Track resolution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C3916E-4368-4D92-4FE0-0A2A1BD5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977" y="137266"/>
            <a:ext cx="5384800" cy="1993900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1AC6E908-414B-B976-A5C5-E78C10392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" y="1918547"/>
            <a:ext cx="4325343" cy="288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9CF9420D-CFC5-F39E-7FA4-6D6BD06D0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695" y="1965878"/>
            <a:ext cx="4325343" cy="288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8E06164F-8C16-E128-B842-56109EC9F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289" y="2066758"/>
            <a:ext cx="4447488" cy="296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C684E8-33F7-FE45-48F9-262528C600AF}"/>
              </a:ext>
            </a:extLst>
          </p:cNvPr>
          <p:cNvSpPr txBox="1"/>
          <p:nvPr/>
        </p:nvSpPr>
        <p:spPr>
          <a:xfrm>
            <a:off x="868326" y="2277509"/>
            <a:ext cx="121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1Gev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70C0"/>
                </a:solidFill>
              </a:rPr>
              <a:t>10GeV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FF0000"/>
                </a:solidFill>
              </a:rPr>
              <a:t>100GeV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E2636-66F2-D591-32EF-397031DA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7F6D5-C5FB-D65A-77C5-8DA203E7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8D14C-8396-966D-10C8-7FC33260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37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FB8E-82F8-EF95-7B40-FF6E1C13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CMS Electromagnetic </a:t>
            </a:r>
            <a:r>
              <a:rPr lang="en-US" err="1"/>
              <a:t>Calorimiter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9D161-A33C-BFA5-F0C8-F49A9386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1733546"/>
            <a:ext cx="4447363" cy="31131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6047C5-E321-4DA3-3868-82E182D2678C}"/>
              </a:ext>
            </a:extLst>
          </p:cNvPr>
          <p:cNvSpPr txBox="1"/>
          <p:nvPr/>
        </p:nvSpPr>
        <p:spPr>
          <a:xfrm>
            <a:off x="1484382" y="1349330"/>
            <a:ext cx="1873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Energy Resolution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E29F5-31E7-42E9-7BC5-937783976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239" y="1420511"/>
            <a:ext cx="3382435" cy="346904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C20A6-40D4-78BA-8CF8-50E6F890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CFA264-2651-05E2-3C8D-759B9CBA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02BE9F-55AD-ADE3-D473-764DF3FC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04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7A6DAB0-E1CD-E449-B6EE-57B7DC127C1F}" vid="{2E9FF5FA-A0F4-BB4E-AFDB-74A19D908E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85547</TotalTime>
  <Words>7265</Words>
  <Application>Microsoft Macintosh PowerPoint</Application>
  <PresentationFormat>Widescreen</PresentationFormat>
  <Paragraphs>977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6" baseType="lpstr">
      <vt:lpstr>Arial Unicode MS</vt:lpstr>
      <vt:lpstr>ＭＳ Ｐゴシック</vt:lpstr>
      <vt:lpstr>Aptos</vt:lpstr>
      <vt:lpstr>Arial</vt:lpstr>
      <vt:lpstr>Arial Narrow</vt:lpstr>
      <vt:lpstr>Calibri</vt:lpstr>
      <vt:lpstr>Calibri Light</vt:lpstr>
      <vt:lpstr>Corbel</vt:lpstr>
      <vt:lpstr>Courier</vt:lpstr>
      <vt:lpstr>Garamond</vt:lpstr>
      <vt:lpstr>Lucida Calligraphy</vt:lpstr>
      <vt:lpstr>Lucida Console</vt:lpstr>
      <vt:lpstr>Wingdings</vt:lpstr>
      <vt:lpstr>Office Theme</vt:lpstr>
      <vt:lpstr>FloatingPoint Arithmetic for Scientists: Precision, Accuracy, Efficiency </vt:lpstr>
      <vt:lpstr>Definitions</vt:lpstr>
      <vt:lpstr>What is a Floating Point? https://en.wikipedia.org/wiki/Floating-point_arithmetic</vt:lpstr>
      <vt:lpstr>Some Trivial properties of FP</vt:lpstr>
      <vt:lpstr>Precision and Rounding</vt:lpstr>
      <vt:lpstr>Rounding Algorithms</vt:lpstr>
      <vt:lpstr>FP on a Computer</vt:lpstr>
      <vt:lpstr>FP binary representations in IEEE754</vt:lpstr>
      <vt:lpstr>IEEE 754 representation of single precision FP</vt:lpstr>
      <vt:lpstr>examples</vt:lpstr>
      <vt:lpstr>C++ interlude</vt:lpstr>
      <vt:lpstr>Limits</vt:lpstr>
      <vt:lpstr>Fixed width floating-point types (since C++23) https://en.cppreference.com/w/cpp/types/floating-point.html</vt:lpstr>
      <vt:lpstr>Python interlude</vt:lpstr>
      <vt:lpstr>EXERCISES</vt:lpstr>
      <vt:lpstr>PowerPoint Presentation</vt:lpstr>
      <vt:lpstr>Arithmetic</vt:lpstr>
      <vt:lpstr>FP Arithmetic</vt:lpstr>
      <vt:lpstr>Classical example of loss of precision due to cancellation</vt:lpstr>
      <vt:lpstr>A first theorem</vt:lpstr>
      <vt:lpstr>Augmented Arithmetic</vt:lpstr>
      <vt:lpstr>Example of augmented sum https://godbolt.org/z/nq5Po1Gdz</vt:lpstr>
      <vt:lpstr>Does it help for catastrophic cancellation?</vt:lpstr>
      <vt:lpstr>Compensating algorithms</vt:lpstr>
      <vt:lpstr>FMA: Fused Multiple Add</vt:lpstr>
      <vt:lpstr>EXERCISES</vt:lpstr>
      <vt:lpstr>PowerPoint Presentation</vt:lpstr>
      <vt:lpstr>PowerPoint Presentation</vt:lpstr>
      <vt:lpstr>Random Number interlude</vt:lpstr>
      <vt:lpstr>Uniform vs canonical (for a detailed discussion see among others https://github.com/DiscreteLogarithm/canonical-random-float/tree/master)</vt:lpstr>
      <vt:lpstr> Gaussian Tail</vt:lpstr>
      <vt:lpstr>Elementary Functions</vt:lpstr>
      <vt:lpstr>Elementary functions</vt:lpstr>
      <vt:lpstr>Library functions</vt:lpstr>
      <vt:lpstr>Evaluating a function for a recent review see https://dl.acm.org/doi/pdf/10.1145/3747840</vt:lpstr>
      <vt:lpstr>Range reduction</vt:lpstr>
      <vt:lpstr>Approximation</vt:lpstr>
      <vt:lpstr>1/x, √(x),1/√(x) aka rcp(x),sqrt(x),rsqrt(x)</vt:lpstr>
      <vt:lpstr>Table Maker’s Dilemma</vt:lpstr>
      <vt:lpstr>EXERCISES</vt:lpstr>
      <vt:lpstr>Polynomials</vt:lpstr>
      <vt:lpstr>PowerPoint Presentation</vt:lpstr>
      <vt:lpstr>TMD in decimal</vt:lpstr>
      <vt:lpstr>Precision, Accuracy, Speed</vt:lpstr>
      <vt:lpstr>Definitions </vt:lpstr>
      <vt:lpstr>Cost of operations (in cpu cycles on x86_64) https://www.agner.org/optimize/instruction_tables.pdf  (icelake &amp; zen5)</vt:lpstr>
      <vt:lpstr>GPU landscape:  FP64 is 32 times slower than FP32 on affordable GPU</vt:lpstr>
      <vt:lpstr>GPU (T4) performance Brute-force inversion of 5x5 Pos-Def Matrix using Cholesky decomposition 33 + , 29 - , 126 * , 5 / , no sqrt    (compiler optimization and fma will contract some) </vt:lpstr>
      <vt:lpstr>float vs double: summary</vt:lpstr>
      <vt:lpstr>Elementary functions 1/throughput (in cycles) (origin https://core-math.gitlabpages.inria.fr/)</vt:lpstr>
      <vt:lpstr>Precision vs Speed for elementary functions</vt:lpstr>
      <vt:lpstr>Example: multiple scattering formula</vt:lpstr>
      <vt:lpstr>Cash-Karp Runge-Kutta Step</vt:lpstr>
      <vt:lpstr>Code pitfalls and opportunity for optimization</vt:lpstr>
      <vt:lpstr>Language and compiler “rules”</vt:lpstr>
      <vt:lpstr>Compiler option affecting FP Arith https://gcc.gnu.org/wiki/FloatingPointMath https://clang.llvm.org/docs/UsersManual.html - controlling-floating-point-behavior</vt:lpstr>
      <vt:lpstr>Controlling fma (contraction)</vt:lpstr>
      <vt:lpstr>Inspecting generated code</vt:lpstr>
      <vt:lpstr>Formula Translation:  what was the author’s intention?</vt:lpstr>
      <vt:lpstr>EXERCISES</vt:lpstr>
      <vt:lpstr>PowerPoint Presentation</vt:lpstr>
      <vt:lpstr>Anecdotes</vt:lpstr>
      <vt:lpstr>References</vt:lpstr>
      <vt:lpstr>Self Assessment</vt:lpstr>
      <vt:lpstr>“additional” material</vt:lpstr>
      <vt:lpstr>What precision is good enough?</vt:lpstr>
      <vt:lpstr>Example: cut in pt, phi, eta</vt:lpstr>
      <vt:lpstr>Example: detector of size 1 m and resolution 10 micron       (required accuracy: ~1micron?)</vt:lpstr>
      <vt:lpstr>Circle equation and solutions</vt:lpstr>
      <vt:lpstr>Example: CMS tracker https://cms-tklayout.web.cern.ch/cmssw/OT806_IT742/info.html</vt:lpstr>
      <vt:lpstr>Track resolution </vt:lpstr>
      <vt:lpstr>Example: CMS Electromagnetic Calorimiter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Innocente</dc:creator>
  <cp:lastModifiedBy>Vincenzo Innocente</cp:lastModifiedBy>
  <cp:revision>347</cp:revision>
  <dcterms:created xsi:type="dcterms:W3CDTF">2026-04-12T14:58:51Z</dcterms:created>
  <dcterms:modified xsi:type="dcterms:W3CDTF">2026-06-19T10:08:33Z</dcterms:modified>
</cp:coreProperties>
</file>